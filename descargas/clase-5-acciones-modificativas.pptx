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rts/chart1.xml" ContentType="application/vnd.openxmlformats-officedocument.drawingml.chart+xml"/>
  <Override PartName="/ppt/notesSlides/notesSlide5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3"/>
  </p:notesMasterIdLst>
  <p:sldIdLst>
    <p:sldId id="256" r:id="rId5"/>
    <p:sldId id="257" r:id="rId6"/>
    <p:sldId id="258" r:id="rId7"/>
    <p:sldId id="259" r:id="rId8"/>
    <p:sldId id="307" r:id="rId9"/>
    <p:sldId id="260" r:id="rId10"/>
    <p:sldId id="261" r:id="rId11"/>
    <p:sldId id="262" r:id="rId12"/>
    <p:sldId id="308" r:id="rId13"/>
    <p:sldId id="263" r:id="rId14"/>
    <p:sldId id="309" r:id="rId15"/>
    <p:sldId id="264" r:id="rId16"/>
    <p:sldId id="265" r:id="rId17"/>
    <p:sldId id="266" r:id="rId18"/>
    <p:sldId id="267" r:id="rId19"/>
    <p:sldId id="268" r:id="rId20"/>
    <p:sldId id="269" r:id="rId21"/>
    <p:sldId id="270" r:id="rId22"/>
    <p:sldId id="271" r:id="rId23"/>
    <p:sldId id="272" r:id="rId24"/>
    <p:sldId id="310"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11" r:id="rId56"/>
    <p:sldId id="312" r:id="rId57"/>
    <p:sldId id="303" r:id="rId58"/>
    <p:sldId id="304" r:id="rId59"/>
    <p:sldId id="305" r:id="rId60"/>
    <p:sldId id="313" r:id="rId61"/>
    <p:sldId id="306" r:id="rId6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3" dt="2026-10-02T04:30:27.2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Zuluaga Henao" userId="S::dzuluagah@eafit.edu.co::3dbcfa96-5815-4b38-bf2b-401586af46e5" providerId="AD" clId="Web-{00000000-0000-0000-0000-000000000000}"/>
    <pc:docChg chg="modSld">
      <pc:chgData name="David Zuluaga Henao" userId="S::dzuluagah@eafit.edu.co::3dbcfa96-5815-4b38-bf2b-401586af46e5" providerId="AD" clId="Web-{00000000-0000-0000-0000-000000000000}" dt="2026-10-02T04:30:27.258" v="35"/>
      <pc:docMkLst>
        <pc:docMk/>
      </pc:docMkLst>
      <pc:sldChg chg="addSp modSp">
        <pc:chgData name="David Zuluaga Henao" userId="S::dzuluagah@eafit.edu.co::3dbcfa96-5815-4b38-bf2b-401586af46e5" providerId="AD" clId="Web-{00000000-0000-0000-0000-000000000000}" dt="2026-10-02T04:27:50.581" v="11" actId="1076"/>
        <pc:sldMkLst>
          <pc:docMk/>
          <pc:sldMk cId="0" sldId="283"/>
        </pc:sldMkLst>
        <pc:picChg chg="add mod modCrop">
          <ac:chgData name="David Zuluaga Henao" userId="S::dzuluagah@eafit.edu.co::3dbcfa96-5815-4b38-bf2b-401586af46e5" providerId="AD" clId="Web-{00000000-0000-0000-0000-000000000000}" dt="2026-10-02T04:27:50.581" v="11" actId="1076"/>
          <ac:picMkLst>
            <pc:docMk/>
            <pc:sldMk cId="0" sldId="283"/>
            <ac:picMk id="52" creationId="{AA6F6935-C0A0-A516-5C59-F0B837D3F07A}"/>
          </ac:picMkLst>
        </pc:picChg>
      </pc:sldChg>
      <pc:sldChg chg="addSp delSp modSp">
        <pc:chgData name="David Zuluaga Henao" userId="S::dzuluagah@eafit.edu.co::3dbcfa96-5815-4b38-bf2b-401586af46e5" providerId="AD" clId="Web-{00000000-0000-0000-0000-000000000000}" dt="2026-10-02T04:30:27.258" v="35"/>
        <pc:sldMkLst>
          <pc:docMk/>
          <pc:sldMk cId="0" sldId="287"/>
        </pc:sldMkLst>
        <pc:spChg chg="del">
          <ac:chgData name="David Zuluaga Henao" userId="S::dzuluagah@eafit.edu.co::3dbcfa96-5815-4b38-bf2b-401586af46e5" providerId="AD" clId="Web-{00000000-0000-0000-0000-000000000000}" dt="2026-10-02T04:30:16.414" v="31"/>
          <ac:spMkLst>
            <pc:docMk/>
            <pc:sldMk cId="0" sldId="287"/>
            <ac:spMk id="13" creationId="{00000000-0000-0000-0000-000000000000}"/>
          </ac:spMkLst>
        </pc:spChg>
        <pc:spChg chg="del">
          <ac:chgData name="David Zuluaga Henao" userId="S::dzuluagah@eafit.edu.co::3dbcfa96-5815-4b38-bf2b-401586af46e5" providerId="AD" clId="Web-{00000000-0000-0000-0000-000000000000}" dt="2026-10-02T04:30:12.399" v="27"/>
          <ac:spMkLst>
            <pc:docMk/>
            <pc:sldMk cId="0" sldId="287"/>
            <ac:spMk id="14" creationId="{00000000-0000-0000-0000-000000000000}"/>
          </ac:spMkLst>
        </pc:spChg>
        <pc:spChg chg="del">
          <ac:chgData name="David Zuluaga Henao" userId="S::dzuluagah@eafit.edu.co::3dbcfa96-5815-4b38-bf2b-401586af46e5" providerId="AD" clId="Web-{00000000-0000-0000-0000-000000000000}" dt="2026-10-02T04:30:16.414" v="30"/>
          <ac:spMkLst>
            <pc:docMk/>
            <pc:sldMk cId="0" sldId="287"/>
            <ac:spMk id="15" creationId="{00000000-0000-0000-0000-000000000000}"/>
          </ac:spMkLst>
        </pc:spChg>
        <pc:spChg chg="del">
          <ac:chgData name="David Zuluaga Henao" userId="S::dzuluagah@eafit.edu.co::3dbcfa96-5815-4b38-bf2b-401586af46e5" providerId="AD" clId="Web-{00000000-0000-0000-0000-000000000000}" dt="2026-10-02T04:30:16.414" v="29"/>
          <ac:spMkLst>
            <pc:docMk/>
            <pc:sldMk cId="0" sldId="287"/>
            <ac:spMk id="16" creationId="{00000000-0000-0000-0000-000000000000}"/>
          </ac:spMkLst>
        </pc:spChg>
        <pc:spChg chg="del">
          <ac:chgData name="David Zuluaga Henao" userId="S::dzuluagah@eafit.edu.co::3dbcfa96-5815-4b38-bf2b-401586af46e5" providerId="AD" clId="Web-{00000000-0000-0000-0000-000000000000}" dt="2026-10-02T04:30:16.414" v="28"/>
          <ac:spMkLst>
            <pc:docMk/>
            <pc:sldMk cId="0" sldId="287"/>
            <ac:spMk id="17" creationId="{00000000-0000-0000-0000-000000000000}"/>
          </ac:spMkLst>
        </pc:spChg>
        <pc:spChg chg="del">
          <ac:chgData name="David Zuluaga Henao" userId="S::dzuluagah@eafit.edu.co::3dbcfa96-5815-4b38-bf2b-401586af46e5" providerId="AD" clId="Web-{00000000-0000-0000-0000-000000000000}" dt="2026-10-02T04:30:24.836" v="34"/>
          <ac:spMkLst>
            <pc:docMk/>
            <pc:sldMk cId="0" sldId="287"/>
            <ac:spMk id="24" creationId="{00000000-0000-0000-0000-000000000000}"/>
          </ac:spMkLst>
        </pc:spChg>
        <pc:spChg chg="del">
          <ac:chgData name="David Zuluaga Henao" userId="S::dzuluagah@eafit.edu.co::3dbcfa96-5815-4b38-bf2b-401586af46e5" providerId="AD" clId="Web-{00000000-0000-0000-0000-000000000000}" dt="2026-10-02T04:30:27.258" v="35"/>
          <ac:spMkLst>
            <pc:docMk/>
            <pc:sldMk cId="0" sldId="287"/>
            <ac:spMk id="25" creationId="{00000000-0000-0000-0000-000000000000}"/>
          </ac:spMkLst>
        </pc:spChg>
        <pc:spChg chg="del">
          <ac:chgData name="David Zuluaga Henao" userId="S::dzuluagah@eafit.edu.co::3dbcfa96-5815-4b38-bf2b-401586af46e5" providerId="AD" clId="Web-{00000000-0000-0000-0000-000000000000}" dt="2026-10-02T04:30:23.008" v="33"/>
          <ac:spMkLst>
            <pc:docMk/>
            <pc:sldMk cId="0" sldId="287"/>
            <ac:spMk id="28" creationId="{00000000-0000-0000-0000-000000000000}"/>
          </ac:spMkLst>
        </pc:spChg>
        <pc:picChg chg="add mod modCrop">
          <ac:chgData name="David Zuluaga Henao" userId="S::dzuluagah@eafit.edu.co::3dbcfa96-5815-4b38-bf2b-401586af46e5" providerId="AD" clId="Web-{00000000-0000-0000-0000-000000000000}" dt="2026-10-02T04:30:20.258" v="32" actId="14100"/>
          <ac:picMkLst>
            <pc:docMk/>
            <pc:sldMk cId="0" sldId="287"/>
            <ac:picMk id="29" creationId="{DDBB27CA-19A2-BB5F-EF6B-34077AA1A79D}"/>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Horas perdidas</c:v>
                </c:pt>
              </c:strCache>
            </c:strRef>
          </c:tx>
          <c:invertIfNegative val="1"/>
          <c:dPt>
            <c:idx val="0"/>
            <c:invertIfNegative val="1"/>
            <c:bubble3D val="0"/>
            <c:spPr>
              <a:solidFill>
                <a:srgbClr val="004B85"/>
              </a:solidFill>
            </c:spPr>
            <c:extLst>
              <c:ext xmlns:c16="http://schemas.microsoft.com/office/drawing/2014/chart" uri="{C3380CC4-5D6E-409C-BE32-E72D297353CC}">
                <c16:uniqueId val="{00000001-3534-428F-B8AE-F2680CB98ED2}"/>
              </c:ext>
            </c:extLst>
          </c:dPt>
          <c:dPt>
            <c:idx val="1"/>
            <c:invertIfNegative val="1"/>
            <c:bubble3D val="0"/>
            <c:spPr>
              <a:solidFill>
                <a:srgbClr val="004B85"/>
              </a:solidFill>
            </c:spPr>
            <c:extLst>
              <c:ext xmlns:c16="http://schemas.microsoft.com/office/drawing/2014/chart" uri="{C3380CC4-5D6E-409C-BE32-E72D297353CC}">
                <c16:uniqueId val="{00000003-3534-428F-B8AE-F2680CB98ED2}"/>
              </c:ext>
            </c:extLst>
          </c:dPt>
          <c:dPt>
            <c:idx val="2"/>
            <c:invertIfNegative val="1"/>
            <c:bubble3D val="0"/>
            <c:spPr>
              <a:solidFill>
                <a:srgbClr val="B7C7D6"/>
              </a:solidFill>
            </c:spPr>
            <c:extLst>
              <c:ext xmlns:c16="http://schemas.microsoft.com/office/drawing/2014/chart" uri="{C3380CC4-5D6E-409C-BE32-E72D297353CC}">
                <c16:uniqueId val="{00000005-3534-428F-B8AE-F2680CB98ED2}"/>
              </c:ext>
            </c:extLst>
          </c:dPt>
          <c:dPt>
            <c:idx val="3"/>
            <c:invertIfNegative val="1"/>
            <c:bubble3D val="0"/>
            <c:spPr>
              <a:solidFill>
                <a:srgbClr val="B7C7D6"/>
              </a:solidFill>
            </c:spPr>
            <c:extLst>
              <c:ext xmlns:c16="http://schemas.microsoft.com/office/drawing/2014/chart" uri="{C3380CC4-5D6E-409C-BE32-E72D297353CC}">
                <c16:uniqueId val="{00000007-3534-428F-B8AE-F2680CB98ED2}"/>
              </c:ext>
            </c:extLst>
          </c:dPt>
          <c:dPt>
            <c:idx val="4"/>
            <c:invertIfNegative val="1"/>
            <c:bubble3D val="0"/>
            <c:spPr>
              <a:solidFill>
                <a:srgbClr val="B7C7D6"/>
              </a:solidFill>
            </c:spPr>
            <c:extLst>
              <c:ext xmlns:c16="http://schemas.microsoft.com/office/drawing/2014/chart" uri="{C3380CC4-5D6E-409C-BE32-E72D297353CC}">
                <c16:uniqueId val="{00000009-3534-428F-B8AE-F2680CB98ED2}"/>
              </c:ext>
            </c:extLst>
          </c:dPt>
          <c:dPt>
            <c:idx val="5"/>
            <c:invertIfNegative val="1"/>
            <c:bubble3D val="0"/>
            <c:spPr>
              <a:solidFill>
                <a:srgbClr val="B7C7D6"/>
              </a:solidFill>
            </c:spPr>
            <c:extLst>
              <c:ext xmlns:c16="http://schemas.microsoft.com/office/drawing/2014/chart" uri="{C3380CC4-5D6E-409C-BE32-E72D297353CC}">
                <c16:uniqueId val="{0000000B-3534-428F-B8AE-F2680CB98ED2}"/>
              </c:ext>
            </c:extLst>
          </c:dPt>
          <c:dLbls>
            <c:numFmt formatCode="0&quot; h&quot;" sourceLinked="0"/>
            <c:spPr>
              <a:noFill/>
              <a:ln>
                <a:noFill/>
              </a:ln>
              <a:effectLst/>
            </c:spPr>
            <c:txPr>
              <a:bodyPr/>
              <a:lstStyle/>
              <a:p>
                <a:pPr>
                  <a:defRPr sz="1100" b="1">
                    <a:solidFill>
                      <a:srgbClr val="00335C"/>
                    </a:solidFill>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Rodamientos de rodillos</c:v>
                </c:pt>
                <c:pt idx="1">
                  <c:v>Empalmes de banda</c:v>
                </c:pt>
                <c:pt idx="2">
                  <c:v>Sello de bomba</c:v>
                </c:pt>
                <c:pt idx="3">
                  <c:v>Fallas eléctricas</c:v>
                </c:pt>
                <c:pt idx="4">
                  <c:v>Lubricación</c:v>
                </c:pt>
                <c:pt idx="5">
                  <c:v>Otros</c:v>
                </c:pt>
              </c:strCache>
            </c:strRef>
          </c:cat>
          <c:val>
            <c:numRef>
              <c:f>Sheet1!$B$2:$B$7</c:f>
              <c:numCache>
                <c:formatCode>General</c:formatCode>
                <c:ptCount val="6"/>
                <c:pt idx="0">
                  <c:v>38</c:v>
                </c:pt>
                <c:pt idx="1">
                  <c:v>26</c:v>
                </c:pt>
                <c:pt idx="2">
                  <c:v>14</c:v>
                </c:pt>
                <c:pt idx="3">
                  <c:v>9</c:v>
                </c:pt>
                <c:pt idx="4">
                  <c:v>6</c:v>
                </c:pt>
                <c:pt idx="5">
                  <c:v>4</c:v>
                </c:pt>
              </c:numCache>
            </c:numRef>
          </c:val>
          <c:extLst>
            <c:ext xmlns:c16="http://schemas.microsoft.com/office/drawing/2014/chart" uri="{C3380CC4-5D6E-409C-BE32-E72D297353CC}">
              <c16:uniqueId val="{0000000C-3534-428F-B8AE-F2680CB98ED2}"/>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DE5"/>
            </a:solidFill>
          </a:ln>
        </c:spPr>
        <c:txPr>
          <a:bodyPr/>
          <a:lstStyle/>
          <a:p>
            <a:pPr>
              <a:defRPr sz="1000"/>
            </a:pPr>
            <a:endParaRPr lang="es-ES"/>
          </a:p>
        </c:txPr>
        <c:crossAx val="-2113994440"/>
        <c:crosses val="autoZero"/>
        <c:auto val="1"/>
        <c:lblAlgn val="ctr"/>
        <c:lblOffset val="100"/>
        <c:noMultiLvlLbl val="0"/>
      </c:catAx>
      <c:valAx>
        <c:axId val="-2113994440"/>
        <c:scaling>
          <c:orientation val="minMax"/>
          <c:max val="45"/>
        </c:scaling>
        <c:delete val="0"/>
        <c:axPos val="l"/>
        <c:majorGridlines>
          <c:spPr>
            <a:ln>
              <a:solidFill>
                <a:srgbClr val="D5DDE5"/>
              </a:solidFill>
            </a:ln>
          </c:spPr>
        </c:majorGridlines>
        <c:title>
          <c:tx>
            <c:rich>
              <a:bodyPr/>
              <a:lstStyle/>
              <a:p>
                <a:r>
                  <a:rPr sz="1000" b="0"/>
                  <a:t>Horas perdidas por año</a:t>
                </a:r>
              </a:p>
            </c:rich>
          </c:tx>
          <c:overlay val="0"/>
        </c:title>
        <c:numFmt formatCode="General" sourceLinked="1"/>
        <c:majorTickMark val="out"/>
        <c:minorTickMark val="none"/>
        <c:tickLblPos val="nextTo"/>
        <c:spPr>
          <a:ln>
            <a:noFill/>
          </a:ln>
        </c:spPr>
        <c:txPr>
          <a:bodyPr/>
          <a:lstStyle/>
          <a:p>
            <a:pPr>
              <a:defRPr sz="1000"/>
            </a:pPr>
            <a:endParaRPr lang="es-ES"/>
          </a:p>
        </c:txPr>
        <c:crossAx val="-2068027336"/>
        <c:crosses val="autoZero"/>
        <c:crossBetween val="between"/>
      </c:valAx>
    </c:plotArea>
    <c:plotVisOnly val="1"/>
    <c:dispBlanksAs val="gap"/>
    <c:showDLblsOverMax val="1"/>
  </c:chart>
  <c:txPr>
    <a:bodyPr/>
    <a:lstStyle/>
    <a:p>
      <a:pPr>
        <a:defRPr sz="1050">
          <a:solidFill>
            <a:srgbClr val="5C6B7A"/>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C5F64CB-20DA-964A-9331-60C67832394F}" type="datetimeFigureOut">
              <a:rPr lang="en-US" smtClean="0"/>
              <a:t>10/1/2026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73A1CCD7-F30F-D645-9B46-5626C1E1D69E}" type="slidenum">
              <a:rPr lang="en-US" smtClean="0"/>
              <a:t>‹Nº›</a:t>
            </a:fld>
            <a:endParaRPr lang="en-US"/>
          </a:p>
        </p:txBody>
      </p:sp>
    </p:spTree>
    <p:extLst>
      <p:ext uri="{BB962C8B-B14F-4D97-AF65-F5344CB8AC3E}">
        <p14:creationId xmlns:p14="http://schemas.microsoft.com/office/powerpoint/2010/main" val="1987223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ilustrativo de falla reiterativa. Cuatro cambios de rodamiento bien ejecutados no resolvieron el problema porque la causa estaba fuera del rodamiento: corrientes por el eje inducidas por el variador de frecuencia, que dejan estrías (ondulación) en las pistas. La acción modificativa ataca la causa: rodamiento aislado y puesta a tierra del eje. Imagen: trabajo «Averías en rodamientos» del curso anterior.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ejemplo por cada orientación vista en las dos diapositivas anteriores. El ejemplo de energía usa las leyes de afinidad de las máquinas centrífugas: la potencia varía con el cubo de la velocidad, por lo que al 80 % de velocidad se requiere cerca del 51 % de la potencia (0,8³ ≈ 0,51).</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cada problema hay una respuesta de mejora (no cambia la configuración del equipo) y otra de rediseño (cambia la configuración y exige la metodología de diseño). La elección depende del costo, del tiempo disponible y de si la mejora basta para eliminar la causa raíz.</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del trabajo de métodos de recuperación del curso anterior. Tornillos de 5/8 in galvanizados que soportan un bastidor en ambiente húmedo se corroían hasta perder sección. La mejora fue tornillería de 1 in en acero inoxidable. Es una mejora porque no cambia la configuración del equipo, pero exige verificaciones: sección remanente tras ampliar agujeros, par galvánico entre inoxidable y acero al carbono, y riesgo de agarrotamiento de roscas en inoxidable.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integrador: elevador de canjilones cuyos canjilones metálicos se rompen y corroen. Recorra las diez etapas. Conecta con la diapositiva de materiales plásticos en lugar de metálicos. Los datos son ilustrativos.</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Cálculo ilustrativo (pesos colombianos). Situación actual: 6 paradas/año × 8 h × $450.000/h de lucro cesante = $21,6 M; repuestos $6,0 M; mano de obra 6 × 8 h × 3 técnicos × $35.000/h = $5,04 M. Total $32,6 M/año. Propuesta: 1 parada/año: $3,6 M + $1,5 M + $0,84 M = $5,9 M/año. Ahorro anual $26,7 M. Inversión $15,0 M (120 canjilones × $85.000 = $10,2 M; montaje $3,0 M; ingeniería $1,8 M). Recuperación = 15,0 / 26,7 ≈ 0,56 años ≈ 7 meses. Retorno el primer año = (26,7 − 15,0) / 15,0 ≈ 78 %.</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Datos ilustrativos de una línea de empaque durante un año. El Pareto ordena las causas por horas perdidas: dos causas concentran cerca de dos tercios del tiempo perdido. Esas son las candidatas a análisis de causa raíz y a acciones modificativas. Pida al grupo construir el Pareto de su planta.</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2.jpg"/><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1E38"/>
          </a:solidFill>
          <a:ln/>
        </p:spPr>
      </p:sp>
      <p:sp>
        <p:nvSpPr>
          <p:cNvPr id="3" name="Shape 1"/>
          <p:cNvSpPr/>
          <p:nvPr/>
        </p:nvSpPr>
        <p:spPr>
          <a:xfrm>
            <a:off x="7982712" y="0"/>
            <a:ext cx="4208983" cy="6858000"/>
          </a:xfrm>
          <a:prstGeom prst="rect">
            <a:avLst/>
          </a:prstGeom>
          <a:solidFill>
            <a:srgbClr val="00335C"/>
          </a:solidFill>
          <a:ln/>
        </p:spPr>
      </p:sp>
      <p:sp>
        <p:nvSpPr>
          <p:cNvPr id="4" name="Shape 2"/>
          <p:cNvSpPr/>
          <p:nvPr/>
        </p:nvSpPr>
        <p:spPr>
          <a:xfrm>
            <a:off x="7982712" y="0"/>
            <a:ext cx="36576" cy="6858000"/>
          </a:xfrm>
          <a:prstGeom prst="rect">
            <a:avLst/>
          </a:prstGeom>
          <a:solidFill>
            <a:srgbClr val="FFB903"/>
          </a:solidFill>
          <a:ln/>
        </p:spPr>
      </p:sp>
      <p:sp>
        <p:nvSpPr>
          <p:cNvPr id="5" name="Shape 3"/>
          <p:cNvSpPr/>
          <p:nvPr/>
        </p:nvSpPr>
        <p:spPr>
          <a:xfrm>
            <a:off x="0" y="0"/>
            <a:ext cx="274320" cy="6858000"/>
          </a:xfrm>
          <a:prstGeom prst="rect">
            <a:avLst/>
          </a:prstGeom>
          <a:solidFill>
            <a:srgbClr val="004B85"/>
          </a:solidFill>
          <a:ln/>
        </p:spPr>
      </p:sp>
      <p:pic>
        <p:nvPicPr>
          <p:cNvPr id="6"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7" name="Shape 4"/>
          <p:cNvSpPr/>
          <p:nvPr/>
        </p:nvSpPr>
        <p:spPr>
          <a:xfrm>
            <a:off x="868680" y="1572768"/>
            <a:ext cx="1371600" cy="54864"/>
          </a:xfrm>
          <a:prstGeom prst="rect">
            <a:avLst/>
          </a:prstGeom>
          <a:solidFill>
            <a:srgbClr val="FFB903"/>
          </a:solidFill>
          <a:ln/>
        </p:spPr>
      </p:sp>
      <p:sp>
        <p:nvSpPr>
          <p:cNvPr id="8" name="Text 5"/>
          <p:cNvSpPr txBox="1"/>
          <p:nvPr/>
        </p:nvSpPr>
        <p:spPr>
          <a:xfrm>
            <a:off x="868680" y="1847088"/>
            <a:ext cx="6766560" cy="301752"/>
          </a:xfrm>
          <a:prstGeom prst="rect">
            <a:avLst/>
          </a:prstGeom>
          <a:noFill/>
          <a:ln/>
        </p:spPr>
        <p:txBody>
          <a:bodyPr wrap="square" lIns="0" tIns="0" rIns="0" bIns="0" rtlCol="0" anchor="ctr"/>
          <a:lstStyle/>
          <a:p>
            <a:pPr marL="0" indent="0">
              <a:buNone/>
            </a:pPr>
            <a:r>
              <a:rPr lang="en-US" sz="1250" b="1" kern="0" spc="100" dirty="0">
                <a:solidFill>
                  <a:srgbClr val="FFB903"/>
                </a:solidFill>
                <a:latin typeface="Segoe UI" pitchFamily="34" charset="0"/>
                <a:ea typeface="Segoe UI" pitchFamily="34" charset="-122"/>
                <a:cs typeface="Segoe UI" pitchFamily="34" charset="-120"/>
              </a:rPr>
              <a:t>ESPECIALIZACIÓN EN MANTENIMIENTO INDUSTRIAL</a:t>
            </a:r>
            <a:endParaRPr lang="en-US" sz="1250" dirty="0"/>
          </a:p>
        </p:txBody>
      </p:sp>
      <p:sp>
        <p:nvSpPr>
          <p:cNvPr id="9" name="Text 6"/>
          <p:cNvSpPr txBox="1"/>
          <p:nvPr/>
        </p:nvSpPr>
        <p:spPr>
          <a:xfrm>
            <a:off x="868680" y="2286000"/>
            <a:ext cx="6675120" cy="1783080"/>
          </a:xfrm>
          <a:prstGeom prst="rect">
            <a:avLst/>
          </a:prstGeom>
          <a:noFill/>
          <a:ln/>
        </p:spPr>
        <p:txBody>
          <a:bodyPr wrap="square" lIns="0" tIns="0" rIns="0" bIns="0" rtlCol="0" anchor="ctr"/>
          <a:lstStyle/>
          <a:p>
            <a:pPr marL="0" indent="0">
              <a:lnSpc>
                <a:spcPts val="4000"/>
              </a:lnSpc>
              <a:buNone/>
            </a:pPr>
            <a:r>
              <a:rPr lang="en-US" sz="3100" b="1" dirty="0">
                <a:solidFill>
                  <a:srgbClr val="FFFFFF"/>
                </a:solidFill>
                <a:latin typeface="Segoe UI" pitchFamily="34" charset="0"/>
                <a:ea typeface="Segoe UI" pitchFamily="34" charset="-122"/>
                <a:cs typeface="Segoe UI" pitchFamily="34" charset="-120"/>
              </a:rPr>
              <a:t>Acciones modificativas</a:t>
            </a:r>
            <a:endParaRPr lang="en-US" sz="3100" dirty="0"/>
          </a:p>
          <a:p>
            <a:pPr marL="0" indent="0">
              <a:lnSpc>
                <a:spcPts val="4000"/>
              </a:lnSpc>
              <a:buNone/>
            </a:pPr>
            <a:r>
              <a:rPr lang="en-US" sz="3100" b="1" dirty="0">
                <a:solidFill>
                  <a:srgbClr val="FFFFFF"/>
                </a:solidFill>
                <a:latin typeface="Segoe UI" pitchFamily="34" charset="0"/>
                <a:ea typeface="Segoe UI" pitchFamily="34" charset="-122"/>
                <a:cs typeface="Segoe UI" pitchFamily="34" charset="-120"/>
              </a:rPr>
              <a:t>mejora y rediseño</a:t>
            </a:r>
            <a:endParaRPr lang="en-US" sz="3100" dirty="0"/>
          </a:p>
        </p:txBody>
      </p:sp>
      <p:sp>
        <p:nvSpPr>
          <p:cNvPr id="10" name="Text 7"/>
          <p:cNvSpPr txBox="1"/>
          <p:nvPr/>
        </p:nvSpPr>
        <p:spPr>
          <a:xfrm>
            <a:off x="868680" y="4306824"/>
            <a:ext cx="6675120" cy="201168"/>
          </a:xfrm>
          <a:prstGeom prst="rect">
            <a:avLst/>
          </a:prstGeom>
          <a:noFill/>
          <a:ln/>
        </p:spPr>
        <p:txBody>
          <a:bodyPr wrap="square" lIns="0" tIns="0" rIns="0" bIns="0" rtlCol="0" anchor="ctr"/>
          <a:lstStyle/>
          <a:p>
            <a:pPr marL="0" indent="0">
              <a:buNone/>
            </a:pPr>
            <a:r>
              <a:rPr lang="en-US" sz="1050" b="1" kern="0" spc="100" dirty="0">
                <a:solidFill>
                  <a:srgbClr val="8A97A3"/>
                </a:solidFill>
                <a:latin typeface="Segoe UI" pitchFamily="34" charset="0"/>
                <a:ea typeface="Segoe UI" pitchFamily="34" charset="-122"/>
                <a:cs typeface="Segoe UI" pitchFamily="34" charset="-120"/>
              </a:rPr>
              <a:t>CURSO</a:t>
            </a:r>
            <a:endParaRPr lang="en-US" sz="1050" dirty="0"/>
          </a:p>
        </p:txBody>
      </p:sp>
      <p:sp>
        <p:nvSpPr>
          <p:cNvPr id="11" name="Text 8"/>
          <p:cNvSpPr txBox="1"/>
          <p:nvPr/>
        </p:nvSpPr>
        <p:spPr>
          <a:xfrm>
            <a:off x="868680" y="4535424"/>
            <a:ext cx="6675120" cy="274320"/>
          </a:xfrm>
          <a:prstGeom prst="rect">
            <a:avLst/>
          </a:prstGeom>
          <a:noFill/>
          <a:ln/>
        </p:spPr>
        <p:txBody>
          <a:bodyPr wrap="square" lIns="0" tIns="0" rIns="0" bIns="0" rtlCol="0" anchor="ctr"/>
          <a:lstStyle/>
          <a:p>
            <a:pPr marL="0" indent="0">
              <a:buNone/>
            </a:pPr>
            <a:r>
              <a:rPr lang="en-US" sz="1450" dirty="0">
                <a:solidFill>
                  <a:srgbClr val="FFFFFF"/>
                </a:solidFill>
                <a:latin typeface="Segoe UI" pitchFamily="34" charset="0"/>
                <a:ea typeface="Segoe UI" pitchFamily="34" charset="-122"/>
                <a:cs typeface="Segoe UI" pitchFamily="34" charset="-120"/>
              </a:rPr>
              <a:t>Acciones Correctivo-Modificativas · 2026-2</a:t>
            </a:r>
            <a:endParaRPr lang="en-US" sz="1450" dirty="0"/>
          </a:p>
        </p:txBody>
      </p:sp>
      <p:sp>
        <p:nvSpPr>
          <p:cNvPr id="12" name="Text 9"/>
          <p:cNvSpPr txBox="1"/>
          <p:nvPr/>
        </p:nvSpPr>
        <p:spPr>
          <a:xfrm>
            <a:off x="868680" y="4946904"/>
            <a:ext cx="6675120" cy="201168"/>
          </a:xfrm>
          <a:prstGeom prst="rect">
            <a:avLst/>
          </a:prstGeom>
          <a:noFill/>
          <a:ln/>
        </p:spPr>
        <p:txBody>
          <a:bodyPr wrap="square" lIns="0" tIns="0" rIns="0" bIns="0" rtlCol="0" anchor="ctr"/>
          <a:lstStyle/>
          <a:p>
            <a:pPr marL="0" indent="0">
              <a:buNone/>
            </a:pPr>
            <a:r>
              <a:rPr lang="en-US" sz="1050" b="1" kern="0" spc="100" dirty="0">
                <a:solidFill>
                  <a:srgbClr val="8A97A3"/>
                </a:solidFill>
                <a:latin typeface="Segoe UI" pitchFamily="34" charset="0"/>
                <a:ea typeface="Segoe UI" pitchFamily="34" charset="-122"/>
                <a:cs typeface="Segoe UI" pitchFamily="34" charset="-120"/>
              </a:rPr>
              <a:t>LÍNEA DE ÉNFASIS</a:t>
            </a:r>
            <a:endParaRPr lang="en-US" sz="1050" dirty="0"/>
          </a:p>
        </p:txBody>
      </p:sp>
      <p:sp>
        <p:nvSpPr>
          <p:cNvPr id="13" name="Text 10"/>
          <p:cNvSpPr txBox="1"/>
          <p:nvPr/>
        </p:nvSpPr>
        <p:spPr>
          <a:xfrm>
            <a:off x="868680" y="5175504"/>
            <a:ext cx="6675120" cy="274320"/>
          </a:xfrm>
          <a:prstGeom prst="rect">
            <a:avLst/>
          </a:prstGeom>
          <a:noFill/>
          <a:ln/>
        </p:spPr>
        <p:txBody>
          <a:bodyPr wrap="square" lIns="0" tIns="0" rIns="0" bIns="0" rtlCol="0" anchor="ctr"/>
          <a:lstStyle/>
          <a:p>
            <a:pPr marL="0" indent="0">
              <a:buNone/>
            </a:pPr>
            <a:r>
              <a:rPr lang="en-US" sz="1450" dirty="0">
                <a:solidFill>
                  <a:srgbClr val="FFFFFF"/>
                </a:solidFill>
                <a:latin typeface="Segoe UI" pitchFamily="34" charset="0"/>
                <a:ea typeface="Segoe UI" pitchFamily="34" charset="-122"/>
                <a:cs typeface="Segoe UI" pitchFamily="34" charset="-120"/>
              </a:rPr>
              <a:t>Mantenimiento industrial</a:t>
            </a:r>
            <a:endParaRPr lang="en-US" sz="1450" dirty="0"/>
          </a:p>
        </p:txBody>
      </p:sp>
      <p:sp>
        <p:nvSpPr>
          <p:cNvPr id="14" name="Text 11"/>
          <p:cNvSpPr txBox="1"/>
          <p:nvPr/>
        </p:nvSpPr>
        <p:spPr>
          <a:xfrm>
            <a:off x="868680" y="5586984"/>
            <a:ext cx="6675120" cy="201168"/>
          </a:xfrm>
          <a:prstGeom prst="rect">
            <a:avLst/>
          </a:prstGeom>
          <a:noFill/>
          <a:ln/>
        </p:spPr>
        <p:txBody>
          <a:bodyPr wrap="square" lIns="0" tIns="0" rIns="0" bIns="0" rtlCol="0" anchor="ctr"/>
          <a:lstStyle/>
          <a:p>
            <a:pPr marL="0" indent="0">
              <a:buNone/>
            </a:pPr>
            <a:r>
              <a:rPr lang="en-US" sz="1050" b="1" kern="0" spc="100" dirty="0">
                <a:solidFill>
                  <a:srgbClr val="8A97A3"/>
                </a:solidFill>
                <a:latin typeface="Segoe UI" pitchFamily="34" charset="0"/>
                <a:ea typeface="Segoe UI" pitchFamily="34" charset="-122"/>
                <a:cs typeface="Segoe UI" pitchFamily="34" charset="-120"/>
              </a:rPr>
              <a:t>CLASE</a:t>
            </a:r>
            <a:endParaRPr lang="en-US" sz="1050" dirty="0"/>
          </a:p>
        </p:txBody>
      </p:sp>
      <p:sp>
        <p:nvSpPr>
          <p:cNvPr id="15" name="Text 12"/>
          <p:cNvSpPr txBox="1"/>
          <p:nvPr/>
        </p:nvSpPr>
        <p:spPr>
          <a:xfrm>
            <a:off x="868680" y="5815584"/>
            <a:ext cx="6675120" cy="274320"/>
          </a:xfrm>
          <a:prstGeom prst="rect">
            <a:avLst/>
          </a:prstGeom>
          <a:noFill/>
          <a:ln/>
        </p:spPr>
        <p:txBody>
          <a:bodyPr wrap="square" lIns="0" tIns="0" rIns="0" bIns="0" rtlCol="0" anchor="ctr"/>
          <a:lstStyle/>
          <a:p>
            <a:pPr marL="0" indent="0">
              <a:buNone/>
            </a:pPr>
            <a:r>
              <a:rPr lang="en-US" sz="1450" dirty="0">
                <a:solidFill>
                  <a:srgbClr val="FFFFFF"/>
                </a:solidFill>
                <a:latin typeface="Segoe UI" pitchFamily="34" charset="0"/>
                <a:ea typeface="Segoe UI" pitchFamily="34" charset="-122"/>
                <a:cs typeface="Segoe UI" pitchFamily="34" charset="-120"/>
              </a:rPr>
              <a:t>5 de 5</a:t>
            </a:r>
            <a:endParaRPr lang="en-US" sz="1450" dirty="0"/>
          </a:p>
        </p:txBody>
      </p:sp>
      <p:sp>
        <p:nvSpPr>
          <p:cNvPr id="16" name="Text 13"/>
          <p:cNvSpPr txBox="1"/>
          <p:nvPr/>
        </p:nvSpPr>
        <p:spPr>
          <a:xfrm>
            <a:off x="868680" y="6291072"/>
            <a:ext cx="6675120" cy="274320"/>
          </a:xfrm>
          <a:prstGeom prst="rect">
            <a:avLst/>
          </a:prstGeom>
          <a:noFill/>
          <a:ln/>
        </p:spPr>
        <p:txBody>
          <a:bodyPr wrap="square" lIns="0" tIns="0" rIns="0" bIns="0" rtlCol="0" anchor="ctr"/>
          <a:lstStyle/>
          <a:p>
            <a:pPr marL="0" indent="0">
              <a:buNone/>
            </a:pPr>
            <a:r>
              <a:rPr lang="en-US" sz="1100" dirty="0">
                <a:solidFill>
                  <a:srgbClr val="8A97A3"/>
                </a:solidFill>
                <a:latin typeface="Segoe UI" pitchFamily="34" charset="0"/>
                <a:ea typeface="Segoe UI" pitchFamily="34" charset="-122"/>
                <a:cs typeface="Segoe UI" pitchFamily="34" charset="-120"/>
              </a:rPr>
              <a:t>Escuela de Ciencias Aplicadas e Ingeniería</a:t>
            </a:r>
            <a:endParaRPr lang="en-US" sz="1100" dirty="0"/>
          </a:p>
        </p:txBody>
      </p:sp>
      <p:sp>
        <p:nvSpPr>
          <p:cNvPr id="17" name="Text 14"/>
          <p:cNvSpPr txBox="1"/>
          <p:nvPr/>
        </p:nvSpPr>
        <p:spPr>
          <a:xfrm>
            <a:off x="8595360" y="1536192"/>
            <a:ext cx="3108960" cy="338328"/>
          </a:xfrm>
          <a:prstGeom prst="rect">
            <a:avLst/>
          </a:prstGeom>
          <a:noFill/>
          <a:ln/>
        </p:spPr>
        <p:txBody>
          <a:bodyPr wrap="square" lIns="0" tIns="0" rIns="0" bIns="0" rtlCol="0" anchor="ctr"/>
          <a:lstStyle/>
          <a:p>
            <a:pPr marL="0" indent="0">
              <a:buNone/>
            </a:pPr>
            <a:r>
              <a:rPr lang="en-US" sz="2000" b="1" dirty="0">
                <a:solidFill>
                  <a:srgbClr val="FFB903"/>
                </a:solidFill>
                <a:latin typeface="Segoe UI" pitchFamily="34" charset="0"/>
                <a:ea typeface="Segoe UI" pitchFamily="34" charset="-122"/>
                <a:cs typeface="Segoe UI" pitchFamily="34" charset="-120"/>
              </a:rPr>
              <a:t>DOCENTE</a:t>
            </a:r>
            <a:endParaRPr lang="en-US" sz="2000" dirty="0"/>
          </a:p>
        </p:txBody>
      </p:sp>
      <p:sp>
        <p:nvSpPr>
          <p:cNvPr id="18" name="Text 15"/>
          <p:cNvSpPr txBox="1"/>
          <p:nvPr/>
        </p:nvSpPr>
        <p:spPr>
          <a:xfrm>
            <a:off x="8595360" y="1874520"/>
            <a:ext cx="3108960" cy="777240"/>
          </a:xfrm>
          <a:prstGeom prst="rect">
            <a:avLst/>
          </a:prstGeom>
          <a:noFill/>
          <a:ln/>
        </p:spPr>
        <p:txBody>
          <a:bodyPr wrap="square" lIns="0" tIns="0" rIns="0" bIns="0" rtlCol="0" anchor="ctr"/>
          <a:lstStyle/>
          <a:p>
            <a:pPr marL="0" indent="0">
              <a:lnSpc>
                <a:spcPts val="2600"/>
              </a:lnSpc>
              <a:buNone/>
            </a:pPr>
            <a:r>
              <a:rPr lang="en-US" sz="2000" b="1" dirty="0">
                <a:solidFill>
                  <a:srgbClr val="FFFFFF"/>
                </a:solidFill>
                <a:latin typeface="Segoe UI" pitchFamily="34" charset="0"/>
                <a:ea typeface="Segoe UI" pitchFamily="34" charset="-122"/>
                <a:cs typeface="Segoe UI" pitchFamily="34" charset="-120"/>
              </a:rPr>
              <a:t>Jaime Leonardo</a:t>
            </a:r>
            <a:endParaRPr lang="en-US" sz="2000" dirty="0"/>
          </a:p>
          <a:p>
            <a:pPr marL="0" indent="0">
              <a:lnSpc>
                <a:spcPts val="2600"/>
              </a:lnSpc>
              <a:buNone/>
            </a:pPr>
            <a:r>
              <a:rPr lang="en-US" sz="2000" b="1" dirty="0">
                <a:solidFill>
                  <a:srgbClr val="FFFFFF"/>
                </a:solidFill>
                <a:latin typeface="Segoe UI" pitchFamily="34" charset="0"/>
                <a:ea typeface="Segoe UI" pitchFamily="34" charset="-122"/>
                <a:cs typeface="Segoe UI" pitchFamily="34" charset="-120"/>
              </a:rPr>
              <a:t>Barbosa Pérez</a:t>
            </a:r>
            <a:endParaRPr lang="en-US" sz="2000" dirty="0"/>
          </a:p>
        </p:txBody>
      </p:sp>
      <p:sp>
        <p:nvSpPr>
          <p:cNvPr id="19" name="Shape 16"/>
          <p:cNvSpPr/>
          <p:nvPr/>
        </p:nvSpPr>
        <p:spPr>
          <a:xfrm>
            <a:off x="8531352" y="3026664"/>
            <a:ext cx="118872" cy="118872"/>
          </a:xfrm>
          <a:prstGeom prst="rect">
            <a:avLst/>
          </a:prstGeom>
          <a:solidFill>
            <a:srgbClr val="FFB903"/>
          </a:solidFill>
          <a:ln/>
        </p:spPr>
      </p:sp>
      <p:sp>
        <p:nvSpPr>
          <p:cNvPr id="20" name="Text 17"/>
          <p:cNvSpPr txBox="1"/>
          <p:nvPr/>
        </p:nvSpPr>
        <p:spPr>
          <a:xfrm>
            <a:off x="8741664" y="2907792"/>
            <a:ext cx="3200400" cy="630936"/>
          </a:xfrm>
          <a:prstGeom prst="rect">
            <a:avLst/>
          </a:prstGeom>
          <a:noFill/>
          <a:ln/>
        </p:spPr>
        <p:txBody>
          <a:bodyPr wrap="square" lIns="0" tIns="0" rIns="0" bIns="0" rtlCol="0" anchor="ctr"/>
          <a:lstStyle/>
          <a:p>
            <a:pPr marL="0" indent="0">
              <a:lnSpc>
                <a:spcPts val="1700"/>
              </a:lnSpc>
              <a:buNone/>
            </a:pPr>
            <a:r>
              <a:rPr lang="en-US" sz="1250" dirty="0">
                <a:solidFill>
                  <a:srgbClr val="C8D4E0"/>
                </a:solidFill>
                <a:latin typeface="Segoe UI" pitchFamily="34" charset="0"/>
                <a:ea typeface="Segoe UI" pitchFamily="34" charset="-122"/>
                <a:cs typeface="Segoe UI" pitchFamily="34" charset="-120"/>
              </a:rPr>
              <a:t>Ingeniero Mecánico · Magíster en Ingeniería</a:t>
            </a:r>
            <a:endParaRPr lang="en-US" sz="1250" dirty="0"/>
          </a:p>
        </p:txBody>
      </p:sp>
      <p:sp>
        <p:nvSpPr>
          <p:cNvPr id="21" name="Shape 18"/>
          <p:cNvSpPr/>
          <p:nvPr/>
        </p:nvSpPr>
        <p:spPr>
          <a:xfrm>
            <a:off x="8531352" y="3849624"/>
            <a:ext cx="118872" cy="118872"/>
          </a:xfrm>
          <a:prstGeom prst="rect">
            <a:avLst/>
          </a:prstGeom>
          <a:solidFill>
            <a:srgbClr val="FFB903"/>
          </a:solidFill>
          <a:ln/>
        </p:spPr>
      </p:sp>
      <p:sp>
        <p:nvSpPr>
          <p:cNvPr id="22" name="Text 19"/>
          <p:cNvSpPr txBox="1"/>
          <p:nvPr/>
        </p:nvSpPr>
        <p:spPr>
          <a:xfrm>
            <a:off x="8741664" y="3730752"/>
            <a:ext cx="3200400" cy="630936"/>
          </a:xfrm>
          <a:prstGeom prst="rect">
            <a:avLst/>
          </a:prstGeom>
          <a:noFill/>
          <a:ln/>
        </p:spPr>
        <p:txBody>
          <a:bodyPr wrap="square" lIns="0" tIns="0" rIns="0" bIns="0" rtlCol="0" anchor="ctr"/>
          <a:lstStyle/>
          <a:p>
            <a:pPr marL="0" indent="0">
              <a:lnSpc>
                <a:spcPts val="1700"/>
              </a:lnSpc>
              <a:buNone/>
            </a:pPr>
            <a:r>
              <a:rPr lang="en-US" sz="1250" dirty="0">
                <a:solidFill>
                  <a:srgbClr val="C8D4E0"/>
                </a:solidFill>
                <a:latin typeface="Segoe UI" pitchFamily="34" charset="0"/>
                <a:ea typeface="Segoe UI" pitchFamily="34" charset="-122"/>
                <a:cs typeface="Segoe UI" pitchFamily="34" charset="-120"/>
              </a:rPr>
              <a:t>Especialista en Diseño Mecánico</a:t>
            </a:r>
            <a:endParaRPr lang="en-US" sz="1250" dirty="0"/>
          </a:p>
        </p:txBody>
      </p:sp>
      <p:sp>
        <p:nvSpPr>
          <p:cNvPr id="23" name="Shape 20"/>
          <p:cNvSpPr/>
          <p:nvPr/>
        </p:nvSpPr>
        <p:spPr>
          <a:xfrm>
            <a:off x="8531352" y="4434840"/>
            <a:ext cx="118872" cy="118872"/>
          </a:xfrm>
          <a:prstGeom prst="rect">
            <a:avLst/>
          </a:prstGeom>
          <a:solidFill>
            <a:srgbClr val="FFB903"/>
          </a:solidFill>
          <a:ln/>
        </p:spPr>
      </p:sp>
      <p:sp>
        <p:nvSpPr>
          <p:cNvPr id="24" name="Text 21"/>
          <p:cNvSpPr txBox="1"/>
          <p:nvPr/>
        </p:nvSpPr>
        <p:spPr>
          <a:xfrm>
            <a:off x="8741664" y="4315968"/>
            <a:ext cx="3200400" cy="630936"/>
          </a:xfrm>
          <a:prstGeom prst="rect">
            <a:avLst/>
          </a:prstGeom>
          <a:noFill/>
          <a:ln/>
        </p:spPr>
        <p:txBody>
          <a:bodyPr wrap="square" lIns="0" tIns="0" rIns="0" bIns="0" rtlCol="0" anchor="ctr"/>
          <a:lstStyle/>
          <a:p>
            <a:pPr marL="0" indent="0">
              <a:lnSpc>
                <a:spcPts val="1700"/>
              </a:lnSpc>
              <a:buNone/>
            </a:pPr>
            <a:r>
              <a:rPr lang="en-US" sz="1250" dirty="0">
                <a:solidFill>
                  <a:srgbClr val="C8D4E0"/>
                </a:solidFill>
                <a:latin typeface="Segoe UI" pitchFamily="34" charset="0"/>
                <a:ea typeface="Segoe UI" pitchFamily="34" charset="-122"/>
                <a:cs typeface="Segoe UI" pitchFamily="34" charset="-120"/>
              </a:rPr>
              <a:t>Profesor Titular, Escuela de Ciencias Aplicadas e Ingeniería</a:t>
            </a:r>
            <a:endParaRPr lang="en-US" sz="1250" dirty="0"/>
          </a:p>
        </p:txBody>
      </p:sp>
      <p:sp>
        <p:nvSpPr>
          <p:cNvPr id="25" name="Shape 22"/>
          <p:cNvSpPr/>
          <p:nvPr/>
        </p:nvSpPr>
        <p:spPr>
          <a:xfrm>
            <a:off x="8531352" y="5294376"/>
            <a:ext cx="118872" cy="118872"/>
          </a:xfrm>
          <a:prstGeom prst="rect">
            <a:avLst/>
          </a:prstGeom>
          <a:solidFill>
            <a:srgbClr val="FFB903"/>
          </a:solidFill>
          <a:ln/>
        </p:spPr>
      </p:sp>
      <p:sp>
        <p:nvSpPr>
          <p:cNvPr id="26" name="Text 23"/>
          <p:cNvSpPr txBox="1"/>
          <p:nvPr/>
        </p:nvSpPr>
        <p:spPr>
          <a:xfrm>
            <a:off x="8741664" y="5175504"/>
            <a:ext cx="3200400" cy="630936"/>
          </a:xfrm>
          <a:prstGeom prst="rect">
            <a:avLst/>
          </a:prstGeom>
          <a:noFill/>
          <a:ln/>
        </p:spPr>
        <p:txBody>
          <a:bodyPr wrap="square" lIns="0" tIns="0" rIns="0" bIns="0" rtlCol="0" anchor="ctr"/>
          <a:lstStyle/>
          <a:p>
            <a:pPr marL="0" indent="0">
              <a:lnSpc>
                <a:spcPts val="1700"/>
              </a:lnSpc>
              <a:buNone/>
            </a:pPr>
            <a:r>
              <a:rPr lang="en-US" sz="1250" dirty="0">
                <a:solidFill>
                  <a:srgbClr val="C8D4E0"/>
                </a:solidFill>
                <a:latin typeface="Segoe UI" pitchFamily="34" charset="0"/>
                <a:ea typeface="Segoe UI" pitchFamily="34" charset="-122"/>
                <a:cs typeface="Segoe UI" pitchFamily="34" charset="-120"/>
              </a:rPr>
              <a:t>Jefe de Pregrado en Ingeniería Mecánica</a:t>
            </a:r>
            <a:endParaRPr lang="en-US" sz="1250" dirty="0"/>
          </a:p>
        </p:txBody>
      </p:sp>
      <p:sp>
        <p:nvSpPr>
          <p:cNvPr id="27" name="Shape 24"/>
          <p:cNvSpPr/>
          <p:nvPr/>
        </p:nvSpPr>
        <p:spPr>
          <a:xfrm>
            <a:off x="8531352" y="6099048"/>
            <a:ext cx="118872" cy="118872"/>
          </a:xfrm>
          <a:prstGeom prst="rect">
            <a:avLst/>
          </a:prstGeom>
          <a:solidFill>
            <a:srgbClr val="FFB903"/>
          </a:solidFill>
          <a:ln/>
        </p:spPr>
      </p:sp>
      <p:sp>
        <p:nvSpPr>
          <p:cNvPr id="28" name="Text 25"/>
          <p:cNvSpPr txBox="1"/>
          <p:nvPr/>
        </p:nvSpPr>
        <p:spPr>
          <a:xfrm>
            <a:off x="8741664" y="5980176"/>
            <a:ext cx="3200400" cy="630936"/>
          </a:xfrm>
          <a:prstGeom prst="rect">
            <a:avLst/>
          </a:prstGeom>
          <a:noFill/>
          <a:ln/>
        </p:spPr>
        <p:txBody>
          <a:bodyPr wrap="square" lIns="0" tIns="0" rIns="0" bIns="0" rtlCol="0" anchor="ctr"/>
          <a:lstStyle/>
          <a:p>
            <a:pPr marL="0" indent="0">
              <a:lnSpc>
                <a:spcPts val="1700"/>
              </a:lnSpc>
              <a:buNone/>
            </a:pPr>
            <a:r>
              <a:rPr lang="en-US" sz="1250" dirty="0">
                <a:solidFill>
                  <a:srgbClr val="C8D4E0"/>
                </a:solidFill>
                <a:latin typeface="Segoe UI" pitchFamily="34" charset="0"/>
                <a:ea typeface="Segoe UI" pitchFamily="34" charset="-122"/>
                <a:cs typeface="Segoe UI" pitchFamily="34" charset="-120"/>
              </a:rPr>
              <a:t>Director de Ingeniería Programa Kratos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5C"/>
          </a:solidFill>
          <a:ln/>
        </p:spPr>
      </p:sp>
      <p:sp>
        <p:nvSpPr>
          <p:cNvPr id="3" name="Shape 1"/>
          <p:cNvSpPr/>
          <p:nvPr/>
        </p:nvSpPr>
        <p:spPr>
          <a:xfrm>
            <a:off x="0" y="0"/>
            <a:ext cx="274320" cy="6858000"/>
          </a:xfrm>
          <a:prstGeom prst="rect">
            <a:avLst/>
          </a:prstGeom>
          <a:solidFill>
            <a:srgbClr val="FFB903"/>
          </a:solidFill>
          <a:ln/>
        </p:spPr>
      </p:sp>
      <p:sp>
        <p:nvSpPr>
          <p:cNvPr id="4" name="Shape 2"/>
          <p:cNvSpPr/>
          <p:nvPr/>
        </p:nvSpPr>
        <p:spPr>
          <a:xfrm>
            <a:off x="7616952" y="0"/>
            <a:ext cx="4574743" cy="6858000"/>
          </a:xfrm>
          <a:prstGeom prst="rect">
            <a:avLst/>
          </a:prstGeom>
          <a:solidFill>
            <a:srgbClr val="001E38"/>
          </a:solidFill>
          <a:ln/>
        </p:spPr>
      </p:sp>
      <p:pic>
        <p:nvPicPr>
          <p:cNvPr id="5"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6" name="Text 3"/>
          <p:cNvSpPr txBox="1"/>
          <p:nvPr/>
        </p:nvSpPr>
        <p:spPr>
          <a:xfrm>
            <a:off x="1143000" y="1005840"/>
            <a:ext cx="2377440" cy="1417320"/>
          </a:xfrm>
          <a:prstGeom prst="rect">
            <a:avLst/>
          </a:prstGeom>
          <a:noFill/>
          <a:ln/>
        </p:spPr>
        <p:txBody>
          <a:bodyPr wrap="square" lIns="0" tIns="0" rIns="0" bIns="0" rtlCol="0" anchor="ctr"/>
          <a:lstStyle/>
          <a:p>
            <a:pPr marL="0" indent="0">
              <a:buNone/>
            </a:pPr>
            <a:r>
              <a:rPr lang="en-US" sz="10400" b="1" dirty="0">
                <a:solidFill>
                  <a:srgbClr val="FFB903"/>
                </a:solidFill>
                <a:latin typeface="Segoe UI" pitchFamily="34" charset="0"/>
                <a:ea typeface="Segoe UI" pitchFamily="34" charset="-122"/>
                <a:cs typeface="Segoe UI" pitchFamily="34" charset="-120"/>
              </a:rPr>
              <a:t>1</a:t>
            </a:r>
            <a:endParaRPr lang="en-US" sz="10400" dirty="0"/>
          </a:p>
        </p:txBody>
      </p:sp>
      <p:sp>
        <p:nvSpPr>
          <p:cNvPr id="7" name="Text 4"/>
          <p:cNvSpPr txBox="1"/>
          <p:nvPr/>
        </p:nvSpPr>
        <p:spPr>
          <a:xfrm>
            <a:off x="1143000" y="2350008"/>
            <a:ext cx="6126480" cy="1554480"/>
          </a:xfrm>
          <a:prstGeom prst="rect">
            <a:avLst/>
          </a:prstGeom>
          <a:noFill/>
          <a:ln/>
        </p:spPr>
        <p:txBody>
          <a:bodyPr wrap="square" lIns="0" tIns="0" rIns="0" bIns="0" rtlCol="0" anchor="ctr"/>
          <a:lstStyle/>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Acciones</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modificativas:</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concepto y alcance</a:t>
            </a:r>
            <a:endParaRPr lang="en-US" sz="3300" dirty="0"/>
          </a:p>
        </p:txBody>
      </p:sp>
      <p:sp>
        <p:nvSpPr>
          <p:cNvPr id="8" name="Shape 5"/>
          <p:cNvSpPr/>
          <p:nvPr/>
        </p:nvSpPr>
        <p:spPr>
          <a:xfrm>
            <a:off x="1143000" y="4069080"/>
            <a:ext cx="1371600" cy="45720"/>
          </a:xfrm>
          <a:prstGeom prst="rect">
            <a:avLst/>
          </a:prstGeom>
          <a:solidFill>
            <a:srgbClr val="FFB903"/>
          </a:solidFill>
          <a:ln/>
        </p:spPr>
      </p:sp>
      <p:sp>
        <p:nvSpPr>
          <p:cNvPr id="9" name="Text 6"/>
          <p:cNvSpPr txBox="1"/>
          <p:nvPr/>
        </p:nvSpPr>
        <p:spPr>
          <a:xfrm>
            <a:off x="1143000" y="4279392"/>
            <a:ext cx="5852160" cy="1005840"/>
          </a:xfrm>
          <a:prstGeom prst="rect">
            <a:avLst/>
          </a:prstGeom>
          <a:noFill/>
          <a:ln/>
        </p:spPr>
        <p:txBody>
          <a:bodyPr wrap="square" lIns="0" tIns="0" rIns="0" bIns="0" rtlCol="0" anchor="ctr"/>
          <a:lstStyle/>
          <a:p>
            <a:pPr marL="0" indent="0">
              <a:lnSpc>
                <a:spcPts val="2500"/>
              </a:lnSpc>
              <a:buNone/>
            </a:pPr>
            <a:r>
              <a:rPr lang="en-US" sz="1800" dirty="0">
                <a:solidFill>
                  <a:srgbClr val="B8C8D8"/>
                </a:solidFill>
                <a:latin typeface="Segoe UI" pitchFamily="34" charset="0"/>
                <a:ea typeface="Segoe UI" pitchFamily="34" charset="-122"/>
                <a:cs typeface="Segoe UI" pitchFamily="34" charset="-120"/>
              </a:rPr>
              <a:t>Qué son, cuándo se emplean y hacia dónde pueden orientarse las modificaciones en una máquina o sistema.</a:t>
            </a:r>
            <a:endParaRPr lang="en-US" sz="1800" dirty="0"/>
          </a:p>
        </p:txBody>
      </p:sp>
      <p:sp>
        <p:nvSpPr>
          <p:cNvPr id="10" name="Text 7"/>
          <p:cNvSpPr txBox="1"/>
          <p:nvPr/>
        </p:nvSpPr>
        <p:spPr>
          <a:xfrm>
            <a:off x="8211312" y="1719072"/>
            <a:ext cx="3291840" cy="338328"/>
          </a:xfrm>
          <a:prstGeom prst="rect">
            <a:avLst/>
          </a:prstGeom>
          <a:noFill/>
          <a:ln/>
        </p:spPr>
        <p:txBody>
          <a:bodyPr wrap="square" lIns="0" tIns="0" rIns="0" bIns="0" rtlCol="0" anchor="ctr"/>
          <a:lstStyle/>
          <a:p>
            <a:pPr marL="0" indent="0">
              <a:buNone/>
            </a:pPr>
            <a:r>
              <a:rPr lang="en-US" sz="1800" b="1" kern="0" spc="80" dirty="0">
                <a:solidFill>
                  <a:srgbClr val="FFB903"/>
                </a:solidFill>
                <a:latin typeface="Segoe UI" pitchFamily="34" charset="0"/>
                <a:ea typeface="Segoe UI" pitchFamily="34" charset="-122"/>
                <a:cs typeface="Segoe UI" pitchFamily="34" charset="-120"/>
              </a:rPr>
              <a:t>EN ESTA SECCIÓN</a:t>
            </a:r>
            <a:endParaRPr lang="en-US" sz="1800" dirty="0"/>
          </a:p>
        </p:txBody>
      </p:sp>
      <p:sp>
        <p:nvSpPr>
          <p:cNvPr id="11" name="Shape 8"/>
          <p:cNvSpPr/>
          <p:nvPr/>
        </p:nvSpPr>
        <p:spPr>
          <a:xfrm>
            <a:off x="8211312" y="2359152"/>
            <a:ext cx="146304" cy="36576"/>
          </a:xfrm>
          <a:prstGeom prst="rect">
            <a:avLst/>
          </a:prstGeom>
          <a:solidFill>
            <a:srgbClr val="FFB903"/>
          </a:solidFill>
          <a:ln/>
        </p:spPr>
      </p:sp>
      <p:sp>
        <p:nvSpPr>
          <p:cNvPr id="12" name="Text 9"/>
          <p:cNvSpPr txBox="1"/>
          <p:nvPr/>
        </p:nvSpPr>
        <p:spPr>
          <a:xfrm>
            <a:off x="8485632" y="224028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Concepto y relación con las correctivas</a:t>
            </a:r>
            <a:endParaRPr lang="en-US" sz="1650" dirty="0"/>
          </a:p>
        </p:txBody>
      </p:sp>
      <p:sp>
        <p:nvSpPr>
          <p:cNvPr id="13" name="Shape 10"/>
          <p:cNvSpPr/>
          <p:nvPr/>
        </p:nvSpPr>
        <p:spPr>
          <a:xfrm>
            <a:off x="8211312" y="3319272"/>
            <a:ext cx="146304" cy="36576"/>
          </a:xfrm>
          <a:prstGeom prst="rect">
            <a:avLst/>
          </a:prstGeom>
          <a:solidFill>
            <a:srgbClr val="FFB903"/>
          </a:solidFill>
          <a:ln/>
        </p:spPr>
      </p:sp>
      <p:sp>
        <p:nvSpPr>
          <p:cNvPr id="14" name="Text 11"/>
          <p:cNvSpPr txBox="1"/>
          <p:nvPr/>
        </p:nvSpPr>
        <p:spPr>
          <a:xfrm>
            <a:off x="8485632" y="320040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Orientación a producción y costos</a:t>
            </a:r>
            <a:endParaRPr lang="en-US" sz="1650" dirty="0"/>
          </a:p>
        </p:txBody>
      </p:sp>
      <p:sp>
        <p:nvSpPr>
          <p:cNvPr id="15" name="Shape 12"/>
          <p:cNvSpPr/>
          <p:nvPr/>
        </p:nvSpPr>
        <p:spPr>
          <a:xfrm>
            <a:off x="8211312" y="4279392"/>
            <a:ext cx="146304" cy="36576"/>
          </a:xfrm>
          <a:prstGeom prst="rect">
            <a:avLst/>
          </a:prstGeom>
          <a:solidFill>
            <a:srgbClr val="FFB903"/>
          </a:solidFill>
          <a:ln/>
        </p:spPr>
      </p:sp>
      <p:sp>
        <p:nvSpPr>
          <p:cNvPr id="16" name="Text 13"/>
          <p:cNvSpPr txBox="1"/>
          <p:nvPr/>
        </p:nvSpPr>
        <p:spPr>
          <a:xfrm>
            <a:off x="8485632" y="416052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Seguridad y entorno</a:t>
            </a:r>
            <a:endParaRPr lang="en-US" sz="1650" dirty="0"/>
          </a:p>
        </p:txBody>
      </p:sp>
      <p:sp>
        <p:nvSpPr>
          <p:cNvPr id="17" name="Shape 14"/>
          <p:cNvSpPr/>
          <p:nvPr/>
        </p:nvSpPr>
        <p:spPr>
          <a:xfrm>
            <a:off x="8211312" y="5239512"/>
            <a:ext cx="146304" cy="36576"/>
          </a:xfrm>
          <a:prstGeom prst="rect">
            <a:avLst/>
          </a:prstGeom>
          <a:solidFill>
            <a:srgbClr val="FFB903"/>
          </a:solidFill>
          <a:ln/>
        </p:spPr>
      </p:sp>
      <p:sp>
        <p:nvSpPr>
          <p:cNvPr id="18" name="Text 15"/>
          <p:cNvSpPr txBox="1"/>
          <p:nvPr/>
        </p:nvSpPr>
        <p:spPr>
          <a:xfrm>
            <a:off x="8485632" y="512064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Mejoras y rediseños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1E38"/>
          </a:solidFill>
          <a:ln/>
        </p:spPr>
      </p:sp>
      <p:sp>
        <p:nvSpPr>
          <p:cNvPr id="3" name="Shape 1"/>
          <p:cNvSpPr/>
          <p:nvPr/>
        </p:nvSpPr>
        <p:spPr>
          <a:xfrm>
            <a:off x="0" y="0"/>
            <a:ext cx="12191695" cy="128016"/>
          </a:xfrm>
          <a:prstGeom prst="rect">
            <a:avLst/>
          </a:prstGeom>
          <a:solidFill>
            <a:srgbClr val="FFB903"/>
          </a:solidFill>
          <a:ln/>
        </p:spPr>
      </p:sp>
      <p:sp>
        <p:nvSpPr>
          <p:cNvPr id="4" name="Shape 2"/>
          <p:cNvSpPr/>
          <p:nvPr/>
        </p:nvSpPr>
        <p:spPr>
          <a:xfrm>
            <a:off x="0" y="6035040"/>
            <a:ext cx="12191695" cy="822960"/>
          </a:xfrm>
          <a:prstGeom prst="rect">
            <a:avLst/>
          </a:prstGeom>
          <a:solidFill>
            <a:srgbClr val="00335C"/>
          </a:solidFill>
          <a:ln/>
        </p:spPr>
      </p:sp>
      <p:pic>
        <p:nvPicPr>
          <p:cNvPr id="5" name="Image 0" descr="/home/claude/work/assets/logo_eafit_blanco.png"/>
          <p:cNvPicPr>
            <a:picLocks noChangeAspect="1"/>
          </p:cNvPicPr>
          <p:nvPr/>
        </p:nvPicPr>
        <p:blipFill>
          <a:blip r:embed="rId3"/>
          <a:stretch>
            <a:fillRect/>
          </a:stretch>
        </p:blipFill>
        <p:spPr>
          <a:xfrm>
            <a:off x="10680192" y="457200"/>
            <a:ext cx="1152144" cy="713232"/>
          </a:xfrm>
          <a:prstGeom prst="rect">
            <a:avLst/>
          </a:prstGeom>
        </p:spPr>
      </p:pic>
      <p:sp>
        <p:nvSpPr>
          <p:cNvPr id="6" name="Text 3"/>
          <p:cNvSpPr txBox="1"/>
          <p:nvPr/>
        </p:nvSpPr>
        <p:spPr>
          <a:xfrm>
            <a:off x="658368" y="566928"/>
            <a:ext cx="5486400" cy="310896"/>
          </a:xfrm>
          <a:prstGeom prst="rect">
            <a:avLst/>
          </a:prstGeom>
          <a:noFill/>
          <a:ln/>
        </p:spPr>
        <p:txBody>
          <a:bodyPr wrap="square" lIns="0" tIns="0" rIns="0" bIns="0" rtlCol="0" anchor="ctr"/>
          <a:lstStyle/>
          <a:p>
            <a:pPr marL="0" indent="0">
              <a:buNone/>
            </a:pPr>
            <a:r>
              <a:rPr lang="en-US" sz="1400" b="1" kern="0" spc="120" dirty="0">
                <a:solidFill>
                  <a:srgbClr val="FFB903"/>
                </a:solidFill>
                <a:latin typeface="Segoe UI" pitchFamily="34" charset="0"/>
                <a:ea typeface="Segoe UI" pitchFamily="34" charset="-122"/>
                <a:cs typeface="Segoe UI" pitchFamily="34" charset="-120"/>
              </a:rPr>
              <a:t>ACTIVIDAD 10</a:t>
            </a:r>
            <a:endParaRPr lang="en-US" sz="1400" dirty="0"/>
          </a:p>
        </p:txBody>
      </p:sp>
      <p:sp>
        <p:nvSpPr>
          <p:cNvPr id="7" name="Text 4"/>
          <p:cNvSpPr txBox="1"/>
          <p:nvPr/>
        </p:nvSpPr>
        <p:spPr>
          <a:xfrm>
            <a:off x="658368" y="932688"/>
            <a:ext cx="9601200" cy="914400"/>
          </a:xfrm>
          <a:prstGeom prst="rect">
            <a:avLst/>
          </a:prstGeom>
          <a:noFill/>
          <a:ln/>
        </p:spPr>
        <p:txBody>
          <a:bodyPr wrap="square" lIns="0" tIns="0" rIns="0" bIns="0"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Punto de partida</a:t>
            </a:r>
            <a:endParaRPr lang="en-US" sz="3400" dirty="0"/>
          </a:p>
        </p:txBody>
      </p:sp>
      <p:sp>
        <p:nvSpPr>
          <p:cNvPr id="8" name="Text 5"/>
          <p:cNvSpPr txBox="1"/>
          <p:nvPr/>
        </p:nvSpPr>
        <p:spPr>
          <a:xfrm>
            <a:off x="658368" y="2240280"/>
            <a:ext cx="548640" cy="548640"/>
          </a:xfrm>
          <a:prstGeom prst="rect">
            <a:avLst/>
          </a:prstGeom>
          <a:noFill/>
          <a:ln/>
        </p:spPr>
        <p:txBody>
          <a:bodyPr wrap="square" lIns="0" tIns="0" rIns="0" bIns="0" rtlCol="0" anchor="ctr"/>
          <a:lstStyle/>
          <a:p>
            <a:pPr marL="0" indent="0">
              <a:buNone/>
            </a:pPr>
            <a:r>
              <a:rPr lang="en-US" sz="2300" b="1" dirty="0">
                <a:solidFill>
                  <a:srgbClr val="FFB903"/>
                </a:solidFill>
                <a:latin typeface="Segoe UI" pitchFamily="34" charset="0"/>
                <a:ea typeface="Segoe UI" pitchFamily="34" charset="-122"/>
                <a:cs typeface="Segoe UI" pitchFamily="34" charset="-120"/>
              </a:rPr>
              <a:t>1.</a:t>
            </a:r>
            <a:endParaRPr lang="en-US" sz="2300" dirty="0"/>
          </a:p>
        </p:txBody>
      </p:sp>
      <p:sp>
        <p:nvSpPr>
          <p:cNvPr id="9" name="Text 6"/>
          <p:cNvSpPr txBox="1"/>
          <p:nvPr/>
        </p:nvSpPr>
        <p:spPr>
          <a:xfrm>
            <a:off x="1280160" y="2258568"/>
            <a:ext cx="10058400" cy="1097280"/>
          </a:xfrm>
          <a:prstGeom prst="rect">
            <a:avLst/>
          </a:prstGeom>
          <a:noFill/>
          <a:ln/>
        </p:spPr>
        <p:txBody>
          <a:bodyPr wrap="square" lIns="0" tIns="0" rIns="0" bIns="0" rtlCol="0" anchor="ctr"/>
          <a:lstStyle/>
          <a:p>
            <a:pPr marL="0" indent="0">
              <a:lnSpc>
                <a:spcPts val="2990"/>
              </a:lnSpc>
              <a:buNone/>
            </a:pPr>
            <a:r>
              <a:rPr lang="en-US" sz="2300" dirty="0">
                <a:solidFill>
                  <a:srgbClr val="FFFFFF"/>
                </a:solidFill>
                <a:latin typeface="Segoe UI" pitchFamily="34" charset="0"/>
                <a:ea typeface="Segoe UI" pitchFamily="34" charset="-122"/>
                <a:cs typeface="Segoe UI" pitchFamily="34" charset="-120"/>
              </a:rPr>
              <a:t>Mencione algunos aspectos que deban ser considerados en un procedimiento de modificación o rediseño.</a:t>
            </a:r>
            <a:endParaRPr lang="en-US" sz="2300" dirty="0"/>
          </a:p>
        </p:txBody>
      </p:sp>
      <p:sp>
        <p:nvSpPr>
          <p:cNvPr id="10" name="Text 7"/>
          <p:cNvSpPr txBox="1"/>
          <p:nvPr/>
        </p:nvSpPr>
        <p:spPr>
          <a:xfrm>
            <a:off x="658368" y="3538728"/>
            <a:ext cx="548640" cy="548640"/>
          </a:xfrm>
          <a:prstGeom prst="rect">
            <a:avLst/>
          </a:prstGeom>
          <a:noFill/>
          <a:ln/>
        </p:spPr>
        <p:txBody>
          <a:bodyPr wrap="square" lIns="0" tIns="0" rIns="0" bIns="0" rtlCol="0" anchor="ctr"/>
          <a:lstStyle/>
          <a:p>
            <a:pPr marL="0" indent="0">
              <a:buNone/>
            </a:pPr>
            <a:r>
              <a:rPr lang="en-US" sz="2300" b="1" dirty="0">
                <a:solidFill>
                  <a:srgbClr val="FFB903"/>
                </a:solidFill>
                <a:latin typeface="Segoe UI" pitchFamily="34" charset="0"/>
                <a:ea typeface="Segoe UI" pitchFamily="34" charset="-122"/>
                <a:cs typeface="Segoe UI" pitchFamily="34" charset="-120"/>
              </a:rPr>
              <a:t>2.</a:t>
            </a:r>
            <a:endParaRPr lang="en-US" sz="2300" dirty="0"/>
          </a:p>
        </p:txBody>
      </p:sp>
      <p:sp>
        <p:nvSpPr>
          <p:cNvPr id="11" name="Text 8"/>
          <p:cNvSpPr txBox="1"/>
          <p:nvPr/>
        </p:nvSpPr>
        <p:spPr>
          <a:xfrm>
            <a:off x="1280160" y="3557016"/>
            <a:ext cx="10058400" cy="1371600"/>
          </a:xfrm>
          <a:prstGeom prst="rect">
            <a:avLst/>
          </a:prstGeom>
          <a:noFill/>
          <a:ln/>
        </p:spPr>
        <p:txBody>
          <a:bodyPr wrap="square" lIns="0" tIns="0" rIns="0" bIns="0" rtlCol="0" anchor="ctr"/>
          <a:lstStyle/>
          <a:p>
            <a:pPr marL="0" indent="0">
              <a:lnSpc>
                <a:spcPts val="2990"/>
              </a:lnSpc>
              <a:buNone/>
            </a:pPr>
            <a:r>
              <a:rPr lang="en-US" sz="2300" dirty="0">
                <a:solidFill>
                  <a:srgbClr val="FFFFFF"/>
                </a:solidFill>
                <a:latin typeface="Segoe UI" pitchFamily="34" charset="0"/>
                <a:ea typeface="Segoe UI" pitchFamily="34" charset="-122"/>
                <a:cs typeface="Segoe UI" pitchFamily="34" charset="-120"/>
              </a:rPr>
              <a:t>Indique algunas mejoras (modificaciones sencillas) que se puedan dar en aplicaciones mecánicas, neumáticas, hidráulicas, eléctricas o electrónicas.</a:t>
            </a:r>
            <a:endParaRPr lang="en-US" sz="2300" dirty="0"/>
          </a:p>
        </p:txBody>
      </p:sp>
      <p:sp>
        <p:nvSpPr>
          <p:cNvPr id="12" name="Text 9"/>
          <p:cNvSpPr txBox="1"/>
          <p:nvPr/>
        </p:nvSpPr>
        <p:spPr>
          <a:xfrm>
            <a:off x="65836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MODALIDAD</a:t>
            </a:r>
            <a:endParaRPr lang="en-US" sz="950" dirty="0"/>
          </a:p>
        </p:txBody>
      </p:sp>
      <p:sp>
        <p:nvSpPr>
          <p:cNvPr id="13" name="Text 10"/>
          <p:cNvSpPr txBox="1"/>
          <p:nvPr/>
        </p:nvSpPr>
        <p:spPr>
          <a:xfrm>
            <a:off x="65836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Grupos de 3</a:t>
            </a:r>
            <a:endParaRPr lang="en-US" sz="1250" dirty="0"/>
          </a:p>
        </p:txBody>
      </p:sp>
      <p:sp>
        <p:nvSpPr>
          <p:cNvPr id="14" name="Text 11"/>
          <p:cNvSpPr txBox="1"/>
          <p:nvPr/>
        </p:nvSpPr>
        <p:spPr>
          <a:xfrm>
            <a:off x="427024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TIEMPO</a:t>
            </a:r>
            <a:endParaRPr lang="en-US" sz="950" dirty="0"/>
          </a:p>
        </p:txBody>
      </p:sp>
      <p:sp>
        <p:nvSpPr>
          <p:cNvPr id="15" name="Text 12"/>
          <p:cNvSpPr txBox="1"/>
          <p:nvPr/>
        </p:nvSpPr>
        <p:spPr>
          <a:xfrm>
            <a:off x="427024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15 minutos</a:t>
            </a:r>
            <a:endParaRPr lang="en-US" sz="1250" dirty="0"/>
          </a:p>
        </p:txBody>
      </p:sp>
      <p:sp>
        <p:nvSpPr>
          <p:cNvPr id="16" name="Text 13"/>
          <p:cNvSpPr txBox="1"/>
          <p:nvPr/>
        </p:nvSpPr>
        <p:spPr>
          <a:xfrm>
            <a:off x="788212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ENTREGABLE</a:t>
            </a:r>
            <a:endParaRPr lang="en-US" sz="950" dirty="0"/>
          </a:p>
        </p:txBody>
      </p:sp>
      <p:sp>
        <p:nvSpPr>
          <p:cNvPr id="17" name="Text 14"/>
          <p:cNvSpPr txBox="1"/>
          <p:nvPr/>
        </p:nvSpPr>
        <p:spPr>
          <a:xfrm>
            <a:off x="788212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Respuestas en el foro del curso</a:t>
            </a:r>
            <a:endParaRPr lang="en-US" sz="1250" dirty="0"/>
          </a:p>
        </p:txBody>
      </p:sp>
      <p:sp>
        <p:nvSpPr>
          <p:cNvPr id="18" name="Text 15"/>
          <p:cNvSpPr txBox="1"/>
          <p:nvPr/>
        </p:nvSpPr>
        <p:spPr>
          <a:xfrm>
            <a:off x="7882128" y="5669280"/>
            <a:ext cx="3648456" cy="256032"/>
          </a:xfrm>
          <a:prstGeom prst="rect">
            <a:avLst/>
          </a:prstGeom>
          <a:noFill/>
          <a:ln/>
        </p:spPr>
        <p:txBody>
          <a:bodyPr wrap="square" lIns="0" tIns="0" rIns="0" bIns="0" rtlCol="0" anchor="ctr"/>
          <a:lstStyle/>
          <a:p>
            <a:pPr marL="0" indent="0" algn="r">
              <a:buNone/>
            </a:pPr>
            <a:r>
              <a:rPr lang="en-US" sz="950" dirty="0">
                <a:solidFill>
                  <a:srgbClr val="8A97A3"/>
                </a:solidFill>
                <a:latin typeface="Segoe UI" pitchFamily="34" charset="0"/>
                <a:ea typeface="Segoe UI" pitchFamily="34" charset="-122"/>
                <a:cs typeface="Segoe UI" pitchFamily="34" charset="-120"/>
              </a:rPr>
              <a:t>Clase 5 · Acciones modificativas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CONCEPTO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Acciones modificativas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a:t>
            </a:r>
            <a:endParaRPr lang="en-US" sz="1000" dirty="0"/>
          </a:p>
        </p:txBody>
      </p:sp>
      <p:sp>
        <p:nvSpPr>
          <p:cNvPr id="10" name="Shape 7"/>
          <p:cNvSpPr/>
          <p:nvPr/>
        </p:nvSpPr>
        <p:spPr>
          <a:xfrm>
            <a:off x="658368" y="1719072"/>
            <a:ext cx="10872216" cy="1755648"/>
          </a:xfrm>
          <a:prstGeom prst="rect">
            <a:avLst/>
          </a:prstGeom>
          <a:solidFill>
            <a:srgbClr val="E8F0F7"/>
          </a:solidFill>
          <a:ln/>
        </p:spPr>
      </p:sp>
      <p:sp>
        <p:nvSpPr>
          <p:cNvPr id="11" name="Shape 8"/>
          <p:cNvSpPr/>
          <p:nvPr/>
        </p:nvSpPr>
        <p:spPr>
          <a:xfrm>
            <a:off x="658368" y="1719072"/>
            <a:ext cx="64008" cy="1755648"/>
          </a:xfrm>
          <a:prstGeom prst="rect">
            <a:avLst/>
          </a:prstGeom>
          <a:solidFill>
            <a:srgbClr val="004B85"/>
          </a:solidFill>
          <a:ln/>
        </p:spPr>
      </p:sp>
      <p:sp>
        <p:nvSpPr>
          <p:cNvPr id="12" name="Text 9"/>
          <p:cNvSpPr txBox="1"/>
          <p:nvPr/>
        </p:nvSpPr>
        <p:spPr>
          <a:xfrm>
            <a:off x="1097280" y="1883664"/>
            <a:ext cx="9875520" cy="274320"/>
          </a:xfrm>
          <a:prstGeom prst="rect">
            <a:avLst/>
          </a:prstGeom>
          <a:noFill/>
          <a:ln/>
        </p:spPr>
        <p:txBody>
          <a:bodyPr wrap="square" lIns="0" tIns="0" rIns="0" bIns="0" rtlCol="0" anchor="ctr"/>
          <a:lstStyle/>
          <a:p>
            <a:pPr marL="0" indent="0">
              <a:buNone/>
            </a:pPr>
            <a:r>
              <a:rPr lang="en-US" sz="1200" b="1" kern="0" spc="100" dirty="0">
                <a:solidFill>
                  <a:srgbClr val="004B85"/>
                </a:solidFill>
                <a:latin typeface="Segoe UI" pitchFamily="34" charset="0"/>
                <a:ea typeface="Segoe UI" pitchFamily="34" charset="-122"/>
                <a:cs typeface="Segoe UI" pitchFamily="34" charset="-120"/>
              </a:rPr>
              <a:t>DEFINICIÓN</a:t>
            </a:r>
            <a:endParaRPr lang="en-US" sz="1200" dirty="0"/>
          </a:p>
        </p:txBody>
      </p:sp>
      <p:sp>
        <p:nvSpPr>
          <p:cNvPr id="13" name="Text 10"/>
          <p:cNvSpPr txBox="1"/>
          <p:nvPr/>
        </p:nvSpPr>
        <p:spPr>
          <a:xfrm>
            <a:off x="1097280" y="2212848"/>
            <a:ext cx="9966960" cy="1143000"/>
          </a:xfrm>
          <a:prstGeom prst="rect">
            <a:avLst/>
          </a:prstGeom>
          <a:noFill/>
          <a:ln/>
        </p:spPr>
        <p:txBody>
          <a:bodyPr wrap="square" lIns="0" tIns="0" rIns="0" bIns="0" rtlCol="0" anchor="ctr"/>
          <a:lstStyle/>
          <a:p>
            <a:pPr marL="0" indent="0">
              <a:lnSpc>
                <a:spcPts val="2500"/>
              </a:lnSpc>
              <a:buNone/>
            </a:pPr>
            <a:r>
              <a:rPr lang="en-US" sz="1800" dirty="0">
                <a:solidFill>
                  <a:srgbClr val="00335C"/>
                </a:solidFill>
                <a:latin typeface="Segoe UI" pitchFamily="34" charset="0"/>
                <a:ea typeface="Segoe UI" pitchFamily="34" charset="-122"/>
                <a:cs typeface="Segoe UI" pitchFamily="34" charset="-120"/>
              </a:rPr>
              <a:t>Se considera una versión superior y desarrollada de las acciones correctivas y se emplean cuando al aplicar éstas en forma continua o reiterada, no se logra recuperar la funcionalidad del equipo.</a:t>
            </a:r>
            <a:endParaRPr lang="en-US" sz="1800" dirty="0"/>
          </a:p>
        </p:txBody>
      </p:sp>
      <p:sp>
        <p:nvSpPr>
          <p:cNvPr id="14" name="Shape 11"/>
          <p:cNvSpPr/>
          <p:nvPr/>
        </p:nvSpPr>
        <p:spPr>
          <a:xfrm>
            <a:off x="658368" y="3730752"/>
            <a:ext cx="5294376" cy="1645920"/>
          </a:xfrm>
          <a:prstGeom prst="rect">
            <a:avLst/>
          </a:prstGeom>
          <a:solidFill>
            <a:srgbClr val="F4F7FA"/>
          </a:solidFill>
          <a:ln w="9525">
            <a:solidFill>
              <a:srgbClr val="D5DDE5"/>
            </a:solidFill>
            <a:prstDash val="solid"/>
          </a:ln>
        </p:spPr>
      </p:sp>
      <p:sp>
        <p:nvSpPr>
          <p:cNvPr id="15" name="Shape 12"/>
          <p:cNvSpPr/>
          <p:nvPr/>
        </p:nvSpPr>
        <p:spPr>
          <a:xfrm>
            <a:off x="658368" y="3730752"/>
            <a:ext cx="5294376" cy="64008"/>
          </a:xfrm>
          <a:prstGeom prst="rect">
            <a:avLst/>
          </a:prstGeom>
          <a:solidFill>
            <a:srgbClr val="004B85"/>
          </a:solidFill>
          <a:ln/>
        </p:spPr>
      </p:sp>
      <p:sp>
        <p:nvSpPr>
          <p:cNvPr id="16" name="Shape 13"/>
          <p:cNvSpPr/>
          <p:nvPr/>
        </p:nvSpPr>
        <p:spPr>
          <a:xfrm>
            <a:off x="914400" y="3968496"/>
            <a:ext cx="347472" cy="347472"/>
          </a:xfrm>
          <a:prstGeom prst="rect">
            <a:avLst/>
          </a:prstGeom>
          <a:solidFill>
            <a:srgbClr val="004B85"/>
          </a:solidFill>
          <a:ln/>
        </p:spPr>
      </p:sp>
      <p:sp>
        <p:nvSpPr>
          <p:cNvPr id="17" name="Text 14"/>
          <p:cNvSpPr txBox="1"/>
          <p:nvPr/>
        </p:nvSpPr>
        <p:spPr>
          <a:xfrm>
            <a:off x="914400" y="4014216"/>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8" name="Text 15"/>
          <p:cNvSpPr txBox="1"/>
          <p:nvPr/>
        </p:nvSpPr>
        <p:spPr>
          <a:xfrm>
            <a:off x="1389888" y="3950208"/>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Cuando lo correctivo no basta</a:t>
            </a:r>
            <a:endParaRPr lang="en-US" sz="1700" dirty="0"/>
          </a:p>
        </p:txBody>
      </p:sp>
      <p:sp>
        <p:nvSpPr>
          <p:cNvPr id="19" name="Text 16"/>
          <p:cNvSpPr txBox="1"/>
          <p:nvPr/>
        </p:nvSpPr>
        <p:spPr>
          <a:xfrm>
            <a:off x="914400" y="4370832"/>
            <a:ext cx="4782312" cy="841248"/>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Se emplean cuando la aplicación continua o reiterada de acciones correctivas no recupera la funcionalidad.</a:t>
            </a:r>
            <a:endParaRPr lang="en-US" sz="1400" dirty="0"/>
          </a:p>
        </p:txBody>
      </p:sp>
      <p:sp>
        <p:nvSpPr>
          <p:cNvPr id="20" name="Shape 17"/>
          <p:cNvSpPr/>
          <p:nvPr/>
        </p:nvSpPr>
        <p:spPr>
          <a:xfrm>
            <a:off x="6236208" y="3730752"/>
            <a:ext cx="5294376" cy="1645920"/>
          </a:xfrm>
          <a:prstGeom prst="rect">
            <a:avLst/>
          </a:prstGeom>
          <a:solidFill>
            <a:srgbClr val="F4F7FA"/>
          </a:solidFill>
          <a:ln w="9525">
            <a:solidFill>
              <a:srgbClr val="D5DDE5"/>
            </a:solidFill>
            <a:prstDash val="solid"/>
          </a:ln>
        </p:spPr>
      </p:sp>
      <p:sp>
        <p:nvSpPr>
          <p:cNvPr id="21" name="Shape 18"/>
          <p:cNvSpPr/>
          <p:nvPr/>
        </p:nvSpPr>
        <p:spPr>
          <a:xfrm>
            <a:off x="6236208" y="3730752"/>
            <a:ext cx="5294376" cy="64008"/>
          </a:xfrm>
          <a:prstGeom prst="rect">
            <a:avLst/>
          </a:prstGeom>
          <a:solidFill>
            <a:srgbClr val="FFB903"/>
          </a:solidFill>
          <a:ln/>
        </p:spPr>
      </p:sp>
      <p:sp>
        <p:nvSpPr>
          <p:cNvPr id="22" name="Shape 19"/>
          <p:cNvSpPr/>
          <p:nvPr/>
        </p:nvSpPr>
        <p:spPr>
          <a:xfrm>
            <a:off x="6492240" y="3968496"/>
            <a:ext cx="347472" cy="347472"/>
          </a:xfrm>
          <a:prstGeom prst="rect">
            <a:avLst/>
          </a:prstGeom>
          <a:solidFill>
            <a:srgbClr val="FFB903"/>
          </a:solidFill>
          <a:ln/>
        </p:spPr>
      </p:sp>
      <p:sp>
        <p:nvSpPr>
          <p:cNvPr id="23" name="Text 20"/>
          <p:cNvSpPr txBox="1"/>
          <p:nvPr/>
        </p:nvSpPr>
        <p:spPr>
          <a:xfrm>
            <a:off x="6492240" y="4014216"/>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24" name="Text 21"/>
          <p:cNvSpPr txBox="1"/>
          <p:nvPr/>
        </p:nvSpPr>
        <p:spPr>
          <a:xfrm>
            <a:off x="6967728" y="3950208"/>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Para mejorar los índices CMD</a:t>
            </a:r>
            <a:endParaRPr lang="en-US" sz="1700" dirty="0"/>
          </a:p>
        </p:txBody>
      </p:sp>
      <p:sp>
        <p:nvSpPr>
          <p:cNvPr id="25" name="Text 22"/>
          <p:cNvSpPr txBox="1"/>
          <p:nvPr/>
        </p:nvSpPr>
        <p:spPr>
          <a:xfrm>
            <a:off x="6492240" y="4370832"/>
            <a:ext cx="4782312" cy="841248"/>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Igualmente se emplean para mejorar la confiabilidad, la mantenibilidad y la disponibilidad.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CONCEPTO</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Cuando lo correctivo no basta</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5 · Acciones modificativas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1a</a:t>
            </a:r>
          </a:p>
        </p:txBody>
      </p:sp>
      <p:sp>
        <p:nvSpPr>
          <p:cNvPr id="12" name="Rectangle 11"/>
          <p:cNvSpPr/>
          <p:nvPr/>
        </p:nvSpPr>
        <p:spPr>
          <a:xfrm>
            <a:off x="841247" y="2167128"/>
            <a:ext cx="10506456" cy="36576"/>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22375" y="2066544"/>
            <a:ext cx="237744" cy="237744"/>
          </a:xfrm>
          <a:prstGeom prst="ellipse">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1728216"/>
            <a:ext cx="1828800" cy="237744"/>
          </a:xfrm>
          <a:prstGeom prst="rect">
            <a:avLst/>
          </a:prstGeom>
          <a:noFill/>
        </p:spPr>
        <p:txBody>
          <a:bodyPr wrap="square" lIns="0" tIns="0" rIns="0" bIns="0" anchor="t">
            <a:spAutoFit/>
          </a:bodyPr>
          <a:lstStyle/>
          <a:p>
            <a:pPr algn="l">
              <a:lnSpc>
                <a:spcPct val="122000"/>
              </a:lnSpc>
              <a:spcAft>
                <a:spcPts val="0"/>
              </a:spcAft>
            </a:pPr>
            <a:r>
              <a:rPr sz="1200" b="1" i="0">
                <a:solidFill>
                  <a:srgbClr val="00335C"/>
                </a:solidFill>
                <a:latin typeface="Segoe UI"/>
              </a:rPr>
              <a:t>Mes 2</a:t>
            </a:r>
          </a:p>
        </p:txBody>
      </p:sp>
      <p:sp>
        <p:nvSpPr>
          <p:cNvPr id="15" name="TextBox 14"/>
          <p:cNvSpPr txBox="1"/>
          <p:nvPr/>
        </p:nvSpPr>
        <p:spPr>
          <a:xfrm>
            <a:off x="658368" y="2386584"/>
            <a:ext cx="1828800" cy="237744"/>
          </a:xfrm>
          <a:prstGeom prst="rect">
            <a:avLst/>
          </a:prstGeom>
          <a:noFill/>
        </p:spPr>
        <p:txBody>
          <a:bodyPr wrap="square" lIns="0" tIns="0" rIns="0" bIns="0" anchor="t">
            <a:spAutoFit/>
          </a:bodyPr>
          <a:lstStyle/>
          <a:p>
            <a:pPr algn="l">
              <a:lnSpc>
                <a:spcPct val="122000"/>
              </a:lnSpc>
              <a:spcAft>
                <a:spcPts val="0"/>
              </a:spcAft>
            </a:pPr>
            <a:r>
              <a:rPr sz="1050" b="0" i="0">
                <a:solidFill>
                  <a:srgbClr val="5C6B7A"/>
                </a:solidFill>
                <a:latin typeface="Segoe UI"/>
              </a:rPr>
              <a:t>Cambio de rodamiento</a:t>
            </a:r>
          </a:p>
        </p:txBody>
      </p:sp>
      <p:sp>
        <p:nvSpPr>
          <p:cNvPr id="16" name="Oval 15"/>
          <p:cNvSpPr/>
          <p:nvPr/>
        </p:nvSpPr>
        <p:spPr>
          <a:xfrm>
            <a:off x="3348990" y="2066544"/>
            <a:ext cx="237744" cy="237744"/>
          </a:xfrm>
          <a:prstGeom prst="ellipse">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53462" y="1728216"/>
            <a:ext cx="1828800" cy="237744"/>
          </a:xfrm>
          <a:prstGeom prst="rect">
            <a:avLst/>
          </a:prstGeom>
          <a:noFill/>
        </p:spPr>
        <p:txBody>
          <a:bodyPr wrap="square" lIns="0" tIns="0" rIns="0" bIns="0" anchor="t">
            <a:spAutoFit/>
          </a:bodyPr>
          <a:lstStyle/>
          <a:p>
            <a:pPr algn="ctr">
              <a:lnSpc>
                <a:spcPct val="122000"/>
              </a:lnSpc>
              <a:spcAft>
                <a:spcPts val="0"/>
              </a:spcAft>
            </a:pPr>
            <a:r>
              <a:rPr sz="1200" b="1" i="0">
                <a:solidFill>
                  <a:srgbClr val="00335C"/>
                </a:solidFill>
                <a:latin typeface="Segoe UI"/>
              </a:rPr>
              <a:t>Mes 4</a:t>
            </a:r>
          </a:p>
        </p:txBody>
      </p:sp>
      <p:sp>
        <p:nvSpPr>
          <p:cNvPr id="18" name="TextBox 17"/>
          <p:cNvSpPr txBox="1"/>
          <p:nvPr/>
        </p:nvSpPr>
        <p:spPr>
          <a:xfrm>
            <a:off x="2553462" y="2386584"/>
            <a:ext cx="1828800" cy="237744"/>
          </a:xfrm>
          <a:prstGeom prst="rect">
            <a:avLst/>
          </a:prstGeom>
          <a:noFill/>
        </p:spPr>
        <p:txBody>
          <a:bodyPr wrap="square" lIns="0" tIns="0" rIns="0" bIns="0" anchor="t">
            <a:spAutoFit/>
          </a:bodyPr>
          <a:lstStyle/>
          <a:p>
            <a:pPr algn="ctr">
              <a:lnSpc>
                <a:spcPct val="122000"/>
              </a:lnSpc>
              <a:spcAft>
                <a:spcPts val="0"/>
              </a:spcAft>
            </a:pPr>
            <a:r>
              <a:rPr sz="1050" b="0" i="0">
                <a:solidFill>
                  <a:srgbClr val="5C6B7A"/>
                </a:solidFill>
                <a:latin typeface="Segoe UI"/>
              </a:rPr>
              <a:t>Cambio de rodamiento</a:t>
            </a:r>
          </a:p>
        </p:txBody>
      </p:sp>
      <p:sp>
        <p:nvSpPr>
          <p:cNvPr id="19" name="Oval 18"/>
          <p:cNvSpPr/>
          <p:nvPr/>
        </p:nvSpPr>
        <p:spPr>
          <a:xfrm>
            <a:off x="5975604" y="2066544"/>
            <a:ext cx="237744" cy="237744"/>
          </a:xfrm>
          <a:prstGeom prst="ellipse">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80076" y="1728216"/>
            <a:ext cx="1828800" cy="237744"/>
          </a:xfrm>
          <a:prstGeom prst="rect">
            <a:avLst/>
          </a:prstGeom>
          <a:noFill/>
        </p:spPr>
        <p:txBody>
          <a:bodyPr wrap="square" lIns="0" tIns="0" rIns="0" bIns="0" anchor="t">
            <a:spAutoFit/>
          </a:bodyPr>
          <a:lstStyle/>
          <a:p>
            <a:pPr algn="ctr">
              <a:lnSpc>
                <a:spcPct val="122000"/>
              </a:lnSpc>
              <a:spcAft>
                <a:spcPts val="0"/>
              </a:spcAft>
            </a:pPr>
            <a:r>
              <a:rPr sz="1200" b="1" i="0">
                <a:solidFill>
                  <a:srgbClr val="00335C"/>
                </a:solidFill>
                <a:latin typeface="Segoe UI"/>
              </a:rPr>
              <a:t>Mes 7</a:t>
            </a:r>
          </a:p>
        </p:txBody>
      </p:sp>
      <p:sp>
        <p:nvSpPr>
          <p:cNvPr id="21" name="TextBox 20"/>
          <p:cNvSpPr txBox="1"/>
          <p:nvPr/>
        </p:nvSpPr>
        <p:spPr>
          <a:xfrm>
            <a:off x="5180076" y="2386584"/>
            <a:ext cx="1828800" cy="237744"/>
          </a:xfrm>
          <a:prstGeom prst="rect">
            <a:avLst/>
          </a:prstGeom>
          <a:noFill/>
        </p:spPr>
        <p:txBody>
          <a:bodyPr wrap="square" lIns="0" tIns="0" rIns="0" bIns="0" anchor="t">
            <a:spAutoFit/>
          </a:bodyPr>
          <a:lstStyle/>
          <a:p>
            <a:pPr algn="ctr">
              <a:lnSpc>
                <a:spcPct val="122000"/>
              </a:lnSpc>
              <a:spcAft>
                <a:spcPts val="0"/>
              </a:spcAft>
            </a:pPr>
            <a:r>
              <a:rPr sz="1050" b="0" i="0">
                <a:solidFill>
                  <a:srgbClr val="5C6B7A"/>
                </a:solidFill>
                <a:latin typeface="Segoe UI"/>
              </a:rPr>
              <a:t>Cambio de rodamiento</a:t>
            </a:r>
          </a:p>
        </p:txBody>
      </p:sp>
      <p:sp>
        <p:nvSpPr>
          <p:cNvPr id="22" name="Oval 21"/>
          <p:cNvSpPr/>
          <p:nvPr/>
        </p:nvSpPr>
        <p:spPr>
          <a:xfrm>
            <a:off x="8602217" y="2066544"/>
            <a:ext cx="237744" cy="237744"/>
          </a:xfrm>
          <a:prstGeom prst="ellipse">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06690" y="1728216"/>
            <a:ext cx="1828800" cy="237744"/>
          </a:xfrm>
          <a:prstGeom prst="rect">
            <a:avLst/>
          </a:prstGeom>
          <a:noFill/>
        </p:spPr>
        <p:txBody>
          <a:bodyPr wrap="square" lIns="0" tIns="0" rIns="0" bIns="0" anchor="t">
            <a:spAutoFit/>
          </a:bodyPr>
          <a:lstStyle/>
          <a:p>
            <a:pPr algn="ctr">
              <a:lnSpc>
                <a:spcPct val="122000"/>
              </a:lnSpc>
              <a:spcAft>
                <a:spcPts val="0"/>
              </a:spcAft>
            </a:pPr>
            <a:r>
              <a:rPr sz="1200" b="1" i="0">
                <a:solidFill>
                  <a:srgbClr val="00335C"/>
                </a:solidFill>
                <a:latin typeface="Segoe UI"/>
              </a:rPr>
              <a:t>Mes 9</a:t>
            </a:r>
          </a:p>
        </p:txBody>
      </p:sp>
      <p:sp>
        <p:nvSpPr>
          <p:cNvPr id="24" name="TextBox 23"/>
          <p:cNvSpPr txBox="1"/>
          <p:nvPr/>
        </p:nvSpPr>
        <p:spPr>
          <a:xfrm>
            <a:off x="7806690" y="2386584"/>
            <a:ext cx="1828800" cy="237744"/>
          </a:xfrm>
          <a:prstGeom prst="rect">
            <a:avLst/>
          </a:prstGeom>
          <a:noFill/>
        </p:spPr>
        <p:txBody>
          <a:bodyPr wrap="square" lIns="0" tIns="0" rIns="0" bIns="0" anchor="t">
            <a:spAutoFit/>
          </a:bodyPr>
          <a:lstStyle/>
          <a:p>
            <a:pPr algn="ctr">
              <a:lnSpc>
                <a:spcPct val="122000"/>
              </a:lnSpc>
              <a:spcAft>
                <a:spcPts val="0"/>
              </a:spcAft>
            </a:pPr>
            <a:r>
              <a:rPr sz="1050" b="0" i="0">
                <a:solidFill>
                  <a:srgbClr val="5C6B7A"/>
                </a:solidFill>
                <a:latin typeface="Segoe UI"/>
              </a:rPr>
              <a:t>Cambio de rodamiento</a:t>
            </a:r>
          </a:p>
        </p:txBody>
      </p:sp>
      <p:sp>
        <p:nvSpPr>
          <p:cNvPr id="25" name="Oval 24"/>
          <p:cNvSpPr/>
          <p:nvPr/>
        </p:nvSpPr>
        <p:spPr>
          <a:xfrm>
            <a:off x="11228832" y="2066544"/>
            <a:ext cx="237744" cy="237744"/>
          </a:xfrm>
          <a:prstGeom prst="ellipse">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01784" y="1728216"/>
            <a:ext cx="1828800" cy="237744"/>
          </a:xfrm>
          <a:prstGeom prst="rect">
            <a:avLst/>
          </a:prstGeom>
          <a:noFill/>
        </p:spPr>
        <p:txBody>
          <a:bodyPr wrap="square" lIns="0" tIns="0" rIns="0" bIns="0" anchor="t">
            <a:spAutoFit/>
          </a:bodyPr>
          <a:lstStyle/>
          <a:p>
            <a:pPr algn="r">
              <a:lnSpc>
                <a:spcPct val="122000"/>
              </a:lnSpc>
              <a:spcAft>
                <a:spcPts val="0"/>
              </a:spcAft>
            </a:pPr>
            <a:r>
              <a:rPr sz="1200" b="1" i="0">
                <a:solidFill>
                  <a:srgbClr val="00335C"/>
                </a:solidFill>
                <a:latin typeface="Segoe UI"/>
              </a:rPr>
              <a:t>Mes 10</a:t>
            </a:r>
          </a:p>
        </p:txBody>
      </p:sp>
      <p:sp>
        <p:nvSpPr>
          <p:cNvPr id="27" name="TextBox 26"/>
          <p:cNvSpPr txBox="1"/>
          <p:nvPr/>
        </p:nvSpPr>
        <p:spPr>
          <a:xfrm>
            <a:off x="9701784" y="2386584"/>
            <a:ext cx="1828800" cy="237744"/>
          </a:xfrm>
          <a:prstGeom prst="rect">
            <a:avLst/>
          </a:prstGeom>
          <a:noFill/>
        </p:spPr>
        <p:txBody>
          <a:bodyPr wrap="square" lIns="0" tIns="0" rIns="0" bIns="0" anchor="t">
            <a:spAutoFit/>
          </a:bodyPr>
          <a:lstStyle/>
          <a:p>
            <a:pPr algn="r">
              <a:lnSpc>
                <a:spcPct val="122000"/>
              </a:lnSpc>
              <a:spcAft>
                <a:spcPts val="0"/>
              </a:spcAft>
            </a:pPr>
            <a:r>
              <a:rPr sz="1050" b="0" i="0">
                <a:solidFill>
                  <a:srgbClr val="5C6B7A"/>
                </a:solidFill>
                <a:latin typeface="Segoe UI"/>
              </a:rPr>
              <a:t>Análisis de causa raíz</a:t>
            </a:r>
          </a:p>
        </p:txBody>
      </p:sp>
      <p:sp>
        <p:nvSpPr>
          <p:cNvPr id="28" name="TextBox 27"/>
          <p:cNvSpPr txBox="1"/>
          <p:nvPr/>
        </p:nvSpPr>
        <p:spPr>
          <a:xfrm>
            <a:off x="658368" y="2697480"/>
            <a:ext cx="6400800" cy="237744"/>
          </a:xfrm>
          <a:prstGeom prst="rect">
            <a:avLst/>
          </a:prstGeom>
          <a:noFill/>
        </p:spPr>
        <p:txBody>
          <a:bodyPr wrap="square" lIns="0" tIns="0" rIns="0" bIns="0" anchor="t">
            <a:spAutoFit/>
          </a:bodyPr>
          <a:lstStyle/>
          <a:p>
            <a:pPr algn="l">
              <a:lnSpc>
                <a:spcPct val="122000"/>
              </a:lnSpc>
              <a:spcAft>
                <a:spcPts val="0"/>
              </a:spcAft>
            </a:pPr>
            <a:r>
              <a:rPr sz="1100" b="0" i="1">
                <a:solidFill>
                  <a:srgbClr val="8A97A3"/>
                </a:solidFill>
                <a:latin typeface="Segoe UI"/>
              </a:rPr>
              <a:t>Ventilador de tiro con motor accionado por variador de frecuencia</a:t>
            </a:r>
          </a:p>
        </p:txBody>
      </p:sp>
      <p:sp>
        <p:nvSpPr>
          <p:cNvPr id="29" name="Rectangle 28"/>
          <p:cNvSpPr/>
          <p:nvPr/>
        </p:nvSpPr>
        <p:spPr>
          <a:xfrm>
            <a:off x="658368" y="3081528"/>
            <a:ext cx="6355080" cy="105613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58368" y="3081528"/>
            <a:ext cx="54864" cy="1056131"/>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6968" y="3191256"/>
            <a:ext cx="2377440"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CAUSA RAÍZ</a:t>
            </a:r>
          </a:p>
        </p:txBody>
      </p:sp>
      <p:sp>
        <p:nvSpPr>
          <p:cNvPr id="32" name="TextBox 31"/>
          <p:cNvSpPr txBox="1"/>
          <p:nvPr/>
        </p:nvSpPr>
        <p:spPr>
          <a:xfrm>
            <a:off x="886968" y="3410712"/>
            <a:ext cx="5897880" cy="274320"/>
          </a:xfrm>
          <a:prstGeom prst="rect">
            <a:avLst/>
          </a:prstGeom>
          <a:noFill/>
        </p:spPr>
        <p:txBody>
          <a:bodyPr wrap="square" lIns="0" tIns="0" rIns="0" bIns="0" anchor="t">
            <a:spAutoFit/>
          </a:bodyPr>
          <a:lstStyle/>
          <a:p>
            <a:pPr algn="l">
              <a:lnSpc>
                <a:spcPct val="122000"/>
              </a:lnSpc>
              <a:spcAft>
                <a:spcPts val="0"/>
              </a:spcAft>
            </a:pPr>
            <a:r>
              <a:rPr sz="1400" b="1" i="0">
                <a:solidFill>
                  <a:srgbClr val="00335C"/>
                </a:solidFill>
                <a:latin typeface="Segoe UI"/>
              </a:rPr>
              <a:t>Paso de corriente por el eje</a:t>
            </a:r>
          </a:p>
        </p:txBody>
      </p:sp>
      <p:sp>
        <p:nvSpPr>
          <p:cNvPr id="33" name="TextBox 32"/>
          <p:cNvSpPr txBox="1"/>
          <p:nvPr/>
        </p:nvSpPr>
        <p:spPr>
          <a:xfrm>
            <a:off x="886968" y="3703320"/>
            <a:ext cx="5897880" cy="397763"/>
          </a:xfrm>
          <a:prstGeom prst="rect">
            <a:avLst/>
          </a:prstGeom>
          <a:noFill/>
        </p:spPr>
        <p:txBody>
          <a:bodyPr wrap="square" lIns="0" tIns="0" rIns="0" bIns="0" anchor="t">
            <a:spAutoFit/>
          </a:bodyPr>
          <a:lstStyle/>
          <a:p>
            <a:pPr algn="l">
              <a:lnSpc>
                <a:spcPct val="120000"/>
              </a:lnSpc>
              <a:spcAft>
                <a:spcPts val="0"/>
              </a:spcAft>
            </a:pPr>
            <a:r>
              <a:rPr sz="1100" b="0" i="0">
                <a:solidFill>
                  <a:srgbClr val="5C6B7A"/>
                </a:solidFill>
                <a:latin typeface="Segoe UI"/>
              </a:rPr>
              <a:t>Las corrientes inducidas por el variador atraviesan el rodamiento y dejan estrías en las pistas. Cada rodamiento nuevo repetía el mismo modo de falla.</a:t>
            </a:r>
          </a:p>
        </p:txBody>
      </p:sp>
      <p:sp>
        <p:nvSpPr>
          <p:cNvPr id="34" name="Rectangle 33"/>
          <p:cNvSpPr/>
          <p:nvPr/>
        </p:nvSpPr>
        <p:spPr>
          <a:xfrm>
            <a:off x="658368" y="4320540"/>
            <a:ext cx="6355080" cy="105613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58368" y="4320540"/>
            <a:ext cx="54864" cy="1056131"/>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86968" y="4430268"/>
            <a:ext cx="2377440"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ACCIÓN MODIFICATIVA</a:t>
            </a:r>
          </a:p>
        </p:txBody>
      </p:sp>
      <p:sp>
        <p:nvSpPr>
          <p:cNvPr id="37" name="TextBox 36"/>
          <p:cNvSpPr txBox="1"/>
          <p:nvPr/>
        </p:nvSpPr>
        <p:spPr>
          <a:xfrm>
            <a:off x="886968" y="4649724"/>
            <a:ext cx="5897880" cy="274320"/>
          </a:xfrm>
          <a:prstGeom prst="rect">
            <a:avLst/>
          </a:prstGeom>
          <a:noFill/>
        </p:spPr>
        <p:txBody>
          <a:bodyPr wrap="square" lIns="0" tIns="0" rIns="0" bIns="0" anchor="t">
            <a:spAutoFit/>
          </a:bodyPr>
          <a:lstStyle/>
          <a:p>
            <a:pPr algn="l">
              <a:lnSpc>
                <a:spcPct val="122000"/>
              </a:lnSpc>
              <a:spcAft>
                <a:spcPts val="0"/>
              </a:spcAft>
            </a:pPr>
            <a:r>
              <a:rPr sz="1400" b="1" i="0">
                <a:solidFill>
                  <a:srgbClr val="00335C"/>
                </a:solidFill>
                <a:latin typeface="Segoe UI"/>
              </a:rPr>
              <a:t>Atacar la causa, no el síntoma</a:t>
            </a:r>
          </a:p>
        </p:txBody>
      </p:sp>
      <p:sp>
        <p:nvSpPr>
          <p:cNvPr id="38" name="TextBox 37"/>
          <p:cNvSpPr txBox="1"/>
          <p:nvPr/>
        </p:nvSpPr>
        <p:spPr>
          <a:xfrm>
            <a:off x="886968" y="4942331"/>
            <a:ext cx="5897880" cy="397763"/>
          </a:xfrm>
          <a:prstGeom prst="rect">
            <a:avLst/>
          </a:prstGeom>
          <a:noFill/>
        </p:spPr>
        <p:txBody>
          <a:bodyPr wrap="square" lIns="0" tIns="0" rIns="0" bIns="0" anchor="t">
            <a:spAutoFit/>
          </a:bodyPr>
          <a:lstStyle/>
          <a:p>
            <a:pPr algn="l">
              <a:lnSpc>
                <a:spcPct val="120000"/>
              </a:lnSpc>
              <a:spcAft>
                <a:spcPts val="0"/>
              </a:spcAft>
            </a:pPr>
            <a:r>
              <a:rPr sz="1100" b="0" i="0">
                <a:solidFill>
                  <a:srgbClr val="5C6B7A"/>
                </a:solidFill>
                <a:latin typeface="Segoe UI"/>
              </a:rPr>
              <a:t>Rodamiento con aislamiento cerámico en el lado no acople y escobilla de puesta a tierra del eje. Se incorpora al estándar del equipo.</a:t>
            </a:r>
          </a:p>
        </p:txBody>
      </p:sp>
      <p:pic>
        <p:nvPicPr>
          <p:cNvPr id="39" name="Picture 38" descr="rod_estrias.jpg"/>
          <p:cNvPicPr>
            <a:picLocks noChangeAspect="1"/>
          </p:cNvPicPr>
          <p:nvPr/>
        </p:nvPicPr>
        <p:blipFill>
          <a:blip r:embed="rId4"/>
          <a:srcRect t="16940" b="16940"/>
          <a:stretch>
            <a:fillRect/>
          </a:stretch>
        </p:blipFill>
        <p:spPr>
          <a:xfrm>
            <a:off x="7287768" y="3081528"/>
            <a:ext cx="4242816" cy="1828800"/>
          </a:xfrm>
          <a:prstGeom prst="rect">
            <a:avLst/>
          </a:prstGeom>
          <a:ln w="9525">
            <a:solidFill>
              <a:srgbClr val="D5DDE5"/>
            </a:solidFill>
          </a:ln>
        </p:spPr>
      </p:pic>
      <p:sp>
        <p:nvSpPr>
          <p:cNvPr id="40" name="TextBox 39"/>
          <p:cNvSpPr txBox="1"/>
          <p:nvPr/>
        </p:nvSpPr>
        <p:spPr>
          <a:xfrm>
            <a:off x="7287768" y="4965192"/>
            <a:ext cx="4242816" cy="274320"/>
          </a:xfrm>
          <a:prstGeom prst="rect">
            <a:avLst/>
          </a:prstGeom>
          <a:noFill/>
        </p:spPr>
        <p:txBody>
          <a:bodyPr wrap="square" lIns="0" tIns="0" rIns="0" bIns="0" anchor="t">
            <a:spAutoFit/>
          </a:bodyPr>
          <a:lstStyle/>
          <a:p>
            <a:pPr algn="l">
              <a:lnSpc>
                <a:spcPct val="122000"/>
              </a:lnSpc>
              <a:spcAft>
                <a:spcPts val="0"/>
              </a:spcAft>
            </a:pPr>
            <a:r>
              <a:rPr sz="950" b="0" i="1">
                <a:solidFill>
                  <a:srgbClr val="8A97A3"/>
                </a:solidFill>
                <a:latin typeface="Segoe UI"/>
              </a:rPr>
              <a:t>Estrías por paso de corriente en la pista exterior.</a:t>
            </a:r>
          </a:p>
        </p:txBody>
      </p:sp>
      <p:sp>
        <p:nvSpPr>
          <p:cNvPr id="41" name="Rectangle 40"/>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Cuatro correctivas bien ejecutadas no resolvieron el problema: la causa estaba fuera del rodamiento.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ALCANCE</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Cambios en las condiciones de operación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a:t>
            </a:r>
            <a:endParaRPr lang="en-US" sz="1000" dirty="0"/>
          </a:p>
        </p:txBody>
      </p:sp>
      <p:sp>
        <p:nvSpPr>
          <p:cNvPr id="10" name="Shape 7"/>
          <p:cNvSpPr/>
          <p:nvPr/>
        </p:nvSpPr>
        <p:spPr>
          <a:xfrm>
            <a:off x="658368" y="2103120"/>
            <a:ext cx="10872216" cy="1920240"/>
          </a:xfrm>
          <a:prstGeom prst="rect">
            <a:avLst/>
          </a:prstGeom>
          <a:solidFill>
            <a:srgbClr val="E8F0F7"/>
          </a:solidFill>
          <a:ln/>
        </p:spPr>
      </p:sp>
      <p:sp>
        <p:nvSpPr>
          <p:cNvPr id="11" name="Shape 8"/>
          <p:cNvSpPr/>
          <p:nvPr/>
        </p:nvSpPr>
        <p:spPr>
          <a:xfrm>
            <a:off x="658368" y="2103120"/>
            <a:ext cx="64008" cy="1920240"/>
          </a:xfrm>
          <a:prstGeom prst="rect">
            <a:avLst/>
          </a:prstGeom>
          <a:solidFill>
            <a:srgbClr val="004B85"/>
          </a:solidFill>
          <a:ln/>
        </p:spPr>
      </p:sp>
      <p:sp>
        <p:nvSpPr>
          <p:cNvPr id="12" name="Text 9"/>
          <p:cNvSpPr txBox="1"/>
          <p:nvPr/>
        </p:nvSpPr>
        <p:spPr>
          <a:xfrm>
            <a:off x="1097280" y="2103120"/>
            <a:ext cx="9966960" cy="1920240"/>
          </a:xfrm>
          <a:prstGeom prst="rect">
            <a:avLst/>
          </a:prstGeom>
          <a:noFill/>
          <a:ln/>
        </p:spPr>
        <p:txBody>
          <a:bodyPr wrap="square" lIns="0" tIns="0" rIns="0" bIns="0" rtlCol="0" anchor="ctr"/>
          <a:lstStyle/>
          <a:p>
            <a:pPr marL="0" indent="0">
              <a:lnSpc>
                <a:spcPts val="3200"/>
              </a:lnSpc>
              <a:buNone/>
            </a:pPr>
            <a:r>
              <a:rPr lang="en-US" sz="2200" b="1" dirty="0">
                <a:solidFill>
                  <a:srgbClr val="00335C"/>
                </a:solidFill>
                <a:latin typeface="Segoe UI" pitchFamily="34" charset="0"/>
                <a:ea typeface="Segoe UI" pitchFamily="34" charset="-122"/>
                <a:cs typeface="Segoe UI" pitchFamily="34" charset="-120"/>
              </a:rPr>
              <a:t>Las modificaciones pueden estar también orientadas a realizar cambios en las condiciones de operación de la máquina en relación a los criterios de funcionamiento.</a:t>
            </a:r>
            <a:endParaRPr lang="en-US" sz="2200" dirty="0"/>
          </a:p>
        </p:txBody>
      </p:sp>
      <p:sp>
        <p:nvSpPr>
          <p:cNvPr id="13" name="Shape 10"/>
          <p:cNvSpPr/>
          <p:nvPr/>
        </p:nvSpPr>
        <p:spPr>
          <a:xfrm>
            <a:off x="658368" y="4663440"/>
            <a:ext cx="10872216" cy="420624"/>
          </a:xfrm>
          <a:prstGeom prst="rect">
            <a:avLst/>
          </a:prstGeom>
          <a:solidFill>
            <a:srgbClr val="E8F0F7"/>
          </a:solidFill>
          <a:ln/>
        </p:spPr>
      </p:sp>
      <p:sp>
        <p:nvSpPr>
          <p:cNvPr id="14" name="Shape 11"/>
          <p:cNvSpPr/>
          <p:nvPr/>
        </p:nvSpPr>
        <p:spPr>
          <a:xfrm>
            <a:off x="658368" y="4663440"/>
            <a:ext cx="54864" cy="420624"/>
          </a:xfrm>
          <a:prstGeom prst="rect">
            <a:avLst/>
          </a:prstGeom>
          <a:solidFill>
            <a:srgbClr val="004B85"/>
          </a:solidFill>
          <a:ln/>
        </p:spPr>
      </p:sp>
      <p:sp>
        <p:nvSpPr>
          <p:cNvPr id="15" name="Text 12"/>
          <p:cNvSpPr txBox="1"/>
          <p:nvPr/>
        </p:nvSpPr>
        <p:spPr>
          <a:xfrm>
            <a:off x="932688" y="4709160"/>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No toda modificación nace de una falla: también se modifica para operar la máquina bajo criterios distintos a los originales.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ORIENTACIÓN DE LAS MODIFICACIONES</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En relación con producción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a:t>
            </a:r>
            <a:endParaRPr lang="en-US" sz="1000" dirty="0"/>
          </a:p>
        </p:txBody>
      </p:sp>
      <p:sp>
        <p:nvSpPr>
          <p:cNvPr id="10" name="Shape 7"/>
          <p:cNvSpPr/>
          <p:nvPr/>
        </p:nvSpPr>
        <p:spPr>
          <a:xfrm>
            <a:off x="658368" y="1682496"/>
            <a:ext cx="3520440" cy="2011680"/>
          </a:xfrm>
          <a:prstGeom prst="rect">
            <a:avLst/>
          </a:prstGeom>
          <a:solidFill>
            <a:srgbClr val="F4F7FA"/>
          </a:solidFill>
          <a:ln w="9525">
            <a:solidFill>
              <a:srgbClr val="D5DDE5"/>
            </a:solidFill>
            <a:prstDash val="solid"/>
          </a:ln>
        </p:spPr>
      </p:sp>
      <p:sp>
        <p:nvSpPr>
          <p:cNvPr id="11" name="Shape 8"/>
          <p:cNvSpPr/>
          <p:nvPr/>
        </p:nvSpPr>
        <p:spPr>
          <a:xfrm>
            <a:off x="658368" y="1682496"/>
            <a:ext cx="3520440" cy="64008"/>
          </a:xfrm>
          <a:prstGeom prst="rect">
            <a:avLst/>
          </a:prstGeom>
          <a:solidFill>
            <a:srgbClr val="004B85"/>
          </a:solidFill>
          <a:ln/>
        </p:spPr>
      </p:sp>
      <p:sp>
        <p:nvSpPr>
          <p:cNvPr id="12" name="Shape 9"/>
          <p:cNvSpPr/>
          <p:nvPr/>
        </p:nvSpPr>
        <p:spPr>
          <a:xfrm>
            <a:off x="914400" y="1920240"/>
            <a:ext cx="347472" cy="347472"/>
          </a:xfrm>
          <a:prstGeom prst="rect">
            <a:avLst/>
          </a:prstGeom>
          <a:solidFill>
            <a:srgbClr val="004B85"/>
          </a:solidFill>
          <a:ln/>
        </p:spPr>
      </p:sp>
      <p:sp>
        <p:nvSpPr>
          <p:cNvPr id="13" name="Text 10"/>
          <p:cNvSpPr txBox="1"/>
          <p:nvPr/>
        </p:nvSpPr>
        <p:spPr>
          <a:xfrm>
            <a:off x="914400" y="196596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4" name="Text 11"/>
          <p:cNvSpPr txBox="1"/>
          <p:nvPr/>
        </p:nvSpPr>
        <p:spPr>
          <a:xfrm>
            <a:off x="1389888" y="1901952"/>
            <a:ext cx="2532888"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Capacidad</a:t>
            </a:r>
            <a:endParaRPr lang="en-US" sz="1700" dirty="0"/>
          </a:p>
        </p:txBody>
      </p:sp>
      <p:sp>
        <p:nvSpPr>
          <p:cNvPr id="15" name="Text 12"/>
          <p:cNvSpPr txBox="1"/>
          <p:nvPr/>
        </p:nvSpPr>
        <p:spPr>
          <a:xfrm>
            <a:off x="914400" y="2322576"/>
            <a:ext cx="3008376" cy="120700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Aumento del volumen que la máquina puede procesar.</a:t>
            </a:r>
            <a:endParaRPr lang="en-US" sz="1350" dirty="0"/>
          </a:p>
        </p:txBody>
      </p:sp>
      <p:sp>
        <p:nvSpPr>
          <p:cNvPr id="16" name="Shape 13"/>
          <p:cNvSpPr/>
          <p:nvPr/>
        </p:nvSpPr>
        <p:spPr>
          <a:xfrm>
            <a:off x="4334256" y="1682496"/>
            <a:ext cx="3520440" cy="2011680"/>
          </a:xfrm>
          <a:prstGeom prst="rect">
            <a:avLst/>
          </a:prstGeom>
          <a:solidFill>
            <a:srgbClr val="F4F7FA"/>
          </a:solidFill>
          <a:ln w="9525">
            <a:solidFill>
              <a:srgbClr val="D5DDE5"/>
            </a:solidFill>
            <a:prstDash val="solid"/>
          </a:ln>
        </p:spPr>
      </p:sp>
      <p:sp>
        <p:nvSpPr>
          <p:cNvPr id="17" name="Shape 14"/>
          <p:cNvSpPr/>
          <p:nvPr/>
        </p:nvSpPr>
        <p:spPr>
          <a:xfrm>
            <a:off x="4334256" y="1682496"/>
            <a:ext cx="3520440" cy="64008"/>
          </a:xfrm>
          <a:prstGeom prst="rect">
            <a:avLst/>
          </a:prstGeom>
          <a:solidFill>
            <a:srgbClr val="004B85"/>
          </a:solidFill>
          <a:ln/>
        </p:spPr>
      </p:sp>
      <p:sp>
        <p:nvSpPr>
          <p:cNvPr id="18" name="Shape 15"/>
          <p:cNvSpPr/>
          <p:nvPr/>
        </p:nvSpPr>
        <p:spPr>
          <a:xfrm>
            <a:off x="4590288" y="1920240"/>
            <a:ext cx="347472" cy="347472"/>
          </a:xfrm>
          <a:prstGeom prst="rect">
            <a:avLst/>
          </a:prstGeom>
          <a:solidFill>
            <a:srgbClr val="004B85"/>
          </a:solidFill>
          <a:ln/>
        </p:spPr>
      </p:sp>
      <p:sp>
        <p:nvSpPr>
          <p:cNvPr id="19" name="Text 16"/>
          <p:cNvSpPr txBox="1"/>
          <p:nvPr/>
        </p:nvSpPr>
        <p:spPr>
          <a:xfrm>
            <a:off x="4590288" y="196596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20" name="Text 17"/>
          <p:cNvSpPr txBox="1"/>
          <p:nvPr/>
        </p:nvSpPr>
        <p:spPr>
          <a:xfrm>
            <a:off x="5065776" y="1901952"/>
            <a:ext cx="2532888"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Productividad</a:t>
            </a:r>
            <a:endParaRPr lang="en-US" sz="1700" dirty="0"/>
          </a:p>
        </p:txBody>
      </p:sp>
      <p:sp>
        <p:nvSpPr>
          <p:cNvPr id="21" name="Text 18"/>
          <p:cNvSpPr txBox="1"/>
          <p:nvPr/>
        </p:nvSpPr>
        <p:spPr>
          <a:xfrm>
            <a:off x="4590288" y="2322576"/>
            <a:ext cx="3008376" cy="120700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Mejor relación entre lo producido y los recursos empleados.</a:t>
            </a:r>
            <a:endParaRPr lang="en-US" sz="1350" dirty="0"/>
          </a:p>
        </p:txBody>
      </p:sp>
      <p:sp>
        <p:nvSpPr>
          <p:cNvPr id="22" name="Shape 19"/>
          <p:cNvSpPr/>
          <p:nvPr/>
        </p:nvSpPr>
        <p:spPr>
          <a:xfrm>
            <a:off x="8010144" y="1682496"/>
            <a:ext cx="3520440" cy="2011680"/>
          </a:xfrm>
          <a:prstGeom prst="rect">
            <a:avLst/>
          </a:prstGeom>
          <a:solidFill>
            <a:srgbClr val="F4F7FA"/>
          </a:solidFill>
          <a:ln w="9525">
            <a:solidFill>
              <a:srgbClr val="D5DDE5"/>
            </a:solidFill>
            <a:prstDash val="solid"/>
          </a:ln>
        </p:spPr>
      </p:sp>
      <p:sp>
        <p:nvSpPr>
          <p:cNvPr id="23" name="Shape 20"/>
          <p:cNvSpPr/>
          <p:nvPr/>
        </p:nvSpPr>
        <p:spPr>
          <a:xfrm>
            <a:off x="8010144" y="1682496"/>
            <a:ext cx="3520440" cy="64008"/>
          </a:xfrm>
          <a:prstGeom prst="rect">
            <a:avLst/>
          </a:prstGeom>
          <a:solidFill>
            <a:srgbClr val="004B85"/>
          </a:solidFill>
          <a:ln/>
        </p:spPr>
      </p:sp>
      <p:sp>
        <p:nvSpPr>
          <p:cNvPr id="24" name="Shape 21"/>
          <p:cNvSpPr/>
          <p:nvPr/>
        </p:nvSpPr>
        <p:spPr>
          <a:xfrm>
            <a:off x="8266176" y="1920240"/>
            <a:ext cx="347472" cy="347472"/>
          </a:xfrm>
          <a:prstGeom prst="rect">
            <a:avLst/>
          </a:prstGeom>
          <a:solidFill>
            <a:srgbClr val="004B85"/>
          </a:solidFill>
          <a:ln/>
        </p:spPr>
      </p:sp>
      <p:sp>
        <p:nvSpPr>
          <p:cNvPr id="25" name="Text 22"/>
          <p:cNvSpPr txBox="1"/>
          <p:nvPr/>
        </p:nvSpPr>
        <p:spPr>
          <a:xfrm>
            <a:off x="8266176" y="196596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6" name="Text 23"/>
          <p:cNvSpPr txBox="1"/>
          <p:nvPr/>
        </p:nvSpPr>
        <p:spPr>
          <a:xfrm>
            <a:off x="8741664" y="1901952"/>
            <a:ext cx="2532888"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Calidad</a:t>
            </a:r>
            <a:endParaRPr lang="en-US" sz="1700" dirty="0"/>
          </a:p>
        </p:txBody>
      </p:sp>
      <p:sp>
        <p:nvSpPr>
          <p:cNvPr id="27" name="Text 24"/>
          <p:cNvSpPr txBox="1"/>
          <p:nvPr/>
        </p:nvSpPr>
        <p:spPr>
          <a:xfrm>
            <a:off x="8266176" y="2322576"/>
            <a:ext cx="3008376" cy="120700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Cumplimiento de las especificaciones del producto.</a:t>
            </a:r>
            <a:endParaRPr lang="en-US" sz="1350" dirty="0"/>
          </a:p>
        </p:txBody>
      </p:sp>
      <p:sp>
        <p:nvSpPr>
          <p:cNvPr id="28" name="Shape 25"/>
          <p:cNvSpPr/>
          <p:nvPr/>
        </p:nvSpPr>
        <p:spPr>
          <a:xfrm>
            <a:off x="658368" y="3840480"/>
            <a:ext cx="3520440" cy="1920240"/>
          </a:xfrm>
          <a:prstGeom prst="rect">
            <a:avLst/>
          </a:prstGeom>
          <a:solidFill>
            <a:srgbClr val="F4F7FA"/>
          </a:solidFill>
          <a:ln w="9525">
            <a:solidFill>
              <a:srgbClr val="D5DDE5"/>
            </a:solidFill>
            <a:prstDash val="solid"/>
          </a:ln>
        </p:spPr>
      </p:sp>
      <p:sp>
        <p:nvSpPr>
          <p:cNvPr id="29" name="Shape 26"/>
          <p:cNvSpPr/>
          <p:nvPr/>
        </p:nvSpPr>
        <p:spPr>
          <a:xfrm>
            <a:off x="658368" y="3840480"/>
            <a:ext cx="3520440" cy="64008"/>
          </a:xfrm>
          <a:prstGeom prst="rect">
            <a:avLst/>
          </a:prstGeom>
          <a:solidFill>
            <a:srgbClr val="FFB903"/>
          </a:solidFill>
          <a:ln/>
        </p:spPr>
      </p:sp>
      <p:sp>
        <p:nvSpPr>
          <p:cNvPr id="30" name="Shape 27"/>
          <p:cNvSpPr/>
          <p:nvPr/>
        </p:nvSpPr>
        <p:spPr>
          <a:xfrm>
            <a:off x="914400" y="4078224"/>
            <a:ext cx="347472" cy="347472"/>
          </a:xfrm>
          <a:prstGeom prst="rect">
            <a:avLst/>
          </a:prstGeom>
          <a:solidFill>
            <a:srgbClr val="FFB903"/>
          </a:solidFill>
          <a:ln/>
        </p:spPr>
      </p:sp>
      <p:sp>
        <p:nvSpPr>
          <p:cNvPr id="31" name="Text 28"/>
          <p:cNvSpPr txBox="1"/>
          <p:nvPr/>
        </p:nvSpPr>
        <p:spPr>
          <a:xfrm>
            <a:off x="914400" y="4123944"/>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32" name="Text 29"/>
          <p:cNvSpPr txBox="1"/>
          <p:nvPr/>
        </p:nvSpPr>
        <p:spPr>
          <a:xfrm>
            <a:off x="1389888" y="4059936"/>
            <a:ext cx="2532888"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Costos</a:t>
            </a:r>
            <a:endParaRPr lang="en-US" sz="1700" dirty="0"/>
          </a:p>
        </p:txBody>
      </p:sp>
      <p:sp>
        <p:nvSpPr>
          <p:cNvPr id="33" name="Shape 30"/>
          <p:cNvSpPr/>
          <p:nvPr/>
        </p:nvSpPr>
        <p:spPr>
          <a:xfrm>
            <a:off x="914400" y="4599432"/>
            <a:ext cx="109728" cy="109728"/>
          </a:xfrm>
          <a:prstGeom prst="rect">
            <a:avLst/>
          </a:prstGeom>
          <a:solidFill>
            <a:srgbClr val="FFB903"/>
          </a:solidFill>
          <a:ln/>
        </p:spPr>
      </p:sp>
      <p:sp>
        <p:nvSpPr>
          <p:cNvPr id="34" name="Text 31"/>
          <p:cNvSpPr txBox="1"/>
          <p:nvPr/>
        </p:nvSpPr>
        <p:spPr>
          <a:xfrm>
            <a:off x="1207008" y="4498848"/>
            <a:ext cx="2816352" cy="310896"/>
          </a:xfrm>
          <a:prstGeom prst="rect">
            <a:avLst/>
          </a:prstGeom>
          <a:noFill/>
          <a:ln/>
        </p:spPr>
        <p:txBody>
          <a:bodyPr wrap="square" lIns="0" tIns="0" rIns="0" bIns="0" rtlCol="0" anchor="ctr"/>
          <a:lstStyle/>
          <a:p>
            <a:pPr marL="0" indent="0">
              <a:lnSpc>
                <a:spcPts val="1688"/>
              </a:lnSpc>
              <a:buNone/>
            </a:pPr>
            <a:r>
              <a:rPr lang="en-US" sz="1250" dirty="0">
                <a:solidFill>
                  <a:srgbClr val="5C6B7A"/>
                </a:solidFill>
                <a:latin typeface="Segoe UI" pitchFamily="34" charset="0"/>
                <a:ea typeface="Segoe UI" pitchFamily="34" charset="-122"/>
                <a:cs typeface="Segoe UI" pitchFamily="34" charset="-120"/>
              </a:rPr>
              <a:t>Disminución del desperdicio.</a:t>
            </a:r>
            <a:endParaRPr lang="en-US" sz="1250" dirty="0"/>
          </a:p>
        </p:txBody>
      </p:sp>
      <p:sp>
        <p:nvSpPr>
          <p:cNvPr id="35" name="Shape 32"/>
          <p:cNvSpPr/>
          <p:nvPr/>
        </p:nvSpPr>
        <p:spPr>
          <a:xfrm>
            <a:off x="914400" y="5001768"/>
            <a:ext cx="109728" cy="109728"/>
          </a:xfrm>
          <a:prstGeom prst="rect">
            <a:avLst/>
          </a:prstGeom>
          <a:solidFill>
            <a:srgbClr val="FFB903"/>
          </a:solidFill>
          <a:ln/>
        </p:spPr>
      </p:sp>
      <p:sp>
        <p:nvSpPr>
          <p:cNvPr id="36" name="Text 33"/>
          <p:cNvSpPr txBox="1"/>
          <p:nvPr/>
        </p:nvSpPr>
        <p:spPr>
          <a:xfrm>
            <a:off x="1207008" y="4901184"/>
            <a:ext cx="2816352" cy="310896"/>
          </a:xfrm>
          <a:prstGeom prst="rect">
            <a:avLst/>
          </a:prstGeom>
          <a:noFill/>
          <a:ln/>
        </p:spPr>
        <p:txBody>
          <a:bodyPr wrap="square" lIns="0" tIns="0" rIns="0" bIns="0" rtlCol="0" anchor="ctr"/>
          <a:lstStyle/>
          <a:p>
            <a:pPr marL="0" indent="0">
              <a:lnSpc>
                <a:spcPts val="1688"/>
              </a:lnSpc>
              <a:buNone/>
            </a:pPr>
            <a:r>
              <a:rPr lang="en-US" sz="1250" dirty="0">
                <a:solidFill>
                  <a:srgbClr val="5C6B7A"/>
                </a:solidFill>
                <a:latin typeface="Segoe UI" pitchFamily="34" charset="0"/>
                <a:ea typeface="Segoe UI" pitchFamily="34" charset="-122"/>
                <a:cs typeface="Segoe UI" pitchFamily="34" charset="-120"/>
              </a:rPr>
              <a:t>Disminución en el consumo de energía.</a:t>
            </a:r>
            <a:endParaRPr lang="en-US" sz="1250" dirty="0"/>
          </a:p>
        </p:txBody>
      </p:sp>
      <p:sp>
        <p:nvSpPr>
          <p:cNvPr id="37" name="Shape 34"/>
          <p:cNvSpPr/>
          <p:nvPr/>
        </p:nvSpPr>
        <p:spPr>
          <a:xfrm>
            <a:off x="4334256" y="3840480"/>
            <a:ext cx="3520440" cy="1920240"/>
          </a:xfrm>
          <a:prstGeom prst="rect">
            <a:avLst/>
          </a:prstGeom>
          <a:solidFill>
            <a:srgbClr val="F4F7FA"/>
          </a:solidFill>
          <a:ln w="9525">
            <a:solidFill>
              <a:srgbClr val="D5DDE5"/>
            </a:solidFill>
            <a:prstDash val="solid"/>
          </a:ln>
        </p:spPr>
      </p:sp>
      <p:sp>
        <p:nvSpPr>
          <p:cNvPr id="38" name="Shape 35"/>
          <p:cNvSpPr/>
          <p:nvPr/>
        </p:nvSpPr>
        <p:spPr>
          <a:xfrm>
            <a:off x="4334256" y="3840480"/>
            <a:ext cx="3520440" cy="64008"/>
          </a:xfrm>
          <a:prstGeom prst="rect">
            <a:avLst/>
          </a:prstGeom>
          <a:solidFill>
            <a:srgbClr val="FFB903"/>
          </a:solidFill>
          <a:ln/>
        </p:spPr>
      </p:sp>
      <p:sp>
        <p:nvSpPr>
          <p:cNvPr id="39" name="Shape 36"/>
          <p:cNvSpPr/>
          <p:nvPr/>
        </p:nvSpPr>
        <p:spPr>
          <a:xfrm>
            <a:off x="4590288" y="4078224"/>
            <a:ext cx="347472" cy="347472"/>
          </a:xfrm>
          <a:prstGeom prst="rect">
            <a:avLst/>
          </a:prstGeom>
          <a:solidFill>
            <a:srgbClr val="FFB903"/>
          </a:solidFill>
          <a:ln/>
        </p:spPr>
      </p:sp>
      <p:sp>
        <p:nvSpPr>
          <p:cNvPr id="40" name="Text 37"/>
          <p:cNvSpPr txBox="1"/>
          <p:nvPr/>
        </p:nvSpPr>
        <p:spPr>
          <a:xfrm>
            <a:off x="4590288" y="4123944"/>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41" name="Text 38"/>
          <p:cNvSpPr txBox="1"/>
          <p:nvPr/>
        </p:nvSpPr>
        <p:spPr>
          <a:xfrm>
            <a:off x="5065776" y="4059936"/>
            <a:ext cx="2532888"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Cambio de los procesos</a:t>
            </a:r>
            <a:endParaRPr lang="en-US" sz="1700" dirty="0"/>
          </a:p>
        </p:txBody>
      </p:sp>
      <p:sp>
        <p:nvSpPr>
          <p:cNvPr id="42" name="Text 39"/>
          <p:cNvSpPr txBox="1"/>
          <p:nvPr/>
        </p:nvSpPr>
        <p:spPr>
          <a:xfrm>
            <a:off x="4590288" y="4480560"/>
            <a:ext cx="3008376" cy="111556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Modificación de la secuencia o de la tecnología de transformación.</a:t>
            </a:r>
            <a:endParaRPr lang="en-US" sz="1350" dirty="0"/>
          </a:p>
        </p:txBody>
      </p:sp>
      <p:sp>
        <p:nvSpPr>
          <p:cNvPr id="43" name="Shape 40"/>
          <p:cNvSpPr/>
          <p:nvPr/>
        </p:nvSpPr>
        <p:spPr>
          <a:xfrm>
            <a:off x="8010144" y="3840480"/>
            <a:ext cx="3520440" cy="1920240"/>
          </a:xfrm>
          <a:prstGeom prst="rect">
            <a:avLst/>
          </a:prstGeom>
          <a:solidFill>
            <a:srgbClr val="F4F7FA"/>
          </a:solidFill>
          <a:ln w="9525">
            <a:solidFill>
              <a:srgbClr val="D5DDE5"/>
            </a:solidFill>
            <a:prstDash val="solid"/>
          </a:ln>
        </p:spPr>
      </p:sp>
      <p:sp>
        <p:nvSpPr>
          <p:cNvPr id="44" name="Shape 41"/>
          <p:cNvSpPr/>
          <p:nvPr/>
        </p:nvSpPr>
        <p:spPr>
          <a:xfrm>
            <a:off x="8010144" y="3840480"/>
            <a:ext cx="3520440" cy="64008"/>
          </a:xfrm>
          <a:prstGeom prst="rect">
            <a:avLst/>
          </a:prstGeom>
          <a:solidFill>
            <a:srgbClr val="FFB903"/>
          </a:solidFill>
          <a:ln/>
        </p:spPr>
      </p:sp>
      <p:sp>
        <p:nvSpPr>
          <p:cNvPr id="45" name="Shape 42"/>
          <p:cNvSpPr/>
          <p:nvPr/>
        </p:nvSpPr>
        <p:spPr>
          <a:xfrm>
            <a:off x="8266176" y="4078224"/>
            <a:ext cx="347472" cy="347472"/>
          </a:xfrm>
          <a:prstGeom prst="rect">
            <a:avLst/>
          </a:prstGeom>
          <a:solidFill>
            <a:srgbClr val="FFB903"/>
          </a:solidFill>
          <a:ln/>
        </p:spPr>
      </p:sp>
      <p:sp>
        <p:nvSpPr>
          <p:cNvPr id="46" name="Text 43"/>
          <p:cNvSpPr txBox="1"/>
          <p:nvPr/>
        </p:nvSpPr>
        <p:spPr>
          <a:xfrm>
            <a:off x="8266176" y="4123944"/>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6</a:t>
            </a:r>
            <a:endParaRPr lang="en-US" sz="1400" dirty="0"/>
          </a:p>
        </p:txBody>
      </p:sp>
      <p:sp>
        <p:nvSpPr>
          <p:cNvPr id="47" name="Text 44"/>
          <p:cNvSpPr txBox="1"/>
          <p:nvPr/>
        </p:nvSpPr>
        <p:spPr>
          <a:xfrm>
            <a:off x="8741664" y="4059936"/>
            <a:ext cx="2532888" cy="51206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Desarrollo de nuevos productos</a:t>
            </a:r>
            <a:endParaRPr lang="en-US" sz="1700" dirty="0"/>
          </a:p>
        </p:txBody>
      </p:sp>
      <p:sp>
        <p:nvSpPr>
          <p:cNvPr id="48" name="Text 45"/>
          <p:cNvSpPr txBox="1"/>
          <p:nvPr/>
        </p:nvSpPr>
        <p:spPr>
          <a:xfrm>
            <a:off x="8266176" y="4663440"/>
            <a:ext cx="3008376" cy="93268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Adecuación del equipo a referencias que antes no fabricaba.</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ORIENTACIÓN DE LAS MODIFICACIONES</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Seguridad y entorno</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4</a:t>
            </a:r>
            <a:endParaRPr lang="en-US" sz="1000" dirty="0"/>
          </a:p>
        </p:txBody>
      </p:sp>
      <p:sp>
        <p:nvSpPr>
          <p:cNvPr id="10" name="Shape 7"/>
          <p:cNvSpPr/>
          <p:nvPr/>
        </p:nvSpPr>
        <p:spPr>
          <a:xfrm>
            <a:off x="658368" y="2011680"/>
            <a:ext cx="5294376" cy="2834640"/>
          </a:xfrm>
          <a:prstGeom prst="rect">
            <a:avLst/>
          </a:prstGeom>
          <a:solidFill>
            <a:srgbClr val="F4F7FA"/>
          </a:solidFill>
          <a:ln w="9525">
            <a:solidFill>
              <a:srgbClr val="D5DDE5"/>
            </a:solidFill>
            <a:prstDash val="solid"/>
          </a:ln>
        </p:spPr>
      </p:sp>
      <p:sp>
        <p:nvSpPr>
          <p:cNvPr id="11" name="Shape 8"/>
          <p:cNvSpPr/>
          <p:nvPr/>
        </p:nvSpPr>
        <p:spPr>
          <a:xfrm>
            <a:off x="658368" y="2011680"/>
            <a:ext cx="5294376" cy="64008"/>
          </a:xfrm>
          <a:prstGeom prst="rect">
            <a:avLst/>
          </a:prstGeom>
          <a:solidFill>
            <a:srgbClr val="004B85"/>
          </a:solidFill>
          <a:ln/>
        </p:spPr>
      </p:sp>
      <p:sp>
        <p:nvSpPr>
          <p:cNvPr id="12" name="Shape 9"/>
          <p:cNvSpPr/>
          <p:nvPr/>
        </p:nvSpPr>
        <p:spPr>
          <a:xfrm>
            <a:off x="914400" y="2267712"/>
            <a:ext cx="384048" cy="384048"/>
          </a:xfrm>
          <a:prstGeom prst="rect">
            <a:avLst/>
          </a:prstGeom>
          <a:solidFill>
            <a:srgbClr val="004B85"/>
          </a:solidFill>
          <a:ln/>
        </p:spPr>
      </p:sp>
      <p:sp>
        <p:nvSpPr>
          <p:cNvPr id="13" name="Text 10"/>
          <p:cNvSpPr txBox="1"/>
          <p:nvPr/>
        </p:nvSpPr>
        <p:spPr>
          <a:xfrm>
            <a:off x="914400"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816352"/>
            <a:ext cx="4782312" cy="822960"/>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Salud e integridad de las personas</a:t>
            </a:r>
            <a:endParaRPr lang="en-US" sz="2000" dirty="0"/>
          </a:p>
        </p:txBody>
      </p:sp>
      <p:sp>
        <p:nvSpPr>
          <p:cNvPr id="15" name="Text 12"/>
          <p:cNvSpPr txBox="1"/>
          <p:nvPr/>
        </p:nvSpPr>
        <p:spPr>
          <a:xfrm>
            <a:off x="914400" y="3730752"/>
            <a:ext cx="4782312" cy="950976"/>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Modificaciones orientadas a eliminar o reducir los riesgos para quienes operan o intervienen la máquina.</a:t>
            </a:r>
            <a:endParaRPr lang="en-US" sz="1450" dirty="0"/>
          </a:p>
        </p:txBody>
      </p:sp>
      <p:sp>
        <p:nvSpPr>
          <p:cNvPr id="16" name="Shape 13"/>
          <p:cNvSpPr/>
          <p:nvPr/>
        </p:nvSpPr>
        <p:spPr>
          <a:xfrm>
            <a:off x="6236208" y="2011680"/>
            <a:ext cx="5294376" cy="2834640"/>
          </a:xfrm>
          <a:prstGeom prst="rect">
            <a:avLst/>
          </a:prstGeom>
          <a:solidFill>
            <a:srgbClr val="F4F7FA"/>
          </a:solidFill>
          <a:ln w="9525">
            <a:solidFill>
              <a:srgbClr val="D5DDE5"/>
            </a:solidFill>
            <a:prstDash val="solid"/>
          </a:ln>
        </p:spPr>
      </p:sp>
      <p:sp>
        <p:nvSpPr>
          <p:cNvPr id="17" name="Shape 14"/>
          <p:cNvSpPr/>
          <p:nvPr/>
        </p:nvSpPr>
        <p:spPr>
          <a:xfrm>
            <a:off x="6236208" y="2011680"/>
            <a:ext cx="5294376" cy="64008"/>
          </a:xfrm>
          <a:prstGeom prst="rect">
            <a:avLst/>
          </a:prstGeom>
          <a:solidFill>
            <a:srgbClr val="FFB903"/>
          </a:solidFill>
          <a:ln/>
        </p:spPr>
      </p:sp>
      <p:sp>
        <p:nvSpPr>
          <p:cNvPr id="18" name="Shape 15"/>
          <p:cNvSpPr/>
          <p:nvPr/>
        </p:nvSpPr>
        <p:spPr>
          <a:xfrm>
            <a:off x="6492240" y="2267712"/>
            <a:ext cx="384048" cy="384048"/>
          </a:xfrm>
          <a:prstGeom prst="rect">
            <a:avLst/>
          </a:prstGeom>
          <a:solidFill>
            <a:srgbClr val="FFB903"/>
          </a:solidFill>
          <a:ln/>
        </p:spPr>
      </p:sp>
      <p:sp>
        <p:nvSpPr>
          <p:cNvPr id="19" name="Text 16"/>
          <p:cNvSpPr txBox="1"/>
          <p:nvPr/>
        </p:nvSpPr>
        <p:spPr>
          <a:xfrm>
            <a:off x="6492240"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6492240" y="2816352"/>
            <a:ext cx="4782312" cy="822960"/>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Control ambiental</a:t>
            </a:r>
            <a:endParaRPr lang="en-US" sz="2000" dirty="0"/>
          </a:p>
        </p:txBody>
      </p:sp>
      <p:sp>
        <p:nvSpPr>
          <p:cNvPr id="21" name="Text 18"/>
          <p:cNvSpPr txBox="1"/>
          <p:nvPr/>
        </p:nvSpPr>
        <p:spPr>
          <a:xfrm>
            <a:off x="6492240" y="3730752"/>
            <a:ext cx="4782312" cy="950976"/>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Modificaciones orientadas a controlar emisiones, vertimientos, residuos y demás efectos sobre el entorno.</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ORIENTACIÓN DE LAS MODIFICACIONES</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Modificaciones según su orientación</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5 · Acciones modificativas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4a</a:t>
            </a:r>
          </a:p>
        </p:txBody>
      </p:sp>
      <p:graphicFrame>
        <p:nvGraphicFramePr>
          <p:cNvPr id="12" name="Table 11"/>
          <p:cNvGraphicFramePr>
            <a:graphicFrameLocks noGrp="1"/>
          </p:cNvGraphicFramePr>
          <p:nvPr/>
        </p:nvGraphicFramePr>
        <p:xfrm>
          <a:off x="658368" y="1664208"/>
          <a:ext cx="10872215" cy="3775520"/>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5760719">
                  <a:extLst>
                    <a:ext uri="{9D8B030D-6E8A-4147-A177-3AD203B41FA5}">
                      <a16:colId xmlns:a16="http://schemas.microsoft.com/office/drawing/2014/main" val="20001"/>
                    </a:ext>
                  </a:extLst>
                </a:gridCol>
                <a:gridCol w="3099816">
                  <a:extLst>
                    <a:ext uri="{9D8B030D-6E8A-4147-A177-3AD203B41FA5}">
                      <a16:colId xmlns:a16="http://schemas.microsoft.com/office/drawing/2014/main" val="20002"/>
                    </a:ext>
                  </a:extLst>
                </a:gridCol>
              </a:tblGrid>
              <a:tr h="365760">
                <a:tc>
                  <a:txBody>
                    <a:bodyPr/>
                    <a:lstStyle/>
                    <a:p>
                      <a:r>
                        <a:rPr sz="1150" b="1">
                          <a:solidFill>
                            <a:srgbClr val="FFFFFF"/>
                          </a:solidFill>
                          <a:latin typeface="Segoe UI"/>
                        </a:rPr>
                        <a:t>Orientación</a:t>
                      </a:r>
                    </a:p>
                  </a:txBody>
                  <a:tcPr marL="109728" marR="109728" anchor="ctr">
                    <a:solidFill>
                      <a:srgbClr val="004B85"/>
                    </a:solidFill>
                  </a:tcPr>
                </a:tc>
                <a:tc>
                  <a:txBody>
                    <a:bodyPr/>
                    <a:lstStyle/>
                    <a:p>
                      <a:r>
                        <a:rPr sz="1150" b="1">
                          <a:solidFill>
                            <a:srgbClr val="FFFFFF"/>
                          </a:solidFill>
                          <a:latin typeface="Segoe UI"/>
                        </a:rPr>
                        <a:t>Ejemplo de modificación</a:t>
                      </a:r>
                    </a:p>
                  </a:txBody>
                  <a:tcPr marL="109728" marR="109728" anchor="ctr">
                    <a:solidFill>
                      <a:srgbClr val="004B85"/>
                    </a:solidFill>
                  </a:tcPr>
                </a:tc>
                <a:tc>
                  <a:txBody>
                    <a:bodyPr/>
                    <a:lstStyle/>
                    <a:p>
                      <a:r>
                        <a:rPr sz="1150" b="1">
                          <a:solidFill>
                            <a:srgbClr val="FFFFFF"/>
                          </a:solidFill>
                          <a:latin typeface="Segoe UI"/>
                        </a:rPr>
                        <a:t>Resultado esperado</a:t>
                      </a:r>
                    </a:p>
                  </a:txBody>
                  <a:tcPr marL="109728" marR="109728" anchor="ctr">
                    <a:solidFill>
                      <a:srgbClr val="004B85"/>
                    </a:solidFill>
                  </a:tcPr>
                </a:tc>
                <a:extLst>
                  <a:ext uri="{0D108BD9-81ED-4DB2-BD59-A6C34878D82A}">
                    <a16:rowId xmlns:a16="http://schemas.microsoft.com/office/drawing/2014/main" val="10000"/>
                  </a:ext>
                </a:extLst>
              </a:tr>
              <a:tr h="425196">
                <a:tc>
                  <a:txBody>
                    <a:bodyPr/>
                    <a:lstStyle/>
                    <a:p>
                      <a:pPr>
                        <a:lnSpc>
                          <a:spcPct val="112000"/>
                        </a:lnSpc>
                      </a:pPr>
                      <a:r>
                        <a:rPr sz="1100" b="1" i="0">
                          <a:solidFill>
                            <a:srgbClr val="00335C"/>
                          </a:solidFill>
                          <a:latin typeface="Segoe UI"/>
                        </a:rPr>
                        <a:t>Capacidad</a:t>
                      </a:r>
                    </a:p>
                  </a:txBody>
                  <a:tcPr marL="109728" marR="109728" marT="36576" marB="36576" anchor="ctr">
                    <a:solidFill>
                      <a:srgbClr val="FFFFFF"/>
                    </a:solidFill>
                  </a:tcPr>
                </a:tc>
                <a:tc>
                  <a:txBody>
                    <a:bodyPr/>
                    <a:lstStyle/>
                    <a:p>
                      <a:pPr>
                        <a:lnSpc>
                          <a:spcPct val="112000"/>
                        </a:lnSpc>
                      </a:pPr>
                      <a:r>
                        <a:rPr sz="1100" b="0" i="0">
                          <a:solidFill>
                            <a:srgbClr val="1B2430"/>
                          </a:solidFill>
                          <a:latin typeface="Segoe UI"/>
                        </a:rPr>
                        <a:t>Cambio de relación de poleas y motor en un transportador, verificando banda y estructura.</a:t>
                      </a:r>
                    </a:p>
                  </a:txBody>
                  <a:tcPr marL="109728" marR="109728" marT="36576" marB="36576" anchor="ctr">
                    <a:solidFill>
                      <a:srgbClr val="FFFFFF"/>
                    </a:solidFill>
                  </a:tcPr>
                </a:tc>
                <a:tc>
                  <a:txBody>
                    <a:bodyPr/>
                    <a:lstStyle/>
                    <a:p>
                      <a:pPr>
                        <a:lnSpc>
                          <a:spcPct val="112000"/>
                        </a:lnSpc>
                      </a:pPr>
                      <a:r>
                        <a:rPr sz="1100" b="0" i="0">
                          <a:solidFill>
                            <a:srgbClr val="1B2430"/>
                          </a:solidFill>
                          <a:latin typeface="Segoe UI"/>
                        </a:rPr>
                        <a:t>Más volumen procesado por hora.</a:t>
                      </a:r>
                    </a:p>
                  </a:txBody>
                  <a:tcPr marL="109728" marR="109728" marT="36576" marB="36576" anchor="ctr">
                    <a:solidFill>
                      <a:srgbClr val="FFFFFF"/>
                    </a:solidFill>
                  </a:tcPr>
                </a:tc>
                <a:extLst>
                  <a:ext uri="{0D108BD9-81ED-4DB2-BD59-A6C34878D82A}">
                    <a16:rowId xmlns:a16="http://schemas.microsoft.com/office/drawing/2014/main" val="10001"/>
                  </a:ext>
                </a:extLst>
              </a:tr>
              <a:tr h="425196">
                <a:tc>
                  <a:txBody>
                    <a:bodyPr/>
                    <a:lstStyle/>
                    <a:p>
                      <a:pPr>
                        <a:lnSpc>
                          <a:spcPct val="112000"/>
                        </a:lnSpc>
                      </a:pPr>
                      <a:r>
                        <a:rPr sz="1100" b="1" i="0">
                          <a:solidFill>
                            <a:srgbClr val="00335C"/>
                          </a:solidFill>
                          <a:latin typeface="Segoe UI"/>
                        </a:rPr>
                        <a:t>Productividad</a:t>
                      </a:r>
                    </a:p>
                  </a:txBody>
                  <a:tcPr marL="109728" marR="109728" marT="36576" marB="36576" anchor="ctr">
                    <a:solidFill>
                      <a:srgbClr val="F4F7FA"/>
                    </a:solidFill>
                  </a:tcPr>
                </a:tc>
                <a:tc>
                  <a:txBody>
                    <a:bodyPr/>
                    <a:lstStyle/>
                    <a:p>
                      <a:pPr>
                        <a:lnSpc>
                          <a:spcPct val="112000"/>
                        </a:lnSpc>
                      </a:pPr>
                      <a:r>
                        <a:rPr sz="1100" b="0" i="0">
                          <a:solidFill>
                            <a:srgbClr val="1B2430"/>
                          </a:solidFill>
                          <a:latin typeface="Segoe UI"/>
                        </a:rPr>
                        <a:t>Sujeción rápida y guías ajustables para el cambio de formato en una llenadora.</a:t>
                      </a:r>
                    </a:p>
                  </a:txBody>
                  <a:tcPr marL="109728" marR="109728" marT="36576" marB="36576" anchor="ctr">
                    <a:solidFill>
                      <a:srgbClr val="F4F7FA"/>
                    </a:solidFill>
                  </a:tcPr>
                </a:tc>
                <a:tc>
                  <a:txBody>
                    <a:bodyPr/>
                    <a:lstStyle/>
                    <a:p>
                      <a:pPr>
                        <a:lnSpc>
                          <a:spcPct val="112000"/>
                        </a:lnSpc>
                      </a:pPr>
                      <a:r>
                        <a:rPr sz="1100" b="0" i="0">
                          <a:solidFill>
                            <a:srgbClr val="1B2430"/>
                          </a:solidFill>
                          <a:latin typeface="Segoe UI"/>
                        </a:rPr>
                        <a:t>Menor tiempo de alistamiento.</a:t>
                      </a:r>
                    </a:p>
                  </a:txBody>
                  <a:tcPr marL="109728" marR="109728" marT="36576" marB="36576" anchor="ctr">
                    <a:solidFill>
                      <a:srgbClr val="F4F7FA"/>
                    </a:solidFill>
                  </a:tcPr>
                </a:tc>
                <a:extLst>
                  <a:ext uri="{0D108BD9-81ED-4DB2-BD59-A6C34878D82A}">
                    <a16:rowId xmlns:a16="http://schemas.microsoft.com/office/drawing/2014/main" val="10002"/>
                  </a:ext>
                </a:extLst>
              </a:tr>
              <a:tr h="425196">
                <a:tc>
                  <a:txBody>
                    <a:bodyPr/>
                    <a:lstStyle/>
                    <a:p>
                      <a:pPr>
                        <a:lnSpc>
                          <a:spcPct val="112000"/>
                        </a:lnSpc>
                      </a:pPr>
                      <a:r>
                        <a:rPr sz="1100" b="1" i="0">
                          <a:solidFill>
                            <a:srgbClr val="00335C"/>
                          </a:solidFill>
                          <a:latin typeface="Segoe UI"/>
                        </a:rPr>
                        <a:t>Calidad</a:t>
                      </a:r>
                    </a:p>
                  </a:txBody>
                  <a:tcPr marL="109728" marR="109728" marT="36576" marB="36576" anchor="ctr">
                    <a:solidFill>
                      <a:srgbClr val="FFFFFF"/>
                    </a:solidFill>
                  </a:tcPr>
                </a:tc>
                <a:tc>
                  <a:txBody>
                    <a:bodyPr/>
                    <a:lstStyle/>
                    <a:p>
                      <a:pPr>
                        <a:lnSpc>
                          <a:spcPct val="112000"/>
                        </a:lnSpc>
                      </a:pPr>
                      <a:r>
                        <a:rPr sz="1100" b="0" i="0">
                          <a:solidFill>
                            <a:srgbClr val="1B2430"/>
                          </a:solidFill>
                          <a:latin typeface="Segoe UI"/>
                        </a:rPr>
                        <a:t>Servomotor en lugar de una leva mecánica para el corte a longitud.</a:t>
                      </a:r>
                    </a:p>
                  </a:txBody>
                  <a:tcPr marL="109728" marR="109728" marT="36576" marB="36576" anchor="ctr">
                    <a:solidFill>
                      <a:srgbClr val="FFFFFF"/>
                    </a:solidFill>
                  </a:tcPr>
                </a:tc>
                <a:tc>
                  <a:txBody>
                    <a:bodyPr/>
                    <a:lstStyle/>
                    <a:p>
                      <a:pPr>
                        <a:lnSpc>
                          <a:spcPct val="112000"/>
                        </a:lnSpc>
                      </a:pPr>
                      <a:r>
                        <a:rPr sz="1100" b="0" i="0">
                          <a:solidFill>
                            <a:srgbClr val="1B2430"/>
                          </a:solidFill>
                          <a:latin typeface="Segoe UI"/>
                        </a:rPr>
                        <a:t>Tolerancia de corte más estrecha.</a:t>
                      </a:r>
                    </a:p>
                  </a:txBody>
                  <a:tcPr marL="109728" marR="109728" marT="36576" marB="36576" anchor="ctr">
                    <a:solidFill>
                      <a:srgbClr val="FFFFFF"/>
                    </a:solidFill>
                  </a:tcPr>
                </a:tc>
                <a:extLst>
                  <a:ext uri="{0D108BD9-81ED-4DB2-BD59-A6C34878D82A}">
                    <a16:rowId xmlns:a16="http://schemas.microsoft.com/office/drawing/2014/main" val="10003"/>
                  </a:ext>
                </a:extLst>
              </a:tr>
              <a:tr h="425196">
                <a:tc>
                  <a:txBody>
                    <a:bodyPr/>
                    <a:lstStyle/>
                    <a:p>
                      <a:pPr>
                        <a:lnSpc>
                          <a:spcPct val="112000"/>
                        </a:lnSpc>
                      </a:pPr>
                      <a:r>
                        <a:rPr sz="1100" b="1" i="0">
                          <a:solidFill>
                            <a:srgbClr val="00335C"/>
                          </a:solidFill>
                          <a:latin typeface="Segoe UI"/>
                        </a:rPr>
                        <a:t>Costos · desperdicio</a:t>
                      </a:r>
                    </a:p>
                  </a:txBody>
                  <a:tcPr marL="109728" marR="109728" marT="36576" marB="36576" anchor="ctr">
                    <a:solidFill>
                      <a:srgbClr val="F4F7FA"/>
                    </a:solidFill>
                  </a:tcPr>
                </a:tc>
                <a:tc>
                  <a:txBody>
                    <a:bodyPr/>
                    <a:lstStyle/>
                    <a:p>
                      <a:pPr>
                        <a:lnSpc>
                          <a:spcPct val="112000"/>
                        </a:lnSpc>
                      </a:pPr>
                      <a:r>
                        <a:rPr sz="1100" b="0" i="0">
                          <a:solidFill>
                            <a:srgbClr val="1B2430"/>
                          </a:solidFill>
                          <a:latin typeface="Segoe UI"/>
                        </a:rPr>
                        <a:t>Sensor de nivel y control automático en la tolva de dosificación.</a:t>
                      </a:r>
                    </a:p>
                  </a:txBody>
                  <a:tcPr marL="109728" marR="109728" marT="36576" marB="36576" anchor="ctr">
                    <a:solidFill>
                      <a:srgbClr val="F4F7FA"/>
                    </a:solidFill>
                  </a:tcPr>
                </a:tc>
                <a:tc>
                  <a:txBody>
                    <a:bodyPr/>
                    <a:lstStyle/>
                    <a:p>
                      <a:pPr>
                        <a:lnSpc>
                          <a:spcPct val="112000"/>
                        </a:lnSpc>
                      </a:pPr>
                      <a:r>
                        <a:rPr sz="1100" b="0" i="0">
                          <a:solidFill>
                            <a:srgbClr val="1B2430"/>
                          </a:solidFill>
                          <a:latin typeface="Segoe UI"/>
                        </a:rPr>
                        <a:t>Menos rebose y producto perdido.</a:t>
                      </a:r>
                    </a:p>
                  </a:txBody>
                  <a:tcPr marL="109728" marR="109728" marT="36576" marB="36576" anchor="ctr">
                    <a:solidFill>
                      <a:srgbClr val="F4F7FA"/>
                    </a:solidFill>
                  </a:tcPr>
                </a:tc>
                <a:extLst>
                  <a:ext uri="{0D108BD9-81ED-4DB2-BD59-A6C34878D82A}">
                    <a16:rowId xmlns:a16="http://schemas.microsoft.com/office/drawing/2014/main" val="10004"/>
                  </a:ext>
                </a:extLst>
              </a:tr>
              <a:tr h="425196">
                <a:tc>
                  <a:txBody>
                    <a:bodyPr/>
                    <a:lstStyle/>
                    <a:p>
                      <a:pPr>
                        <a:lnSpc>
                          <a:spcPct val="112000"/>
                        </a:lnSpc>
                      </a:pPr>
                      <a:r>
                        <a:rPr sz="1100" b="1" i="0">
                          <a:solidFill>
                            <a:srgbClr val="00335C"/>
                          </a:solidFill>
                          <a:latin typeface="Segoe UI"/>
                        </a:rPr>
                        <a:t>Costos · energía</a:t>
                      </a:r>
                    </a:p>
                  </a:txBody>
                  <a:tcPr marL="109728" marR="109728" marT="36576" marB="36576" anchor="ctr">
                    <a:solidFill>
                      <a:srgbClr val="FFFFFF"/>
                    </a:solidFill>
                  </a:tcPr>
                </a:tc>
                <a:tc>
                  <a:txBody>
                    <a:bodyPr/>
                    <a:lstStyle/>
                    <a:p>
                      <a:pPr>
                        <a:lnSpc>
                          <a:spcPct val="112000"/>
                        </a:lnSpc>
                      </a:pPr>
                      <a:r>
                        <a:rPr sz="1100" b="0" i="0">
                          <a:solidFill>
                            <a:srgbClr val="1B2430"/>
                          </a:solidFill>
                          <a:latin typeface="Segoe UI"/>
                        </a:rPr>
                        <a:t>Variador de frecuencia en lugar de compuerta en un ventilador.</a:t>
                      </a:r>
                    </a:p>
                  </a:txBody>
                  <a:tcPr marL="109728" marR="109728" marT="36576" marB="36576" anchor="ctr">
                    <a:solidFill>
                      <a:srgbClr val="FFFFFF"/>
                    </a:solidFill>
                  </a:tcPr>
                </a:tc>
                <a:tc>
                  <a:txBody>
                    <a:bodyPr/>
                    <a:lstStyle/>
                    <a:p>
                      <a:pPr>
                        <a:lnSpc>
                          <a:spcPct val="112000"/>
                        </a:lnSpc>
                      </a:pPr>
                      <a:r>
                        <a:rPr sz="1100" b="0" i="0">
                          <a:solidFill>
                            <a:srgbClr val="1B2430"/>
                          </a:solidFill>
                          <a:latin typeface="Segoe UI"/>
                        </a:rPr>
                        <a:t>Al 80 % de velocidad, ≈ 51 % de la potencia.</a:t>
                      </a:r>
                    </a:p>
                  </a:txBody>
                  <a:tcPr marL="109728" marR="109728" marT="36576" marB="36576" anchor="ctr">
                    <a:solidFill>
                      <a:srgbClr val="FFFFFF"/>
                    </a:solidFill>
                  </a:tcPr>
                </a:tc>
                <a:extLst>
                  <a:ext uri="{0D108BD9-81ED-4DB2-BD59-A6C34878D82A}">
                    <a16:rowId xmlns:a16="http://schemas.microsoft.com/office/drawing/2014/main" val="10005"/>
                  </a:ext>
                </a:extLst>
              </a:tr>
              <a:tr h="425196">
                <a:tc>
                  <a:txBody>
                    <a:bodyPr/>
                    <a:lstStyle/>
                    <a:p>
                      <a:pPr>
                        <a:lnSpc>
                          <a:spcPct val="112000"/>
                        </a:lnSpc>
                      </a:pPr>
                      <a:r>
                        <a:rPr sz="1100" b="1" i="0">
                          <a:solidFill>
                            <a:srgbClr val="00335C"/>
                          </a:solidFill>
                          <a:latin typeface="Segoe UI"/>
                        </a:rPr>
                        <a:t>Cambio de proceso</a:t>
                      </a:r>
                    </a:p>
                  </a:txBody>
                  <a:tcPr marL="109728" marR="109728" marT="36576" marB="36576" anchor="ctr">
                    <a:solidFill>
                      <a:srgbClr val="F4F7FA"/>
                    </a:solidFill>
                  </a:tcPr>
                </a:tc>
                <a:tc>
                  <a:txBody>
                    <a:bodyPr/>
                    <a:lstStyle/>
                    <a:p>
                      <a:pPr>
                        <a:lnSpc>
                          <a:spcPct val="112000"/>
                        </a:lnSpc>
                      </a:pPr>
                      <a:r>
                        <a:rPr sz="1100" b="0" i="0">
                          <a:solidFill>
                            <a:srgbClr val="1B2430"/>
                          </a:solidFill>
                          <a:latin typeface="Segoe UI"/>
                        </a:rPr>
                        <a:t>Corte por plasma CNC en lugar de oxicorte manual.</a:t>
                      </a:r>
                    </a:p>
                  </a:txBody>
                  <a:tcPr marL="109728" marR="109728" marT="36576" marB="36576" anchor="ctr">
                    <a:solidFill>
                      <a:srgbClr val="F4F7FA"/>
                    </a:solidFill>
                  </a:tcPr>
                </a:tc>
                <a:tc>
                  <a:txBody>
                    <a:bodyPr/>
                    <a:lstStyle/>
                    <a:p>
                      <a:pPr>
                        <a:lnSpc>
                          <a:spcPct val="112000"/>
                        </a:lnSpc>
                      </a:pPr>
                      <a:r>
                        <a:rPr sz="1100" b="0" i="0">
                          <a:solidFill>
                            <a:srgbClr val="1B2430"/>
                          </a:solidFill>
                          <a:latin typeface="Segoe UI"/>
                        </a:rPr>
                        <a:t>Precisión y repetibilidad.</a:t>
                      </a:r>
                    </a:p>
                  </a:txBody>
                  <a:tcPr marL="109728" marR="109728" marT="36576" marB="36576" anchor="ctr">
                    <a:solidFill>
                      <a:srgbClr val="F4F7FA"/>
                    </a:solidFill>
                  </a:tcPr>
                </a:tc>
                <a:extLst>
                  <a:ext uri="{0D108BD9-81ED-4DB2-BD59-A6C34878D82A}">
                    <a16:rowId xmlns:a16="http://schemas.microsoft.com/office/drawing/2014/main" val="10006"/>
                  </a:ext>
                </a:extLst>
              </a:tr>
              <a:tr h="425196">
                <a:tc>
                  <a:txBody>
                    <a:bodyPr/>
                    <a:lstStyle/>
                    <a:p>
                      <a:pPr>
                        <a:lnSpc>
                          <a:spcPct val="112000"/>
                        </a:lnSpc>
                      </a:pPr>
                      <a:r>
                        <a:rPr sz="1100" b="1" i="0">
                          <a:solidFill>
                            <a:srgbClr val="00335C"/>
                          </a:solidFill>
                          <a:latin typeface="Segoe UI"/>
                        </a:rPr>
                        <a:t>Seguridad</a:t>
                      </a:r>
                    </a:p>
                  </a:txBody>
                  <a:tcPr marL="109728" marR="109728" marT="36576" marB="36576" anchor="ctr">
                    <a:solidFill>
                      <a:srgbClr val="FFFFFF"/>
                    </a:solidFill>
                  </a:tcPr>
                </a:tc>
                <a:tc>
                  <a:txBody>
                    <a:bodyPr/>
                    <a:lstStyle/>
                    <a:p>
                      <a:pPr>
                        <a:lnSpc>
                          <a:spcPct val="112000"/>
                        </a:lnSpc>
                      </a:pPr>
                      <a:r>
                        <a:rPr sz="1100" b="0" i="0">
                          <a:solidFill>
                            <a:srgbClr val="1B2430"/>
                          </a:solidFill>
                          <a:latin typeface="Segoe UI"/>
                        </a:rPr>
                        <a:t>Guardas fijas con enclavamiento en transmisiones; cortina de luz en la prensa.</a:t>
                      </a:r>
                    </a:p>
                  </a:txBody>
                  <a:tcPr marL="109728" marR="109728" marT="36576" marB="36576" anchor="ctr">
                    <a:solidFill>
                      <a:srgbClr val="FFFFFF"/>
                    </a:solidFill>
                  </a:tcPr>
                </a:tc>
                <a:tc>
                  <a:txBody>
                    <a:bodyPr/>
                    <a:lstStyle/>
                    <a:p>
                      <a:pPr>
                        <a:lnSpc>
                          <a:spcPct val="112000"/>
                        </a:lnSpc>
                      </a:pPr>
                      <a:r>
                        <a:rPr sz="1100" b="0" i="0">
                          <a:solidFill>
                            <a:srgbClr val="1B2430"/>
                          </a:solidFill>
                          <a:latin typeface="Segoe UI"/>
                        </a:rPr>
                        <a:t>Sin contacto con partes móviles.</a:t>
                      </a:r>
                    </a:p>
                  </a:txBody>
                  <a:tcPr marL="109728" marR="109728" marT="36576" marB="36576" anchor="ctr">
                    <a:solidFill>
                      <a:srgbClr val="FFFFFF"/>
                    </a:solidFill>
                  </a:tcPr>
                </a:tc>
                <a:extLst>
                  <a:ext uri="{0D108BD9-81ED-4DB2-BD59-A6C34878D82A}">
                    <a16:rowId xmlns:a16="http://schemas.microsoft.com/office/drawing/2014/main" val="10007"/>
                  </a:ext>
                </a:extLst>
              </a:tr>
              <a:tr h="425196">
                <a:tc>
                  <a:txBody>
                    <a:bodyPr/>
                    <a:lstStyle/>
                    <a:p>
                      <a:pPr>
                        <a:lnSpc>
                          <a:spcPct val="112000"/>
                        </a:lnSpc>
                      </a:pPr>
                      <a:r>
                        <a:rPr sz="1100" b="1" i="0">
                          <a:solidFill>
                            <a:srgbClr val="00335C"/>
                          </a:solidFill>
                          <a:latin typeface="Segoe UI"/>
                        </a:rPr>
                        <a:t>Control ambiental</a:t>
                      </a:r>
                    </a:p>
                  </a:txBody>
                  <a:tcPr marL="109728" marR="109728" marT="36576" marB="36576" anchor="ctr">
                    <a:solidFill>
                      <a:srgbClr val="F4F7FA"/>
                    </a:solidFill>
                  </a:tcPr>
                </a:tc>
                <a:tc>
                  <a:txBody>
                    <a:bodyPr/>
                    <a:lstStyle/>
                    <a:p>
                      <a:pPr>
                        <a:lnSpc>
                          <a:spcPct val="112000"/>
                        </a:lnSpc>
                      </a:pPr>
                      <a:r>
                        <a:rPr sz="1100" b="0" i="0">
                          <a:solidFill>
                            <a:srgbClr val="1B2430"/>
                          </a:solidFill>
                          <a:latin typeface="Segoe UI"/>
                        </a:rPr>
                        <a:t>Colector de polvo de mangas; bandeja de contención bajo los reductores.</a:t>
                      </a:r>
                    </a:p>
                  </a:txBody>
                  <a:tcPr marL="109728" marR="109728" marT="36576" marB="36576" anchor="ctr">
                    <a:solidFill>
                      <a:srgbClr val="F4F7FA"/>
                    </a:solidFill>
                  </a:tcPr>
                </a:tc>
                <a:tc>
                  <a:txBody>
                    <a:bodyPr/>
                    <a:lstStyle/>
                    <a:p>
                      <a:pPr>
                        <a:lnSpc>
                          <a:spcPct val="112000"/>
                        </a:lnSpc>
                      </a:pPr>
                      <a:r>
                        <a:rPr sz="1100" b="0" i="0">
                          <a:solidFill>
                            <a:srgbClr val="1B2430"/>
                          </a:solidFill>
                          <a:latin typeface="Segoe UI"/>
                        </a:rPr>
                        <a:t>Menos emisiones y vertimientos.</a:t>
                      </a:r>
                    </a:p>
                  </a:txBody>
                  <a:tcPr marL="109728" marR="109728" marT="36576" marB="36576" anchor="ctr">
                    <a:solidFill>
                      <a:srgbClr val="F4F7FA"/>
                    </a:solidFill>
                  </a:tcPr>
                </a:tc>
                <a:extLst>
                  <a:ext uri="{0D108BD9-81ED-4DB2-BD59-A6C34878D82A}">
                    <a16:rowId xmlns:a16="http://schemas.microsoft.com/office/drawing/2014/main" val="10008"/>
                  </a:ext>
                </a:extLst>
              </a:tr>
            </a:tbl>
          </a:graphicData>
        </a:graphic>
      </p:graphicFrame>
      <p:sp>
        <p:nvSpPr>
          <p:cNvPr id="13" name="Rectangle 12"/>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La orientación define el indicador con el que se evaluará la modificación al final (etapa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CLASIFICACIÓN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Mejoras y rediseños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5</a:t>
            </a:r>
            <a:endParaRPr lang="en-US" sz="1000" dirty="0"/>
          </a:p>
        </p:txBody>
      </p:sp>
      <p:sp>
        <p:nvSpPr>
          <p:cNvPr id="10" name="Text 7"/>
          <p:cNvSpPr txBox="1"/>
          <p:nvPr/>
        </p:nvSpPr>
        <p:spPr>
          <a:xfrm>
            <a:off x="658368" y="1737360"/>
            <a:ext cx="10424160" cy="786384"/>
          </a:xfrm>
          <a:prstGeom prst="rect">
            <a:avLst/>
          </a:prstGeom>
          <a:noFill/>
          <a:ln/>
        </p:spPr>
        <p:txBody>
          <a:bodyPr wrap="square" lIns="0" tIns="0" rIns="0" bIns="0" rtlCol="0" anchor="ctr"/>
          <a:lstStyle/>
          <a:p>
            <a:pPr marL="0" indent="0">
              <a:lnSpc>
                <a:spcPts val="2500"/>
              </a:lnSpc>
              <a:buNone/>
            </a:pPr>
            <a:r>
              <a:rPr lang="en-US" sz="1800" dirty="0">
                <a:solidFill>
                  <a:srgbClr val="1B2430"/>
                </a:solidFill>
                <a:latin typeface="Segoe UI" pitchFamily="34" charset="0"/>
                <a:ea typeface="Segoe UI" pitchFamily="34" charset="-122"/>
                <a:cs typeface="Segoe UI" pitchFamily="34" charset="-120"/>
              </a:rPr>
              <a:t>Comprenden además, los cambios realizados en las máquinas o equipos para incorporar o mejorar algunos aspectos relacionados con sus funciones.</a:t>
            </a:r>
            <a:endParaRPr lang="en-US" sz="1800" dirty="0"/>
          </a:p>
        </p:txBody>
      </p:sp>
      <p:sp>
        <p:nvSpPr>
          <p:cNvPr id="11" name="Shape 8"/>
          <p:cNvSpPr/>
          <p:nvPr/>
        </p:nvSpPr>
        <p:spPr>
          <a:xfrm>
            <a:off x="4041648" y="2761488"/>
            <a:ext cx="4105656" cy="548640"/>
          </a:xfrm>
          <a:prstGeom prst="rect">
            <a:avLst/>
          </a:prstGeom>
          <a:solidFill>
            <a:srgbClr val="00335C"/>
          </a:solidFill>
          <a:ln/>
        </p:spPr>
      </p:sp>
      <p:sp>
        <p:nvSpPr>
          <p:cNvPr id="12" name="Text 9"/>
          <p:cNvSpPr txBox="1"/>
          <p:nvPr/>
        </p:nvSpPr>
        <p:spPr>
          <a:xfrm>
            <a:off x="4041648" y="2761488"/>
            <a:ext cx="4105656" cy="548640"/>
          </a:xfrm>
          <a:prstGeom prst="rect">
            <a:avLst/>
          </a:prstGeom>
          <a:noFill/>
          <a:ln/>
        </p:spPr>
        <p:txBody>
          <a:bodyPr wrap="square" lIns="0" tIns="0" rIns="0" bIns="0" rtlCol="0" anchor="ctr"/>
          <a:lstStyle/>
          <a:p>
            <a:pPr marL="0" indent="0" algn="ctr">
              <a:lnSpc>
                <a:spcPts val="1875"/>
              </a:lnSpc>
              <a:buNone/>
            </a:pPr>
            <a:r>
              <a:rPr lang="en-US" sz="1500" b="1" dirty="0">
                <a:solidFill>
                  <a:srgbClr val="FFFFFF"/>
                </a:solidFill>
                <a:latin typeface="Segoe UI" pitchFamily="34" charset="0"/>
                <a:ea typeface="Segoe UI" pitchFamily="34" charset="-122"/>
                <a:cs typeface="Segoe UI" pitchFamily="34" charset="-120"/>
              </a:rPr>
              <a:t>ACCIONES MODIFICATIVAS</a:t>
            </a:r>
            <a:endParaRPr lang="en-US" sz="1500" dirty="0"/>
          </a:p>
        </p:txBody>
      </p:sp>
      <p:sp>
        <p:nvSpPr>
          <p:cNvPr id="13" name="Shape 10"/>
          <p:cNvSpPr/>
          <p:nvPr/>
        </p:nvSpPr>
        <p:spPr>
          <a:xfrm>
            <a:off x="6071616" y="3310128"/>
            <a:ext cx="41148" cy="292608"/>
          </a:xfrm>
          <a:prstGeom prst="rect">
            <a:avLst/>
          </a:prstGeom>
          <a:solidFill>
            <a:srgbClr val="2E77B0"/>
          </a:solidFill>
          <a:ln/>
        </p:spPr>
      </p:sp>
      <p:sp>
        <p:nvSpPr>
          <p:cNvPr id="14" name="Shape 11"/>
          <p:cNvSpPr/>
          <p:nvPr/>
        </p:nvSpPr>
        <p:spPr>
          <a:xfrm>
            <a:off x="3008376" y="3602736"/>
            <a:ext cx="6181344" cy="41148"/>
          </a:xfrm>
          <a:prstGeom prst="rect">
            <a:avLst/>
          </a:prstGeom>
          <a:solidFill>
            <a:srgbClr val="2E77B0"/>
          </a:solidFill>
          <a:ln/>
        </p:spPr>
      </p:sp>
      <p:sp>
        <p:nvSpPr>
          <p:cNvPr id="15" name="Shape 12"/>
          <p:cNvSpPr/>
          <p:nvPr/>
        </p:nvSpPr>
        <p:spPr>
          <a:xfrm>
            <a:off x="3008376" y="3602736"/>
            <a:ext cx="41148" cy="274320"/>
          </a:xfrm>
          <a:prstGeom prst="rect">
            <a:avLst/>
          </a:prstGeom>
          <a:solidFill>
            <a:srgbClr val="2E77B0"/>
          </a:solidFill>
          <a:ln/>
        </p:spPr>
      </p:sp>
      <p:sp>
        <p:nvSpPr>
          <p:cNvPr id="16" name="Shape 13"/>
          <p:cNvSpPr/>
          <p:nvPr/>
        </p:nvSpPr>
        <p:spPr>
          <a:xfrm>
            <a:off x="9144000" y="3602736"/>
            <a:ext cx="41148" cy="274320"/>
          </a:xfrm>
          <a:prstGeom prst="rect">
            <a:avLst/>
          </a:prstGeom>
          <a:solidFill>
            <a:srgbClr val="2E77B0"/>
          </a:solidFill>
          <a:ln/>
        </p:spPr>
      </p:sp>
      <p:sp>
        <p:nvSpPr>
          <p:cNvPr id="17" name="Shape 14"/>
          <p:cNvSpPr/>
          <p:nvPr/>
        </p:nvSpPr>
        <p:spPr>
          <a:xfrm>
            <a:off x="1234440" y="3877056"/>
            <a:ext cx="3566160" cy="1499616"/>
          </a:xfrm>
          <a:prstGeom prst="rect">
            <a:avLst/>
          </a:prstGeom>
          <a:solidFill>
            <a:srgbClr val="F4F7FA"/>
          </a:solidFill>
          <a:ln w="9525">
            <a:solidFill>
              <a:srgbClr val="D5DDE5"/>
            </a:solidFill>
            <a:prstDash val="solid"/>
          </a:ln>
        </p:spPr>
      </p:sp>
      <p:sp>
        <p:nvSpPr>
          <p:cNvPr id="18" name="Shape 15"/>
          <p:cNvSpPr/>
          <p:nvPr/>
        </p:nvSpPr>
        <p:spPr>
          <a:xfrm>
            <a:off x="1234440" y="3877056"/>
            <a:ext cx="3566160" cy="64008"/>
          </a:xfrm>
          <a:prstGeom prst="rect">
            <a:avLst/>
          </a:prstGeom>
          <a:solidFill>
            <a:srgbClr val="004B85"/>
          </a:solidFill>
          <a:ln/>
        </p:spPr>
      </p:sp>
      <p:sp>
        <p:nvSpPr>
          <p:cNvPr id="19" name="Shape 16"/>
          <p:cNvSpPr/>
          <p:nvPr/>
        </p:nvSpPr>
        <p:spPr>
          <a:xfrm>
            <a:off x="1490472" y="4114800"/>
            <a:ext cx="347472" cy="347472"/>
          </a:xfrm>
          <a:prstGeom prst="rect">
            <a:avLst/>
          </a:prstGeom>
          <a:solidFill>
            <a:srgbClr val="004B85"/>
          </a:solidFill>
          <a:ln/>
        </p:spPr>
      </p:sp>
      <p:sp>
        <p:nvSpPr>
          <p:cNvPr id="20" name="Text 17"/>
          <p:cNvSpPr txBox="1"/>
          <p:nvPr/>
        </p:nvSpPr>
        <p:spPr>
          <a:xfrm>
            <a:off x="1490472" y="416052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21" name="Text 18"/>
          <p:cNvSpPr txBox="1"/>
          <p:nvPr/>
        </p:nvSpPr>
        <p:spPr>
          <a:xfrm>
            <a:off x="1965960" y="4096512"/>
            <a:ext cx="2578608"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Mejoras</a:t>
            </a:r>
            <a:endParaRPr lang="en-US" sz="1900" dirty="0"/>
          </a:p>
        </p:txBody>
      </p:sp>
      <p:sp>
        <p:nvSpPr>
          <p:cNvPr id="22" name="Text 19"/>
          <p:cNvSpPr txBox="1"/>
          <p:nvPr/>
        </p:nvSpPr>
        <p:spPr>
          <a:xfrm>
            <a:off x="1490472" y="4517136"/>
            <a:ext cx="3054096" cy="694944"/>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Modificaciones sencillas, sin cambios significativos en la configuración.</a:t>
            </a:r>
            <a:endParaRPr lang="en-US" sz="1350" dirty="0"/>
          </a:p>
        </p:txBody>
      </p:sp>
      <p:sp>
        <p:nvSpPr>
          <p:cNvPr id="23" name="Shape 20"/>
          <p:cNvSpPr/>
          <p:nvPr/>
        </p:nvSpPr>
        <p:spPr>
          <a:xfrm>
            <a:off x="7406640" y="3877056"/>
            <a:ext cx="3566160" cy="1499616"/>
          </a:xfrm>
          <a:prstGeom prst="rect">
            <a:avLst/>
          </a:prstGeom>
          <a:solidFill>
            <a:srgbClr val="F4F7FA"/>
          </a:solidFill>
          <a:ln w="9525">
            <a:solidFill>
              <a:srgbClr val="D5DDE5"/>
            </a:solidFill>
            <a:prstDash val="solid"/>
          </a:ln>
        </p:spPr>
      </p:sp>
      <p:sp>
        <p:nvSpPr>
          <p:cNvPr id="24" name="Shape 21"/>
          <p:cNvSpPr/>
          <p:nvPr/>
        </p:nvSpPr>
        <p:spPr>
          <a:xfrm>
            <a:off x="7406640" y="3877056"/>
            <a:ext cx="3566160" cy="64008"/>
          </a:xfrm>
          <a:prstGeom prst="rect">
            <a:avLst/>
          </a:prstGeom>
          <a:solidFill>
            <a:srgbClr val="FFB903"/>
          </a:solidFill>
          <a:ln/>
        </p:spPr>
      </p:sp>
      <p:sp>
        <p:nvSpPr>
          <p:cNvPr id="25" name="Shape 22"/>
          <p:cNvSpPr/>
          <p:nvPr/>
        </p:nvSpPr>
        <p:spPr>
          <a:xfrm>
            <a:off x="7662672" y="4114800"/>
            <a:ext cx="347472" cy="347472"/>
          </a:xfrm>
          <a:prstGeom prst="rect">
            <a:avLst/>
          </a:prstGeom>
          <a:solidFill>
            <a:srgbClr val="FFB903"/>
          </a:solidFill>
          <a:ln/>
        </p:spPr>
      </p:sp>
      <p:sp>
        <p:nvSpPr>
          <p:cNvPr id="26" name="Text 23"/>
          <p:cNvSpPr txBox="1"/>
          <p:nvPr/>
        </p:nvSpPr>
        <p:spPr>
          <a:xfrm>
            <a:off x="7662672" y="416052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27" name="Text 24"/>
          <p:cNvSpPr txBox="1"/>
          <p:nvPr/>
        </p:nvSpPr>
        <p:spPr>
          <a:xfrm>
            <a:off x="8138160" y="4096512"/>
            <a:ext cx="2578608"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Rediseños</a:t>
            </a:r>
            <a:endParaRPr lang="en-US" sz="1900" dirty="0"/>
          </a:p>
        </p:txBody>
      </p:sp>
      <p:sp>
        <p:nvSpPr>
          <p:cNvPr id="28" name="Text 25"/>
          <p:cNvSpPr txBox="1"/>
          <p:nvPr/>
        </p:nvSpPr>
        <p:spPr>
          <a:xfrm>
            <a:off x="7662672" y="4517136"/>
            <a:ext cx="3054096" cy="694944"/>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Cambios importantes, con las metodologías propias del diseño.</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CLASIFICACIÓN</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Mismo problema: mejora o rediseño</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5 · Acciones modificativas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5a</a:t>
            </a:r>
          </a:p>
        </p:txBody>
      </p:sp>
      <p:graphicFrame>
        <p:nvGraphicFramePr>
          <p:cNvPr id="12" name="Table 11"/>
          <p:cNvGraphicFramePr>
            <a:graphicFrameLocks noGrp="1"/>
          </p:cNvGraphicFramePr>
          <p:nvPr/>
        </p:nvGraphicFramePr>
        <p:xfrm>
          <a:off x="658368" y="1664208"/>
          <a:ext cx="10872214" cy="3712460"/>
        </p:xfrm>
        <a:graphic>
          <a:graphicData uri="http://schemas.openxmlformats.org/drawingml/2006/table">
            <a:tbl>
              <a:tblPr>
                <a:tableStyleId>{5C22544A-7EE6-4342-B048-85BDC9FD1C3A}</a:tableStyleId>
              </a:tblPr>
              <a:tblGrid>
                <a:gridCol w="3017519">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014215">
                  <a:extLst>
                    <a:ext uri="{9D8B030D-6E8A-4147-A177-3AD203B41FA5}">
                      <a16:colId xmlns:a16="http://schemas.microsoft.com/office/drawing/2014/main" val="20002"/>
                    </a:ext>
                  </a:extLst>
                </a:gridCol>
              </a:tblGrid>
              <a:tr h="402336">
                <a:tc>
                  <a:txBody>
                    <a:bodyPr/>
                    <a:lstStyle/>
                    <a:p>
                      <a:r>
                        <a:rPr sz="1300" b="1">
                          <a:solidFill>
                            <a:srgbClr val="FFFFFF"/>
                          </a:solidFill>
                          <a:latin typeface="Segoe UI"/>
                        </a:rPr>
                        <a:t>Problema</a:t>
                      </a:r>
                    </a:p>
                  </a:txBody>
                  <a:tcPr marL="109728" marR="109728" anchor="ctr">
                    <a:solidFill>
                      <a:srgbClr val="004B85"/>
                    </a:solidFill>
                  </a:tcPr>
                </a:tc>
                <a:tc>
                  <a:txBody>
                    <a:bodyPr/>
                    <a:lstStyle/>
                    <a:p>
                      <a:r>
                        <a:rPr sz="1300" b="1">
                          <a:solidFill>
                            <a:srgbClr val="FFFFFF"/>
                          </a:solidFill>
                          <a:latin typeface="Segoe UI"/>
                        </a:rPr>
                        <a:t>Mejora · no cambia la configuración</a:t>
                      </a:r>
                    </a:p>
                  </a:txBody>
                  <a:tcPr marL="109728" marR="109728" anchor="ctr">
                    <a:solidFill>
                      <a:srgbClr val="004B85"/>
                    </a:solidFill>
                  </a:tcPr>
                </a:tc>
                <a:tc>
                  <a:txBody>
                    <a:bodyPr/>
                    <a:lstStyle/>
                    <a:p>
                      <a:r>
                        <a:rPr sz="1300" b="1">
                          <a:solidFill>
                            <a:srgbClr val="FFFFFF"/>
                          </a:solidFill>
                          <a:latin typeface="Segoe UI"/>
                        </a:rPr>
                        <a:t>Rediseño · cambia la configuración</a:t>
                      </a:r>
                    </a:p>
                  </a:txBody>
                  <a:tcPr marL="109728" marR="109728" anchor="ctr">
                    <a:solidFill>
                      <a:srgbClr val="B88200"/>
                    </a:solidFill>
                  </a:tcPr>
                </a:tc>
                <a:extLst>
                  <a:ext uri="{0D108BD9-81ED-4DB2-BD59-A6C34878D82A}">
                    <a16:rowId xmlns:a16="http://schemas.microsoft.com/office/drawing/2014/main" val="10000"/>
                  </a:ext>
                </a:extLst>
              </a:tr>
              <a:tr h="827531">
                <a:tc>
                  <a:txBody>
                    <a:bodyPr/>
                    <a:lstStyle/>
                    <a:p>
                      <a:pPr>
                        <a:lnSpc>
                          <a:spcPct val="112000"/>
                        </a:lnSpc>
                      </a:pPr>
                      <a:r>
                        <a:rPr sz="1250" b="1" i="0">
                          <a:solidFill>
                            <a:srgbClr val="00335C"/>
                          </a:solidFill>
                          <a:latin typeface="Segoe UI"/>
                        </a:rPr>
                        <a:t>Desgaste acelerado en una canaleta de descarga</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Revestimiento antidesgaste: placas o epóxico con relleno cerámico.</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Nueva geometría con caja de piedra: el material choca contra material.</a:t>
                      </a:r>
                    </a:p>
                  </a:txBody>
                  <a:tcPr marL="109728" marR="109728" marT="36576" marB="36576" anchor="ctr">
                    <a:solidFill>
                      <a:srgbClr val="FFFFFF"/>
                    </a:solidFill>
                  </a:tcPr>
                </a:tc>
                <a:extLst>
                  <a:ext uri="{0D108BD9-81ED-4DB2-BD59-A6C34878D82A}">
                    <a16:rowId xmlns:a16="http://schemas.microsoft.com/office/drawing/2014/main" val="10001"/>
                  </a:ext>
                </a:extLst>
              </a:tr>
              <a:tr h="827531">
                <a:tc>
                  <a:txBody>
                    <a:bodyPr/>
                    <a:lstStyle/>
                    <a:p>
                      <a:pPr>
                        <a:lnSpc>
                          <a:spcPct val="112000"/>
                        </a:lnSpc>
                      </a:pPr>
                      <a:r>
                        <a:rPr sz="1250" b="1" i="0">
                          <a:solidFill>
                            <a:srgbClr val="00335C"/>
                          </a:solidFill>
                          <a:latin typeface="Segoe UI"/>
                        </a:rPr>
                        <a:t>Rotura repetida del pasador de seguridad de un transportador</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Limitador de torque en lugar del pasador.</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Accionamiento con variador, arranque suave y control de par.</a:t>
                      </a:r>
                    </a:p>
                  </a:txBody>
                  <a:tcPr marL="109728" marR="109728" marT="36576" marB="36576" anchor="ctr">
                    <a:solidFill>
                      <a:srgbClr val="F4F7FA"/>
                    </a:solidFill>
                  </a:tcPr>
                </a:tc>
                <a:extLst>
                  <a:ext uri="{0D108BD9-81ED-4DB2-BD59-A6C34878D82A}">
                    <a16:rowId xmlns:a16="http://schemas.microsoft.com/office/drawing/2014/main" val="10002"/>
                  </a:ext>
                </a:extLst>
              </a:tr>
              <a:tr h="827531">
                <a:tc>
                  <a:txBody>
                    <a:bodyPr/>
                    <a:lstStyle/>
                    <a:p>
                      <a:pPr>
                        <a:lnSpc>
                          <a:spcPct val="112000"/>
                        </a:lnSpc>
                      </a:pPr>
                      <a:r>
                        <a:rPr sz="1250" b="1" i="0">
                          <a:solidFill>
                            <a:srgbClr val="00335C"/>
                          </a:solidFill>
                          <a:latin typeface="Segoe UI"/>
                        </a:rPr>
                        <a:t>Sobretemperatura en un reductor</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Aceite sintético y ventilador en el eje rápido.</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Reductor de mayor tamaño o con engranajes helicoidales de mayor eficiencia.</a:t>
                      </a:r>
                    </a:p>
                  </a:txBody>
                  <a:tcPr marL="109728" marR="109728" marT="36576" marB="36576" anchor="ctr">
                    <a:solidFill>
                      <a:srgbClr val="FFFFFF"/>
                    </a:solidFill>
                  </a:tcPr>
                </a:tc>
                <a:extLst>
                  <a:ext uri="{0D108BD9-81ED-4DB2-BD59-A6C34878D82A}">
                    <a16:rowId xmlns:a16="http://schemas.microsoft.com/office/drawing/2014/main" val="10003"/>
                  </a:ext>
                </a:extLst>
              </a:tr>
              <a:tr h="827531">
                <a:tc>
                  <a:txBody>
                    <a:bodyPr/>
                    <a:lstStyle/>
                    <a:p>
                      <a:pPr>
                        <a:lnSpc>
                          <a:spcPct val="112000"/>
                        </a:lnSpc>
                      </a:pPr>
                      <a:r>
                        <a:rPr sz="1250" b="1" i="0">
                          <a:solidFill>
                            <a:srgbClr val="00335C"/>
                          </a:solidFill>
                          <a:latin typeface="Segoe UI"/>
                        </a:rPr>
                        <a:t>Estrías en rodamientos de un motor con variador</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Rodamiento aislado y escobilla de puesta a tierra del eje.</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Rediseño del accionamiento: motor apto para variador y filtro de salida.</a:t>
                      </a:r>
                    </a:p>
                  </a:txBody>
                  <a:tcPr marL="109728" marR="109728" marT="36576" marB="36576" anchor="ctr">
                    <a:solidFill>
                      <a:srgbClr val="F4F7FA"/>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Primero se pregunta si la mejora elimina la causa raíz; el rediseño se justifica cuando no la elimina.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5C"/>
          </a:solidFill>
          <a:ln/>
        </p:spPr>
      </p:sp>
      <p:sp>
        <p:nvSpPr>
          <p:cNvPr id="3" name="Shape 1"/>
          <p:cNvSpPr/>
          <p:nvPr/>
        </p:nvSpPr>
        <p:spPr>
          <a:xfrm>
            <a:off x="0" y="0"/>
            <a:ext cx="274320" cy="6858000"/>
          </a:xfrm>
          <a:prstGeom prst="rect">
            <a:avLst/>
          </a:prstGeom>
          <a:solidFill>
            <a:srgbClr val="FFB903"/>
          </a:solidFill>
          <a:ln/>
        </p:spPr>
      </p:sp>
      <p:sp>
        <p:nvSpPr>
          <p:cNvPr id="4" name="Shape 2"/>
          <p:cNvSpPr/>
          <p:nvPr/>
        </p:nvSpPr>
        <p:spPr>
          <a:xfrm>
            <a:off x="7616952" y="0"/>
            <a:ext cx="4574743" cy="6858000"/>
          </a:xfrm>
          <a:prstGeom prst="rect">
            <a:avLst/>
          </a:prstGeom>
          <a:solidFill>
            <a:srgbClr val="001E38"/>
          </a:solidFill>
          <a:ln/>
        </p:spPr>
      </p:sp>
      <p:pic>
        <p:nvPicPr>
          <p:cNvPr id="5"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6" name="Text 3"/>
          <p:cNvSpPr txBox="1"/>
          <p:nvPr/>
        </p:nvSpPr>
        <p:spPr>
          <a:xfrm>
            <a:off x="1143000" y="1005840"/>
            <a:ext cx="2377440" cy="1417320"/>
          </a:xfrm>
          <a:prstGeom prst="rect">
            <a:avLst/>
          </a:prstGeom>
          <a:noFill/>
          <a:ln/>
        </p:spPr>
        <p:txBody>
          <a:bodyPr wrap="square" lIns="0" tIns="0" rIns="0" bIns="0" rtlCol="0" anchor="ctr"/>
          <a:lstStyle/>
          <a:p>
            <a:pPr marL="0" indent="0">
              <a:buNone/>
            </a:pPr>
            <a:r>
              <a:rPr lang="en-US" sz="10400" b="1" dirty="0">
                <a:solidFill>
                  <a:srgbClr val="FFB903"/>
                </a:solidFill>
                <a:latin typeface="Segoe UI" pitchFamily="34" charset="0"/>
                <a:ea typeface="Segoe UI" pitchFamily="34" charset="-122"/>
                <a:cs typeface="Segoe UI" pitchFamily="34" charset="-120"/>
              </a:rPr>
              <a:t>2</a:t>
            </a:r>
            <a:endParaRPr lang="en-US" sz="10400" dirty="0"/>
          </a:p>
        </p:txBody>
      </p:sp>
      <p:sp>
        <p:nvSpPr>
          <p:cNvPr id="7" name="Text 4"/>
          <p:cNvSpPr txBox="1"/>
          <p:nvPr/>
        </p:nvSpPr>
        <p:spPr>
          <a:xfrm>
            <a:off x="1143000" y="2350008"/>
            <a:ext cx="6126480" cy="1554480"/>
          </a:xfrm>
          <a:prstGeom prst="rect">
            <a:avLst/>
          </a:prstGeom>
          <a:noFill/>
          <a:ln/>
        </p:spPr>
        <p:txBody>
          <a:bodyPr wrap="square" lIns="0" tIns="0" rIns="0" bIns="0" rtlCol="0" anchor="ctr"/>
          <a:lstStyle/>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Mejoras y</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modificaciones</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sencillas</a:t>
            </a:r>
            <a:endParaRPr lang="en-US" sz="3300" dirty="0"/>
          </a:p>
        </p:txBody>
      </p:sp>
      <p:sp>
        <p:nvSpPr>
          <p:cNvPr id="8" name="Shape 5"/>
          <p:cNvSpPr/>
          <p:nvPr/>
        </p:nvSpPr>
        <p:spPr>
          <a:xfrm>
            <a:off x="1143000" y="4069080"/>
            <a:ext cx="1371600" cy="45720"/>
          </a:xfrm>
          <a:prstGeom prst="rect">
            <a:avLst/>
          </a:prstGeom>
          <a:solidFill>
            <a:srgbClr val="FFB903"/>
          </a:solidFill>
          <a:ln/>
        </p:spPr>
      </p:sp>
      <p:sp>
        <p:nvSpPr>
          <p:cNvPr id="9" name="Text 6"/>
          <p:cNvSpPr txBox="1"/>
          <p:nvPr/>
        </p:nvSpPr>
        <p:spPr>
          <a:xfrm>
            <a:off x="1143000" y="4279392"/>
            <a:ext cx="5852160" cy="1005840"/>
          </a:xfrm>
          <a:prstGeom prst="rect">
            <a:avLst/>
          </a:prstGeom>
          <a:noFill/>
          <a:ln/>
        </p:spPr>
        <p:txBody>
          <a:bodyPr wrap="square" lIns="0" tIns="0" rIns="0" bIns="0" rtlCol="0" anchor="ctr"/>
          <a:lstStyle/>
          <a:p>
            <a:pPr marL="0" indent="0">
              <a:lnSpc>
                <a:spcPts val="2500"/>
              </a:lnSpc>
              <a:buNone/>
            </a:pPr>
            <a:r>
              <a:rPr lang="en-US" sz="1800" dirty="0">
                <a:solidFill>
                  <a:srgbClr val="B8C8D8"/>
                </a:solidFill>
                <a:latin typeface="Segoe UI" pitchFamily="34" charset="0"/>
                <a:ea typeface="Segoe UI" pitchFamily="34" charset="-122"/>
                <a:cs typeface="Segoe UI" pitchFamily="34" charset="-120"/>
              </a:rPr>
              <a:t>Modificaciones que no alteran de forma significativa la configuración del equipo, con ejemplos de aplicación en planta.</a:t>
            </a:r>
            <a:endParaRPr lang="en-US" sz="1800" dirty="0"/>
          </a:p>
        </p:txBody>
      </p:sp>
      <p:sp>
        <p:nvSpPr>
          <p:cNvPr id="10" name="Text 7"/>
          <p:cNvSpPr txBox="1"/>
          <p:nvPr/>
        </p:nvSpPr>
        <p:spPr>
          <a:xfrm>
            <a:off x="8211312" y="1719072"/>
            <a:ext cx="3291840" cy="338328"/>
          </a:xfrm>
          <a:prstGeom prst="rect">
            <a:avLst/>
          </a:prstGeom>
          <a:noFill/>
          <a:ln/>
        </p:spPr>
        <p:txBody>
          <a:bodyPr wrap="square" lIns="0" tIns="0" rIns="0" bIns="0" rtlCol="0" anchor="ctr"/>
          <a:lstStyle/>
          <a:p>
            <a:pPr marL="0" indent="0">
              <a:buNone/>
            </a:pPr>
            <a:r>
              <a:rPr lang="en-US" sz="1800" b="1" kern="0" spc="80" dirty="0">
                <a:solidFill>
                  <a:srgbClr val="FFB903"/>
                </a:solidFill>
                <a:latin typeface="Segoe UI" pitchFamily="34" charset="0"/>
                <a:ea typeface="Segoe UI" pitchFamily="34" charset="-122"/>
                <a:cs typeface="Segoe UI" pitchFamily="34" charset="-120"/>
              </a:rPr>
              <a:t>EN ESTA SECCIÓN</a:t>
            </a:r>
            <a:endParaRPr lang="en-US" sz="1800" dirty="0"/>
          </a:p>
        </p:txBody>
      </p:sp>
      <p:sp>
        <p:nvSpPr>
          <p:cNvPr id="11" name="Shape 8"/>
          <p:cNvSpPr/>
          <p:nvPr/>
        </p:nvSpPr>
        <p:spPr>
          <a:xfrm>
            <a:off x="8211312" y="2359152"/>
            <a:ext cx="146304" cy="36576"/>
          </a:xfrm>
          <a:prstGeom prst="rect">
            <a:avLst/>
          </a:prstGeom>
          <a:solidFill>
            <a:srgbClr val="FFB903"/>
          </a:solidFill>
          <a:ln/>
        </p:spPr>
      </p:sp>
      <p:sp>
        <p:nvSpPr>
          <p:cNvPr id="12" name="Text 9"/>
          <p:cNvSpPr txBox="1"/>
          <p:nvPr/>
        </p:nvSpPr>
        <p:spPr>
          <a:xfrm>
            <a:off x="8485632" y="224028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Concepto de mejora</a:t>
            </a:r>
            <a:endParaRPr lang="en-US" sz="1650" dirty="0"/>
          </a:p>
        </p:txBody>
      </p:sp>
      <p:sp>
        <p:nvSpPr>
          <p:cNvPr id="13" name="Shape 10"/>
          <p:cNvSpPr/>
          <p:nvPr/>
        </p:nvSpPr>
        <p:spPr>
          <a:xfrm>
            <a:off x="8211312" y="3319272"/>
            <a:ext cx="146304" cy="36576"/>
          </a:xfrm>
          <a:prstGeom prst="rect">
            <a:avLst/>
          </a:prstGeom>
          <a:solidFill>
            <a:srgbClr val="FFB903"/>
          </a:solidFill>
          <a:ln/>
        </p:spPr>
      </p:sp>
      <p:sp>
        <p:nvSpPr>
          <p:cNvPr id="14" name="Text 11"/>
          <p:cNvSpPr txBox="1"/>
          <p:nvPr/>
        </p:nvSpPr>
        <p:spPr>
          <a:xfrm>
            <a:off x="8485632" y="320040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Mejoras en materiales y elementos</a:t>
            </a:r>
            <a:endParaRPr lang="en-US" sz="1650" dirty="0"/>
          </a:p>
        </p:txBody>
      </p:sp>
      <p:sp>
        <p:nvSpPr>
          <p:cNvPr id="15" name="Shape 12"/>
          <p:cNvSpPr/>
          <p:nvPr/>
        </p:nvSpPr>
        <p:spPr>
          <a:xfrm>
            <a:off x="8211312" y="4279392"/>
            <a:ext cx="146304" cy="36576"/>
          </a:xfrm>
          <a:prstGeom prst="rect">
            <a:avLst/>
          </a:prstGeom>
          <a:solidFill>
            <a:srgbClr val="FFB903"/>
          </a:solidFill>
          <a:ln/>
        </p:spPr>
      </p:sp>
      <p:sp>
        <p:nvSpPr>
          <p:cNvPr id="16" name="Text 13"/>
          <p:cNvSpPr txBox="1"/>
          <p:nvPr/>
        </p:nvSpPr>
        <p:spPr>
          <a:xfrm>
            <a:off x="8485632" y="416052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Ejemplos en transmisión de potencia</a:t>
            </a:r>
            <a:endParaRPr lang="en-US" sz="1650" dirty="0"/>
          </a:p>
        </p:txBody>
      </p:sp>
      <p:sp>
        <p:nvSpPr>
          <p:cNvPr id="17" name="Shape 14"/>
          <p:cNvSpPr/>
          <p:nvPr/>
        </p:nvSpPr>
        <p:spPr>
          <a:xfrm>
            <a:off x="8211312" y="5239512"/>
            <a:ext cx="146304" cy="36576"/>
          </a:xfrm>
          <a:prstGeom prst="rect">
            <a:avLst/>
          </a:prstGeom>
          <a:solidFill>
            <a:srgbClr val="FFB903"/>
          </a:solidFill>
          <a:ln/>
        </p:spPr>
      </p:sp>
      <p:sp>
        <p:nvSpPr>
          <p:cNvPr id="18" name="Text 15"/>
          <p:cNvSpPr txBox="1"/>
          <p:nvPr/>
        </p:nvSpPr>
        <p:spPr>
          <a:xfrm>
            <a:off x="8485632" y="512064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Modificaciones sencillas con casos reales</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CONCEPTO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Mejoras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6</a:t>
            </a:r>
            <a:endParaRPr lang="en-US" sz="1000" dirty="0"/>
          </a:p>
        </p:txBody>
      </p:sp>
      <p:sp>
        <p:nvSpPr>
          <p:cNvPr id="10" name="Shape 7"/>
          <p:cNvSpPr/>
          <p:nvPr/>
        </p:nvSpPr>
        <p:spPr>
          <a:xfrm>
            <a:off x="658368" y="2103120"/>
            <a:ext cx="10872216" cy="1920240"/>
          </a:xfrm>
          <a:prstGeom prst="rect">
            <a:avLst/>
          </a:prstGeom>
          <a:solidFill>
            <a:srgbClr val="E8F0F7"/>
          </a:solidFill>
          <a:ln/>
        </p:spPr>
      </p:sp>
      <p:sp>
        <p:nvSpPr>
          <p:cNvPr id="11" name="Shape 8"/>
          <p:cNvSpPr/>
          <p:nvPr/>
        </p:nvSpPr>
        <p:spPr>
          <a:xfrm>
            <a:off x="658368" y="2103120"/>
            <a:ext cx="64008" cy="1920240"/>
          </a:xfrm>
          <a:prstGeom prst="rect">
            <a:avLst/>
          </a:prstGeom>
          <a:solidFill>
            <a:srgbClr val="004B85"/>
          </a:solidFill>
          <a:ln/>
        </p:spPr>
      </p:sp>
      <p:sp>
        <p:nvSpPr>
          <p:cNvPr id="12" name="Text 9"/>
          <p:cNvSpPr txBox="1"/>
          <p:nvPr/>
        </p:nvSpPr>
        <p:spPr>
          <a:xfrm>
            <a:off x="1097280" y="2103120"/>
            <a:ext cx="9966960" cy="1920240"/>
          </a:xfrm>
          <a:prstGeom prst="rect">
            <a:avLst/>
          </a:prstGeom>
          <a:noFill/>
          <a:ln/>
        </p:spPr>
        <p:txBody>
          <a:bodyPr wrap="square" lIns="0" tIns="0" rIns="0" bIns="0" rtlCol="0" anchor="ctr"/>
          <a:lstStyle/>
          <a:p>
            <a:pPr marL="0" indent="0">
              <a:lnSpc>
                <a:spcPts val="3200"/>
              </a:lnSpc>
              <a:buNone/>
            </a:pPr>
            <a:r>
              <a:rPr lang="en-US" sz="2200" b="1" dirty="0">
                <a:solidFill>
                  <a:srgbClr val="00335C"/>
                </a:solidFill>
                <a:latin typeface="Segoe UI" pitchFamily="34" charset="0"/>
                <a:ea typeface="Segoe UI" pitchFamily="34" charset="-122"/>
                <a:cs typeface="Segoe UI" pitchFamily="34" charset="-120"/>
              </a:rPr>
              <a:t>Son acciones modificativas relativamente sencillas y las cuales no ocasionan cambios significativos en la configuración del equipo en consideración o en sus elementos.</a:t>
            </a:r>
            <a:endParaRPr lang="en-US" sz="2200" dirty="0"/>
          </a:p>
        </p:txBody>
      </p:sp>
      <p:sp>
        <p:nvSpPr>
          <p:cNvPr id="13" name="Shape 10"/>
          <p:cNvSpPr/>
          <p:nvPr/>
        </p:nvSpPr>
        <p:spPr>
          <a:xfrm>
            <a:off x="658368" y="4663440"/>
            <a:ext cx="10872216" cy="420624"/>
          </a:xfrm>
          <a:prstGeom prst="rect">
            <a:avLst/>
          </a:prstGeom>
          <a:solidFill>
            <a:srgbClr val="E8F0F7"/>
          </a:solidFill>
          <a:ln/>
        </p:spPr>
      </p:sp>
      <p:sp>
        <p:nvSpPr>
          <p:cNvPr id="14" name="Shape 11"/>
          <p:cNvSpPr/>
          <p:nvPr/>
        </p:nvSpPr>
        <p:spPr>
          <a:xfrm>
            <a:off x="658368" y="4663440"/>
            <a:ext cx="54864" cy="420624"/>
          </a:xfrm>
          <a:prstGeom prst="rect">
            <a:avLst/>
          </a:prstGeom>
          <a:solidFill>
            <a:srgbClr val="004B85"/>
          </a:solidFill>
          <a:ln/>
        </p:spPr>
      </p:sp>
      <p:sp>
        <p:nvSpPr>
          <p:cNvPr id="15" name="Text 12"/>
          <p:cNvSpPr txBox="1"/>
          <p:nvPr/>
        </p:nvSpPr>
        <p:spPr>
          <a:xfrm>
            <a:off x="932688" y="4709160"/>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Es la diferencia esencial frente al rediseño: la mejora no cambia la configuración, el rediseño sí.</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ÁMBITOS DE LA MEJORA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Materiales, tratamientos y elementos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7</a:t>
            </a:r>
            <a:endParaRPr lang="en-US" sz="1000" dirty="0"/>
          </a:p>
        </p:txBody>
      </p:sp>
      <p:sp>
        <p:nvSpPr>
          <p:cNvPr id="10" name="Text 7"/>
          <p:cNvSpPr txBox="1"/>
          <p:nvPr/>
        </p:nvSpPr>
        <p:spPr>
          <a:xfrm>
            <a:off x="658368" y="1719072"/>
            <a:ext cx="10424160" cy="731520"/>
          </a:xfrm>
          <a:prstGeom prst="rect">
            <a:avLst/>
          </a:prstGeom>
          <a:noFill/>
          <a:ln/>
        </p:spPr>
        <p:txBody>
          <a:bodyPr wrap="square" lIns="0" tIns="0" rIns="0" bIns="0" rtlCol="0" anchor="ctr"/>
          <a:lstStyle/>
          <a:p>
            <a:pPr marL="0" indent="0">
              <a:lnSpc>
                <a:spcPts val="2400"/>
              </a:lnSpc>
              <a:buNone/>
            </a:pPr>
            <a:r>
              <a:rPr lang="en-US" sz="1700" dirty="0">
                <a:solidFill>
                  <a:srgbClr val="1B2430"/>
                </a:solidFill>
                <a:latin typeface="Segoe UI" pitchFamily="34" charset="0"/>
                <a:ea typeface="Segoe UI" pitchFamily="34" charset="-122"/>
                <a:cs typeface="Segoe UI" pitchFamily="34" charset="-120"/>
              </a:rPr>
              <a:t>Además del acatamiento de las recomendaciones para diseño, fabricación y ensamble de las máquinas, las mejoras están relacionadas con:</a:t>
            </a:r>
            <a:endParaRPr lang="en-US" sz="1700" dirty="0"/>
          </a:p>
        </p:txBody>
      </p:sp>
      <p:sp>
        <p:nvSpPr>
          <p:cNvPr id="11" name="Shape 8"/>
          <p:cNvSpPr/>
          <p:nvPr/>
        </p:nvSpPr>
        <p:spPr>
          <a:xfrm>
            <a:off x="658368" y="2651760"/>
            <a:ext cx="2606040" cy="2468880"/>
          </a:xfrm>
          <a:prstGeom prst="rect">
            <a:avLst/>
          </a:prstGeom>
          <a:solidFill>
            <a:srgbClr val="F4F7FA"/>
          </a:solidFill>
          <a:ln w="9525">
            <a:solidFill>
              <a:srgbClr val="D5DDE5"/>
            </a:solidFill>
            <a:prstDash val="solid"/>
          </a:ln>
        </p:spPr>
      </p:sp>
      <p:sp>
        <p:nvSpPr>
          <p:cNvPr id="12" name="Shape 9"/>
          <p:cNvSpPr/>
          <p:nvPr/>
        </p:nvSpPr>
        <p:spPr>
          <a:xfrm>
            <a:off x="658368" y="2651760"/>
            <a:ext cx="2606040" cy="64008"/>
          </a:xfrm>
          <a:prstGeom prst="rect">
            <a:avLst/>
          </a:prstGeom>
          <a:solidFill>
            <a:srgbClr val="004B85"/>
          </a:solidFill>
          <a:ln/>
        </p:spPr>
      </p:sp>
      <p:sp>
        <p:nvSpPr>
          <p:cNvPr id="13" name="Shape 10"/>
          <p:cNvSpPr/>
          <p:nvPr/>
        </p:nvSpPr>
        <p:spPr>
          <a:xfrm>
            <a:off x="914400" y="2907792"/>
            <a:ext cx="384048" cy="384048"/>
          </a:xfrm>
          <a:prstGeom prst="rect">
            <a:avLst/>
          </a:prstGeom>
          <a:solidFill>
            <a:srgbClr val="004B85"/>
          </a:solidFill>
          <a:ln/>
        </p:spPr>
      </p:sp>
      <p:sp>
        <p:nvSpPr>
          <p:cNvPr id="14" name="Text 11"/>
          <p:cNvSpPr txBox="1"/>
          <p:nvPr/>
        </p:nvSpPr>
        <p:spPr>
          <a:xfrm>
            <a:off x="914400" y="296265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5" name="Text 12"/>
          <p:cNvSpPr txBox="1"/>
          <p:nvPr/>
        </p:nvSpPr>
        <p:spPr>
          <a:xfrm>
            <a:off x="914400" y="3456432"/>
            <a:ext cx="2093976" cy="73152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Propiedades de los materiales</a:t>
            </a:r>
            <a:endParaRPr lang="en-US" sz="1600" dirty="0"/>
          </a:p>
        </p:txBody>
      </p:sp>
      <p:sp>
        <p:nvSpPr>
          <p:cNvPr id="16" name="Text 13"/>
          <p:cNvSpPr txBox="1"/>
          <p:nvPr/>
        </p:nvSpPr>
        <p:spPr>
          <a:xfrm>
            <a:off x="914400" y="4279392"/>
            <a:ext cx="2093976" cy="67665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Mejoras en las propiedades de los diferentes materiales.</a:t>
            </a:r>
            <a:endParaRPr lang="en-US" sz="1300" dirty="0"/>
          </a:p>
        </p:txBody>
      </p:sp>
      <p:sp>
        <p:nvSpPr>
          <p:cNvPr id="17" name="Shape 14"/>
          <p:cNvSpPr/>
          <p:nvPr/>
        </p:nvSpPr>
        <p:spPr>
          <a:xfrm>
            <a:off x="3410712" y="2651760"/>
            <a:ext cx="2606040" cy="2468880"/>
          </a:xfrm>
          <a:prstGeom prst="rect">
            <a:avLst/>
          </a:prstGeom>
          <a:solidFill>
            <a:srgbClr val="F4F7FA"/>
          </a:solidFill>
          <a:ln w="9525">
            <a:solidFill>
              <a:srgbClr val="D5DDE5"/>
            </a:solidFill>
            <a:prstDash val="solid"/>
          </a:ln>
        </p:spPr>
      </p:sp>
      <p:sp>
        <p:nvSpPr>
          <p:cNvPr id="18" name="Shape 15"/>
          <p:cNvSpPr/>
          <p:nvPr/>
        </p:nvSpPr>
        <p:spPr>
          <a:xfrm>
            <a:off x="3410712" y="2651760"/>
            <a:ext cx="2606040" cy="64008"/>
          </a:xfrm>
          <a:prstGeom prst="rect">
            <a:avLst/>
          </a:prstGeom>
          <a:solidFill>
            <a:srgbClr val="B88200"/>
          </a:solidFill>
          <a:ln/>
        </p:spPr>
      </p:sp>
      <p:sp>
        <p:nvSpPr>
          <p:cNvPr id="19" name="Shape 16"/>
          <p:cNvSpPr/>
          <p:nvPr/>
        </p:nvSpPr>
        <p:spPr>
          <a:xfrm>
            <a:off x="3666744" y="2907792"/>
            <a:ext cx="384048" cy="384048"/>
          </a:xfrm>
          <a:prstGeom prst="rect">
            <a:avLst/>
          </a:prstGeom>
          <a:solidFill>
            <a:srgbClr val="B88200"/>
          </a:solidFill>
          <a:ln/>
        </p:spPr>
      </p:sp>
      <p:sp>
        <p:nvSpPr>
          <p:cNvPr id="20" name="Text 17"/>
          <p:cNvSpPr txBox="1"/>
          <p:nvPr/>
        </p:nvSpPr>
        <p:spPr>
          <a:xfrm>
            <a:off x="3666744" y="296265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1" name="Text 18"/>
          <p:cNvSpPr txBox="1"/>
          <p:nvPr/>
        </p:nvSpPr>
        <p:spPr>
          <a:xfrm>
            <a:off x="3666744" y="3456432"/>
            <a:ext cx="2093976" cy="73152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Nuevos materiales</a:t>
            </a:r>
            <a:endParaRPr lang="en-US" sz="1600" dirty="0"/>
          </a:p>
        </p:txBody>
      </p:sp>
      <p:sp>
        <p:nvSpPr>
          <p:cNvPr id="22" name="Text 19"/>
          <p:cNvSpPr txBox="1"/>
          <p:nvPr/>
        </p:nvSpPr>
        <p:spPr>
          <a:xfrm>
            <a:off x="3666744" y="4279392"/>
            <a:ext cx="2093976" cy="67665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Desarrollo de nuevos materiales para la aplicación.</a:t>
            </a:r>
            <a:endParaRPr lang="en-US" sz="1300" dirty="0"/>
          </a:p>
        </p:txBody>
      </p:sp>
      <p:sp>
        <p:nvSpPr>
          <p:cNvPr id="23" name="Shape 20"/>
          <p:cNvSpPr/>
          <p:nvPr/>
        </p:nvSpPr>
        <p:spPr>
          <a:xfrm>
            <a:off x="6163056" y="2651760"/>
            <a:ext cx="2606040" cy="2468880"/>
          </a:xfrm>
          <a:prstGeom prst="rect">
            <a:avLst/>
          </a:prstGeom>
          <a:solidFill>
            <a:srgbClr val="F4F7FA"/>
          </a:solidFill>
          <a:ln w="9525">
            <a:solidFill>
              <a:srgbClr val="D5DDE5"/>
            </a:solidFill>
            <a:prstDash val="solid"/>
          </a:ln>
        </p:spPr>
      </p:sp>
      <p:sp>
        <p:nvSpPr>
          <p:cNvPr id="24" name="Shape 21"/>
          <p:cNvSpPr/>
          <p:nvPr/>
        </p:nvSpPr>
        <p:spPr>
          <a:xfrm>
            <a:off x="6163056" y="2651760"/>
            <a:ext cx="2606040" cy="64008"/>
          </a:xfrm>
          <a:prstGeom prst="rect">
            <a:avLst/>
          </a:prstGeom>
          <a:solidFill>
            <a:srgbClr val="004B85"/>
          </a:solidFill>
          <a:ln/>
        </p:spPr>
      </p:sp>
      <p:sp>
        <p:nvSpPr>
          <p:cNvPr id="25" name="Shape 22"/>
          <p:cNvSpPr/>
          <p:nvPr/>
        </p:nvSpPr>
        <p:spPr>
          <a:xfrm>
            <a:off x="6419088" y="2907792"/>
            <a:ext cx="384048" cy="384048"/>
          </a:xfrm>
          <a:prstGeom prst="rect">
            <a:avLst/>
          </a:prstGeom>
          <a:solidFill>
            <a:srgbClr val="004B85"/>
          </a:solidFill>
          <a:ln/>
        </p:spPr>
      </p:sp>
      <p:sp>
        <p:nvSpPr>
          <p:cNvPr id="26" name="Text 23"/>
          <p:cNvSpPr txBox="1"/>
          <p:nvPr/>
        </p:nvSpPr>
        <p:spPr>
          <a:xfrm>
            <a:off x="6419088" y="296265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7" name="Text 24"/>
          <p:cNvSpPr txBox="1"/>
          <p:nvPr/>
        </p:nvSpPr>
        <p:spPr>
          <a:xfrm>
            <a:off x="6419088" y="3456432"/>
            <a:ext cx="2093976" cy="73152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Tratamientos especiales</a:t>
            </a:r>
            <a:endParaRPr lang="en-US" sz="1600" dirty="0"/>
          </a:p>
        </p:txBody>
      </p:sp>
      <p:sp>
        <p:nvSpPr>
          <p:cNvPr id="28" name="Text 25"/>
          <p:cNvSpPr txBox="1"/>
          <p:nvPr/>
        </p:nvSpPr>
        <p:spPr>
          <a:xfrm>
            <a:off x="6419088" y="4279392"/>
            <a:ext cx="2093976" cy="67665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Desarrollo de tratamientos especiales para mejorar el desempeño de algunos elementos.</a:t>
            </a:r>
            <a:endParaRPr lang="en-US" sz="1300" dirty="0"/>
          </a:p>
        </p:txBody>
      </p:sp>
      <p:sp>
        <p:nvSpPr>
          <p:cNvPr id="29" name="Shape 26"/>
          <p:cNvSpPr/>
          <p:nvPr/>
        </p:nvSpPr>
        <p:spPr>
          <a:xfrm>
            <a:off x="8915400" y="2651760"/>
            <a:ext cx="2606040" cy="2468880"/>
          </a:xfrm>
          <a:prstGeom prst="rect">
            <a:avLst/>
          </a:prstGeom>
          <a:solidFill>
            <a:srgbClr val="F4F7FA"/>
          </a:solidFill>
          <a:ln w="9525">
            <a:solidFill>
              <a:srgbClr val="D5DDE5"/>
            </a:solidFill>
            <a:prstDash val="solid"/>
          </a:ln>
        </p:spPr>
      </p:sp>
      <p:sp>
        <p:nvSpPr>
          <p:cNvPr id="30" name="Shape 27"/>
          <p:cNvSpPr/>
          <p:nvPr/>
        </p:nvSpPr>
        <p:spPr>
          <a:xfrm>
            <a:off x="8915400" y="2651760"/>
            <a:ext cx="2606040" cy="64008"/>
          </a:xfrm>
          <a:prstGeom prst="rect">
            <a:avLst/>
          </a:prstGeom>
          <a:solidFill>
            <a:srgbClr val="B88200"/>
          </a:solidFill>
          <a:ln/>
        </p:spPr>
      </p:sp>
      <p:sp>
        <p:nvSpPr>
          <p:cNvPr id="31" name="Shape 28"/>
          <p:cNvSpPr/>
          <p:nvPr/>
        </p:nvSpPr>
        <p:spPr>
          <a:xfrm>
            <a:off x="9171432" y="2907792"/>
            <a:ext cx="384048" cy="384048"/>
          </a:xfrm>
          <a:prstGeom prst="rect">
            <a:avLst/>
          </a:prstGeom>
          <a:solidFill>
            <a:srgbClr val="B88200"/>
          </a:solidFill>
          <a:ln/>
        </p:spPr>
      </p:sp>
      <p:sp>
        <p:nvSpPr>
          <p:cNvPr id="32" name="Text 29"/>
          <p:cNvSpPr txBox="1"/>
          <p:nvPr/>
        </p:nvSpPr>
        <p:spPr>
          <a:xfrm>
            <a:off x="9171432" y="296265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33" name="Text 30"/>
          <p:cNvSpPr txBox="1"/>
          <p:nvPr/>
        </p:nvSpPr>
        <p:spPr>
          <a:xfrm>
            <a:off x="9171432" y="3456432"/>
            <a:ext cx="2093976" cy="73152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Nuevos elementos</a:t>
            </a:r>
            <a:endParaRPr lang="en-US" sz="1600" dirty="0"/>
          </a:p>
        </p:txBody>
      </p:sp>
      <p:sp>
        <p:nvSpPr>
          <p:cNvPr id="34" name="Text 31"/>
          <p:cNvSpPr txBox="1"/>
          <p:nvPr/>
        </p:nvSpPr>
        <p:spPr>
          <a:xfrm>
            <a:off x="9171432" y="4279392"/>
            <a:ext cx="2093976" cy="67665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Desarrollo de nuevos elementos.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EJEMPLOS DE MEJORA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Transmisión de potencia y fijación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8</a:t>
            </a:r>
            <a:endParaRPr lang="en-US" sz="1000" dirty="0"/>
          </a:p>
        </p:txBody>
      </p:sp>
      <p:sp>
        <p:nvSpPr>
          <p:cNvPr id="10" name="Shape 7"/>
          <p:cNvSpPr/>
          <p:nvPr/>
        </p:nvSpPr>
        <p:spPr>
          <a:xfrm>
            <a:off x="658368" y="1682496"/>
            <a:ext cx="5294376" cy="1883664"/>
          </a:xfrm>
          <a:prstGeom prst="rect">
            <a:avLst/>
          </a:prstGeom>
          <a:solidFill>
            <a:srgbClr val="F4F7FA"/>
          </a:solidFill>
          <a:ln w="9525">
            <a:solidFill>
              <a:srgbClr val="D5DDE5"/>
            </a:solidFill>
            <a:prstDash val="solid"/>
          </a:ln>
        </p:spPr>
      </p:sp>
      <p:sp>
        <p:nvSpPr>
          <p:cNvPr id="11" name="Shape 8"/>
          <p:cNvSpPr/>
          <p:nvPr/>
        </p:nvSpPr>
        <p:spPr>
          <a:xfrm>
            <a:off x="658368" y="1682496"/>
            <a:ext cx="5294376" cy="64008"/>
          </a:xfrm>
          <a:prstGeom prst="rect">
            <a:avLst/>
          </a:prstGeom>
          <a:solidFill>
            <a:srgbClr val="004B85"/>
          </a:solidFill>
          <a:ln/>
        </p:spPr>
      </p:sp>
      <p:sp>
        <p:nvSpPr>
          <p:cNvPr id="12" name="Shape 9"/>
          <p:cNvSpPr/>
          <p:nvPr/>
        </p:nvSpPr>
        <p:spPr>
          <a:xfrm>
            <a:off x="914400" y="1920240"/>
            <a:ext cx="347472" cy="347472"/>
          </a:xfrm>
          <a:prstGeom prst="rect">
            <a:avLst/>
          </a:prstGeom>
          <a:solidFill>
            <a:srgbClr val="004B85"/>
          </a:solidFill>
          <a:ln/>
        </p:spPr>
      </p:sp>
      <p:sp>
        <p:nvSpPr>
          <p:cNvPr id="13" name="Text 10"/>
          <p:cNvSpPr txBox="1"/>
          <p:nvPr/>
        </p:nvSpPr>
        <p:spPr>
          <a:xfrm>
            <a:off x="914400" y="196596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4" name="Text 11"/>
          <p:cNvSpPr txBox="1"/>
          <p:nvPr/>
        </p:nvSpPr>
        <p:spPr>
          <a:xfrm>
            <a:off x="1389888" y="1901952"/>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Partición de ejes largos</a:t>
            </a:r>
            <a:endParaRPr lang="en-US" sz="1700" dirty="0"/>
          </a:p>
        </p:txBody>
      </p:sp>
      <p:sp>
        <p:nvSpPr>
          <p:cNvPr id="15" name="Text 12"/>
          <p:cNvSpPr txBox="1"/>
          <p:nvPr/>
        </p:nvSpPr>
        <p:spPr>
          <a:xfrm>
            <a:off x="914400" y="2322576"/>
            <a:ext cx="4782312" cy="107899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Partición de ejes de transmisión de considerable longitud en varios tramos y unión de los mismos mediante acoplamientos rígidos.</a:t>
            </a:r>
            <a:endParaRPr lang="en-US" sz="1350" dirty="0"/>
          </a:p>
        </p:txBody>
      </p:sp>
      <p:sp>
        <p:nvSpPr>
          <p:cNvPr id="16" name="Shape 13"/>
          <p:cNvSpPr/>
          <p:nvPr/>
        </p:nvSpPr>
        <p:spPr>
          <a:xfrm>
            <a:off x="6236208" y="1682496"/>
            <a:ext cx="5294376" cy="1883664"/>
          </a:xfrm>
          <a:prstGeom prst="rect">
            <a:avLst/>
          </a:prstGeom>
          <a:solidFill>
            <a:srgbClr val="F4F7FA"/>
          </a:solidFill>
          <a:ln w="9525">
            <a:solidFill>
              <a:srgbClr val="D5DDE5"/>
            </a:solidFill>
            <a:prstDash val="solid"/>
          </a:ln>
        </p:spPr>
      </p:sp>
      <p:sp>
        <p:nvSpPr>
          <p:cNvPr id="17" name="Shape 14"/>
          <p:cNvSpPr/>
          <p:nvPr/>
        </p:nvSpPr>
        <p:spPr>
          <a:xfrm>
            <a:off x="6236208" y="1682496"/>
            <a:ext cx="5294376" cy="64008"/>
          </a:xfrm>
          <a:prstGeom prst="rect">
            <a:avLst/>
          </a:prstGeom>
          <a:solidFill>
            <a:srgbClr val="004B85"/>
          </a:solidFill>
          <a:ln/>
        </p:spPr>
      </p:sp>
      <p:sp>
        <p:nvSpPr>
          <p:cNvPr id="18" name="Shape 15"/>
          <p:cNvSpPr/>
          <p:nvPr/>
        </p:nvSpPr>
        <p:spPr>
          <a:xfrm>
            <a:off x="6492240" y="1920240"/>
            <a:ext cx="347472" cy="347472"/>
          </a:xfrm>
          <a:prstGeom prst="rect">
            <a:avLst/>
          </a:prstGeom>
          <a:solidFill>
            <a:srgbClr val="004B85"/>
          </a:solidFill>
          <a:ln/>
        </p:spPr>
      </p:sp>
      <p:sp>
        <p:nvSpPr>
          <p:cNvPr id="19" name="Text 16"/>
          <p:cNvSpPr txBox="1"/>
          <p:nvPr/>
        </p:nvSpPr>
        <p:spPr>
          <a:xfrm>
            <a:off x="6492240" y="196596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20" name="Text 17"/>
          <p:cNvSpPr txBox="1"/>
          <p:nvPr/>
        </p:nvSpPr>
        <p:spPr>
          <a:xfrm>
            <a:off x="6967728" y="1901952"/>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Reubicación de elementos</a:t>
            </a:r>
            <a:endParaRPr lang="en-US" sz="1700" dirty="0"/>
          </a:p>
        </p:txBody>
      </p:sp>
      <p:sp>
        <p:nvSpPr>
          <p:cNvPr id="21" name="Text 18"/>
          <p:cNvSpPr txBox="1"/>
          <p:nvPr/>
        </p:nvSpPr>
        <p:spPr>
          <a:xfrm>
            <a:off x="6492240" y="2322576"/>
            <a:ext cx="4782312" cy="107899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Reubicación de elementos mecánicos en ejes de transmisión.</a:t>
            </a:r>
            <a:endParaRPr lang="en-US" sz="1350" dirty="0"/>
          </a:p>
        </p:txBody>
      </p:sp>
      <p:sp>
        <p:nvSpPr>
          <p:cNvPr id="22" name="Shape 19"/>
          <p:cNvSpPr/>
          <p:nvPr/>
        </p:nvSpPr>
        <p:spPr>
          <a:xfrm>
            <a:off x="658368" y="3712464"/>
            <a:ext cx="5294376" cy="1883664"/>
          </a:xfrm>
          <a:prstGeom prst="rect">
            <a:avLst/>
          </a:prstGeom>
          <a:solidFill>
            <a:srgbClr val="F4F7FA"/>
          </a:solidFill>
          <a:ln w="9525">
            <a:solidFill>
              <a:srgbClr val="D5DDE5"/>
            </a:solidFill>
            <a:prstDash val="solid"/>
          </a:ln>
        </p:spPr>
      </p:sp>
      <p:sp>
        <p:nvSpPr>
          <p:cNvPr id="23" name="Shape 20"/>
          <p:cNvSpPr/>
          <p:nvPr/>
        </p:nvSpPr>
        <p:spPr>
          <a:xfrm>
            <a:off x="658368" y="3712464"/>
            <a:ext cx="5294376" cy="64008"/>
          </a:xfrm>
          <a:prstGeom prst="rect">
            <a:avLst/>
          </a:prstGeom>
          <a:solidFill>
            <a:srgbClr val="FFB903"/>
          </a:solidFill>
          <a:ln/>
        </p:spPr>
      </p:sp>
      <p:sp>
        <p:nvSpPr>
          <p:cNvPr id="24" name="Shape 21"/>
          <p:cNvSpPr/>
          <p:nvPr/>
        </p:nvSpPr>
        <p:spPr>
          <a:xfrm>
            <a:off x="914400" y="3950208"/>
            <a:ext cx="347472" cy="347472"/>
          </a:xfrm>
          <a:prstGeom prst="rect">
            <a:avLst/>
          </a:prstGeom>
          <a:solidFill>
            <a:srgbClr val="FFB903"/>
          </a:solidFill>
          <a:ln/>
        </p:spPr>
      </p:sp>
      <p:sp>
        <p:nvSpPr>
          <p:cNvPr id="25" name="Text 22"/>
          <p:cNvSpPr txBox="1"/>
          <p:nvPr/>
        </p:nvSpPr>
        <p:spPr>
          <a:xfrm>
            <a:off x="914400" y="399592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6" name="Text 23"/>
          <p:cNvSpPr txBox="1"/>
          <p:nvPr/>
        </p:nvSpPr>
        <p:spPr>
          <a:xfrm>
            <a:off x="1389888" y="3931920"/>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Reducción de ancho o espesor</a:t>
            </a:r>
            <a:endParaRPr lang="en-US" sz="1700" dirty="0"/>
          </a:p>
        </p:txBody>
      </p:sp>
      <p:sp>
        <p:nvSpPr>
          <p:cNvPr id="27" name="Text 24"/>
          <p:cNvSpPr txBox="1"/>
          <p:nvPr/>
        </p:nvSpPr>
        <p:spPr>
          <a:xfrm>
            <a:off x="914400" y="4352544"/>
            <a:ext cx="4782312" cy="107899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Reducción del ancho o espesor de elementos mecánicos de transmisión (poleas).</a:t>
            </a:r>
            <a:endParaRPr lang="en-US" sz="1350" dirty="0"/>
          </a:p>
        </p:txBody>
      </p:sp>
      <p:sp>
        <p:nvSpPr>
          <p:cNvPr id="28" name="Shape 25"/>
          <p:cNvSpPr/>
          <p:nvPr/>
        </p:nvSpPr>
        <p:spPr>
          <a:xfrm>
            <a:off x="6236208" y="3712464"/>
            <a:ext cx="5294376" cy="1883664"/>
          </a:xfrm>
          <a:prstGeom prst="rect">
            <a:avLst/>
          </a:prstGeom>
          <a:solidFill>
            <a:srgbClr val="F4F7FA"/>
          </a:solidFill>
          <a:ln w="9525">
            <a:solidFill>
              <a:srgbClr val="D5DDE5"/>
            </a:solidFill>
            <a:prstDash val="solid"/>
          </a:ln>
        </p:spPr>
      </p:sp>
      <p:sp>
        <p:nvSpPr>
          <p:cNvPr id="29" name="Shape 26"/>
          <p:cNvSpPr/>
          <p:nvPr/>
        </p:nvSpPr>
        <p:spPr>
          <a:xfrm>
            <a:off x="6236208" y="3712464"/>
            <a:ext cx="5294376" cy="64008"/>
          </a:xfrm>
          <a:prstGeom prst="rect">
            <a:avLst/>
          </a:prstGeom>
          <a:solidFill>
            <a:srgbClr val="FFB903"/>
          </a:solidFill>
          <a:ln/>
        </p:spPr>
      </p:sp>
      <p:sp>
        <p:nvSpPr>
          <p:cNvPr id="30" name="Shape 27"/>
          <p:cNvSpPr/>
          <p:nvPr/>
        </p:nvSpPr>
        <p:spPr>
          <a:xfrm>
            <a:off x="6492240" y="3950208"/>
            <a:ext cx="347472" cy="347472"/>
          </a:xfrm>
          <a:prstGeom prst="rect">
            <a:avLst/>
          </a:prstGeom>
          <a:solidFill>
            <a:srgbClr val="FFB903"/>
          </a:solidFill>
          <a:ln/>
        </p:spPr>
      </p:sp>
      <p:sp>
        <p:nvSpPr>
          <p:cNvPr id="31" name="Text 28"/>
          <p:cNvSpPr txBox="1"/>
          <p:nvPr/>
        </p:nvSpPr>
        <p:spPr>
          <a:xfrm>
            <a:off x="6492240" y="399592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32" name="Text 29"/>
          <p:cNvSpPr txBox="1"/>
          <p:nvPr/>
        </p:nvSpPr>
        <p:spPr>
          <a:xfrm>
            <a:off x="6967728" y="3931920"/>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Sistemas de fijación</a:t>
            </a:r>
            <a:endParaRPr lang="en-US" sz="1700" dirty="0"/>
          </a:p>
        </p:txBody>
      </p:sp>
      <p:sp>
        <p:nvSpPr>
          <p:cNvPr id="33" name="Text 30"/>
          <p:cNvSpPr txBox="1"/>
          <p:nvPr/>
        </p:nvSpPr>
        <p:spPr>
          <a:xfrm>
            <a:off x="6492240" y="4352544"/>
            <a:ext cx="4782312" cy="107899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Empleo de diferentes sistemas de fijación para evitar aflojamientos de partes de máquinas.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EJEMPLOS DE MEJORA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Montaje, actuación, desgaste y vibración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9</a:t>
            </a:r>
            <a:endParaRPr lang="en-US" sz="1000" dirty="0"/>
          </a:p>
        </p:txBody>
      </p:sp>
      <p:sp>
        <p:nvSpPr>
          <p:cNvPr id="10" name="Shape 7"/>
          <p:cNvSpPr/>
          <p:nvPr/>
        </p:nvSpPr>
        <p:spPr>
          <a:xfrm>
            <a:off x="658368" y="1682496"/>
            <a:ext cx="5294376" cy="1883664"/>
          </a:xfrm>
          <a:prstGeom prst="rect">
            <a:avLst/>
          </a:prstGeom>
          <a:solidFill>
            <a:srgbClr val="F4F7FA"/>
          </a:solidFill>
          <a:ln w="9525">
            <a:solidFill>
              <a:srgbClr val="D5DDE5"/>
            </a:solidFill>
            <a:prstDash val="solid"/>
          </a:ln>
        </p:spPr>
      </p:sp>
      <p:sp>
        <p:nvSpPr>
          <p:cNvPr id="11" name="Shape 8"/>
          <p:cNvSpPr/>
          <p:nvPr/>
        </p:nvSpPr>
        <p:spPr>
          <a:xfrm>
            <a:off x="658368" y="1682496"/>
            <a:ext cx="5294376" cy="64008"/>
          </a:xfrm>
          <a:prstGeom prst="rect">
            <a:avLst/>
          </a:prstGeom>
          <a:solidFill>
            <a:srgbClr val="004B85"/>
          </a:solidFill>
          <a:ln/>
        </p:spPr>
      </p:sp>
      <p:sp>
        <p:nvSpPr>
          <p:cNvPr id="12" name="Shape 9"/>
          <p:cNvSpPr/>
          <p:nvPr/>
        </p:nvSpPr>
        <p:spPr>
          <a:xfrm>
            <a:off x="914400" y="1920240"/>
            <a:ext cx="347472" cy="347472"/>
          </a:xfrm>
          <a:prstGeom prst="rect">
            <a:avLst/>
          </a:prstGeom>
          <a:solidFill>
            <a:srgbClr val="004B85"/>
          </a:solidFill>
          <a:ln/>
        </p:spPr>
      </p:sp>
      <p:sp>
        <p:nvSpPr>
          <p:cNvPr id="13" name="Text 10"/>
          <p:cNvSpPr txBox="1"/>
          <p:nvPr/>
        </p:nvSpPr>
        <p:spPr>
          <a:xfrm>
            <a:off x="914400" y="196596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14" name="Text 11"/>
          <p:cNvSpPr txBox="1"/>
          <p:nvPr/>
        </p:nvSpPr>
        <p:spPr>
          <a:xfrm>
            <a:off x="1389888" y="1901952"/>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Bujes de fijación</a:t>
            </a:r>
            <a:endParaRPr lang="en-US" sz="1700" dirty="0"/>
          </a:p>
        </p:txBody>
      </p:sp>
      <p:sp>
        <p:nvSpPr>
          <p:cNvPr id="15" name="Text 12"/>
          <p:cNvSpPr txBox="1"/>
          <p:nvPr/>
        </p:nvSpPr>
        <p:spPr>
          <a:xfrm>
            <a:off x="914400" y="2322576"/>
            <a:ext cx="4782312" cy="107899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Empleo de sistemas de fijación de elementos mecánicos en ejes que faciliten las labores de montaje y desmontaje.</a:t>
            </a:r>
            <a:endParaRPr lang="en-US" sz="1350" dirty="0"/>
          </a:p>
        </p:txBody>
      </p:sp>
      <p:sp>
        <p:nvSpPr>
          <p:cNvPr id="16" name="Shape 13"/>
          <p:cNvSpPr/>
          <p:nvPr/>
        </p:nvSpPr>
        <p:spPr>
          <a:xfrm>
            <a:off x="6236208" y="1682496"/>
            <a:ext cx="5294376" cy="1883664"/>
          </a:xfrm>
          <a:prstGeom prst="rect">
            <a:avLst/>
          </a:prstGeom>
          <a:solidFill>
            <a:srgbClr val="F4F7FA"/>
          </a:solidFill>
          <a:ln w="9525">
            <a:solidFill>
              <a:srgbClr val="D5DDE5"/>
            </a:solidFill>
            <a:prstDash val="solid"/>
          </a:ln>
        </p:spPr>
      </p:sp>
      <p:sp>
        <p:nvSpPr>
          <p:cNvPr id="17" name="Shape 14"/>
          <p:cNvSpPr/>
          <p:nvPr/>
        </p:nvSpPr>
        <p:spPr>
          <a:xfrm>
            <a:off x="6236208" y="1682496"/>
            <a:ext cx="5294376" cy="64008"/>
          </a:xfrm>
          <a:prstGeom prst="rect">
            <a:avLst/>
          </a:prstGeom>
          <a:solidFill>
            <a:srgbClr val="004B85"/>
          </a:solidFill>
          <a:ln/>
        </p:spPr>
      </p:sp>
      <p:sp>
        <p:nvSpPr>
          <p:cNvPr id="18" name="Shape 15"/>
          <p:cNvSpPr/>
          <p:nvPr/>
        </p:nvSpPr>
        <p:spPr>
          <a:xfrm>
            <a:off x="6492240" y="1920240"/>
            <a:ext cx="347472" cy="347472"/>
          </a:xfrm>
          <a:prstGeom prst="rect">
            <a:avLst/>
          </a:prstGeom>
          <a:solidFill>
            <a:srgbClr val="004B85"/>
          </a:solidFill>
          <a:ln/>
        </p:spPr>
      </p:sp>
      <p:sp>
        <p:nvSpPr>
          <p:cNvPr id="19" name="Text 16"/>
          <p:cNvSpPr txBox="1"/>
          <p:nvPr/>
        </p:nvSpPr>
        <p:spPr>
          <a:xfrm>
            <a:off x="6492240" y="196596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6</a:t>
            </a:r>
            <a:endParaRPr lang="en-US" sz="1400" dirty="0"/>
          </a:p>
        </p:txBody>
      </p:sp>
      <p:sp>
        <p:nvSpPr>
          <p:cNvPr id="20" name="Text 17"/>
          <p:cNvSpPr txBox="1"/>
          <p:nvPr/>
        </p:nvSpPr>
        <p:spPr>
          <a:xfrm>
            <a:off x="6967728" y="1901952"/>
            <a:ext cx="4306824" cy="475488"/>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Actuadores neumáticos e hidráulicos</a:t>
            </a:r>
            <a:endParaRPr lang="en-US" sz="1700" dirty="0"/>
          </a:p>
        </p:txBody>
      </p:sp>
      <p:sp>
        <p:nvSpPr>
          <p:cNvPr id="21" name="Text 18"/>
          <p:cNvSpPr txBox="1"/>
          <p:nvPr/>
        </p:nvSpPr>
        <p:spPr>
          <a:xfrm>
            <a:off x="6492240" y="2468880"/>
            <a:ext cx="4782312" cy="93268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Empleo de actuadores neumáticos e hidráulicos en vez de actuadores mecánicos.</a:t>
            </a:r>
            <a:endParaRPr lang="en-US" sz="1350" dirty="0"/>
          </a:p>
        </p:txBody>
      </p:sp>
      <p:sp>
        <p:nvSpPr>
          <p:cNvPr id="22" name="Shape 19"/>
          <p:cNvSpPr/>
          <p:nvPr/>
        </p:nvSpPr>
        <p:spPr>
          <a:xfrm>
            <a:off x="658368" y="3712464"/>
            <a:ext cx="5294376" cy="1883664"/>
          </a:xfrm>
          <a:prstGeom prst="rect">
            <a:avLst/>
          </a:prstGeom>
          <a:solidFill>
            <a:srgbClr val="F4F7FA"/>
          </a:solidFill>
          <a:ln w="9525">
            <a:solidFill>
              <a:srgbClr val="D5DDE5"/>
            </a:solidFill>
            <a:prstDash val="solid"/>
          </a:ln>
        </p:spPr>
      </p:sp>
      <p:sp>
        <p:nvSpPr>
          <p:cNvPr id="23" name="Shape 20"/>
          <p:cNvSpPr/>
          <p:nvPr/>
        </p:nvSpPr>
        <p:spPr>
          <a:xfrm>
            <a:off x="658368" y="3712464"/>
            <a:ext cx="5294376" cy="64008"/>
          </a:xfrm>
          <a:prstGeom prst="rect">
            <a:avLst/>
          </a:prstGeom>
          <a:solidFill>
            <a:srgbClr val="FFB903"/>
          </a:solidFill>
          <a:ln/>
        </p:spPr>
      </p:sp>
      <p:sp>
        <p:nvSpPr>
          <p:cNvPr id="24" name="Shape 21"/>
          <p:cNvSpPr/>
          <p:nvPr/>
        </p:nvSpPr>
        <p:spPr>
          <a:xfrm>
            <a:off x="914400" y="3950208"/>
            <a:ext cx="347472" cy="347472"/>
          </a:xfrm>
          <a:prstGeom prst="rect">
            <a:avLst/>
          </a:prstGeom>
          <a:solidFill>
            <a:srgbClr val="FFB903"/>
          </a:solidFill>
          <a:ln/>
        </p:spPr>
      </p:sp>
      <p:sp>
        <p:nvSpPr>
          <p:cNvPr id="25" name="Text 22"/>
          <p:cNvSpPr txBox="1"/>
          <p:nvPr/>
        </p:nvSpPr>
        <p:spPr>
          <a:xfrm>
            <a:off x="914400" y="399592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7</a:t>
            </a:r>
            <a:endParaRPr lang="en-US" sz="1400" dirty="0"/>
          </a:p>
        </p:txBody>
      </p:sp>
      <p:sp>
        <p:nvSpPr>
          <p:cNvPr id="26" name="Text 23"/>
          <p:cNvSpPr txBox="1"/>
          <p:nvPr/>
        </p:nvSpPr>
        <p:spPr>
          <a:xfrm>
            <a:off x="1389888" y="3931920"/>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Recubrimientos especiales</a:t>
            </a:r>
            <a:endParaRPr lang="en-US" sz="1700" dirty="0"/>
          </a:p>
        </p:txBody>
      </p:sp>
      <p:sp>
        <p:nvSpPr>
          <p:cNvPr id="27" name="Text 24"/>
          <p:cNvSpPr txBox="1"/>
          <p:nvPr/>
        </p:nvSpPr>
        <p:spPr>
          <a:xfrm>
            <a:off x="914400" y="4352544"/>
            <a:ext cx="4782312" cy="107899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Utilización de recubrimientos especiales para controlar fenómenos de desgaste.</a:t>
            </a:r>
            <a:endParaRPr lang="en-US" sz="1350" dirty="0"/>
          </a:p>
        </p:txBody>
      </p:sp>
      <p:sp>
        <p:nvSpPr>
          <p:cNvPr id="28" name="Shape 25"/>
          <p:cNvSpPr/>
          <p:nvPr/>
        </p:nvSpPr>
        <p:spPr>
          <a:xfrm>
            <a:off x="6236208" y="3712464"/>
            <a:ext cx="5294376" cy="1883664"/>
          </a:xfrm>
          <a:prstGeom prst="rect">
            <a:avLst/>
          </a:prstGeom>
          <a:solidFill>
            <a:srgbClr val="F4F7FA"/>
          </a:solidFill>
          <a:ln w="9525">
            <a:solidFill>
              <a:srgbClr val="D5DDE5"/>
            </a:solidFill>
            <a:prstDash val="solid"/>
          </a:ln>
        </p:spPr>
      </p:sp>
      <p:sp>
        <p:nvSpPr>
          <p:cNvPr id="29" name="Shape 26"/>
          <p:cNvSpPr/>
          <p:nvPr/>
        </p:nvSpPr>
        <p:spPr>
          <a:xfrm>
            <a:off x="6236208" y="3712464"/>
            <a:ext cx="5294376" cy="64008"/>
          </a:xfrm>
          <a:prstGeom prst="rect">
            <a:avLst/>
          </a:prstGeom>
          <a:solidFill>
            <a:srgbClr val="FFB903"/>
          </a:solidFill>
          <a:ln/>
        </p:spPr>
      </p:sp>
      <p:sp>
        <p:nvSpPr>
          <p:cNvPr id="30" name="Shape 27"/>
          <p:cNvSpPr/>
          <p:nvPr/>
        </p:nvSpPr>
        <p:spPr>
          <a:xfrm>
            <a:off x="6492240" y="3950208"/>
            <a:ext cx="347472" cy="347472"/>
          </a:xfrm>
          <a:prstGeom prst="rect">
            <a:avLst/>
          </a:prstGeom>
          <a:solidFill>
            <a:srgbClr val="FFB903"/>
          </a:solidFill>
          <a:ln/>
        </p:spPr>
      </p:sp>
      <p:sp>
        <p:nvSpPr>
          <p:cNvPr id="31" name="Text 28"/>
          <p:cNvSpPr txBox="1"/>
          <p:nvPr/>
        </p:nvSpPr>
        <p:spPr>
          <a:xfrm>
            <a:off x="6492240" y="399592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8</a:t>
            </a:r>
            <a:endParaRPr lang="en-US" sz="1400" dirty="0"/>
          </a:p>
        </p:txBody>
      </p:sp>
      <p:sp>
        <p:nvSpPr>
          <p:cNvPr id="32" name="Text 29"/>
          <p:cNvSpPr txBox="1"/>
          <p:nvPr/>
        </p:nvSpPr>
        <p:spPr>
          <a:xfrm>
            <a:off x="6967728" y="3931920"/>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Refuerzos estructurales</a:t>
            </a:r>
            <a:endParaRPr lang="en-US" sz="1700" dirty="0"/>
          </a:p>
        </p:txBody>
      </p:sp>
      <p:sp>
        <p:nvSpPr>
          <p:cNvPr id="33" name="Text 30"/>
          <p:cNvSpPr txBox="1"/>
          <p:nvPr/>
        </p:nvSpPr>
        <p:spPr>
          <a:xfrm>
            <a:off x="6492240" y="4352544"/>
            <a:ext cx="4782312" cy="107899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Refuerzos estructurales en bases y repisas, para disminuir situaciones de vibración.</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MODIFICACIONES SENCILLAS</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2800" b="1" dirty="0">
                <a:solidFill>
                  <a:srgbClr val="00335C"/>
                </a:solidFill>
                <a:latin typeface="Segoe UI" pitchFamily="34" charset="0"/>
                <a:ea typeface="Segoe UI" pitchFamily="34" charset="-122"/>
                <a:cs typeface="Segoe UI" pitchFamily="34" charset="-120"/>
              </a:rPr>
              <a:t>Reducción de velocidad y elaboración de roscas</a:t>
            </a:r>
            <a:endParaRPr lang="en-US" sz="28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10</a:t>
            </a:r>
            <a:endParaRPr lang="en-US" sz="1000" dirty="0"/>
          </a:p>
        </p:txBody>
      </p:sp>
      <p:sp>
        <p:nvSpPr>
          <p:cNvPr id="10" name="Shape 7"/>
          <p:cNvSpPr/>
          <p:nvPr/>
        </p:nvSpPr>
        <p:spPr>
          <a:xfrm>
            <a:off x="658368" y="1874520"/>
            <a:ext cx="3493008" cy="3017520"/>
          </a:xfrm>
          <a:prstGeom prst="rect">
            <a:avLst/>
          </a:prstGeom>
          <a:solidFill>
            <a:srgbClr val="F4F7FA"/>
          </a:solidFill>
          <a:ln w="9525">
            <a:solidFill>
              <a:srgbClr val="D5DDE5"/>
            </a:solidFill>
            <a:prstDash val="solid"/>
          </a:ln>
        </p:spPr>
      </p:sp>
      <p:sp>
        <p:nvSpPr>
          <p:cNvPr id="11" name="Shape 8"/>
          <p:cNvSpPr/>
          <p:nvPr/>
        </p:nvSpPr>
        <p:spPr>
          <a:xfrm>
            <a:off x="658368" y="1874520"/>
            <a:ext cx="3493008" cy="64008"/>
          </a:xfrm>
          <a:prstGeom prst="rect">
            <a:avLst/>
          </a:prstGeom>
          <a:solidFill>
            <a:srgbClr val="004B85"/>
          </a:solidFill>
          <a:ln/>
        </p:spPr>
      </p:sp>
      <p:sp>
        <p:nvSpPr>
          <p:cNvPr id="12" name="Shape 9"/>
          <p:cNvSpPr/>
          <p:nvPr/>
        </p:nvSpPr>
        <p:spPr>
          <a:xfrm>
            <a:off x="914400" y="2130552"/>
            <a:ext cx="384048" cy="384048"/>
          </a:xfrm>
          <a:prstGeom prst="rect">
            <a:avLst/>
          </a:prstGeom>
          <a:solidFill>
            <a:srgbClr val="004B85"/>
          </a:solidFill>
          <a:ln/>
        </p:spPr>
      </p:sp>
      <p:sp>
        <p:nvSpPr>
          <p:cNvPr id="13" name="Text 10"/>
          <p:cNvSpPr txBox="1"/>
          <p:nvPr/>
        </p:nvSpPr>
        <p:spPr>
          <a:xfrm>
            <a:off x="914400" y="218541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679192"/>
            <a:ext cx="2980944" cy="402336"/>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Cajas reductoras</a:t>
            </a:r>
            <a:endParaRPr lang="en-US" sz="1800" dirty="0"/>
          </a:p>
        </p:txBody>
      </p:sp>
      <p:sp>
        <p:nvSpPr>
          <p:cNvPr id="15" name="Text 12"/>
          <p:cNvSpPr txBox="1"/>
          <p:nvPr/>
        </p:nvSpPr>
        <p:spPr>
          <a:xfrm>
            <a:off x="914400" y="3172968"/>
            <a:ext cx="2980944" cy="1188720"/>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Empleo de cajas reductoras para simplificar sistemas de reducción de velocidad.</a:t>
            </a:r>
            <a:endParaRPr lang="en-US" sz="1400" dirty="0"/>
          </a:p>
        </p:txBody>
      </p:sp>
      <p:sp>
        <p:nvSpPr>
          <p:cNvPr id="16" name="Shape 13"/>
          <p:cNvSpPr/>
          <p:nvPr/>
        </p:nvSpPr>
        <p:spPr>
          <a:xfrm>
            <a:off x="4352544" y="1874520"/>
            <a:ext cx="3493008" cy="3017520"/>
          </a:xfrm>
          <a:prstGeom prst="rect">
            <a:avLst/>
          </a:prstGeom>
          <a:solidFill>
            <a:srgbClr val="F4F7FA"/>
          </a:solidFill>
          <a:ln w="9525">
            <a:solidFill>
              <a:srgbClr val="D5DDE5"/>
            </a:solidFill>
            <a:prstDash val="solid"/>
          </a:ln>
        </p:spPr>
      </p:sp>
      <p:sp>
        <p:nvSpPr>
          <p:cNvPr id="17" name="Shape 14"/>
          <p:cNvSpPr/>
          <p:nvPr/>
        </p:nvSpPr>
        <p:spPr>
          <a:xfrm>
            <a:off x="4352544" y="1874520"/>
            <a:ext cx="3493008" cy="64008"/>
          </a:xfrm>
          <a:prstGeom prst="rect">
            <a:avLst/>
          </a:prstGeom>
          <a:solidFill>
            <a:srgbClr val="004B85"/>
          </a:solidFill>
          <a:ln/>
        </p:spPr>
      </p:sp>
      <p:sp>
        <p:nvSpPr>
          <p:cNvPr id="18" name="Shape 15"/>
          <p:cNvSpPr/>
          <p:nvPr/>
        </p:nvSpPr>
        <p:spPr>
          <a:xfrm>
            <a:off x="4608576" y="2130552"/>
            <a:ext cx="384048" cy="384048"/>
          </a:xfrm>
          <a:prstGeom prst="rect">
            <a:avLst/>
          </a:prstGeom>
          <a:solidFill>
            <a:srgbClr val="004B85"/>
          </a:solidFill>
          <a:ln/>
        </p:spPr>
      </p:sp>
      <p:sp>
        <p:nvSpPr>
          <p:cNvPr id="19" name="Text 16"/>
          <p:cNvSpPr txBox="1"/>
          <p:nvPr/>
        </p:nvSpPr>
        <p:spPr>
          <a:xfrm>
            <a:off x="4608576" y="218541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4608576" y="2679192"/>
            <a:ext cx="2980944" cy="7863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Elementos internos de mayor eficiencia</a:t>
            </a:r>
            <a:endParaRPr lang="en-US" sz="1800" dirty="0"/>
          </a:p>
        </p:txBody>
      </p:sp>
      <p:sp>
        <p:nvSpPr>
          <p:cNvPr id="21" name="Text 18"/>
          <p:cNvSpPr txBox="1"/>
          <p:nvPr/>
        </p:nvSpPr>
        <p:spPr>
          <a:xfrm>
            <a:off x="4608576" y="3557016"/>
            <a:ext cx="2980944" cy="1280160"/>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Empleo de cajas reductoras con elementos internos de transmisión de mayor eficiencia: engranajes helicoidales, discos cicloidales.</a:t>
            </a:r>
            <a:endParaRPr lang="en-US" sz="1400" dirty="0"/>
          </a:p>
        </p:txBody>
      </p:sp>
      <p:sp>
        <p:nvSpPr>
          <p:cNvPr id="22" name="Shape 19"/>
          <p:cNvSpPr/>
          <p:nvPr/>
        </p:nvSpPr>
        <p:spPr>
          <a:xfrm>
            <a:off x="8046720" y="1874520"/>
            <a:ext cx="3493008" cy="3017520"/>
          </a:xfrm>
          <a:prstGeom prst="rect">
            <a:avLst/>
          </a:prstGeom>
          <a:solidFill>
            <a:srgbClr val="F4F7FA"/>
          </a:solidFill>
          <a:ln w="9525">
            <a:solidFill>
              <a:srgbClr val="D5DDE5"/>
            </a:solidFill>
            <a:prstDash val="solid"/>
          </a:ln>
        </p:spPr>
      </p:sp>
      <p:sp>
        <p:nvSpPr>
          <p:cNvPr id="23" name="Shape 20"/>
          <p:cNvSpPr/>
          <p:nvPr/>
        </p:nvSpPr>
        <p:spPr>
          <a:xfrm>
            <a:off x="8046720" y="1874520"/>
            <a:ext cx="3493008" cy="64008"/>
          </a:xfrm>
          <a:prstGeom prst="rect">
            <a:avLst/>
          </a:prstGeom>
          <a:solidFill>
            <a:srgbClr val="FFB903"/>
          </a:solidFill>
          <a:ln/>
        </p:spPr>
      </p:sp>
      <p:sp>
        <p:nvSpPr>
          <p:cNvPr id="24" name="Shape 21"/>
          <p:cNvSpPr/>
          <p:nvPr/>
        </p:nvSpPr>
        <p:spPr>
          <a:xfrm>
            <a:off x="8302752" y="2130552"/>
            <a:ext cx="384048" cy="384048"/>
          </a:xfrm>
          <a:prstGeom prst="rect">
            <a:avLst/>
          </a:prstGeom>
          <a:solidFill>
            <a:srgbClr val="FFB903"/>
          </a:solidFill>
          <a:ln/>
        </p:spPr>
      </p:sp>
      <p:sp>
        <p:nvSpPr>
          <p:cNvPr id="25" name="Text 22"/>
          <p:cNvSpPr txBox="1"/>
          <p:nvPr/>
        </p:nvSpPr>
        <p:spPr>
          <a:xfrm>
            <a:off x="8302752" y="218541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6" name="Text 23"/>
          <p:cNvSpPr txBox="1"/>
          <p:nvPr/>
        </p:nvSpPr>
        <p:spPr>
          <a:xfrm>
            <a:off x="8302752" y="2679192"/>
            <a:ext cx="2980944" cy="7863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Laminado en vez de torneado</a:t>
            </a:r>
            <a:endParaRPr lang="en-US" sz="1800" dirty="0"/>
          </a:p>
        </p:txBody>
      </p:sp>
      <p:sp>
        <p:nvSpPr>
          <p:cNvPr id="27" name="Text 24"/>
          <p:cNvSpPr txBox="1"/>
          <p:nvPr/>
        </p:nvSpPr>
        <p:spPr>
          <a:xfrm>
            <a:off x="8302752" y="3557016"/>
            <a:ext cx="2980944" cy="1280160"/>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Empleo de procesos de laminado (conformado) en vez de torneado (cortado) para elaboración de roscas.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MODIFICACIÓN SENCILLA 4</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Variadores electrónicos en vez de mecánicos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11</a:t>
            </a:r>
            <a:endParaRPr lang="en-US" sz="1000" dirty="0"/>
          </a:p>
        </p:txBody>
      </p:sp>
      <p:sp>
        <p:nvSpPr>
          <p:cNvPr id="10" name="Shape 7"/>
          <p:cNvSpPr/>
          <p:nvPr/>
        </p:nvSpPr>
        <p:spPr>
          <a:xfrm>
            <a:off x="658368" y="1664208"/>
            <a:ext cx="10872216" cy="566928"/>
          </a:xfrm>
          <a:prstGeom prst="rect">
            <a:avLst/>
          </a:prstGeom>
          <a:solidFill>
            <a:srgbClr val="E8F0F7"/>
          </a:solidFill>
          <a:ln/>
        </p:spPr>
      </p:sp>
      <p:sp>
        <p:nvSpPr>
          <p:cNvPr id="11" name="Shape 8"/>
          <p:cNvSpPr/>
          <p:nvPr/>
        </p:nvSpPr>
        <p:spPr>
          <a:xfrm>
            <a:off x="658368" y="1664208"/>
            <a:ext cx="54864" cy="566928"/>
          </a:xfrm>
          <a:prstGeom prst="rect">
            <a:avLst/>
          </a:prstGeom>
          <a:solidFill>
            <a:srgbClr val="004B85"/>
          </a:solidFill>
          <a:ln/>
        </p:spPr>
      </p:sp>
      <p:sp>
        <p:nvSpPr>
          <p:cNvPr id="12" name="Text 9"/>
          <p:cNvSpPr txBox="1"/>
          <p:nvPr/>
        </p:nvSpPr>
        <p:spPr>
          <a:xfrm>
            <a:off x="960120" y="1664208"/>
            <a:ext cx="10241280" cy="566928"/>
          </a:xfrm>
          <a:prstGeom prst="rect">
            <a:avLst/>
          </a:prstGeom>
          <a:noFill/>
          <a:ln/>
        </p:spPr>
        <p:txBody>
          <a:bodyPr wrap="square" lIns="0" tIns="0" rIns="0" bIns="0" rtlCol="0" anchor="ctr"/>
          <a:lstStyle/>
          <a:p>
            <a:pPr marL="0" indent="0">
              <a:buNone/>
            </a:pPr>
            <a:r>
              <a:rPr lang="en-US" sz="1550" b="1" dirty="0">
                <a:solidFill>
                  <a:srgbClr val="00335C"/>
                </a:solidFill>
                <a:latin typeface="Segoe UI" pitchFamily="34" charset="0"/>
                <a:ea typeface="Segoe UI" pitchFamily="34" charset="-122"/>
                <a:cs typeface="Segoe UI" pitchFamily="34" charset="-120"/>
              </a:rPr>
              <a:t>Empleo de variadores de velocidad de características electrónicas en vez de variadores de velocidad de características mecánicas.</a:t>
            </a:r>
            <a:endParaRPr lang="en-US" sz="1550" dirty="0"/>
          </a:p>
        </p:txBody>
      </p:sp>
      <p:pic>
        <p:nvPicPr>
          <p:cNvPr id="13" name="Image 1" descr="/home/claude/work/assets/f_varbandas.png"/>
          <p:cNvPicPr>
            <a:picLocks noChangeAspect="1"/>
          </p:cNvPicPr>
          <p:nvPr/>
        </p:nvPicPr>
        <p:blipFill>
          <a:blip r:embed="rId4"/>
          <a:stretch>
            <a:fillRect/>
          </a:stretch>
        </p:blipFill>
        <p:spPr>
          <a:xfrm>
            <a:off x="1234440" y="2468880"/>
            <a:ext cx="1463040" cy="2651760"/>
          </a:xfrm>
          <a:prstGeom prst="rect">
            <a:avLst/>
          </a:prstGeom>
        </p:spPr>
      </p:pic>
      <p:sp>
        <p:nvSpPr>
          <p:cNvPr id="14" name="Text 10"/>
          <p:cNvSpPr txBox="1"/>
          <p:nvPr/>
        </p:nvSpPr>
        <p:spPr>
          <a:xfrm>
            <a:off x="731520" y="5230368"/>
            <a:ext cx="2468880" cy="274320"/>
          </a:xfrm>
          <a:prstGeom prst="rect">
            <a:avLst/>
          </a:prstGeom>
          <a:noFill/>
          <a:ln/>
        </p:spPr>
        <p:txBody>
          <a:bodyPr wrap="square" lIns="0" tIns="0" rIns="0" bIns="0" rtlCol="0" anchor="ctr"/>
          <a:lstStyle/>
          <a:p>
            <a:pPr marL="0" indent="0" algn="ctr">
              <a:buNone/>
            </a:pPr>
            <a:r>
              <a:rPr lang="en-US" sz="1150" dirty="0">
                <a:solidFill>
                  <a:srgbClr val="5C6B7A"/>
                </a:solidFill>
                <a:latin typeface="Segoe UI" pitchFamily="34" charset="0"/>
                <a:ea typeface="Segoe UI" pitchFamily="34" charset="-122"/>
                <a:cs typeface="Segoe UI" pitchFamily="34" charset="-120"/>
              </a:rPr>
              <a:t>Variador mecánico de bandas</a:t>
            </a:r>
            <a:endParaRPr lang="en-US" sz="1150" dirty="0"/>
          </a:p>
        </p:txBody>
      </p:sp>
      <p:pic>
        <p:nvPicPr>
          <p:cNvPr id="15" name="Image 2" descr="/home/claude/work/assets/f_variador_mec.png"/>
          <p:cNvPicPr>
            <a:picLocks noChangeAspect="1"/>
          </p:cNvPicPr>
          <p:nvPr/>
        </p:nvPicPr>
        <p:blipFill>
          <a:blip r:embed="rId5"/>
          <a:stretch>
            <a:fillRect/>
          </a:stretch>
        </p:blipFill>
        <p:spPr>
          <a:xfrm>
            <a:off x="4590288" y="2697480"/>
            <a:ext cx="2011680" cy="2231136"/>
          </a:xfrm>
          <a:prstGeom prst="rect">
            <a:avLst/>
          </a:prstGeom>
        </p:spPr>
      </p:pic>
      <p:sp>
        <p:nvSpPr>
          <p:cNvPr id="16" name="Text 11"/>
          <p:cNvSpPr txBox="1"/>
          <p:nvPr/>
        </p:nvSpPr>
        <p:spPr>
          <a:xfrm>
            <a:off x="4224528" y="5230368"/>
            <a:ext cx="2743200" cy="274320"/>
          </a:xfrm>
          <a:prstGeom prst="rect">
            <a:avLst/>
          </a:prstGeom>
          <a:noFill/>
          <a:ln/>
        </p:spPr>
        <p:txBody>
          <a:bodyPr wrap="square" lIns="0" tIns="0" rIns="0" bIns="0" rtlCol="0" anchor="ctr"/>
          <a:lstStyle/>
          <a:p>
            <a:pPr marL="0" indent="0" algn="ctr">
              <a:buNone/>
            </a:pPr>
            <a:r>
              <a:rPr lang="en-US" sz="1150" dirty="0">
                <a:solidFill>
                  <a:srgbClr val="5C6B7A"/>
                </a:solidFill>
                <a:latin typeface="Segoe UI" pitchFamily="34" charset="0"/>
                <a:ea typeface="Segoe UI" pitchFamily="34" charset="-122"/>
                <a:cs typeface="Segoe UI" pitchFamily="34" charset="-120"/>
              </a:rPr>
              <a:t>Variador mecánico</a:t>
            </a:r>
            <a:endParaRPr lang="en-US" sz="1150" dirty="0"/>
          </a:p>
        </p:txBody>
      </p:sp>
      <p:pic>
        <p:nvPicPr>
          <p:cNvPr id="17" name="Image 3" descr="/home/claude/work/assets/f_variador_elec.png"/>
          <p:cNvPicPr>
            <a:picLocks noChangeAspect="1"/>
          </p:cNvPicPr>
          <p:nvPr/>
        </p:nvPicPr>
        <p:blipFill>
          <a:blip r:embed="rId6"/>
          <a:stretch>
            <a:fillRect/>
          </a:stretch>
        </p:blipFill>
        <p:spPr>
          <a:xfrm>
            <a:off x="8732520" y="2468880"/>
            <a:ext cx="1700784" cy="2651760"/>
          </a:xfrm>
          <a:prstGeom prst="rect">
            <a:avLst/>
          </a:prstGeom>
        </p:spPr>
      </p:pic>
      <p:sp>
        <p:nvSpPr>
          <p:cNvPr id="18" name="Text 12"/>
          <p:cNvSpPr txBox="1"/>
          <p:nvPr/>
        </p:nvSpPr>
        <p:spPr>
          <a:xfrm>
            <a:off x="8211312" y="5230368"/>
            <a:ext cx="2743200" cy="274320"/>
          </a:xfrm>
          <a:prstGeom prst="rect">
            <a:avLst/>
          </a:prstGeom>
          <a:noFill/>
          <a:ln/>
        </p:spPr>
        <p:txBody>
          <a:bodyPr wrap="square" lIns="0" tIns="0" rIns="0" bIns="0" rtlCol="0" anchor="ctr"/>
          <a:lstStyle/>
          <a:p>
            <a:pPr marL="0" indent="0" algn="ctr">
              <a:buNone/>
            </a:pPr>
            <a:r>
              <a:rPr lang="en-US" sz="1150" dirty="0">
                <a:solidFill>
                  <a:srgbClr val="5C6B7A"/>
                </a:solidFill>
                <a:latin typeface="Segoe UI" pitchFamily="34" charset="0"/>
                <a:ea typeface="Segoe UI" pitchFamily="34" charset="-122"/>
                <a:cs typeface="Segoe UI" pitchFamily="34" charset="-120"/>
              </a:rPr>
              <a:t>Variador electrónico de frecuencia</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MODIFICACIÓN SENCILLA 5</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2600" b="1" dirty="0">
                <a:solidFill>
                  <a:srgbClr val="00335C"/>
                </a:solidFill>
                <a:latin typeface="Segoe UI" pitchFamily="34" charset="0"/>
                <a:ea typeface="Segoe UI" pitchFamily="34" charset="-122"/>
                <a:cs typeface="Segoe UI" pitchFamily="34" charset="-120"/>
              </a:rPr>
              <a:t>Limitadores de torque en lugar de fusibles mecánicos</a:t>
            </a:r>
            <a:endParaRPr lang="en-US" sz="26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12</a:t>
            </a:r>
            <a:endParaRPr lang="en-US" sz="1000" dirty="0"/>
          </a:p>
        </p:txBody>
      </p:sp>
      <p:pic>
        <p:nvPicPr>
          <p:cNvPr id="10" name="Image 1" descr="/home/claude/work/assets/f_limitador2.png"/>
          <p:cNvPicPr>
            <a:picLocks noChangeAspect="1"/>
          </p:cNvPicPr>
          <p:nvPr/>
        </p:nvPicPr>
        <p:blipFill>
          <a:blip r:embed="rId4"/>
          <a:stretch>
            <a:fillRect/>
          </a:stretch>
        </p:blipFill>
        <p:spPr>
          <a:xfrm>
            <a:off x="1280160" y="1828800"/>
            <a:ext cx="2487168" cy="3785616"/>
          </a:xfrm>
          <a:prstGeom prst="rect">
            <a:avLst/>
          </a:prstGeom>
        </p:spPr>
      </p:pic>
      <p:pic>
        <p:nvPicPr>
          <p:cNvPr id="11" name="Image 2" descr="/home/claude/work/assets/f_limitador.png"/>
          <p:cNvPicPr>
            <a:picLocks noChangeAspect="1"/>
          </p:cNvPicPr>
          <p:nvPr/>
        </p:nvPicPr>
        <p:blipFill>
          <a:blip r:embed="rId5"/>
          <a:stretch>
            <a:fillRect/>
          </a:stretch>
        </p:blipFill>
        <p:spPr>
          <a:xfrm>
            <a:off x="5120640" y="2286000"/>
            <a:ext cx="5394960" cy="2871216"/>
          </a:xfrm>
          <a:prstGeom prst="rect">
            <a:avLst/>
          </a:prstGeom>
        </p:spPr>
      </p:pic>
      <p:sp>
        <p:nvSpPr>
          <p:cNvPr id="12" name="Text 7"/>
          <p:cNvSpPr txBox="1"/>
          <p:nvPr/>
        </p:nvSpPr>
        <p:spPr>
          <a:xfrm>
            <a:off x="822960" y="5705856"/>
            <a:ext cx="3383280" cy="274320"/>
          </a:xfrm>
          <a:prstGeom prst="rect">
            <a:avLst/>
          </a:prstGeom>
          <a:noFill/>
          <a:ln/>
        </p:spPr>
        <p:txBody>
          <a:bodyPr wrap="square" lIns="0" tIns="0" rIns="0" bIns="0" rtlCol="0" anchor="ctr"/>
          <a:lstStyle/>
          <a:p>
            <a:pPr marL="0" indent="0" algn="ctr">
              <a:buNone/>
            </a:pPr>
            <a:r>
              <a:rPr lang="en-US" sz="1150" dirty="0">
                <a:solidFill>
                  <a:srgbClr val="5C6B7A"/>
                </a:solidFill>
                <a:latin typeface="Segoe UI" pitchFamily="34" charset="0"/>
                <a:ea typeface="Segoe UI" pitchFamily="34" charset="-122"/>
                <a:cs typeface="Segoe UI" pitchFamily="34" charset="-120"/>
              </a:rPr>
              <a:t>Limitador de torque montado</a:t>
            </a:r>
            <a:endParaRPr lang="en-US" sz="1150" dirty="0"/>
          </a:p>
        </p:txBody>
      </p:sp>
      <p:sp>
        <p:nvSpPr>
          <p:cNvPr id="13" name="Text 8"/>
          <p:cNvSpPr txBox="1"/>
          <p:nvPr/>
        </p:nvSpPr>
        <p:spPr>
          <a:xfrm>
            <a:off x="5120640" y="5285232"/>
            <a:ext cx="5394960" cy="548640"/>
          </a:xfrm>
          <a:prstGeom prst="rect">
            <a:avLst/>
          </a:prstGeom>
          <a:noFill/>
          <a:ln/>
        </p:spPr>
        <p:txBody>
          <a:bodyPr wrap="square" lIns="0" tIns="0" rIns="0" bIns="0" rtlCol="0" anchor="ctr"/>
          <a:lstStyle/>
          <a:p>
            <a:pPr marL="0" indent="0" algn="ctr">
              <a:lnSpc>
                <a:spcPts val="1500"/>
              </a:lnSpc>
              <a:buNone/>
            </a:pPr>
            <a:r>
              <a:rPr lang="en-US" sz="1150" dirty="0">
                <a:solidFill>
                  <a:srgbClr val="5C6B7A"/>
                </a:solidFill>
                <a:latin typeface="Segoe UI" pitchFamily="34" charset="0"/>
                <a:ea typeface="Segoe UI" pitchFamily="34" charset="-122"/>
                <a:cs typeface="Segoe UI" pitchFamily="34" charset="-120"/>
              </a:rPr>
              <a:t>Despiece: tuerca de regulación, tornillo de bloqueo, resortes, plato de presión, discos de fricción, buje y cuerpo</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MODIFICACIÓN SENCILLA 6</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2600" b="1" dirty="0">
                <a:solidFill>
                  <a:srgbClr val="00335C"/>
                </a:solidFill>
                <a:latin typeface="Segoe UI" pitchFamily="34" charset="0"/>
                <a:ea typeface="Segoe UI" pitchFamily="34" charset="-122"/>
                <a:cs typeface="Segoe UI" pitchFamily="34" charset="-120"/>
              </a:rPr>
              <a:t>Materiales plásticos en lugar de materiales metálicos</a:t>
            </a:r>
            <a:endParaRPr lang="en-US" sz="26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13</a:t>
            </a:r>
            <a:endParaRPr lang="en-US" sz="1000" dirty="0"/>
          </a:p>
        </p:txBody>
      </p:sp>
      <p:sp>
        <p:nvSpPr>
          <p:cNvPr id="10" name="Shape 7"/>
          <p:cNvSpPr/>
          <p:nvPr/>
        </p:nvSpPr>
        <p:spPr>
          <a:xfrm>
            <a:off x="658368" y="1664208"/>
            <a:ext cx="10872216" cy="566928"/>
          </a:xfrm>
          <a:prstGeom prst="rect">
            <a:avLst/>
          </a:prstGeom>
          <a:solidFill>
            <a:srgbClr val="E8F0F7"/>
          </a:solidFill>
          <a:ln/>
        </p:spPr>
      </p:sp>
      <p:sp>
        <p:nvSpPr>
          <p:cNvPr id="11" name="Shape 8"/>
          <p:cNvSpPr/>
          <p:nvPr/>
        </p:nvSpPr>
        <p:spPr>
          <a:xfrm>
            <a:off x="658368" y="1664208"/>
            <a:ext cx="54864" cy="566928"/>
          </a:xfrm>
          <a:prstGeom prst="rect">
            <a:avLst/>
          </a:prstGeom>
          <a:solidFill>
            <a:srgbClr val="004B85"/>
          </a:solidFill>
          <a:ln/>
        </p:spPr>
      </p:sp>
      <p:sp>
        <p:nvSpPr>
          <p:cNvPr id="12" name="Text 9"/>
          <p:cNvSpPr txBox="1"/>
          <p:nvPr/>
        </p:nvSpPr>
        <p:spPr>
          <a:xfrm>
            <a:off x="960120" y="1664208"/>
            <a:ext cx="10241280" cy="566928"/>
          </a:xfrm>
          <a:prstGeom prst="rect">
            <a:avLst/>
          </a:prstGeom>
          <a:noFill/>
          <a:ln/>
        </p:spPr>
        <p:txBody>
          <a:bodyPr wrap="square" lIns="0" tIns="0" rIns="0" bIns="0" rtlCol="0" anchor="ctr"/>
          <a:lstStyle/>
          <a:p>
            <a:pPr marL="0" indent="0">
              <a:buNone/>
            </a:pPr>
            <a:r>
              <a:rPr lang="en-US" sz="1550" b="1" dirty="0">
                <a:solidFill>
                  <a:srgbClr val="00335C"/>
                </a:solidFill>
                <a:latin typeface="Segoe UI" pitchFamily="34" charset="0"/>
                <a:ea typeface="Segoe UI" pitchFamily="34" charset="-122"/>
                <a:cs typeface="Segoe UI" pitchFamily="34" charset="-120"/>
              </a:rPr>
              <a:t>Rediseño de elementos en materiales plásticos en lugar de materiales metálicos.</a:t>
            </a:r>
            <a:endParaRPr lang="en-US" sz="1550" dirty="0"/>
          </a:p>
        </p:txBody>
      </p:sp>
      <p:pic>
        <p:nvPicPr>
          <p:cNvPr id="13" name="Image 1" descr="/home/claude/work/assets/f_canjilones.png"/>
          <p:cNvPicPr>
            <a:picLocks noChangeAspect="1"/>
          </p:cNvPicPr>
          <p:nvPr/>
        </p:nvPicPr>
        <p:blipFill>
          <a:blip r:embed="rId4"/>
          <a:stretch>
            <a:fillRect/>
          </a:stretch>
        </p:blipFill>
        <p:spPr>
          <a:xfrm>
            <a:off x="1188720" y="2560320"/>
            <a:ext cx="4023360" cy="2743200"/>
          </a:xfrm>
          <a:prstGeom prst="rect">
            <a:avLst/>
          </a:prstGeom>
        </p:spPr>
      </p:pic>
      <p:pic>
        <p:nvPicPr>
          <p:cNvPr id="14" name="Image 2" descr="/home/claude/work/assets/f_pinon.png"/>
          <p:cNvPicPr>
            <a:picLocks noChangeAspect="1"/>
          </p:cNvPicPr>
          <p:nvPr/>
        </p:nvPicPr>
        <p:blipFill>
          <a:blip r:embed="rId5"/>
          <a:stretch>
            <a:fillRect/>
          </a:stretch>
        </p:blipFill>
        <p:spPr>
          <a:xfrm>
            <a:off x="6446520" y="2761488"/>
            <a:ext cx="4023360" cy="2340864"/>
          </a:xfrm>
          <a:prstGeom prst="rect">
            <a:avLst/>
          </a:prstGeom>
        </p:spPr>
      </p:pic>
      <p:sp>
        <p:nvSpPr>
          <p:cNvPr id="15" name="Text 10"/>
          <p:cNvSpPr txBox="1"/>
          <p:nvPr/>
        </p:nvSpPr>
        <p:spPr>
          <a:xfrm>
            <a:off x="1188720" y="5413248"/>
            <a:ext cx="4023360" cy="274320"/>
          </a:xfrm>
          <a:prstGeom prst="rect">
            <a:avLst/>
          </a:prstGeom>
          <a:noFill/>
          <a:ln/>
        </p:spPr>
        <p:txBody>
          <a:bodyPr wrap="square" lIns="0" tIns="0" rIns="0" bIns="0" rtlCol="0" anchor="ctr"/>
          <a:lstStyle/>
          <a:p>
            <a:pPr marL="0" indent="0" algn="ctr">
              <a:buNone/>
            </a:pPr>
            <a:r>
              <a:rPr lang="en-US" sz="1150" dirty="0">
                <a:solidFill>
                  <a:srgbClr val="5C6B7A"/>
                </a:solidFill>
                <a:latin typeface="Segoe UI" pitchFamily="34" charset="0"/>
                <a:ea typeface="Segoe UI" pitchFamily="34" charset="-122"/>
                <a:cs typeface="Segoe UI" pitchFamily="34" charset="-120"/>
              </a:rPr>
              <a:t>Canjilones en plástico de ingeniería</a:t>
            </a:r>
            <a:endParaRPr lang="en-US" sz="1150" dirty="0"/>
          </a:p>
        </p:txBody>
      </p:sp>
      <p:sp>
        <p:nvSpPr>
          <p:cNvPr id="16" name="Text 11"/>
          <p:cNvSpPr txBox="1"/>
          <p:nvPr/>
        </p:nvSpPr>
        <p:spPr>
          <a:xfrm>
            <a:off x="6446520" y="5413248"/>
            <a:ext cx="4023360" cy="274320"/>
          </a:xfrm>
          <a:prstGeom prst="rect">
            <a:avLst/>
          </a:prstGeom>
          <a:noFill/>
          <a:ln/>
        </p:spPr>
        <p:txBody>
          <a:bodyPr wrap="square" lIns="0" tIns="0" rIns="0" bIns="0" rtlCol="0" anchor="ctr"/>
          <a:lstStyle/>
          <a:p>
            <a:pPr marL="0" indent="0" algn="ctr">
              <a:buNone/>
            </a:pPr>
            <a:r>
              <a:rPr lang="en-US" sz="1150" dirty="0">
                <a:solidFill>
                  <a:srgbClr val="5C6B7A"/>
                </a:solidFill>
                <a:latin typeface="Segoe UI" pitchFamily="34" charset="0"/>
                <a:ea typeface="Segoe UI" pitchFamily="34" charset="-122"/>
                <a:cs typeface="Segoe UI" pitchFamily="34" charset="-120"/>
              </a:rPr>
              <a:t>Piñón para banda tabletop</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MEJORA EN PLANTA</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2800" b="1" i="0">
                <a:solidFill>
                  <a:srgbClr val="00335C"/>
                </a:solidFill>
                <a:latin typeface="Segoe UI"/>
              </a:rPr>
              <a:t>Caso: cambio de tornillería por corrosión</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5 · Acciones modificativas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13a</a:t>
            </a:r>
          </a:p>
        </p:txBody>
      </p:sp>
      <p:pic>
        <p:nvPicPr>
          <p:cNvPr id="12" name="Picture 11" descr="tornillo_antes1.jpg"/>
          <p:cNvPicPr>
            <a:picLocks noChangeAspect="1"/>
          </p:cNvPicPr>
          <p:nvPr/>
        </p:nvPicPr>
        <p:blipFill>
          <a:blip r:embed="rId4"/>
          <a:srcRect l="4360" r="4360"/>
          <a:stretch>
            <a:fillRect/>
          </a:stretch>
        </p:blipFill>
        <p:spPr>
          <a:xfrm>
            <a:off x="658368" y="1664208"/>
            <a:ext cx="2057400" cy="3017520"/>
          </a:xfrm>
          <a:prstGeom prst="rect">
            <a:avLst/>
          </a:prstGeom>
          <a:ln w="9525">
            <a:solidFill>
              <a:srgbClr val="D5DDE5"/>
            </a:solidFill>
          </a:ln>
        </p:spPr>
      </p:pic>
      <p:sp>
        <p:nvSpPr>
          <p:cNvPr id="13" name="TextBox 12"/>
          <p:cNvSpPr txBox="1"/>
          <p:nvPr/>
        </p:nvSpPr>
        <p:spPr>
          <a:xfrm>
            <a:off x="658368" y="4745736"/>
            <a:ext cx="2057400" cy="274320"/>
          </a:xfrm>
          <a:prstGeom prst="rect">
            <a:avLst/>
          </a:prstGeom>
          <a:noFill/>
        </p:spPr>
        <p:txBody>
          <a:bodyPr wrap="square" lIns="0" tIns="0" rIns="0" bIns="0" anchor="t">
            <a:spAutoFit/>
          </a:bodyPr>
          <a:lstStyle/>
          <a:p>
            <a:pPr algn="l">
              <a:lnSpc>
                <a:spcPct val="122000"/>
              </a:lnSpc>
              <a:spcAft>
                <a:spcPts val="0"/>
              </a:spcAft>
            </a:pPr>
            <a:r>
              <a:rPr sz="1000" b="0" i="1">
                <a:solidFill>
                  <a:srgbClr val="8A97A3"/>
                </a:solidFill>
                <a:latin typeface="Segoe UI"/>
              </a:rPr>
              <a:t>Antes: 5/8 in galvanizado</a:t>
            </a:r>
          </a:p>
        </p:txBody>
      </p:sp>
      <p:pic>
        <p:nvPicPr>
          <p:cNvPr id="14" name="Picture 13" descr="tornillo_nuevo.jpg"/>
          <p:cNvPicPr>
            <a:picLocks noChangeAspect="1"/>
          </p:cNvPicPr>
          <p:nvPr/>
        </p:nvPicPr>
        <p:blipFill>
          <a:blip r:embed="rId5"/>
          <a:srcRect l="3803" r="3803"/>
          <a:stretch>
            <a:fillRect/>
          </a:stretch>
        </p:blipFill>
        <p:spPr>
          <a:xfrm>
            <a:off x="2898648" y="1664208"/>
            <a:ext cx="2057400" cy="3017520"/>
          </a:xfrm>
          <a:prstGeom prst="rect">
            <a:avLst/>
          </a:prstGeom>
          <a:ln w="9525">
            <a:solidFill>
              <a:srgbClr val="D5DDE5"/>
            </a:solidFill>
          </a:ln>
        </p:spPr>
      </p:pic>
      <p:sp>
        <p:nvSpPr>
          <p:cNvPr id="15" name="TextBox 14"/>
          <p:cNvSpPr txBox="1"/>
          <p:nvPr/>
        </p:nvSpPr>
        <p:spPr>
          <a:xfrm>
            <a:off x="2898648" y="4745736"/>
            <a:ext cx="2057400" cy="274320"/>
          </a:xfrm>
          <a:prstGeom prst="rect">
            <a:avLst/>
          </a:prstGeom>
          <a:noFill/>
        </p:spPr>
        <p:txBody>
          <a:bodyPr wrap="square" lIns="0" tIns="0" rIns="0" bIns="0" anchor="t">
            <a:spAutoFit/>
          </a:bodyPr>
          <a:lstStyle/>
          <a:p>
            <a:pPr algn="l">
              <a:lnSpc>
                <a:spcPct val="122000"/>
              </a:lnSpc>
              <a:spcAft>
                <a:spcPts val="0"/>
              </a:spcAft>
            </a:pPr>
            <a:r>
              <a:rPr sz="1000" b="0" i="1">
                <a:solidFill>
                  <a:srgbClr val="8A97A3"/>
                </a:solidFill>
                <a:latin typeface="Segoe UI"/>
              </a:rPr>
              <a:t>Después: 1 in inoxidable</a:t>
            </a:r>
          </a:p>
        </p:txBody>
      </p:sp>
      <p:sp>
        <p:nvSpPr>
          <p:cNvPr id="16" name="Rectangle 15"/>
          <p:cNvSpPr/>
          <p:nvPr/>
        </p:nvSpPr>
        <p:spPr>
          <a:xfrm>
            <a:off x="5276088" y="1664208"/>
            <a:ext cx="6254496" cy="960120"/>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76088" y="1664208"/>
            <a:ext cx="54864" cy="960120"/>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04688" y="1773936"/>
            <a:ext cx="5888736"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PROBLEMA</a:t>
            </a:r>
          </a:p>
        </p:txBody>
      </p:sp>
      <p:sp>
        <p:nvSpPr>
          <p:cNvPr id="19" name="TextBox 18"/>
          <p:cNvSpPr txBox="1"/>
          <p:nvPr/>
        </p:nvSpPr>
        <p:spPr>
          <a:xfrm>
            <a:off x="5504688" y="2011680"/>
            <a:ext cx="5843016" cy="576072"/>
          </a:xfrm>
          <a:prstGeom prst="rect">
            <a:avLst/>
          </a:prstGeom>
          <a:noFill/>
        </p:spPr>
        <p:txBody>
          <a:bodyPr wrap="square" lIns="0" tIns="0" rIns="0" bIns="0" anchor="t">
            <a:spAutoFit/>
          </a:bodyPr>
          <a:lstStyle/>
          <a:p>
            <a:pPr algn="l">
              <a:lnSpc>
                <a:spcPct val="122000"/>
              </a:lnSpc>
              <a:spcAft>
                <a:spcPts val="0"/>
              </a:spcAft>
            </a:pPr>
            <a:r>
              <a:rPr sz="1200" b="0" i="0">
                <a:solidFill>
                  <a:srgbClr val="1B2430"/>
                </a:solidFill>
                <a:latin typeface="Segoe UI"/>
              </a:rPr>
              <a:t>Tornillos galvanizados de un bastidor en ambiente húmedo se corroían y perdían sección.</a:t>
            </a:r>
          </a:p>
        </p:txBody>
      </p:sp>
      <p:sp>
        <p:nvSpPr>
          <p:cNvPr id="20" name="Rectangle 19"/>
          <p:cNvSpPr/>
          <p:nvPr/>
        </p:nvSpPr>
        <p:spPr>
          <a:xfrm>
            <a:off x="5276088" y="2715768"/>
            <a:ext cx="6254496" cy="960120"/>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276088" y="2715768"/>
            <a:ext cx="54864" cy="960120"/>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04688" y="2825496"/>
            <a:ext cx="5888736"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MEJORA</a:t>
            </a:r>
          </a:p>
        </p:txBody>
      </p:sp>
      <p:sp>
        <p:nvSpPr>
          <p:cNvPr id="23" name="TextBox 22"/>
          <p:cNvSpPr txBox="1"/>
          <p:nvPr/>
        </p:nvSpPr>
        <p:spPr>
          <a:xfrm>
            <a:off x="5504688" y="3063240"/>
            <a:ext cx="5843016" cy="576072"/>
          </a:xfrm>
          <a:prstGeom prst="rect">
            <a:avLst/>
          </a:prstGeom>
          <a:noFill/>
        </p:spPr>
        <p:txBody>
          <a:bodyPr wrap="square" lIns="0" tIns="0" rIns="0" bIns="0" anchor="t">
            <a:spAutoFit/>
          </a:bodyPr>
          <a:lstStyle/>
          <a:p>
            <a:pPr algn="l">
              <a:lnSpc>
                <a:spcPct val="122000"/>
              </a:lnSpc>
              <a:spcAft>
                <a:spcPts val="0"/>
              </a:spcAft>
            </a:pPr>
            <a:r>
              <a:rPr sz="1200" b="0" i="0">
                <a:solidFill>
                  <a:srgbClr val="1B2430"/>
                </a:solidFill>
                <a:latin typeface="Segoe UI"/>
              </a:rPr>
              <a:t>Tornillería de 1 in en acero inoxidable. No cambia la configuración del equipo.</a:t>
            </a:r>
          </a:p>
        </p:txBody>
      </p:sp>
      <p:sp>
        <p:nvSpPr>
          <p:cNvPr id="24" name="Rectangle 23"/>
          <p:cNvSpPr/>
          <p:nvPr/>
        </p:nvSpPr>
        <p:spPr>
          <a:xfrm>
            <a:off x="5276088" y="3767328"/>
            <a:ext cx="6254496" cy="1609344"/>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276088" y="3767328"/>
            <a:ext cx="54864" cy="160934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04688" y="3877056"/>
            <a:ext cx="5888736"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LO QUE HAY QUE VERIFICAR</a:t>
            </a:r>
          </a:p>
        </p:txBody>
      </p:sp>
      <p:sp>
        <p:nvSpPr>
          <p:cNvPr id="27" name="TextBox 26"/>
          <p:cNvSpPr txBox="1"/>
          <p:nvPr/>
        </p:nvSpPr>
        <p:spPr>
          <a:xfrm>
            <a:off x="5504688" y="4114800"/>
            <a:ext cx="5843016" cy="1225296"/>
          </a:xfrm>
          <a:prstGeom prst="rect">
            <a:avLst/>
          </a:prstGeom>
          <a:noFill/>
        </p:spPr>
        <p:txBody>
          <a:bodyPr wrap="square" lIns="0" tIns="0" rIns="0" bIns="0" anchor="t">
            <a:spAutoFit/>
          </a:bodyPr>
          <a:lstStyle/>
          <a:p>
            <a:pPr algn="l">
              <a:lnSpc>
                <a:spcPct val="122000"/>
              </a:lnSpc>
              <a:spcAft>
                <a:spcPts val="0"/>
              </a:spcAft>
            </a:pPr>
            <a:r>
              <a:rPr sz="1200" b="0" i="0">
                <a:solidFill>
                  <a:srgbClr val="1B2430"/>
                </a:solidFill>
                <a:latin typeface="Segoe UI"/>
              </a:rPr>
              <a:t>Sección remanente al ampliar agujeros · par galvánico inox–acero al carbono (arandelas aislantes) · agarrotamiento de roscas (antiagarrotante y torque).</a:t>
            </a:r>
          </a:p>
        </p:txBody>
      </p:sp>
      <p:sp>
        <p:nvSpPr>
          <p:cNvPr id="28" name="Rectangle 27"/>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Una mejora sencilla también se analiza: cambiar el material resuelve un problema y puede crear otro.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5C"/>
          </a:solidFill>
          <a:ln/>
        </p:spPr>
      </p:sp>
      <p:sp>
        <p:nvSpPr>
          <p:cNvPr id="3" name="Shape 1"/>
          <p:cNvSpPr/>
          <p:nvPr/>
        </p:nvSpPr>
        <p:spPr>
          <a:xfrm>
            <a:off x="0" y="0"/>
            <a:ext cx="274320" cy="6858000"/>
          </a:xfrm>
          <a:prstGeom prst="rect">
            <a:avLst/>
          </a:prstGeom>
          <a:solidFill>
            <a:srgbClr val="FFB903"/>
          </a:solidFill>
          <a:ln/>
        </p:spPr>
      </p:sp>
      <p:sp>
        <p:nvSpPr>
          <p:cNvPr id="4" name="Shape 2"/>
          <p:cNvSpPr/>
          <p:nvPr/>
        </p:nvSpPr>
        <p:spPr>
          <a:xfrm>
            <a:off x="7616952" y="0"/>
            <a:ext cx="4574743" cy="6858000"/>
          </a:xfrm>
          <a:prstGeom prst="rect">
            <a:avLst/>
          </a:prstGeom>
          <a:solidFill>
            <a:srgbClr val="001E38"/>
          </a:solidFill>
          <a:ln/>
        </p:spPr>
      </p:sp>
      <p:pic>
        <p:nvPicPr>
          <p:cNvPr id="5"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6" name="Text 3"/>
          <p:cNvSpPr txBox="1"/>
          <p:nvPr/>
        </p:nvSpPr>
        <p:spPr>
          <a:xfrm>
            <a:off x="1143000" y="1005840"/>
            <a:ext cx="2377440" cy="1417320"/>
          </a:xfrm>
          <a:prstGeom prst="rect">
            <a:avLst/>
          </a:prstGeom>
          <a:noFill/>
          <a:ln/>
        </p:spPr>
        <p:txBody>
          <a:bodyPr wrap="square" lIns="0" tIns="0" rIns="0" bIns="0" rtlCol="0" anchor="ctr"/>
          <a:lstStyle/>
          <a:p>
            <a:pPr marL="0" indent="0">
              <a:buNone/>
            </a:pPr>
            <a:r>
              <a:rPr lang="en-US" sz="10400" b="1" dirty="0">
                <a:solidFill>
                  <a:srgbClr val="FFB903"/>
                </a:solidFill>
                <a:latin typeface="Segoe UI" pitchFamily="34" charset="0"/>
                <a:ea typeface="Segoe UI" pitchFamily="34" charset="-122"/>
                <a:cs typeface="Segoe UI" pitchFamily="34" charset="-120"/>
              </a:rPr>
              <a:t>3</a:t>
            </a:r>
            <a:endParaRPr lang="en-US" sz="10400" dirty="0"/>
          </a:p>
        </p:txBody>
      </p:sp>
      <p:sp>
        <p:nvSpPr>
          <p:cNvPr id="7" name="Text 4"/>
          <p:cNvSpPr txBox="1"/>
          <p:nvPr/>
        </p:nvSpPr>
        <p:spPr>
          <a:xfrm>
            <a:off x="1143000" y="2350008"/>
            <a:ext cx="6126480" cy="1554480"/>
          </a:xfrm>
          <a:prstGeom prst="rect">
            <a:avLst/>
          </a:prstGeom>
          <a:noFill/>
          <a:ln/>
        </p:spPr>
        <p:txBody>
          <a:bodyPr wrap="square" lIns="0" tIns="0" rIns="0" bIns="0" rtlCol="0" anchor="ctr"/>
          <a:lstStyle/>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El rediseño</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y el proceso</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de diseño</a:t>
            </a:r>
            <a:endParaRPr lang="en-US" sz="3300" dirty="0"/>
          </a:p>
        </p:txBody>
      </p:sp>
      <p:sp>
        <p:nvSpPr>
          <p:cNvPr id="8" name="Shape 5"/>
          <p:cNvSpPr/>
          <p:nvPr/>
        </p:nvSpPr>
        <p:spPr>
          <a:xfrm>
            <a:off x="1143000" y="4069080"/>
            <a:ext cx="1371600" cy="45720"/>
          </a:xfrm>
          <a:prstGeom prst="rect">
            <a:avLst/>
          </a:prstGeom>
          <a:solidFill>
            <a:srgbClr val="FFB903"/>
          </a:solidFill>
          <a:ln/>
        </p:spPr>
      </p:sp>
      <p:sp>
        <p:nvSpPr>
          <p:cNvPr id="9" name="Text 6"/>
          <p:cNvSpPr txBox="1"/>
          <p:nvPr/>
        </p:nvSpPr>
        <p:spPr>
          <a:xfrm>
            <a:off x="1143000" y="4279392"/>
            <a:ext cx="5852160" cy="1005840"/>
          </a:xfrm>
          <a:prstGeom prst="rect">
            <a:avLst/>
          </a:prstGeom>
          <a:noFill/>
          <a:ln/>
        </p:spPr>
        <p:txBody>
          <a:bodyPr wrap="square" lIns="0" tIns="0" rIns="0" bIns="0" rtlCol="0" anchor="ctr"/>
          <a:lstStyle/>
          <a:p>
            <a:pPr marL="0" indent="0">
              <a:lnSpc>
                <a:spcPts val="2500"/>
              </a:lnSpc>
              <a:buNone/>
            </a:pPr>
            <a:r>
              <a:rPr lang="en-US" sz="1800" dirty="0">
                <a:solidFill>
                  <a:srgbClr val="B8C8D8"/>
                </a:solidFill>
                <a:latin typeface="Segoe UI" pitchFamily="34" charset="0"/>
                <a:ea typeface="Segoe UI" pitchFamily="34" charset="-122"/>
                <a:cs typeface="Segoe UI" pitchFamily="34" charset="-120"/>
              </a:rPr>
              <a:t>Las modificaciones se realizan aplicando conceptos y acciones propias del diseño en ingeniería.</a:t>
            </a:r>
            <a:endParaRPr lang="en-US" sz="1800" dirty="0"/>
          </a:p>
        </p:txBody>
      </p:sp>
      <p:sp>
        <p:nvSpPr>
          <p:cNvPr id="10" name="Text 7"/>
          <p:cNvSpPr txBox="1"/>
          <p:nvPr/>
        </p:nvSpPr>
        <p:spPr>
          <a:xfrm>
            <a:off x="8211312" y="1719072"/>
            <a:ext cx="3291840" cy="338328"/>
          </a:xfrm>
          <a:prstGeom prst="rect">
            <a:avLst/>
          </a:prstGeom>
          <a:noFill/>
          <a:ln/>
        </p:spPr>
        <p:txBody>
          <a:bodyPr wrap="square" lIns="0" tIns="0" rIns="0" bIns="0" rtlCol="0" anchor="ctr"/>
          <a:lstStyle/>
          <a:p>
            <a:pPr marL="0" indent="0">
              <a:buNone/>
            </a:pPr>
            <a:r>
              <a:rPr lang="en-US" sz="1800" b="1" kern="0" spc="80" dirty="0">
                <a:solidFill>
                  <a:srgbClr val="FFB903"/>
                </a:solidFill>
                <a:latin typeface="Segoe UI" pitchFamily="34" charset="0"/>
                <a:ea typeface="Segoe UI" pitchFamily="34" charset="-122"/>
                <a:cs typeface="Segoe UI" pitchFamily="34" charset="-120"/>
              </a:rPr>
              <a:t>EN ESTA SECCIÓN</a:t>
            </a:r>
            <a:endParaRPr lang="en-US" sz="1800" dirty="0"/>
          </a:p>
        </p:txBody>
      </p:sp>
      <p:sp>
        <p:nvSpPr>
          <p:cNvPr id="11" name="Shape 8"/>
          <p:cNvSpPr/>
          <p:nvPr/>
        </p:nvSpPr>
        <p:spPr>
          <a:xfrm>
            <a:off x="8211312" y="2359152"/>
            <a:ext cx="146304" cy="36576"/>
          </a:xfrm>
          <a:prstGeom prst="rect">
            <a:avLst/>
          </a:prstGeom>
          <a:solidFill>
            <a:srgbClr val="FFB903"/>
          </a:solidFill>
          <a:ln/>
        </p:spPr>
      </p:sp>
      <p:sp>
        <p:nvSpPr>
          <p:cNvPr id="12" name="Text 9"/>
          <p:cNvSpPr txBox="1"/>
          <p:nvPr/>
        </p:nvSpPr>
        <p:spPr>
          <a:xfrm>
            <a:off x="8485632" y="224028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Rediseño y metodologías de diseño</a:t>
            </a:r>
            <a:endParaRPr lang="en-US" sz="1650" dirty="0"/>
          </a:p>
        </p:txBody>
      </p:sp>
      <p:sp>
        <p:nvSpPr>
          <p:cNvPr id="13" name="Shape 10"/>
          <p:cNvSpPr/>
          <p:nvPr/>
        </p:nvSpPr>
        <p:spPr>
          <a:xfrm>
            <a:off x="8211312" y="3319272"/>
            <a:ext cx="146304" cy="36576"/>
          </a:xfrm>
          <a:prstGeom prst="rect">
            <a:avLst/>
          </a:prstGeom>
          <a:solidFill>
            <a:srgbClr val="FFB903"/>
          </a:solidFill>
          <a:ln/>
        </p:spPr>
      </p:sp>
      <p:sp>
        <p:nvSpPr>
          <p:cNvPr id="14" name="Text 11"/>
          <p:cNvSpPr txBox="1"/>
          <p:nvPr/>
        </p:nvSpPr>
        <p:spPr>
          <a:xfrm>
            <a:off x="8485632" y="320040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Especificaciones y plano de ingeniería</a:t>
            </a:r>
            <a:endParaRPr lang="en-US" sz="1650" dirty="0"/>
          </a:p>
        </p:txBody>
      </p:sp>
      <p:sp>
        <p:nvSpPr>
          <p:cNvPr id="15" name="Shape 12"/>
          <p:cNvSpPr/>
          <p:nvPr/>
        </p:nvSpPr>
        <p:spPr>
          <a:xfrm>
            <a:off x="8211312" y="4279392"/>
            <a:ext cx="146304" cy="36576"/>
          </a:xfrm>
          <a:prstGeom prst="rect">
            <a:avLst/>
          </a:prstGeom>
          <a:solidFill>
            <a:srgbClr val="FFB903"/>
          </a:solidFill>
          <a:ln/>
        </p:spPr>
      </p:sp>
      <p:sp>
        <p:nvSpPr>
          <p:cNvPr id="16" name="Text 13"/>
          <p:cNvSpPr txBox="1"/>
          <p:nvPr/>
        </p:nvSpPr>
        <p:spPr>
          <a:xfrm>
            <a:off x="8485632" y="416052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Diseño en ingeniería</a:t>
            </a:r>
            <a:endParaRPr lang="en-US" sz="1650" dirty="0"/>
          </a:p>
        </p:txBody>
      </p:sp>
      <p:sp>
        <p:nvSpPr>
          <p:cNvPr id="17" name="Shape 14"/>
          <p:cNvSpPr/>
          <p:nvPr/>
        </p:nvSpPr>
        <p:spPr>
          <a:xfrm>
            <a:off x="8211312" y="5239512"/>
            <a:ext cx="146304" cy="36576"/>
          </a:xfrm>
          <a:prstGeom prst="rect">
            <a:avLst/>
          </a:prstGeom>
          <a:solidFill>
            <a:srgbClr val="FFB903"/>
          </a:solidFill>
          <a:ln/>
        </p:spPr>
      </p:sp>
      <p:sp>
        <p:nvSpPr>
          <p:cNvPr id="18" name="Text 15"/>
          <p:cNvSpPr txBox="1"/>
          <p:nvPr/>
        </p:nvSpPr>
        <p:spPr>
          <a:xfrm>
            <a:off x="8485632" y="512064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Etapas del proceso de diseño</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PUNTO DE PARTIDA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2800" b="1" dirty="0">
                <a:solidFill>
                  <a:srgbClr val="00335C"/>
                </a:solidFill>
                <a:latin typeface="Segoe UI" pitchFamily="34" charset="0"/>
                <a:ea typeface="Segoe UI" pitchFamily="34" charset="-122"/>
                <a:cs typeface="Segoe UI" pitchFamily="34" charset="-120"/>
              </a:rPr>
              <a:t>Las modificaciones se hacen con procesos de diseño</a:t>
            </a:r>
            <a:endParaRPr lang="en-US" sz="28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14</a:t>
            </a:r>
            <a:endParaRPr lang="en-US" sz="1000" dirty="0"/>
          </a:p>
        </p:txBody>
      </p:sp>
      <p:sp>
        <p:nvSpPr>
          <p:cNvPr id="10" name="Shape 7"/>
          <p:cNvSpPr/>
          <p:nvPr/>
        </p:nvSpPr>
        <p:spPr>
          <a:xfrm>
            <a:off x="658368" y="2011680"/>
            <a:ext cx="10872216" cy="2011680"/>
          </a:xfrm>
          <a:prstGeom prst="rect">
            <a:avLst/>
          </a:prstGeom>
          <a:solidFill>
            <a:srgbClr val="E8F0F7"/>
          </a:solidFill>
          <a:ln/>
        </p:spPr>
      </p:sp>
      <p:sp>
        <p:nvSpPr>
          <p:cNvPr id="11" name="Shape 8"/>
          <p:cNvSpPr/>
          <p:nvPr/>
        </p:nvSpPr>
        <p:spPr>
          <a:xfrm>
            <a:off x="658368" y="2011680"/>
            <a:ext cx="64008" cy="2011680"/>
          </a:xfrm>
          <a:prstGeom prst="rect">
            <a:avLst/>
          </a:prstGeom>
          <a:solidFill>
            <a:srgbClr val="004B85"/>
          </a:solidFill>
          <a:ln/>
        </p:spPr>
      </p:sp>
      <p:sp>
        <p:nvSpPr>
          <p:cNvPr id="12" name="Text 9"/>
          <p:cNvSpPr txBox="1"/>
          <p:nvPr/>
        </p:nvSpPr>
        <p:spPr>
          <a:xfrm>
            <a:off x="1097280" y="2011680"/>
            <a:ext cx="9966960" cy="2011680"/>
          </a:xfrm>
          <a:prstGeom prst="rect">
            <a:avLst/>
          </a:prstGeom>
          <a:noFill/>
          <a:ln/>
        </p:spPr>
        <p:txBody>
          <a:bodyPr wrap="square" lIns="0" tIns="0" rIns="0" bIns="0" rtlCol="0" anchor="ctr"/>
          <a:lstStyle/>
          <a:p>
            <a:pPr marL="0" indent="0">
              <a:lnSpc>
                <a:spcPts val="3000"/>
              </a:lnSpc>
              <a:buNone/>
            </a:pPr>
            <a:r>
              <a:rPr lang="en-US" sz="2100" b="1" dirty="0">
                <a:solidFill>
                  <a:srgbClr val="00335C"/>
                </a:solidFill>
                <a:latin typeface="Segoe UI" pitchFamily="34" charset="0"/>
                <a:ea typeface="Segoe UI" pitchFamily="34" charset="-122"/>
                <a:cs typeface="Segoe UI" pitchFamily="34" charset="-120"/>
              </a:rPr>
              <a:t>Las modificaciones en los equipos o sistemas se realizan mediante la aplicación de conceptos y acciones propias del diseño en la ingeniería (procesos de diseño) y es indispensable para tal fin establecer previamente la causa raíz de la falla.</a:t>
            </a:r>
            <a:endParaRPr lang="en-US" sz="2100" dirty="0"/>
          </a:p>
        </p:txBody>
      </p:sp>
      <p:sp>
        <p:nvSpPr>
          <p:cNvPr id="13" name="Shape 10"/>
          <p:cNvSpPr/>
          <p:nvPr/>
        </p:nvSpPr>
        <p:spPr>
          <a:xfrm>
            <a:off x="658368" y="4663440"/>
            <a:ext cx="10872216" cy="420624"/>
          </a:xfrm>
          <a:prstGeom prst="rect">
            <a:avLst/>
          </a:prstGeom>
          <a:solidFill>
            <a:srgbClr val="E8F0F7"/>
          </a:solidFill>
          <a:ln/>
        </p:spPr>
      </p:sp>
      <p:sp>
        <p:nvSpPr>
          <p:cNvPr id="14" name="Shape 11"/>
          <p:cNvSpPr/>
          <p:nvPr/>
        </p:nvSpPr>
        <p:spPr>
          <a:xfrm>
            <a:off x="658368" y="4663440"/>
            <a:ext cx="54864" cy="420624"/>
          </a:xfrm>
          <a:prstGeom prst="rect">
            <a:avLst/>
          </a:prstGeom>
          <a:solidFill>
            <a:srgbClr val="004B85"/>
          </a:solidFill>
          <a:ln/>
        </p:spPr>
      </p:sp>
      <p:sp>
        <p:nvSpPr>
          <p:cNvPr id="15" name="Text 12"/>
          <p:cNvSpPr txBox="1"/>
          <p:nvPr/>
        </p:nvSpPr>
        <p:spPr>
          <a:xfrm>
            <a:off x="932688" y="4709160"/>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Sin causa raíz establecida, la modificación es una apuesta: se cambia el equipo sin saber si se ataca el origen del problema.</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CONCEPTO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Rediseños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15</a:t>
            </a:r>
            <a:endParaRPr lang="en-US" sz="1000" dirty="0"/>
          </a:p>
        </p:txBody>
      </p:sp>
      <p:sp>
        <p:nvSpPr>
          <p:cNvPr id="10" name="Shape 7"/>
          <p:cNvSpPr/>
          <p:nvPr/>
        </p:nvSpPr>
        <p:spPr>
          <a:xfrm>
            <a:off x="658368" y="2011680"/>
            <a:ext cx="5294376" cy="2834640"/>
          </a:xfrm>
          <a:prstGeom prst="rect">
            <a:avLst/>
          </a:prstGeom>
          <a:solidFill>
            <a:srgbClr val="F4F7FA"/>
          </a:solidFill>
          <a:ln w="9525">
            <a:solidFill>
              <a:srgbClr val="D5DDE5"/>
            </a:solidFill>
            <a:prstDash val="solid"/>
          </a:ln>
        </p:spPr>
      </p:sp>
      <p:sp>
        <p:nvSpPr>
          <p:cNvPr id="11" name="Shape 8"/>
          <p:cNvSpPr/>
          <p:nvPr/>
        </p:nvSpPr>
        <p:spPr>
          <a:xfrm>
            <a:off x="658368" y="2011680"/>
            <a:ext cx="5294376" cy="64008"/>
          </a:xfrm>
          <a:prstGeom prst="rect">
            <a:avLst/>
          </a:prstGeom>
          <a:solidFill>
            <a:srgbClr val="004B85"/>
          </a:solidFill>
          <a:ln/>
        </p:spPr>
      </p:sp>
      <p:sp>
        <p:nvSpPr>
          <p:cNvPr id="12" name="Shape 9"/>
          <p:cNvSpPr/>
          <p:nvPr/>
        </p:nvSpPr>
        <p:spPr>
          <a:xfrm>
            <a:off x="914400" y="2267712"/>
            <a:ext cx="384048" cy="384048"/>
          </a:xfrm>
          <a:prstGeom prst="rect">
            <a:avLst/>
          </a:prstGeom>
          <a:solidFill>
            <a:srgbClr val="004B85"/>
          </a:solidFill>
          <a:ln/>
        </p:spPr>
      </p:sp>
      <p:sp>
        <p:nvSpPr>
          <p:cNvPr id="13" name="Text 10"/>
          <p:cNvSpPr txBox="1"/>
          <p:nvPr/>
        </p:nvSpPr>
        <p:spPr>
          <a:xfrm>
            <a:off x="914400"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816352"/>
            <a:ext cx="4782312" cy="822960"/>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Emplean metodologías del diseño</a:t>
            </a:r>
            <a:endParaRPr lang="en-US" sz="2000" dirty="0"/>
          </a:p>
        </p:txBody>
      </p:sp>
      <p:sp>
        <p:nvSpPr>
          <p:cNvPr id="15" name="Text 12"/>
          <p:cNvSpPr txBox="1"/>
          <p:nvPr/>
        </p:nvSpPr>
        <p:spPr>
          <a:xfrm>
            <a:off x="914400" y="3730752"/>
            <a:ext cx="4782312" cy="950976"/>
          </a:xfrm>
          <a:prstGeom prst="rect">
            <a:avLst/>
          </a:prstGeom>
          <a:noFill/>
          <a:ln/>
        </p:spPr>
        <p:txBody>
          <a:bodyPr wrap="square" lIns="0" tIns="0" rIns="0" bIns="0" rtlCol="0" anchor="ctr"/>
          <a:lstStyle/>
          <a:p>
            <a:pPr marL="0" indent="0">
              <a:lnSpc>
                <a:spcPts val="2100"/>
              </a:lnSpc>
              <a:buNone/>
            </a:pPr>
            <a:r>
              <a:rPr lang="en-US" sz="1500" dirty="0">
                <a:solidFill>
                  <a:srgbClr val="5C6B7A"/>
                </a:solidFill>
                <a:latin typeface="Segoe UI" pitchFamily="34" charset="0"/>
                <a:ea typeface="Segoe UI" pitchFamily="34" charset="-122"/>
                <a:cs typeface="Segoe UI" pitchFamily="34" charset="-120"/>
              </a:rPr>
              <a:t>Son acciones modificativas en las cuales se emplean las metodologías del diseño.</a:t>
            </a:r>
            <a:endParaRPr lang="en-US" sz="1500" dirty="0"/>
          </a:p>
        </p:txBody>
      </p:sp>
      <p:sp>
        <p:nvSpPr>
          <p:cNvPr id="16" name="Shape 13"/>
          <p:cNvSpPr/>
          <p:nvPr/>
        </p:nvSpPr>
        <p:spPr>
          <a:xfrm>
            <a:off x="6236208" y="2011680"/>
            <a:ext cx="5294376" cy="2834640"/>
          </a:xfrm>
          <a:prstGeom prst="rect">
            <a:avLst/>
          </a:prstGeom>
          <a:solidFill>
            <a:srgbClr val="F4F7FA"/>
          </a:solidFill>
          <a:ln w="9525">
            <a:solidFill>
              <a:srgbClr val="D5DDE5"/>
            </a:solidFill>
            <a:prstDash val="solid"/>
          </a:ln>
        </p:spPr>
      </p:sp>
      <p:sp>
        <p:nvSpPr>
          <p:cNvPr id="17" name="Shape 14"/>
          <p:cNvSpPr/>
          <p:nvPr/>
        </p:nvSpPr>
        <p:spPr>
          <a:xfrm>
            <a:off x="6236208" y="2011680"/>
            <a:ext cx="5294376" cy="64008"/>
          </a:xfrm>
          <a:prstGeom prst="rect">
            <a:avLst/>
          </a:prstGeom>
          <a:solidFill>
            <a:srgbClr val="FFB903"/>
          </a:solidFill>
          <a:ln/>
        </p:spPr>
      </p:sp>
      <p:sp>
        <p:nvSpPr>
          <p:cNvPr id="18" name="Shape 15"/>
          <p:cNvSpPr/>
          <p:nvPr/>
        </p:nvSpPr>
        <p:spPr>
          <a:xfrm>
            <a:off x="6492240" y="2267712"/>
            <a:ext cx="384048" cy="384048"/>
          </a:xfrm>
          <a:prstGeom prst="rect">
            <a:avLst/>
          </a:prstGeom>
          <a:solidFill>
            <a:srgbClr val="FFB903"/>
          </a:solidFill>
          <a:ln/>
        </p:spPr>
      </p:sp>
      <p:sp>
        <p:nvSpPr>
          <p:cNvPr id="19" name="Text 16"/>
          <p:cNvSpPr txBox="1"/>
          <p:nvPr/>
        </p:nvSpPr>
        <p:spPr>
          <a:xfrm>
            <a:off x="6492240"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6492240" y="2816352"/>
            <a:ext cx="4782312" cy="822960"/>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Cambios importantes</a:t>
            </a:r>
            <a:endParaRPr lang="en-US" sz="2000" dirty="0"/>
          </a:p>
        </p:txBody>
      </p:sp>
      <p:sp>
        <p:nvSpPr>
          <p:cNvPr id="21" name="Text 18"/>
          <p:cNvSpPr txBox="1"/>
          <p:nvPr/>
        </p:nvSpPr>
        <p:spPr>
          <a:xfrm>
            <a:off x="6492240" y="3730752"/>
            <a:ext cx="4782312" cy="950976"/>
          </a:xfrm>
          <a:prstGeom prst="rect">
            <a:avLst/>
          </a:prstGeom>
          <a:noFill/>
          <a:ln/>
        </p:spPr>
        <p:txBody>
          <a:bodyPr wrap="square" lIns="0" tIns="0" rIns="0" bIns="0" rtlCol="0" anchor="ctr"/>
          <a:lstStyle/>
          <a:p>
            <a:pPr marL="0" indent="0">
              <a:lnSpc>
                <a:spcPts val="2100"/>
              </a:lnSpc>
              <a:buNone/>
            </a:pPr>
            <a:r>
              <a:rPr lang="en-US" sz="1500" dirty="0">
                <a:solidFill>
                  <a:srgbClr val="5C6B7A"/>
                </a:solidFill>
                <a:latin typeface="Segoe UI" pitchFamily="34" charset="0"/>
                <a:ea typeface="Segoe UI" pitchFamily="34" charset="-122"/>
                <a:cs typeface="Segoe UI" pitchFamily="34" charset="-120"/>
              </a:rPr>
              <a:t>Generalmente representan cambios importantes en relación con el equipo original.</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CONCEPTO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Diseño</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16</a:t>
            </a:r>
            <a:endParaRPr lang="en-US" sz="1000" dirty="0"/>
          </a:p>
        </p:txBody>
      </p:sp>
      <p:sp>
        <p:nvSpPr>
          <p:cNvPr id="10" name="Shape 7"/>
          <p:cNvSpPr/>
          <p:nvPr/>
        </p:nvSpPr>
        <p:spPr>
          <a:xfrm>
            <a:off x="658368" y="2011680"/>
            <a:ext cx="5294376" cy="2834640"/>
          </a:xfrm>
          <a:prstGeom prst="rect">
            <a:avLst/>
          </a:prstGeom>
          <a:solidFill>
            <a:srgbClr val="F4F7FA"/>
          </a:solidFill>
          <a:ln w="9525">
            <a:solidFill>
              <a:srgbClr val="D5DDE5"/>
            </a:solidFill>
            <a:prstDash val="solid"/>
          </a:ln>
        </p:spPr>
      </p:sp>
      <p:sp>
        <p:nvSpPr>
          <p:cNvPr id="11" name="Shape 8"/>
          <p:cNvSpPr/>
          <p:nvPr/>
        </p:nvSpPr>
        <p:spPr>
          <a:xfrm>
            <a:off x="658368" y="2011680"/>
            <a:ext cx="5294376" cy="64008"/>
          </a:xfrm>
          <a:prstGeom prst="rect">
            <a:avLst/>
          </a:prstGeom>
          <a:solidFill>
            <a:srgbClr val="004B85"/>
          </a:solidFill>
          <a:ln/>
        </p:spPr>
      </p:sp>
      <p:sp>
        <p:nvSpPr>
          <p:cNvPr id="12" name="Shape 9"/>
          <p:cNvSpPr/>
          <p:nvPr/>
        </p:nvSpPr>
        <p:spPr>
          <a:xfrm>
            <a:off x="914400" y="2267712"/>
            <a:ext cx="384048" cy="384048"/>
          </a:xfrm>
          <a:prstGeom prst="rect">
            <a:avLst/>
          </a:prstGeom>
          <a:solidFill>
            <a:srgbClr val="004B85"/>
          </a:solidFill>
          <a:ln/>
        </p:spPr>
      </p:sp>
      <p:sp>
        <p:nvSpPr>
          <p:cNvPr id="13" name="Text 10"/>
          <p:cNvSpPr txBox="1"/>
          <p:nvPr/>
        </p:nvSpPr>
        <p:spPr>
          <a:xfrm>
            <a:off x="914400"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816352"/>
            <a:ext cx="4782312" cy="420624"/>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Formulación de planes</a:t>
            </a:r>
            <a:endParaRPr lang="en-US" sz="2000" dirty="0"/>
          </a:p>
        </p:txBody>
      </p:sp>
      <p:sp>
        <p:nvSpPr>
          <p:cNvPr id="15" name="Text 12"/>
          <p:cNvSpPr txBox="1"/>
          <p:nvPr/>
        </p:nvSpPr>
        <p:spPr>
          <a:xfrm>
            <a:off x="914400" y="3328416"/>
            <a:ext cx="4782312" cy="1371600"/>
          </a:xfrm>
          <a:prstGeom prst="rect">
            <a:avLst/>
          </a:prstGeom>
          <a:noFill/>
          <a:ln/>
        </p:spPr>
        <p:txBody>
          <a:bodyPr wrap="square" lIns="0" tIns="0" rIns="0" bIns="0" rtlCol="0" anchor="ctr"/>
          <a:lstStyle/>
          <a:p>
            <a:pPr marL="0" indent="0">
              <a:lnSpc>
                <a:spcPts val="2300"/>
              </a:lnSpc>
              <a:buNone/>
            </a:pPr>
            <a:r>
              <a:rPr lang="en-US" sz="1600" dirty="0">
                <a:solidFill>
                  <a:srgbClr val="5C6B7A"/>
                </a:solidFill>
                <a:latin typeface="Segoe UI" pitchFamily="34" charset="0"/>
                <a:ea typeface="Segoe UI" pitchFamily="34" charset="-122"/>
                <a:cs typeface="Segoe UI" pitchFamily="34" charset="-120"/>
              </a:rPr>
              <a:t>Formulación de planes para satisfacer demandas o necesidades específicas o resolver problemas.</a:t>
            </a:r>
            <a:endParaRPr lang="en-US" sz="1600" dirty="0"/>
          </a:p>
        </p:txBody>
      </p:sp>
      <p:sp>
        <p:nvSpPr>
          <p:cNvPr id="16" name="Shape 13"/>
          <p:cNvSpPr/>
          <p:nvPr/>
        </p:nvSpPr>
        <p:spPr>
          <a:xfrm>
            <a:off x="6236208" y="2011680"/>
            <a:ext cx="5294376" cy="2834640"/>
          </a:xfrm>
          <a:prstGeom prst="rect">
            <a:avLst/>
          </a:prstGeom>
          <a:solidFill>
            <a:srgbClr val="F4F7FA"/>
          </a:solidFill>
          <a:ln w="9525">
            <a:solidFill>
              <a:srgbClr val="D5DDE5"/>
            </a:solidFill>
            <a:prstDash val="solid"/>
          </a:ln>
        </p:spPr>
      </p:sp>
      <p:sp>
        <p:nvSpPr>
          <p:cNvPr id="17" name="Shape 14"/>
          <p:cNvSpPr/>
          <p:nvPr/>
        </p:nvSpPr>
        <p:spPr>
          <a:xfrm>
            <a:off x="6236208" y="2011680"/>
            <a:ext cx="5294376" cy="64008"/>
          </a:xfrm>
          <a:prstGeom prst="rect">
            <a:avLst/>
          </a:prstGeom>
          <a:solidFill>
            <a:srgbClr val="FFB903"/>
          </a:solidFill>
          <a:ln/>
        </p:spPr>
      </p:sp>
      <p:sp>
        <p:nvSpPr>
          <p:cNvPr id="18" name="Shape 15"/>
          <p:cNvSpPr/>
          <p:nvPr/>
        </p:nvSpPr>
        <p:spPr>
          <a:xfrm>
            <a:off x="6492240" y="2267712"/>
            <a:ext cx="384048" cy="384048"/>
          </a:xfrm>
          <a:prstGeom prst="rect">
            <a:avLst/>
          </a:prstGeom>
          <a:solidFill>
            <a:srgbClr val="FFB903"/>
          </a:solidFill>
          <a:ln/>
        </p:spPr>
      </p:sp>
      <p:sp>
        <p:nvSpPr>
          <p:cNvPr id="19" name="Text 16"/>
          <p:cNvSpPr txBox="1"/>
          <p:nvPr/>
        </p:nvSpPr>
        <p:spPr>
          <a:xfrm>
            <a:off x="6492240"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6492240" y="2816352"/>
            <a:ext cx="4782312" cy="420624"/>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Transformación de ideas</a:t>
            </a:r>
            <a:endParaRPr lang="en-US" sz="2000" dirty="0"/>
          </a:p>
        </p:txBody>
      </p:sp>
      <p:sp>
        <p:nvSpPr>
          <p:cNvPr id="21" name="Text 18"/>
          <p:cNvSpPr txBox="1"/>
          <p:nvPr/>
        </p:nvSpPr>
        <p:spPr>
          <a:xfrm>
            <a:off x="6492240" y="3328416"/>
            <a:ext cx="4782312" cy="1371600"/>
          </a:xfrm>
          <a:prstGeom prst="rect">
            <a:avLst/>
          </a:prstGeom>
          <a:noFill/>
          <a:ln/>
        </p:spPr>
        <p:txBody>
          <a:bodyPr wrap="square" lIns="0" tIns="0" rIns="0" bIns="0" rtlCol="0" anchor="ctr"/>
          <a:lstStyle/>
          <a:p>
            <a:pPr marL="0" indent="0">
              <a:lnSpc>
                <a:spcPts val="2300"/>
              </a:lnSpc>
              <a:buNone/>
            </a:pPr>
            <a:r>
              <a:rPr lang="en-US" sz="1600" dirty="0">
                <a:solidFill>
                  <a:srgbClr val="5C6B7A"/>
                </a:solidFill>
                <a:latin typeface="Segoe UI" pitchFamily="34" charset="0"/>
                <a:ea typeface="Segoe UI" pitchFamily="34" charset="-122"/>
                <a:cs typeface="Segoe UI" pitchFamily="34" charset="-120"/>
              </a:rPr>
              <a:t>Transformación de conceptos e ideas en maquinaria útil.</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PLANO DE INGENIERÍA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2800" b="1" dirty="0">
                <a:solidFill>
                  <a:srgbClr val="00335C"/>
                </a:solidFill>
                <a:latin typeface="Segoe UI" pitchFamily="34" charset="0"/>
                <a:ea typeface="Segoe UI" pitchFamily="34" charset="-122"/>
                <a:cs typeface="Segoe UI" pitchFamily="34" charset="-120"/>
              </a:rPr>
              <a:t>Especificaciones técnicas para elementos de cálculo</a:t>
            </a:r>
            <a:endParaRPr lang="en-US" sz="28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17</a:t>
            </a:r>
            <a:endParaRPr lang="en-US" sz="1000" dirty="0"/>
          </a:p>
        </p:txBody>
      </p:sp>
      <p:sp>
        <p:nvSpPr>
          <p:cNvPr id="10" name="Shape 7"/>
          <p:cNvSpPr/>
          <p:nvPr/>
        </p:nvSpPr>
        <p:spPr>
          <a:xfrm>
            <a:off x="658368" y="2103120"/>
            <a:ext cx="2606040" cy="1005840"/>
          </a:xfrm>
          <a:prstGeom prst="rect">
            <a:avLst/>
          </a:prstGeom>
          <a:solidFill>
            <a:srgbClr val="F4F7FA"/>
          </a:solidFill>
          <a:ln w="9525">
            <a:solidFill>
              <a:srgbClr val="D5DDE5"/>
            </a:solidFill>
            <a:prstDash val="solid"/>
          </a:ln>
        </p:spPr>
      </p:sp>
      <p:sp>
        <p:nvSpPr>
          <p:cNvPr id="11" name="Shape 8"/>
          <p:cNvSpPr/>
          <p:nvPr/>
        </p:nvSpPr>
        <p:spPr>
          <a:xfrm>
            <a:off x="658368" y="2103120"/>
            <a:ext cx="2606040" cy="54864"/>
          </a:xfrm>
          <a:prstGeom prst="rect">
            <a:avLst/>
          </a:prstGeom>
          <a:solidFill>
            <a:srgbClr val="004B85"/>
          </a:solidFill>
          <a:ln/>
        </p:spPr>
      </p:sp>
      <p:sp>
        <p:nvSpPr>
          <p:cNvPr id="12" name="Text 9"/>
          <p:cNvSpPr txBox="1"/>
          <p:nvPr/>
        </p:nvSpPr>
        <p:spPr>
          <a:xfrm>
            <a:off x="877824" y="2231136"/>
            <a:ext cx="2167128" cy="749808"/>
          </a:xfrm>
          <a:prstGeom prst="rect">
            <a:avLst/>
          </a:prstGeom>
          <a:noFill/>
          <a:ln/>
        </p:spPr>
        <p:txBody>
          <a:bodyPr wrap="square" lIns="0" tIns="0" rIns="0" bIns="0" rtlCol="0" anchor="ctr"/>
          <a:lstStyle/>
          <a:p>
            <a:pPr marL="0" indent="0">
              <a:lnSpc>
                <a:spcPts val="1900"/>
              </a:lnSpc>
              <a:buNone/>
            </a:pPr>
            <a:r>
              <a:rPr lang="en-US" sz="1400" dirty="0">
                <a:solidFill>
                  <a:srgbClr val="00335C"/>
                </a:solidFill>
                <a:latin typeface="Segoe UI" pitchFamily="34" charset="0"/>
                <a:ea typeface="Segoe UI" pitchFamily="34" charset="-122"/>
                <a:cs typeface="Segoe UI" pitchFamily="34" charset="-120"/>
              </a:rPr>
              <a:t>Geometría completa</a:t>
            </a:r>
            <a:endParaRPr lang="en-US" sz="1400" dirty="0"/>
          </a:p>
        </p:txBody>
      </p:sp>
      <p:sp>
        <p:nvSpPr>
          <p:cNvPr id="13" name="Shape 10"/>
          <p:cNvSpPr/>
          <p:nvPr/>
        </p:nvSpPr>
        <p:spPr>
          <a:xfrm>
            <a:off x="3410712" y="2103120"/>
            <a:ext cx="2606040" cy="1005840"/>
          </a:xfrm>
          <a:prstGeom prst="rect">
            <a:avLst/>
          </a:prstGeom>
          <a:solidFill>
            <a:srgbClr val="F4F7FA"/>
          </a:solidFill>
          <a:ln w="9525">
            <a:solidFill>
              <a:srgbClr val="D5DDE5"/>
            </a:solidFill>
            <a:prstDash val="solid"/>
          </a:ln>
        </p:spPr>
      </p:sp>
      <p:sp>
        <p:nvSpPr>
          <p:cNvPr id="14" name="Shape 11"/>
          <p:cNvSpPr/>
          <p:nvPr/>
        </p:nvSpPr>
        <p:spPr>
          <a:xfrm>
            <a:off x="3410712" y="2103120"/>
            <a:ext cx="2606040" cy="54864"/>
          </a:xfrm>
          <a:prstGeom prst="rect">
            <a:avLst/>
          </a:prstGeom>
          <a:solidFill>
            <a:srgbClr val="004B85"/>
          </a:solidFill>
          <a:ln/>
        </p:spPr>
      </p:sp>
      <p:sp>
        <p:nvSpPr>
          <p:cNvPr id="15" name="Text 12"/>
          <p:cNvSpPr txBox="1"/>
          <p:nvPr/>
        </p:nvSpPr>
        <p:spPr>
          <a:xfrm>
            <a:off x="3630168" y="2231136"/>
            <a:ext cx="2167128" cy="749808"/>
          </a:xfrm>
          <a:prstGeom prst="rect">
            <a:avLst/>
          </a:prstGeom>
          <a:noFill/>
          <a:ln/>
        </p:spPr>
        <p:txBody>
          <a:bodyPr wrap="square" lIns="0" tIns="0" rIns="0" bIns="0" rtlCol="0" anchor="ctr"/>
          <a:lstStyle/>
          <a:p>
            <a:pPr marL="0" indent="0">
              <a:lnSpc>
                <a:spcPts val="1900"/>
              </a:lnSpc>
              <a:buNone/>
            </a:pPr>
            <a:r>
              <a:rPr lang="en-US" sz="1400" dirty="0">
                <a:solidFill>
                  <a:srgbClr val="00335C"/>
                </a:solidFill>
                <a:latin typeface="Segoe UI" pitchFamily="34" charset="0"/>
                <a:ea typeface="Segoe UI" pitchFamily="34" charset="-122"/>
                <a:cs typeface="Segoe UI" pitchFamily="34" charset="-120"/>
              </a:rPr>
              <a:t>Tolerancias</a:t>
            </a:r>
            <a:endParaRPr lang="en-US" sz="1400" dirty="0"/>
          </a:p>
        </p:txBody>
      </p:sp>
      <p:sp>
        <p:nvSpPr>
          <p:cNvPr id="16" name="Shape 13"/>
          <p:cNvSpPr/>
          <p:nvPr/>
        </p:nvSpPr>
        <p:spPr>
          <a:xfrm>
            <a:off x="6163056" y="2103120"/>
            <a:ext cx="2606040" cy="1005840"/>
          </a:xfrm>
          <a:prstGeom prst="rect">
            <a:avLst/>
          </a:prstGeom>
          <a:solidFill>
            <a:srgbClr val="F4F7FA"/>
          </a:solidFill>
          <a:ln w="9525">
            <a:solidFill>
              <a:srgbClr val="D5DDE5"/>
            </a:solidFill>
            <a:prstDash val="solid"/>
          </a:ln>
        </p:spPr>
      </p:sp>
      <p:sp>
        <p:nvSpPr>
          <p:cNvPr id="17" name="Shape 14"/>
          <p:cNvSpPr/>
          <p:nvPr/>
        </p:nvSpPr>
        <p:spPr>
          <a:xfrm>
            <a:off x="6163056" y="2103120"/>
            <a:ext cx="2606040" cy="54864"/>
          </a:xfrm>
          <a:prstGeom prst="rect">
            <a:avLst/>
          </a:prstGeom>
          <a:solidFill>
            <a:srgbClr val="004B85"/>
          </a:solidFill>
          <a:ln/>
        </p:spPr>
      </p:sp>
      <p:sp>
        <p:nvSpPr>
          <p:cNvPr id="18" name="Text 15"/>
          <p:cNvSpPr txBox="1"/>
          <p:nvPr/>
        </p:nvSpPr>
        <p:spPr>
          <a:xfrm>
            <a:off x="6382512" y="2231136"/>
            <a:ext cx="2167128" cy="749808"/>
          </a:xfrm>
          <a:prstGeom prst="rect">
            <a:avLst/>
          </a:prstGeom>
          <a:noFill/>
          <a:ln/>
        </p:spPr>
        <p:txBody>
          <a:bodyPr wrap="square" lIns="0" tIns="0" rIns="0" bIns="0" rtlCol="0" anchor="ctr"/>
          <a:lstStyle/>
          <a:p>
            <a:pPr marL="0" indent="0">
              <a:lnSpc>
                <a:spcPts val="1900"/>
              </a:lnSpc>
              <a:buNone/>
            </a:pPr>
            <a:r>
              <a:rPr lang="en-US" sz="1400" dirty="0">
                <a:solidFill>
                  <a:srgbClr val="00335C"/>
                </a:solidFill>
                <a:latin typeface="Segoe UI" pitchFamily="34" charset="0"/>
                <a:ea typeface="Segoe UI" pitchFamily="34" charset="-122"/>
                <a:cs typeface="Segoe UI" pitchFamily="34" charset="-120"/>
              </a:rPr>
              <a:t>Acabados superficiales</a:t>
            </a:r>
            <a:endParaRPr lang="en-US" sz="1400" dirty="0"/>
          </a:p>
        </p:txBody>
      </p:sp>
      <p:sp>
        <p:nvSpPr>
          <p:cNvPr id="19" name="Shape 16"/>
          <p:cNvSpPr/>
          <p:nvPr/>
        </p:nvSpPr>
        <p:spPr>
          <a:xfrm>
            <a:off x="8915400" y="2103120"/>
            <a:ext cx="2606040" cy="1005840"/>
          </a:xfrm>
          <a:prstGeom prst="rect">
            <a:avLst/>
          </a:prstGeom>
          <a:solidFill>
            <a:srgbClr val="F4F7FA"/>
          </a:solidFill>
          <a:ln w="9525">
            <a:solidFill>
              <a:srgbClr val="D5DDE5"/>
            </a:solidFill>
            <a:prstDash val="solid"/>
          </a:ln>
        </p:spPr>
      </p:sp>
      <p:sp>
        <p:nvSpPr>
          <p:cNvPr id="20" name="Shape 17"/>
          <p:cNvSpPr/>
          <p:nvPr/>
        </p:nvSpPr>
        <p:spPr>
          <a:xfrm>
            <a:off x="8915400" y="2103120"/>
            <a:ext cx="2606040" cy="54864"/>
          </a:xfrm>
          <a:prstGeom prst="rect">
            <a:avLst/>
          </a:prstGeom>
          <a:solidFill>
            <a:srgbClr val="004B85"/>
          </a:solidFill>
          <a:ln/>
        </p:spPr>
      </p:sp>
      <p:sp>
        <p:nvSpPr>
          <p:cNvPr id="21" name="Text 18"/>
          <p:cNvSpPr txBox="1"/>
          <p:nvPr/>
        </p:nvSpPr>
        <p:spPr>
          <a:xfrm>
            <a:off x="9134856" y="2231136"/>
            <a:ext cx="2167128" cy="749808"/>
          </a:xfrm>
          <a:prstGeom prst="rect">
            <a:avLst/>
          </a:prstGeom>
          <a:noFill/>
          <a:ln/>
        </p:spPr>
        <p:txBody>
          <a:bodyPr wrap="square" lIns="0" tIns="0" rIns="0" bIns="0" rtlCol="0" anchor="ctr"/>
          <a:lstStyle/>
          <a:p>
            <a:pPr marL="0" indent="0">
              <a:lnSpc>
                <a:spcPts val="1900"/>
              </a:lnSpc>
              <a:buNone/>
            </a:pPr>
            <a:r>
              <a:rPr lang="en-US" sz="1400" dirty="0">
                <a:solidFill>
                  <a:srgbClr val="00335C"/>
                </a:solidFill>
                <a:latin typeface="Segoe UI" pitchFamily="34" charset="0"/>
                <a:ea typeface="Segoe UI" pitchFamily="34" charset="-122"/>
                <a:cs typeface="Segoe UI" pitchFamily="34" charset="-120"/>
              </a:rPr>
              <a:t>Materiales</a:t>
            </a:r>
            <a:endParaRPr lang="en-US" sz="1400" dirty="0"/>
          </a:p>
        </p:txBody>
      </p:sp>
      <p:sp>
        <p:nvSpPr>
          <p:cNvPr id="22" name="Shape 19"/>
          <p:cNvSpPr/>
          <p:nvPr/>
        </p:nvSpPr>
        <p:spPr>
          <a:xfrm>
            <a:off x="658368" y="3273552"/>
            <a:ext cx="2606040" cy="1005840"/>
          </a:xfrm>
          <a:prstGeom prst="rect">
            <a:avLst/>
          </a:prstGeom>
          <a:solidFill>
            <a:srgbClr val="F4F7FA"/>
          </a:solidFill>
          <a:ln w="9525">
            <a:solidFill>
              <a:srgbClr val="D5DDE5"/>
            </a:solidFill>
            <a:prstDash val="solid"/>
          </a:ln>
        </p:spPr>
      </p:sp>
      <p:sp>
        <p:nvSpPr>
          <p:cNvPr id="23" name="Shape 20"/>
          <p:cNvSpPr/>
          <p:nvPr/>
        </p:nvSpPr>
        <p:spPr>
          <a:xfrm>
            <a:off x="658368" y="3273552"/>
            <a:ext cx="2606040" cy="54864"/>
          </a:xfrm>
          <a:prstGeom prst="rect">
            <a:avLst/>
          </a:prstGeom>
          <a:solidFill>
            <a:srgbClr val="B88200"/>
          </a:solidFill>
          <a:ln/>
        </p:spPr>
      </p:sp>
      <p:sp>
        <p:nvSpPr>
          <p:cNvPr id="24" name="Text 21"/>
          <p:cNvSpPr txBox="1"/>
          <p:nvPr/>
        </p:nvSpPr>
        <p:spPr>
          <a:xfrm>
            <a:off x="877824" y="3401568"/>
            <a:ext cx="2167128" cy="749808"/>
          </a:xfrm>
          <a:prstGeom prst="rect">
            <a:avLst/>
          </a:prstGeom>
          <a:noFill/>
          <a:ln/>
        </p:spPr>
        <p:txBody>
          <a:bodyPr wrap="square" lIns="0" tIns="0" rIns="0" bIns="0" rtlCol="0" anchor="ctr"/>
          <a:lstStyle/>
          <a:p>
            <a:pPr marL="0" indent="0">
              <a:lnSpc>
                <a:spcPts val="1900"/>
              </a:lnSpc>
              <a:buNone/>
            </a:pPr>
            <a:r>
              <a:rPr lang="en-US" sz="1400" dirty="0">
                <a:solidFill>
                  <a:srgbClr val="00335C"/>
                </a:solidFill>
                <a:latin typeface="Segoe UI" pitchFamily="34" charset="0"/>
                <a:ea typeface="Segoe UI" pitchFamily="34" charset="-122"/>
                <a:cs typeface="Segoe UI" pitchFamily="34" charset="-120"/>
              </a:rPr>
              <a:t>Tratamientos térmicos</a:t>
            </a:r>
            <a:endParaRPr lang="en-US" sz="1400" dirty="0"/>
          </a:p>
        </p:txBody>
      </p:sp>
      <p:sp>
        <p:nvSpPr>
          <p:cNvPr id="25" name="Shape 22"/>
          <p:cNvSpPr/>
          <p:nvPr/>
        </p:nvSpPr>
        <p:spPr>
          <a:xfrm>
            <a:off x="3410712" y="3273552"/>
            <a:ext cx="2606040" cy="1005840"/>
          </a:xfrm>
          <a:prstGeom prst="rect">
            <a:avLst/>
          </a:prstGeom>
          <a:solidFill>
            <a:srgbClr val="F4F7FA"/>
          </a:solidFill>
          <a:ln w="9525">
            <a:solidFill>
              <a:srgbClr val="D5DDE5"/>
            </a:solidFill>
            <a:prstDash val="solid"/>
          </a:ln>
        </p:spPr>
      </p:sp>
      <p:sp>
        <p:nvSpPr>
          <p:cNvPr id="26" name="Shape 23"/>
          <p:cNvSpPr/>
          <p:nvPr/>
        </p:nvSpPr>
        <p:spPr>
          <a:xfrm>
            <a:off x="3410712" y="3273552"/>
            <a:ext cx="2606040" cy="54864"/>
          </a:xfrm>
          <a:prstGeom prst="rect">
            <a:avLst/>
          </a:prstGeom>
          <a:solidFill>
            <a:srgbClr val="B88200"/>
          </a:solidFill>
          <a:ln/>
        </p:spPr>
      </p:sp>
      <p:sp>
        <p:nvSpPr>
          <p:cNvPr id="27" name="Text 24"/>
          <p:cNvSpPr txBox="1"/>
          <p:nvPr/>
        </p:nvSpPr>
        <p:spPr>
          <a:xfrm>
            <a:off x="3630168" y="3401568"/>
            <a:ext cx="2167128" cy="749808"/>
          </a:xfrm>
          <a:prstGeom prst="rect">
            <a:avLst/>
          </a:prstGeom>
          <a:noFill/>
          <a:ln/>
        </p:spPr>
        <p:txBody>
          <a:bodyPr wrap="square" lIns="0" tIns="0" rIns="0" bIns="0" rtlCol="0" anchor="ctr"/>
          <a:lstStyle/>
          <a:p>
            <a:pPr marL="0" indent="0">
              <a:lnSpc>
                <a:spcPts val="1900"/>
              </a:lnSpc>
              <a:buNone/>
            </a:pPr>
            <a:r>
              <a:rPr lang="en-US" sz="1400" dirty="0">
                <a:solidFill>
                  <a:srgbClr val="00335C"/>
                </a:solidFill>
                <a:latin typeface="Segoe UI" pitchFamily="34" charset="0"/>
                <a:ea typeface="Segoe UI" pitchFamily="34" charset="-122"/>
                <a:cs typeface="Segoe UI" pitchFamily="34" charset="-120"/>
              </a:rPr>
              <a:t>Dureza</a:t>
            </a:r>
            <a:endParaRPr lang="en-US" sz="1400" dirty="0"/>
          </a:p>
        </p:txBody>
      </p:sp>
      <p:sp>
        <p:nvSpPr>
          <p:cNvPr id="28" name="Shape 25"/>
          <p:cNvSpPr/>
          <p:nvPr/>
        </p:nvSpPr>
        <p:spPr>
          <a:xfrm>
            <a:off x="6163056" y="3273552"/>
            <a:ext cx="2606040" cy="1005840"/>
          </a:xfrm>
          <a:prstGeom prst="rect">
            <a:avLst/>
          </a:prstGeom>
          <a:solidFill>
            <a:srgbClr val="F4F7FA"/>
          </a:solidFill>
          <a:ln w="9525">
            <a:solidFill>
              <a:srgbClr val="D5DDE5"/>
            </a:solidFill>
            <a:prstDash val="solid"/>
          </a:ln>
        </p:spPr>
      </p:sp>
      <p:sp>
        <p:nvSpPr>
          <p:cNvPr id="29" name="Shape 26"/>
          <p:cNvSpPr/>
          <p:nvPr/>
        </p:nvSpPr>
        <p:spPr>
          <a:xfrm>
            <a:off x="6163056" y="3273552"/>
            <a:ext cx="2606040" cy="54864"/>
          </a:xfrm>
          <a:prstGeom prst="rect">
            <a:avLst/>
          </a:prstGeom>
          <a:solidFill>
            <a:srgbClr val="B88200"/>
          </a:solidFill>
          <a:ln/>
        </p:spPr>
      </p:sp>
      <p:sp>
        <p:nvSpPr>
          <p:cNvPr id="30" name="Text 27"/>
          <p:cNvSpPr txBox="1"/>
          <p:nvPr/>
        </p:nvSpPr>
        <p:spPr>
          <a:xfrm>
            <a:off x="6382512" y="3401568"/>
            <a:ext cx="2167128" cy="749808"/>
          </a:xfrm>
          <a:prstGeom prst="rect">
            <a:avLst/>
          </a:prstGeom>
          <a:noFill/>
          <a:ln/>
        </p:spPr>
        <p:txBody>
          <a:bodyPr wrap="square" lIns="0" tIns="0" rIns="0" bIns="0" rtlCol="0" anchor="ctr"/>
          <a:lstStyle/>
          <a:p>
            <a:pPr marL="0" indent="0">
              <a:lnSpc>
                <a:spcPts val="1900"/>
              </a:lnSpc>
              <a:buNone/>
            </a:pPr>
            <a:r>
              <a:rPr lang="en-US" sz="1400" dirty="0">
                <a:solidFill>
                  <a:srgbClr val="00335C"/>
                </a:solidFill>
                <a:latin typeface="Segoe UI" pitchFamily="34" charset="0"/>
                <a:ea typeface="Segoe UI" pitchFamily="34" charset="-122"/>
                <a:cs typeface="Segoe UI" pitchFamily="34" charset="-120"/>
              </a:rPr>
              <a:t>Procedimiento o secuencia para fabricación</a:t>
            </a:r>
            <a:endParaRPr lang="en-US" sz="1400" dirty="0"/>
          </a:p>
        </p:txBody>
      </p:sp>
      <p:sp>
        <p:nvSpPr>
          <p:cNvPr id="31" name="Shape 28"/>
          <p:cNvSpPr/>
          <p:nvPr/>
        </p:nvSpPr>
        <p:spPr>
          <a:xfrm>
            <a:off x="8915400" y="3273552"/>
            <a:ext cx="2606040" cy="1005840"/>
          </a:xfrm>
          <a:prstGeom prst="rect">
            <a:avLst/>
          </a:prstGeom>
          <a:solidFill>
            <a:srgbClr val="F4F7FA"/>
          </a:solidFill>
          <a:ln w="9525">
            <a:solidFill>
              <a:srgbClr val="D5DDE5"/>
            </a:solidFill>
            <a:prstDash val="solid"/>
          </a:ln>
        </p:spPr>
      </p:sp>
      <p:sp>
        <p:nvSpPr>
          <p:cNvPr id="32" name="Shape 29"/>
          <p:cNvSpPr/>
          <p:nvPr/>
        </p:nvSpPr>
        <p:spPr>
          <a:xfrm>
            <a:off x="8915400" y="3273552"/>
            <a:ext cx="2606040" cy="54864"/>
          </a:xfrm>
          <a:prstGeom prst="rect">
            <a:avLst/>
          </a:prstGeom>
          <a:solidFill>
            <a:srgbClr val="B88200"/>
          </a:solidFill>
          <a:ln/>
        </p:spPr>
      </p:sp>
      <p:sp>
        <p:nvSpPr>
          <p:cNvPr id="33" name="Text 30"/>
          <p:cNvSpPr txBox="1"/>
          <p:nvPr/>
        </p:nvSpPr>
        <p:spPr>
          <a:xfrm>
            <a:off x="9134856" y="3401568"/>
            <a:ext cx="2167128" cy="749808"/>
          </a:xfrm>
          <a:prstGeom prst="rect">
            <a:avLst/>
          </a:prstGeom>
          <a:noFill/>
          <a:ln/>
        </p:spPr>
        <p:txBody>
          <a:bodyPr wrap="square" lIns="0" tIns="0" rIns="0" bIns="0" rtlCol="0" anchor="ctr"/>
          <a:lstStyle/>
          <a:p>
            <a:pPr marL="0" indent="0">
              <a:lnSpc>
                <a:spcPts val="1900"/>
              </a:lnSpc>
              <a:buNone/>
            </a:pPr>
            <a:r>
              <a:rPr lang="en-US" sz="1400" dirty="0">
                <a:solidFill>
                  <a:srgbClr val="00335C"/>
                </a:solidFill>
                <a:latin typeface="Segoe UI" pitchFamily="34" charset="0"/>
                <a:ea typeface="Segoe UI" pitchFamily="34" charset="-122"/>
                <a:cs typeface="Segoe UI" pitchFamily="34" charset="-120"/>
              </a:rPr>
              <a:t>Datos específicos para elementos en particular</a:t>
            </a:r>
            <a:endParaRPr lang="en-US" sz="1400" dirty="0"/>
          </a:p>
        </p:txBody>
      </p:sp>
      <p:sp>
        <p:nvSpPr>
          <p:cNvPr id="34" name="Shape 31"/>
          <p:cNvSpPr/>
          <p:nvPr/>
        </p:nvSpPr>
        <p:spPr>
          <a:xfrm>
            <a:off x="658368" y="4663440"/>
            <a:ext cx="10872216" cy="420624"/>
          </a:xfrm>
          <a:prstGeom prst="rect">
            <a:avLst/>
          </a:prstGeom>
          <a:solidFill>
            <a:srgbClr val="E8F0F7"/>
          </a:solidFill>
          <a:ln/>
        </p:spPr>
      </p:sp>
      <p:sp>
        <p:nvSpPr>
          <p:cNvPr id="35" name="Shape 32"/>
          <p:cNvSpPr/>
          <p:nvPr/>
        </p:nvSpPr>
        <p:spPr>
          <a:xfrm>
            <a:off x="658368" y="4663440"/>
            <a:ext cx="54864" cy="420624"/>
          </a:xfrm>
          <a:prstGeom prst="rect">
            <a:avLst/>
          </a:prstGeom>
          <a:solidFill>
            <a:srgbClr val="004B85"/>
          </a:solidFill>
          <a:ln/>
        </p:spPr>
      </p:sp>
      <p:sp>
        <p:nvSpPr>
          <p:cNvPr id="36" name="Text 33"/>
          <p:cNvSpPr txBox="1"/>
          <p:nvPr/>
        </p:nvSpPr>
        <p:spPr>
          <a:xfrm>
            <a:off x="932688" y="4709160"/>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El plano de ingeniería es el entregable que recoge todas estas especificaciones y hace repetible la fabricación.</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DOCUMENTO TÉCNICO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Plano de ingeniería</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18</a:t>
            </a:r>
            <a:endParaRPr lang="en-US" sz="1000" dirty="0"/>
          </a:p>
        </p:txBody>
      </p:sp>
      <p:pic>
        <p:nvPicPr>
          <p:cNvPr id="10" name="Image 1" descr="/home/claude/work/assets/f_plano.png"/>
          <p:cNvPicPr>
            <a:picLocks noChangeAspect="1"/>
          </p:cNvPicPr>
          <p:nvPr/>
        </p:nvPicPr>
        <p:blipFill>
          <a:blip r:embed="rId4"/>
          <a:stretch>
            <a:fillRect/>
          </a:stretch>
        </p:blipFill>
        <p:spPr>
          <a:xfrm>
            <a:off x="2889504" y="1682496"/>
            <a:ext cx="6419088" cy="391363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DEFINICIÓN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Diseño en ingeniería</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19</a:t>
            </a:r>
            <a:endParaRPr lang="en-US" sz="1000" dirty="0"/>
          </a:p>
        </p:txBody>
      </p:sp>
      <p:sp>
        <p:nvSpPr>
          <p:cNvPr id="10" name="Shape 7"/>
          <p:cNvSpPr/>
          <p:nvPr/>
        </p:nvSpPr>
        <p:spPr>
          <a:xfrm>
            <a:off x="658368" y="2011680"/>
            <a:ext cx="10872216" cy="2103120"/>
          </a:xfrm>
          <a:prstGeom prst="rect">
            <a:avLst/>
          </a:prstGeom>
          <a:solidFill>
            <a:srgbClr val="E8F0F7"/>
          </a:solidFill>
          <a:ln/>
        </p:spPr>
      </p:sp>
      <p:sp>
        <p:nvSpPr>
          <p:cNvPr id="11" name="Shape 8"/>
          <p:cNvSpPr/>
          <p:nvPr/>
        </p:nvSpPr>
        <p:spPr>
          <a:xfrm>
            <a:off x="658368" y="2011680"/>
            <a:ext cx="64008" cy="2103120"/>
          </a:xfrm>
          <a:prstGeom prst="rect">
            <a:avLst/>
          </a:prstGeom>
          <a:solidFill>
            <a:srgbClr val="004B85"/>
          </a:solidFill>
          <a:ln/>
        </p:spPr>
      </p:sp>
      <p:sp>
        <p:nvSpPr>
          <p:cNvPr id="12" name="Text 9"/>
          <p:cNvSpPr txBox="1"/>
          <p:nvPr/>
        </p:nvSpPr>
        <p:spPr>
          <a:xfrm>
            <a:off x="1097280" y="2011680"/>
            <a:ext cx="9966960" cy="2103120"/>
          </a:xfrm>
          <a:prstGeom prst="rect">
            <a:avLst/>
          </a:prstGeom>
          <a:noFill/>
          <a:ln/>
        </p:spPr>
        <p:txBody>
          <a:bodyPr wrap="square" lIns="0" tIns="0" rIns="0" bIns="0" rtlCol="0" anchor="ctr"/>
          <a:lstStyle/>
          <a:p>
            <a:pPr marL="0" indent="0">
              <a:lnSpc>
                <a:spcPts val="3000"/>
              </a:lnSpc>
              <a:buNone/>
            </a:pPr>
            <a:r>
              <a:rPr lang="en-US" sz="2100" b="1" dirty="0">
                <a:solidFill>
                  <a:srgbClr val="00335C"/>
                </a:solidFill>
                <a:latin typeface="Segoe UI" pitchFamily="34" charset="0"/>
                <a:ea typeface="Segoe UI" pitchFamily="34" charset="-122"/>
                <a:cs typeface="Segoe UI" pitchFamily="34" charset="-120"/>
              </a:rPr>
              <a:t>Es el proceso en el que se utilizan principios científicos y métodos técnicos (matemáticos, de computación electrónica, gráficos, etc.) para llevar a cabo planes que satisfagan ciertas demandas o necesidades o resuelvan determinados problemas.</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DISEÑO EN INGENIERÍA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Los principios científicos y sus disciplinas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20</a:t>
            </a:r>
            <a:endParaRPr lang="en-US" sz="1000" dirty="0"/>
          </a:p>
        </p:txBody>
      </p:sp>
      <p:sp>
        <p:nvSpPr>
          <p:cNvPr id="10" name="Text 7"/>
          <p:cNvSpPr txBox="1"/>
          <p:nvPr/>
        </p:nvSpPr>
        <p:spPr>
          <a:xfrm>
            <a:off x="658368" y="1719072"/>
            <a:ext cx="10424160" cy="731520"/>
          </a:xfrm>
          <a:prstGeom prst="rect">
            <a:avLst/>
          </a:prstGeom>
          <a:noFill/>
          <a:ln/>
        </p:spPr>
        <p:txBody>
          <a:bodyPr wrap="square" lIns="0" tIns="0" rIns="0" bIns="0" rtlCol="0" anchor="ctr"/>
          <a:lstStyle/>
          <a:p>
            <a:pPr marL="0" indent="0">
              <a:lnSpc>
                <a:spcPts val="2400"/>
              </a:lnSpc>
              <a:buNone/>
            </a:pPr>
            <a:r>
              <a:rPr lang="en-US" sz="1700" dirty="0">
                <a:solidFill>
                  <a:srgbClr val="1B2430"/>
                </a:solidFill>
                <a:latin typeface="Segoe UI" pitchFamily="34" charset="0"/>
                <a:ea typeface="Segoe UI" pitchFamily="34" charset="-122"/>
                <a:cs typeface="Segoe UI" pitchFamily="34" charset="-120"/>
              </a:rPr>
              <a:t>Los principios científicos se asocian a las diferentes disciplinas que abarca la ingeniería y que están relacionadas con determinados campos de la ciencia:</a:t>
            </a:r>
            <a:endParaRPr lang="en-US" sz="1700" dirty="0"/>
          </a:p>
        </p:txBody>
      </p:sp>
      <p:sp>
        <p:nvSpPr>
          <p:cNvPr id="11" name="Shape 8"/>
          <p:cNvSpPr/>
          <p:nvPr/>
        </p:nvSpPr>
        <p:spPr>
          <a:xfrm>
            <a:off x="658368" y="2670048"/>
            <a:ext cx="2066544" cy="2103120"/>
          </a:xfrm>
          <a:prstGeom prst="rect">
            <a:avLst/>
          </a:prstGeom>
          <a:solidFill>
            <a:srgbClr val="F4F7FA"/>
          </a:solidFill>
          <a:ln w="9525">
            <a:solidFill>
              <a:srgbClr val="D5DDE5"/>
            </a:solidFill>
            <a:prstDash val="solid"/>
          </a:ln>
        </p:spPr>
      </p:sp>
      <p:sp>
        <p:nvSpPr>
          <p:cNvPr id="12" name="Shape 9"/>
          <p:cNvSpPr/>
          <p:nvPr/>
        </p:nvSpPr>
        <p:spPr>
          <a:xfrm>
            <a:off x="658368" y="2670048"/>
            <a:ext cx="2066544" cy="64008"/>
          </a:xfrm>
          <a:prstGeom prst="rect">
            <a:avLst/>
          </a:prstGeom>
          <a:solidFill>
            <a:srgbClr val="004B85"/>
          </a:solidFill>
          <a:ln/>
        </p:spPr>
      </p:sp>
      <p:sp>
        <p:nvSpPr>
          <p:cNvPr id="13" name="Text 10"/>
          <p:cNvSpPr txBox="1"/>
          <p:nvPr/>
        </p:nvSpPr>
        <p:spPr>
          <a:xfrm>
            <a:off x="859536" y="2980944"/>
            <a:ext cx="1664208" cy="914400"/>
          </a:xfrm>
          <a:prstGeom prst="rect">
            <a:avLst/>
          </a:prstGeom>
          <a:noFill/>
          <a:ln/>
        </p:spPr>
        <p:txBody>
          <a:bodyPr wrap="square" lIns="0" tIns="0" rIns="0" bIns="0" rtlCol="0" anchor="ctr"/>
          <a:lstStyle/>
          <a:p>
            <a:pPr marL="0" indent="0">
              <a:lnSpc>
                <a:spcPts val="1900"/>
              </a:lnSpc>
              <a:buNone/>
            </a:pPr>
            <a:r>
              <a:rPr lang="en-US" sz="1500" b="1" dirty="0">
                <a:solidFill>
                  <a:srgbClr val="00335C"/>
                </a:solidFill>
                <a:latin typeface="Segoe UI" pitchFamily="34" charset="0"/>
                <a:ea typeface="Segoe UI" pitchFamily="34" charset="-122"/>
                <a:cs typeface="Segoe UI" pitchFamily="34" charset="-120"/>
              </a:rPr>
              <a:t>Mecánica de sólidos</a:t>
            </a:r>
            <a:endParaRPr lang="en-US" sz="1500" dirty="0"/>
          </a:p>
        </p:txBody>
      </p:sp>
      <p:sp>
        <p:nvSpPr>
          <p:cNvPr id="14" name="Text 11"/>
          <p:cNvSpPr txBox="1"/>
          <p:nvPr/>
        </p:nvSpPr>
        <p:spPr>
          <a:xfrm>
            <a:off x="859536" y="4078224"/>
            <a:ext cx="1664208" cy="548640"/>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Ingeniería mecánica</a:t>
            </a:r>
            <a:endParaRPr lang="en-US" sz="1250" dirty="0"/>
          </a:p>
        </p:txBody>
      </p:sp>
      <p:sp>
        <p:nvSpPr>
          <p:cNvPr id="15" name="Shape 12"/>
          <p:cNvSpPr/>
          <p:nvPr/>
        </p:nvSpPr>
        <p:spPr>
          <a:xfrm>
            <a:off x="2871216" y="2670048"/>
            <a:ext cx="2066544" cy="2103120"/>
          </a:xfrm>
          <a:prstGeom prst="rect">
            <a:avLst/>
          </a:prstGeom>
          <a:solidFill>
            <a:srgbClr val="F4F7FA"/>
          </a:solidFill>
          <a:ln w="9525">
            <a:solidFill>
              <a:srgbClr val="D5DDE5"/>
            </a:solidFill>
            <a:prstDash val="solid"/>
          </a:ln>
        </p:spPr>
      </p:sp>
      <p:sp>
        <p:nvSpPr>
          <p:cNvPr id="16" name="Shape 13"/>
          <p:cNvSpPr/>
          <p:nvPr/>
        </p:nvSpPr>
        <p:spPr>
          <a:xfrm>
            <a:off x="2871216" y="2670048"/>
            <a:ext cx="2066544" cy="64008"/>
          </a:xfrm>
          <a:prstGeom prst="rect">
            <a:avLst/>
          </a:prstGeom>
          <a:solidFill>
            <a:srgbClr val="004B85"/>
          </a:solidFill>
          <a:ln/>
        </p:spPr>
      </p:sp>
      <p:sp>
        <p:nvSpPr>
          <p:cNvPr id="17" name="Text 14"/>
          <p:cNvSpPr txBox="1"/>
          <p:nvPr/>
        </p:nvSpPr>
        <p:spPr>
          <a:xfrm>
            <a:off x="3072384" y="2980944"/>
            <a:ext cx="1664208" cy="914400"/>
          </a:xfrm>
          <a:prstGeom prst="rect">
            <a:avLst/>
          </a:prstGeom>
          <a:noFill/>
          <a:ln/>
        </p:spPr>
        <p:txBody>
          <a:bodyPr wrap="square" lIns="0" tIns="0" rIns="0" bIns="0" rtlCol="0" anchor="ctr"/>
          <a:lstStyle/>
          <a:p>
            <a:pPr marL="0" indent="0">
              <a:lnSpc>
                <a:spcPts val="1900"/>
              </a:lnSpc>
              <a:buNone/>
            </a:pPr>
            <a:r>
              <a:rPr lang="en-US" sz="1500" b="1" dirty="0">
                <a:solidFill>
                  <a:srgbClr val="00335C"/>
                </a:solidFill>
                <a:latin typeface="Segoe UI" pitchFamily="34" charset="0"/>
                <a:ea typeface="Segoe UI" pitchFamily="34" charset="-122"/>
                <a:cs typeface="Segoe UI" pitchFamily="34" charset="-120"/>
              </a:rPr>
              <a:t>Mecánica de fluidos</a:t>
            </a:r>
            <a:endParaRPr lang="en-US" sz="1500" dirty="0"/>
          </a:p>
        </p:txBody>
      </p:sp>
      <p:sp>
        <p:nvSpPr>
          <p:cNvPr id="18" name="Text 15"/>
          <p:cNvSpPr txBox="1"/>
          <p:nvPr/>
        </p:nvSpPr>
        <p:spPr>
          <a:xfrm>
            <a:off x="3072384" y="4078224"/>
            <a:ext cx="1664208" cy="548640"/>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Ingeniería mecánica</a:t>
            </a:r>
            <a:endParaRPr lang="en-US" sz="1250" dirty="0"/>
          </a:p>
        </p:txBody>
      </p:sp>
      <p:sp>
        <p:nvSpPr>
          <p:cNvPr id="19" name="Shape 16"/>
          <p:cNvSpPr/>
          <p:nvPr/>
        </p:nvSpPr>
        <p:spPr>
          <a:xfrm>
            <a:off x="5084064" y="2670048"/>
            <a:ext cx="2066544" cy="2103120"/>
          </a:xfrm>
          <a:prstGeom prst="rect">
            <a:avLst/>
          </a:prstGeom>
          <a:solidFill>
            <a:srgbClr val="F4F7FA"/>
          </a:solidFill>
          <a:ln w="9525">
            <a:solidFill>
              <a:srgbClr val="D5DDE5"/>
            </a:solidFill>
            <a:prstDash val="solid"/>
          </a:ln>
        </p:spPr>
      </p:sp>
      <p:sp>
        <p:nvSpPr>
          <p:cNvPr id="20" name="Shape 17"/>
          <p:cNvSpPr/>
          <p:nvPr/>
        </p:nvSpPr>
        <p:spPr>
          <a:xfrm>
            <a:off x="5084064" y="2670048"/>
            <a:ext cx="2066544" cy="64008"/>
          </a:xfrm>
          <a:prstGeom prst="rect">
            <a:avLst/>
          </a:prstGeom>
          <a:solidFill>
            <a:srgbClr val="004B85"/>
          </a:solidFill>
          <a:ln/>
        </p:spPr>
      </p:sp>
      <p:sp>
        <p:nvSpPr>
          <p:cNvPr id="21" name="Text 18"/>
          <p:cNvSpPr txBox="1"/>
          <p:nvPr/>
        </p:nvSpPr>
        <p:spPr>
          <a:xfrm>
            <a:off x="5285232" y="2980944"/>
            <a:ext cx="1664208" cy="914400"/>
          </a:xfrm>
          <a:prstGeom prst="rect">
            <a:avLst/>
          </a:prstGeom>
          <a:noFill/>
          <a:ln/>
        </p:spPr>
        <p:txBody>
          <a:bodyPr wrap="square" lIns="0" tIns="0" rIns="0" bIns="0" rtlCol="0" anchor="ctr"/>
          <a:lstStyle/>
          <a:p>
            <a:pPr marL="0" indent="0">
              <a:lnSpc>
                <a:spcPts val="1900"/>
              </a:lnSpc>
              <a:buNone/>
            </a:pPr>
            <a:r>
              <a:rPr lang="en-US" sz="1500" b="1" dirty="0">
                <a:solidFill>
                  <a:srgbClr val="00335C"/>
                </a:solidFill>
                <a:latin typeface="Segoe UI" pitchFamily="34" charset="0"/>
                <a:ea typeface="Segoe UI" pitchFamily="34" charset="-122"/>
                <a:cs typeface="Segoe UI" pitchFamily="34" charset="-120"/>
              </a:rPr>
              <a:t>Transferencia de masa y momento</a:t>
            </a:r>
            <a:endParaRPr lang="en-US" sz="1500" dirty="0"/>
          </a:p>
        </p:txBody>
      </p:sp>
      <p:sp>
        <p:nvSpPr>
          <p:cNvPr id="22" name="Text 19"/>
          <p:cNvSpPr txBox="1"/>
          <p:nvPr/>
        </p:nvSpPr>
        <p:spPr>
          <a:xfrm>
            <a:off x="5285232" y="4078224"/>
            <a:ext cx="1664208" cy="548640"/>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Ingeniería mecánica</a:t>
            </a:r>
            <a:endParaRPr lang="en-US" sz="1250" dirty="0"/>
          </a:p>
        </p:txBody>
      </p:sp>
      <p:sp>
        <p:nvSpPr>
          <p:cNvPr id="23" name="Shape 20"/>
          <p:cNvSpPr/>
          <p:nvPr/>
        </p:nvSpPr>
        <p:spPr>
          <a:xfrm>
            <a:off x="7296912" y="2670048"/>
            <a:ext cx="2066544" cy="2103120"/>
          </a:xfrm>
          <a:prstGeom prst="rect">
            <a:avLst/>
          </a:prstGeom>
          <a:solidFill>
            <a:srgbClr val="F4F7FA"/>
          </a:solidFill>
          <a:ln w="9525">
            <a:solidFill>
              <a:srgbClr val="D5DDE5"/>
            </a:solidFill>
            <a:prstDash val="solid"/>
          </a:ln>
        </p:spPr>
      </p:sp>
      <p:sp>
        <p:nvSpPr>
          <p:cNvPr id="24" name="Shape 21"/>
          <p:cNvSpPr/>
          <p:nvPr/>
        </p:nvSpPr>
        <p:spPr>
          <a:xfrm>
            <a:off x="7296912" y="2670048"/>
            <a:ext cx="2066544" cy="64008"/>
          </a:xfrm>
          <a:prstGeom prst="rect">
            <a:avLst/>
          </a:prstGeom>
          <a:solidFill>
            <a:srgbClr val="B88200"/>
          </a:solidFill>
          <a:ln/>
        </p:spPr>
      </p:sp>
      <p:sp>
        <p:nvSpPr>
          <p:cNvPr id="25" name="Text 22"/>
          <p:cNvSpPr txBox="1"/>
          <p:nvPr/>
        </p:nvSpPr>
        <p:spPr>
          <a:xfrm>
            <a:off x="7498080" y="2980944"/>
            <a:ext cx="1664208" cy="914400"/>
          </a:xfrm>
          <a:prstGeom prst="rect">
            <a:avLst/>
          </a:prstGeom>
          <a:noFill/>
          <a:ln/>
        </p:spPr>
        <p:txBody>
          <a:bodyPr wrap="square" lIns="0" tIns="0" rIns="0" bIns="0" rtlCol="0" anchor="ctr"/>
          <a:lstStyle/>
          <a:p>
            <a:pPr marL="0" indent="0">
              <a:lnSpc>
                <a:spcPts val="1900"/>
              </a:lnSpc>
              <a:buNone/>
            </a:pPr>
            <a:r>
              <a:rPr lang="en-US" sz="1500" b="1" dirty="0">
                <a:solidFill>
                  <a:srgbClr val="00335C"/>
                </a:solidFill>
                <a:latin typeface="Segoe UI" pitchFamily="34" charset="0"/>
                <a:ea typeface="Segoe UI" pitchFamily="34" charset="-122"/>
                <a:cs typeface="Segoe UI" pitchFamily="34" charset="-120"/>
              </a:rPr>
              <a:t>Teoría eléctrica</a:t>
            </a:r>
            <a:endParaRPr lang="en-US" sz="1500" dirty="0"/>
          </a:p>
        </p:txBody>
      </p:sp>
      <p:sp>
        <p:nvSpPr>
          <p:cNvPr id="26" name="Text 23"/>
          <p:cNvSpPr txBox="1"/>
          <p:nvPr/>
        </p:nvSpPr>
        <p:spPr>
          <a:xfrm>
            <a:off x="7498080" y="4078224"/>
            <a:ext cx="1664208" cy="548640"/>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Ingeniería eléctrica</a:t>
            </a:r>
            <a:endParaRPr lang="en-US" sz="1250" dirty="0"/>
          </a:p>
        </p:txBody>
      </p:sp>
      <p:sp>
        <p:nvSpPr>
          <p:cNvPr id="27" name="Shape 24"/>
          <p:cNvSpPr/>
          <p:nvPr/>
        </p:nvSpPr>
        <p:spPr>
          <a:xfrm>
            <a:off x="9509760" y="2670048"/>
            <a:ext cx="2066544" cy="2103120"/>
          </a:xfrm>
          <a:prstGeom prst="rect">
            <a:avLst/>
          </a:prstGeom>
          <a:solidFill>
            <a:srgbClr val="F4F7FA"/>
          </a:solidFill>
          <a:ln w="9525">
            <a:solidFill>
              <a:srgbClr val="D5DDE5"/>
            </a:solidFill>
            <a:prstDash val="solid"/>
          </a:ln>
        </p:spPr>
      </p:sp>
      <p:sp>
        <p:nvSpPr>
          <p:cNvPr id="28" name="Shape 25"/>
          <p:cNvSpPr/>
          <p:nvPr/>
        </p:nvSpPr>
        <p:spPr>
          <a:xfrm>
            <a:off x="9509760" y="2670048"/>
            <a:ext cx="2066544" cy="64008"/>
          </a:xfrm>
          <a:prstGeom prst="rect">
            <a:avLst/>
          </a:prstGeom>
          <a:solidFill>
            <a:srgbClr val="B88200"/>
          </a:solidFill>
          <a:ln/>
        </p:spPr>
      </p:sp>
      <p:sp>
        <p:nvSpPr>
          <p:cNvPr id="29" name="Text 26"/>
          <p:cNvSpPr txBox="1"/>
          <p:nvPr/>
        </p:nvSpPr>
        <p:spPr>
          <a:xfrm>
            <a:off x="9710928" y="2980944"/>
            <a:ext cx="1664208" cy="914400"/>
          </a:xfrm>
          <a:prstGeom prst="rect">
            <a:avLst/>
          </a:prstGeom>
          <a:noFill/>
          <a:ln/>
        </p:spPr>
        <p:txBody>
          <a:bodyPr wrap="square" lIns="0" tIns="0" rIns="0" bIns="0" rtlCol="0" anchor="ctr"/>
          <a:lstStyle/>
          <a:p>
            <a:pPr marL="0" indent="0">
              <a:lnSpc>
                <a:spcPts val="1900"/>
              </a:lnSpc>
              <a:buNone/>
            </a:pPr>
            <a:r>
              <a:rPr lang="en-US" sz="1500" b="1" dirty="0">
                <a:solidFill>
                  <a:srgbClr val="00335C"/>
                </a:solidFill>
                <a:latin typeface="Segoe UI" pitchFamily="34" charset="0"/>
                <a:ea typeface="Segoe UI" pitchFamily="34" charset="-122"/>
                <a:cs typeface="Segoe UI" pitchFamily="34" charset="-120"/>
              </a:rPr>
              <a:t>Manejo de sólidos</a:t>
            </a:r>
            <a:endParaRPr lang="en-US" sz="1500" dirty="0"/>
          </a:p>
        </p:txBody>
      </p:sp>
      <p:sp>
        <p:nvSpPr>
          <p:cNvPr id="30" name="Text 27"/>
          <p:cNvSpPr txBox="1"/>
          <p:nvPr/>
        </p:nvSpPr>
        <p:spPr>
          <a:xfrm>
            <a:off x="9710928" y="4078224"/>
            <a:ext cx="1664208" cy="548640"/>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Ingeniería química</a:t>
            </a:r>
            <a:endParaRPr lang="en-US" sz="1250" dirty="0"/>
          </a:p>
        </p:txBody>
      </p:sp>
      <p:sp>
        <p:nvSpPr>
          <p:cNvPr id="31" name="Shape 28"/>
          <p:cNvSpPr/>
          <p:nvPr/>
        </p:nvSpPr>
        <p:spPr>
          <a:xfrm>
            <a:off x="658368" y="5047488"/>
            <a:ext cx="10872216" cy="420624"/>
          </a:xfrm>
          <a:prstGeom prst="rect">
            <a:avLst/>
          </a:prstGeom>
          <a:solidFill>
            <a:srgbClr val="E8F0F7"/>
          </a:solidFill>
          <a:ln/>
        </p:spPr>
      </p:sp>
      <p:sp>
        <p:nvSpPr>
          <p:cNvPr id="32" name="Shape 29"/>
          <p:cNvSpPr/>
          <p:nvPr/>
        </p:nvSpPr>
        <p:spPr>
          <a:xfrm>
            <a:off x="658368" y="5047488"/>
            <a:ext cx="54864" cy="420624"/>
          </a:xfrm>
          <a:prstGeom prst="rect">
            <a:avLst/>
          </a:prstGeom>
          <a:solidFill>
            <a:srgbClr val="004B85"/>
          </a:solidFill>
          <a:ln/>
        </p:spPr>
      </p:sp>
      <p:sp>
        <p:nvSpPr>
          <p:cNvPr id="33" name="Text 30"/>
          <p:cNvSpPr txBox="1"/>
          <p:nvPr/>
        </p:nvSpPr>
        <p:spPr>
          <a:xfrm>
            <a:off x="932688" y="5093208"/>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La lista no es cerrada: cada disciplina de la ingeniería aporta sus propias teorías de cálculo al proceso de diseño.</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CONCEPTO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Proceso de diseño</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21</a:t>
            </a:r>
            <a:endParaRPr lang="en-US" sz="1000" dirty="0"/>
          </a:p>
        </p:txBody>
      </p:sp>
      <p:sp>
        <p:nvSpPr>
          <p:cNvPr id="10" name="Shape 7"/>
          <p:cNvSpPr/>
          <p:nvPr/>
        </p:nvSpPr>
        <p:spPr>
          <a:xfrm>
            <a:off x="658368" y="1719072"/>
            <a:ext cx="10872216" cy="1737360"/>
          </a:xfrm>
          <a:prstGeom prst="rect">
            <a:avLst/>
          </a:prstGeom>
          <a:solidFill>
            <a:srgbClr val="E8F0F7"/>
          </a:solidFill>
          <a:ln/>
        </p:spPr>
      </p:sp>
      <p:sp>
        <p:nvSpPr>
          <p:cNvPr id="11" name="Shape 8"/>
          <p:cNvSpPr/>
          <p:nvPr/>
        </p:nvSpPr>
        <p:spPr>
          <a:xfrm>
            <a:off x="658368" y="1719072"/>
            <a:ext cx="64008" cy="1737360"/>
          </a:xfrm>
          <a:prstGeom prst="rect">
            <a:avLst/>
          </a:prstGeom>
          <a:solidFill>
            <a:srgbClr val="004B85"/>
          </a:solidFill>
          <a:ln/>
        </p:spPr>
      </p:sp>
      <p:sp>
        <p:nvSpPr>
          <p:cNvPr id="12" name="Text 9"/>
          <p:cNvSpPr txBox="1"/>
          <p:nvPr/>
        </p:nvSpPr>
        <p:spPr>
          <a:xfrm>
            <a:off x="1097280" y="1719072"/>
            <a:ext cx="9966960" cy="1737360"/>
          </a:xfrm>
          <a:prstGeom prst="rect">
            <a:avLst/>
          </a:prstGeom>
          <a:noFill/>
          <a:ln/>
        </p:spPr>
        <p:txBody>
          <a:bodyPr wrap="square" lIns="0" tIns="0" rIns="0" bIns="0" rtlCol="0" anchor="ctr"/>
          <a:lstStyle/>
          <a:p>
            <a:pPr marL="0" indent="0">
              <a:lnSpc>
                <a:spcPts val="2800"/>
              </a:lnSpc>
              <a:buNone/>
            </a:pPr>
            <a:r>
              <a:rPr lang="en-US" sz="2000" b="1" dirty="0">
                <a:solidFill>
                  <a:srgbClr val="00335C"/>
                </a:solidFill>
                <a:latin typeface="Segoe UI" pitchFamily="34" charset="0"/>
                <a:ea typeface="Segoe UI" pitchFamily="34" charset="-122"/>
                <a:cs typeface="Segoe UI" pitchFamily="34" charset="-120"/>
              </a:rPr>
              <a:t>Es una mezcla de talento innovador, conocimiento, punto de vista ágil y experiencia acumulada que se concentra en la tarea de convertir una necesidad en un diseño satisfactorio.</a:t>
            </a:r>
            <a:endParaRPr lang="en-US" sz="2000" dirty="0"/>
          </a:p>
        </p:txBody>
      </p:sp>
      <p:sp>
        <p:nvSpPr>
          <p:cNvPr id="13" name="Shape 10"/>
          <p:cNvSpPr/>
          <p:nvPr/>
        </p:nvSpPr>
        <p:spPr>
          <a:xfrm>
            <a:off x="658368" y="3749040"/>
            <a:ext cx="5294376" cy="1700784"/>
          </a:xfrm>
          <a:prstGeom prst="rect">
            <a:avLst/>
          </a:prstGeom>
          <a:solidFill>
            <a:srgbClr val="F4F7FA"/>
          </a:solidFill>
          <a:ln w="9525">
            <a:solidFill>
              <a:srgbClr val="D5DDE5"/>
            </a:solidFill>
            <a:prstDash val="solid"/>
          </a:ln>
        </p:spPr>
      </p:sp>
      <p:sp>
        <p:nvSpPr>
          <p:cNvPr id="14" name="Shape 11"/>
          <p:cNvSpPr/>
          <p:nvPr/>
        </p:nvSpPr>
        <p:spPr>
          <a:xfrm>
            <a:off x="658368" y="3749040"/>
            <a:ext cx="5294376" cy="64008"/>
          </a:xfrm>
          <a:prstGeom prst="rect">
            <a:avLst/>
          </a:prstGeom>
          <a:solidFill>
            <a:srgbClr val="004B85"/>
          </a:solidFill>
          <a:ln/>
        </p:spPr>
      </p:sp>
      <p:sp>
        <p:nvSpPr>
          <p:cNvPr id="15" name="Shape 12"/>
          <p:cNvSpPr/>
          <p:nvPr/>
        </p:nvSpPr>
        <p:spPr>
          <a:xfrm>
            <a:off x="914400" y="3986784"/>
            <a:ext cx="347472" cy="347472"/>
          </a:xfrm>
          <a:prstGeom prst="rect">
            <a:avLst/>
          </a:prstGeom>
          <a:solidFill>
            <a:srgbClr val="004B85"/>
          </a:solidFill>
          <a:ln/>
        </p:spPr>
      </p:sp>
      <p:sp>
        <p:nvSpPr>
          <p:cNvPr id="16" name="Text 13"/>
          <p:cNvSpPr txBox="1"/>
          <p:nvPr/>
        </p:nvSpPr>
        <p:spPr>
          <a:xfrm>
            <a:off x="914400" y="4032504"/>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7" name="Text 14"/>
          <p:cNvSpPr txBox="1"/>
          <p:nvPr/>
        </p:nvSpPr>
        <p:spPr>
          <a:xfrm>
            <a:off x="1389888" y="3968496"/>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Produce realidad física</a:t>
            </a:r>
            <a:endParaRPr lang="en-US" sz="1700" dirty="0"/>
          </a:p>
        </p:txBody>
      </p:sp>
      <p:sp>
        <p:nvSpPr>
          <p:cNvPr id="18" name="Text 15"/>
          <p:cNvSpPr txBox="1"/>
          <p:nvPr/>
        </p:nvSpPr>
        <p:spPr>
          <a:xfrm>
            <a:off x="914400" y="4389120"/>
            <a:ext cx="4782312" cy="89611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Los planes formulados en un proceso de diseño pueden propiciar la creación de algo que tiene realidad física, lo cual se denomina máquina o sistema técnico.</a:t>
            </a:r>
            <a:endParaRPr lang="en-US" sz="1350" dirty="0"/>
          </a:p>
        </p:txBody>
      </p:sp>
      <p:sp>
        <p:nvSpPr>
          <p:cNvPr id="19" name="Shape 16"/>
          <p:cNvSpPr/>
          <p:nvPr/>
        </p:nvSpPr>
        <p:spPr>
          <a:xfrm>
            <a:off x="6236208" y="3749040"/>
            <a:ext cx="5294376" cy="1700784"/>
          </a:xfrm>
          <a:prstGeom prst="rect">
            <a:avLst/>
          </a:prstGeom>
          <a:solidFill>
            <a:srgbClr val="F4F7FA"/>
          </a:solidFill>
          <a:ln w="9525">
            <a:solidFill>
              <a:srgbClr val="D5DDE5"/>
            </a:solidFill>
            <a:prstDash val="solid"/>
          </a:ln>
        </p:spPr>
      </p:sp>
      <p:sp>
        <p:nvSpPr>
          <p:cNvPr id="20" name="Shape 17"/>
          <p:cNvSpPr/>
          <p:nvPr/>
        </p:nvSpPr>
        <p:spPr>
          <a:xfrm>
            <a:off x="6236208" y="3749040"/>
            <a:ext cx="5294376" cy="64008"/>
          </a:xfrm>
          <a:prstGeom prst="rect">
            <a:avLst/>
          </a:prstGeom>
          <a:solidFill>
            <a:srgbClr val="FFB903"/>
          </a:solidFill>
          <a:ln/>
        </p:spPr>
      </p:sp>
      <p:sp>
        <p:nvSpPr>
          <p:cNvPr id="21" name="Shape 18"/>
          <p:cNvSpPr/>
          <p:nvPr/>
        </p:nvSpPr>
        <p:spPr>
          <a:xfrm>
            <a:off x="6492240" y="3986784"/>
            <a:ext cx="347472" cy="347472"/>
          </a:xfrm>
          <a:prstGeom prst="rect">
            <a:avLst/>
          </a:prstGeom>
          <a:solidFill>
            <a:srgbClr val="FFB903"/>
          </a:solidFill>
          <a:ln/>
        </p:spPr>
      </p:sp>
      <p:sp>
        <p:nvSpPr>
          <p:cNvPr id="22" name="Text 19"/>
          <p:cNvSpPr txBox="1"/>
          <p:nvPr/>
        </p:nvSpPr>
        <p:spPr>
          <a:xfrm>
            <a:off x="6492240" y="4032504"/>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23" name="Text 20"/>
          <p:cNvSpPr txBox="1"/>
          <p:nvPr/>
        </p:nvSpPr>
        <p:spPr>
          <a:xfrm>
            <a:off x="6967728" y="3968496"/>
            <a:ext cx="4306824"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Sus resultados son decisiones</a:t>
            </a:r>
            <a:endParaRPr lang="en-US" sz="1700" dirty="0"/>
          </a:p>
        </p:txBody>
      </p:sp>
      <p:sp>
        <p:nvSpPr>
          <p:cNvPr id="24" name="Text 21"/>
          <p:cNvSpPr txBox="1"/>
          <p:nvPr/>
        </p:nvSpPr>
        <p:spPr>
          <a:xfrm>
            <a:off x="6492240" y="4389120"/>
            <a:ext cx="4782312" cy="89611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Sobre los componentes y su conectividad, la geometría, los procesos de formado y los tratamientos termomecánicos.</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VISIÓN DE CONJUNTO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Máquina o sistema técnico</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22</a:t>
            </a:r>
            <a:endParaRPr lang="en-US" sz="1000" dirty="0"/>
          </a:p>
        </p:txBody>
      </p:sp>
      <p:pic>
        <p:nvPicPr>
          <p:cNvPr id="10" name="Image 1" descr="/home/claude/work/assets/f_sistema.png"/>
          <p:cNvPicPr>
            <a:picLocks noChangeAspect="1"/>
          </p:cNvPicPr>
          <p:nvPr/>
        </p:nvPicPr>
        <p:blipFill>
          <a:blip r:embed="rId4"/>
          <a:stretch>
            <a:fillRect/>
          </a:stretch>
        </p:blipFill>
        <p:spPr>
          <a:xfrm>
            <a:off x="2788920" y="1828800"/>
            <a:ext cx="6620256" cy="389534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SEIS ETAPAS</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Proceso de diseño: etapas o fases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23</a:t>
            </a:r>
            <a:endParaRPr lang="en-US" sz="1000" dirty="0"/>
          </a:p>
        </p:txBody>
      </p:sp>
      <p:sp>
        <p:nvSpPr>
          <p:cNvPr id="10" name="Shape 7"/>
          <p:cNvSpPr/>
          <p:nvPr/>
        </p:nvSpPr>
        <p:spPr>
          <a:xfrm>
            <a:off x="658368" y="2139696"/>
            <a:ext cx="1700784" cy="2011680"/>
          </a:xfrm>
          <a:prstGeom prst="rect">
            <a:avLst/>
          </a:prstGeom>
          <a:solidFill>
            <a:srgbClr val="F4F7FA"/>
          </a:solidFill>
          <a:ln w="9525">
            <a:solidFill>
              <a:srgbClr val="D5DDE5"/>
            </a:solidFill>
            <a:prstDash val="solid"/>
          </a:ln>
        </p:spPr>
      </p:sp>
      <p:sp>
        <p:nvSpPr>
          <p:cNvPr id="11" name="Shape 8"/>
          <p:cNvSpPr/>
          <p:nvPr/>
        </p:nvSpPr>
        <p:spPr>
          <a:xfrm>
            <a:off x="658368" y="2139696"/>
            <a:ext cx="1700784" cy="64008"/>
          </a:xfrm>
          <a:prstGeom prst="rect">
            <a:avLst/>
          </a:prstGeom>
          <a:solidFill>
            <a:srgbClr val="004B85"/>
          </a:solidFill>
          <a:ln/>
        </p:spPr>
      </p:sp>
      <p:sp>
        <p:nvSpPr>
          <p:cNvPr id="12" name="Shape 9"/>
          <p:cNvSpPr/>
          <p:nvPr/>
        </p:nvSpPr>
        <p:spPr>
          <a:xfrm>
            <a:off x="877824" y="2395728"/>
            <a:ext cx="347472" cy="347472"/>
          </a:xfrm>
          <a:prstGeom prst="rect">
            <a:avLst/>
          </a:prstGeom>
          <a:solidFill>
            <a:srgbClr val="004B85"/>
          </a:solidFill>
          <a:ln/>
        </p:spPr>
      </p:sp>
      <p:sp>
        <p:nvSpPr>
          <p:cNvPr id="13" name="Text 10"/>
          <p:cNvSpPr txBox="1"/>
          <p:nvPr/>
        </p:nvSpPr>
        <p:spPr>
          <a:xfrm>
            <a:off x="877824" y="244144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4" name="Text 11"/>
          <p:cNvSpPr txBox="1"/>
          <p:nvPr/>
        </p:nvSpPr>
        <p:spPr>
          <a:xfrm>
            <a:off x="795528" y="2889504"/>
            <a:ext cx="1426464" cy="1097280"/>
          </a:xfrm>
          <a:prstGeom prst="rect">
            <a:avLst/>
          </a:prstGeom>
          <a:noFill/>
          <a:ln/>
        </p:spPr>
        <p:txBody>
          <a:bodyPr wrap="square" lIns="0" tIns="0" rIns="0" bIns="0" rtlCol="0" anchor="ctr"/>
          <a:lstStyle/>
          <a:p>
            <a:pPr marL="0" indent="0">
              <a:lnSpc>
                <a:spcPts val="1600"/>
              </a:lnSpc>
              <a:buNone/>
            </a:pPr>
            <a:r>
              <a:rPr lang="en-US" sz="1200" b="1" dirty="0">
                <a:solidFill>
                  <a:srgbClr val="00335C"/>
                </a:solidFill>
                <a:latin typeface="Segoe UI" pitchFamily="34" charset="0"/>
                <a:ea typeface="Segoe UI" pitchFamily="34" charset="-122"/>
                <a:cs typeface="Segoe UI" pitchFamily="34" charset="-120"/>
              </a:rPr>
              <a:t>Reconocimiento de la necesidad</a:t>
            </a:r>
            <a:endParaRPr lang="en-US" sz="1200" dirty="0"/>
          </a:p>
        </p:txBody>
      </p:sp>
      <p:sp>
        <p:nvSpPr>
          <p:cNvPr id="15" name="Shape 12"/>
          <p:cNvSpPr/>
          <p:nvPr/>
        </p:nvSpPr>
        <p:spPr>
          <a:xfrm>
            <a:off x="2386584" y="3127248"/>
            <a:ext cx="77724" cy="36576"/>
          </a:xfrm>
          <a:prstGeom prst="rect">
            <a:avLst/>
          </a:prstGeom>
          <a:solidFill>
            <a:srgbClr val="2E77B0"/>
          </a:solidFill>
          <a:ln/>
        </p:spPr>
      </p:sp>
      <p:sp>
        <p:nvSpPr>
          <p:cNvPr id="16" name="Shape 13"/>
          <p:cNvSpPr/>
          <p:nvPr/>
        </p:nvSpPr>
        <p:spPr>
          <a:xfrm>
            <a:off x="2491740" y="2139696"/>
            <a:ext cx="1700784" cy="2011680"/>
          </a:xfrm>
          <a:prstGeom prst="rect">
            <a:avLst/>
          </a:prstGeom>
          <a:solidFill>
            <a:srgbClr val="F4F7FA"/>
          </a:solidFill>
          <a:ln w="9525">
            <a:solidFill>
              <a:srgbClr val="D5DDE5"/>
            </a:solidFill>
            <a:prstDash val="solid"/>
          </a:ln>
        </p:spPr>
      </p:sp>
      <p:sp>
        <p:nvSpPr>
          <p:cNvPr id="17" name="Shape 14"/>
          <p:cNvSpPr/>
          <p:nvPr/>
        </p:nvSpPr>
        <p:spPr>
          <a:xfrm>
            <a:off x="2491740" y="2139696"/>
            <a:ext cx="1700784" cy="64008"/>
          </a:xfrm>
          <a:prstGeom prst="rect">
            <a:avLst/>
          </a:prstGeom>
          <a:solidFill>
            <a:srgbClr val="004B85"/>
          </a:solidFill>
          <a:ln/>
        </p:spPr>
      </p:sp>
      <p:sp>
        <p:nvSpPr>
          <p:cNvPr id="18" name="Shape 15"/>
          <p:cNvSpPr/>
          <p:nvPr/>
        </p:nvSpPr>
        <p:spPr>
          <a:xfrm>
            <a:off x="2711196" y="2395728"/>
            <a:ext cx="347472" cy="347472"/>
          </a:xfrm>
          <a:prstGeom prst="rect">
            <a:avLst/>
          </a:prstGeom>
          <a:solidFill>
            <a:srgbClr val="004B85"/>
          </a:solidFill>
          <a:ln/>
        </p:spPr>
      </p:sp>
      <p:sp>
        <p:nvSpPr>
          <p:cNvPr id="19" name="Text 16"/>
          <p:cNvSpPr txBox="1"/>
          <p:nvPr/>
        </p:nvSpPr>
        <p:spPr>
          <a:xfrm>
            <a:off x="2711196" y="244144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20" name="Text 17"/>
          <p:cNvSpPr txBox="1"/>
          <p:nvPr/>
        </p:nvSpPr>
        <p:spPr>
          <a:xfrm>
            <a:off x="2628900" y="2889504"/>
            <a:ext cx="1426464" cy="1097280"/>
          </a:xfrm>
          <a:prstGeom prst="rect">
            <a:avLst/>
          </a:prstGeom>
          <a:noFill/>
          <a:ln/>
        </p:spPr>
        <p:txBody>
          <a:bodyPr wrap="square" lIns="0" tIns="0" rIns="0" bIns="0" rtlCol="0" anchor="ctr"/>
          <a:lstStyle/>
          <a:p>
            <a:pPr marL="0" indent="0">
              <a:lnSpc>
                <a:spcPts val="1600"/>
              </a:lnSpc>
              <a:buNone/>
            </a:pPr>
            <a:r>
              <a:rPr lang="en-US" sz="1200" b="1" dirty="0">
                <a:solidFill>
                  <a:srgbClr val="00335C"/>
                </a:solidFill>
                <a:latin typeface="Segoe UI" pitchFamily="34" charset="0"/>
                <a:ea typeface="Segoe UI" pitchFamily="34" charset="-122"/>
                <a:cs typeface="Segoe UI" pitchFamily="34" charset="-120"/>
              </a:rPr>
              <a:t>Definición del problema</a:t>
            </a:r>
            <a:endParaRPr lang="en-US" sz="1200" dirty="0"/>
          </a:p>
        </p:txBody>
      </p:sp>
      <p:sp>
        <p:nvSpPr>
          <p:cNvPr id="21" name="Shape 18"/>
          <p:cNvSpPr/>
          <p:nvPr/>
        </p:nvSpPr>
        <p:spPr>
          <a:xfrm>
            <a:off x="4219956" y="3127248"/>
            <a:ext cx="77724" cy="36576"/>
          </a:xfrm>
          <a:prstGeom prst="rect">
            <a:avLst/>
          </a:prstGeom>
          <a:solidFill>
            <a:srgbClr val="2E77B0"/>
          </a:solidFill>
          <a:ln/>
        </p:spPr>
      </p:sp>
      <p:sp>
        <p:nvSpPr>
          <p:cNvPr id="22" name="Shape 19"/>
          <p:cNvSpPr/>
          <p:nvPr/>
        </p:nvSpPr>
        <p:spPr>
          <a:xfrm>
            <a:off x="4325112" y="2139696"/>
            <a:ext cx="1700784" cy="2011680"/>
          </a:xfrm>
          <a:prstGeom prst="rect">
            <a:avLst/>
          </a:prstGeom>
          <a:solidFill>
            <a:srgbClr val="F4F7FA"/>
          </a:solidFill>
          <a:ln w="9525">
            <a:solidFill>
              <a:srgbClr val="D5DDE5"/>
            </a:solidFill>
            <a:prstDash val="solid"/>
          </a:ln>
        </p:spPr>
      </p:sp>
      <p:sp>
        <p:nvSpPr>
          <p:cNvPr id="23" name="Shape 20"/>
          <p:cNvSpPr/>
          <p:nvPr/>
        </p:nvSpPr>
        <p:spPr>
          <a:xfrm>
            <a:off x="4325112" y="2139696"/>
            <a:ext cx="1700784" cy="64008"/>
          </a:xfrm>
          <a:prstGeom prst="rect">
            <a:avLst/>
          </a:prstGeom>
          <a:solidFill>
            <a:srgbClr val="FFB903"/>
          </a:solidFill>
          <a:ln/>
        </p:spPr>
      </p:sp>
      <p:sp>
        <p:nvSpPr>
          <p:cNvPr id="24" name="Shape 21"/>
          <p:cNvSpPr/>
          <p:nvPr/>
        </p:nvSpPr>
        <p:spPr>
          <a:xfrm>
            <a:off x="4544568" y="2395728"/>
            <a:ext cx="347472" cy="347472"/>
          </a:xfrm>
          <a:prstGeom prst="rect">
            <a:avLst/>
          </a:prstGeom>
          <a:solidFill>
            <a:srgbClr val="B88200"/>
          </a:solidFill>
          <a:ln/>
        </p:spPr>
      </p:sp>
      <p:sp>
        <p:nvSpPr>
          <p:cNvPr id="25" name="Text 22"/>
          <p:cNvSpPr txBox="1"/>
          <p:nvPr/>
        </p:nvSpPr>
        <p:spPr>
          <a:xfrm>
            <a:off x="4544568" y="244144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6" name="Text 23"/>
          <p:cNvSpPr txBox="1"/>
          <p:nvPr/>
        </p:nvSpPr>
        <p:spPr>
          <a:xfrm>
            <a:off x="4462272" y="2889504"/>
            <a:ext cx="1426464" cy="1097280"/>
          </a:xfrm>
          <a:prstGeom prst="rect">
            <a:avLst/>
          </a:prstGeom>
          <a:noFill/>
          <a:ln/>
        </p:spPr>
        <p:txBody>
          <a:bodyPr wrap="square" lIns="0" tIns="0" rIns="0" bIns="0" rtlCol="0" anchor="ctr"/>
          <a:lstStyle/>
          <a:p>
            <a:pPr marL="0" indent="0">
              <a:lnSpc>
                <a:spcPts val="1600"/>
              </a:lnSpc>
              <a:buNone/>
            </a:pPr>
            <a:r>
              <a:rPr lang="en-US" sz="1200" b="1" dirty="0">
                <a:solidFill>
                  <a:srgbClr val="00335C"/>
                </a:solidFill>
                <a:latin typeface="Segoe UI" pitchFamily="34" charset="0"/>
                <a:ea typeface="Segoe UI" pitchFamily="34" charset="-122"/>
                <a:cs typeface="Segoe UI" pitchFamily="34" charset="-120"/>
              </a:rPr>
              <a:t>Síntesis</a:t>
            </a:r>
            <a:endParaRPr lang="en-US" sz="1200" dirty="0"/>
          </a:p>
        </p:txBody>
      </p:sp>
      <p:sp>
        <p:nvSpPr>
          <p:cNvPr id="27" name="Shape 24"/>
          <p:cNvSpPr/>
          <p:nvPr/>
        </p:nvSpPr>
        <p:spPr>
          <a:xfrm>
            <a:off x="6053328" y="3127248"/>
            <a:ext cx="77724" cy="36576"/>
          </a:xfrm>
          <a:prstGeom prst="rect">
            <a:avLst/>
          </a:prstGeom>
          <a:solidFill>
            <a:srgbClr val="2E77B0"/>
          </a:solidFill>
          <a:ln/>
        </p:spPr>
      </p:sp>
      <p:sp>
        <p:nvSpPr>
          <p:cNvPr id="28" name="Shape 25"/>
          <p:cNvSpPr/>
          <p:nvPr/>
        </p:nvSpPr>
        <p:spPr>
          <a:xfrm>
            <a:off x="6158484" y="2139696"/>
            <a:ext cx="1700784" cy="2011680"/>
          </a:xfrm>
          <a:prstGeom prst="rect">
            <a:avLst/>
          </a:prstGeom>
          <a:solidFill>
            <a:srgbClr val="F4F7FA"/>
          </a:solidFill>
          <a:ln w="9525">
            <a:solidFill>
              <a:srgbClr val="D5DDE5"/>
            </a:solidFill>
            <a:prstDash val="solid"/>
          </a:ln>
        </p:spPr>
      </p:sp>
      <p:sp>
        <p:nvSpPr>
          <p:cNvPr id="29" name="Shape 26"/>
          <p:cNvSpPr/>
          <p:nvPr/>
        </p:nvSpPr>
        <p:spPr>
          <a:xfrm>
            <a:off x="6158484" y="2139696"/>
            <a:ext cx="1700784" cy="64008"/>
          </a:xfrm>
          <a:prstGeom prst="rect">
            <a:avLst/>
          </a:prstGeom>
          <a:solidFill>
            <a:srgbClr val="004B85"/>
          </a:solidFill>
          <a:ln/>
        </p:spPr>
      </p:sp>
      <p:sp>
        <p:nvSpPr>
          <p:cNvPr id="30" name="Shape 27"/>
          <p:cNvSpPr/>
          <p:nvPr/>
        </p:nvSpPr>
        <p:spPr>
          <a:xfrm>
            <a:off x="6377940" y="2395728"/>
            <a:ext cx="347472" cy="347472"/>
          </a:xfrm>
          <a:prstGeom prst="rect">
            <a:avLst/>
          </a:prstGeom>
          <a:solidFill>
            <a:srgbClr val="004B85"/>
          </a:solidFill>
          <a:ln/>
        </p:spPr>
      </p:sp>
      <p:sp>
        <p:nvSpPr>
          <p:cNvPr id="31" name="Text 28"/>
          <p:cNvSpPr txBox="1"/>
          <p:nvPr/>
        </p:nvSpPr>
        <p:spPr>
          <a:xfrm>
            <a:off x="6377940" y="244144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32" name="Text 29"/>
          <p:cNvSpPr txBox="1"/>
          <p:nvPr/>
        </p:nvSpPr>
        <p:spPr>
          <a:xfrm>
            <a:off x="6295644" y="2889504"/>
            <a:ext cx="1426464" cy="1097280"/>
          </a:xfrm>
          <a:prstGeom prst="rect">
            <a:avLst/>
          </a:prstGeom>
          <a:noFill/>
          <a:ln/>
        </p:spPr>
        <p:txBody>
          <a:bodyPr wrap="square" lIns="0" tIns="0" rIns="0" bIns="0" rtlCol="0" anchor="ctr"/>
          <a:lstStyle/>
          <a:p>
            <a:pPr marL="0" indent="0">
              <a:lnSpc>
                <a:spcPts val="1600"/>
              </a:lnSpc>
              <a:buNone/>
            </a:pPr>
            <a:r>
              <a:rPr lang="en-US" sz="1200" b="1" dirty="0">
                <a:solidFill>
                  <a:srgbClr val="00335C"/>
                </a:solidFill>
                <a:latin typeface="Segoe UI" pitchFamily="34" charset="0"/>
                <a:ea typeface="Segoe UI" pitchFamily="34" charset="-122"/>
                <a:cs typeface="Segoe UI" pitchFamily="34" charset="-120"/>
              </a:rPr>
              <a:t>Análisis y optimización</a:t>
            </a:r>
            <a:endParaRPr lang="en-US" sz="1200" dirty="0"/>
          </a:p>
        </p:txBody>
      </p:sp>
      <p:sp>
        <p:nvSpPr>
          <p:cNvPr id="33" name="Shape 30"/>
          <p:cNvSpPr/>
          <p:nvPr/>
        </p:nvSpPr>
        <p:spPr>
          <a:xfrm>
            <a:off x="7886700" y="3127248"/>
            <a:ext cx="77724" cy="36576"/>
          </a:xfrm>
          <a:prstGeom prst="rect">
            <a:avLst/>
          </a:prstGeom>
          <a:solidFill>
            <a:srgbClr val="2E77B0"/>
          </a:solidFill>
          <a:ln/>
        </p:spPr>
      </p:sp>
      <p:sp>
        <p:nvSpPr>
          <p:cNvPr id="34" name="Shape 31"/>
          <p:cNvSpPr/>
          <p:nvPr/>
        </p:nvSpPr>
        <p:spPr>
          <a:xfrm>
            <a:off x="7991856" y="2139696"/>
            <a:ext cx="1700784" cy="2011680"/>
          </a:xfrm>
          <a:prstGeom prst="rect">
            <a:avLst/>
          </a:prstGeom>
          <a:solidFill>
            <a:srgbClr val="F4F7FA"/>
          </a:solidFill>
          <a:ln w="9525">
            <a:solidFill>
              <a:srgbClr val="D5DDE5"/>
            </a:solidFill>
            <a:prstDash val="solid"/>
          </a:ln>
        </p:spPr>
      </p:sp>
      <p:sp>
        <p:nvSpPr>
          <p:cNvPr id="35" name="Shape 32"/>
          <p:cNvSpPr/>
          <p:nvPr/>
        </p:nvSpPr>
        <p:spPr>
          <a:xfrm>
            <a:off x="7991856" y="2139696"/>
            <a:ext cx="1700784" cy="64008"/>
          </a:xfrm>
          <a:prstGeom prst="rect">
            <a:avLst/>
          </a:prstGeom>
          <a:solidFill>
            <a:srgbClr val="004B85"/>
          </a:solidFill>
          <a:ln/>
        </p:spPr>
      </p:sp>
      <p:sp>
        <p:nvSpPr>
          <p:cNvPr id="36" name="Shape 33"/>
          <p:cNvSpPr/>
          <p:nvPr/>
        </p:nvSpPr>
        <p:spPr>
          <a:xfrm>
            <a:off x="8211312" y="2395728"/>
            <a:ext cx="347472" cy="347472"/>
          </a:xfrm>
          <a:prstGeom prst="rect">
            <a:avLst/>
          </a:prstGeom>
          <a:solidFill>
            <a:srgbClr val="004B85"/>
          </a:solidFill>
          <a:ln/>
        </p:spPr>
      </p:sp>
      <p:sp>
        <p:nvSpPr>
          <p:cNvPr id="37" name="Text 34"/>
          <p:cNvSpPr txBox="1"/>
          <p:nvPr/>
        </p:nvSpPr>
        <p:spPr>
          <a:xfrm>
            <a:off x="8211312" y="244144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38" name="Text 35"/>
          <p:cNvSpPr txBox="1"/>
          <p:nvPr/>
        </p:nvSpPr>
        <p:spPr>
          <a:xfrm>
            <a:off x="8129016" y="2889504"/>
            <a:ext cx="1426464" cy="1097280"/>
          </a:xfrm>
          <a:prstGeom prst="rect">
            <a:avLst/>
          </a:prstGeom>
          <a:noFill/>
          <a:ln/>
        </p:spPr>
        <p:txBody>
          <a:bodyPr wrap="square" lIns="0" tIns="0" rIns="0" bIns="0" rtlCol="0" anchor="ctr"/>
          <a:lstStyle/>
          <a:p>
            <a:pPr marL="0" indent="0">
              <a:lnSpc>
                <a:spcPts val="1600"/>
              </a:lnSpc>
              <a:buNone/>
            </a:pPr>
            <a:r>
              <a:rPr lang="en-US" sz="1200" b="1" dirty="0">
                <a:solidFill>
                  <a:srgbClr val="00335C"/>
                </a:solidFill>
                <a:latin typeface="Segoe UI" pitchFamily="34" charset="0"/>
                <a:ea typeface="Segoe UI" pitchFamily="34" charset="-122"/>
                <a:cs typeface="Segoe UI" pitchFamily="34" charset="-120"/>
              </a:rPr>
              <a:t>Evaluación</a:t>
            </a:r>
            <a:endParaRPr lang="en-US" sz="1200" dirty="0"/>
          </a:p>
        </p:txBody>
      </p:sp>
      <p:sp>
        <p:nvSpPr>
          <p:cNvPr id="39" name="Shape 36"/>
          <p:cNvSpPr/>
          <p:nvPr/>
        </p:nvSpPr>
        <p:spPr>
          <a:xfrm>
            <a:off x="9720072" y="3127248"/>
            <a:ext cx="77724" cy="36576"/>
          </a:xfrm>
          <a:prstGeom prst="rect">
            <a:avLst/>
          </a:prstGeom>
          <a:solidFill>
            <a:srgbClr val="2E77B0"/>
          </a:solidFill>
          <a:ln/>
        </p:spPr>
      </p:sp>
      <p:sp>
        <p:nvSpPr>
          <p:cNvPr id="40" name="Shape 37"/>
          <p:cNvSpPr/>
          <p:nvPr/>
        </p:nvSpPr>
        <p:spPr>
          <a:xfrm>
            <a:off x="9825228" y="2139696"/>
            <a:ext cx="1700784" cy="2011680"/>
          </a:xfrm>
          <a:prstGeom prst="rect">
            <a:avLst/>
          </a:prstGeom>
          <a:solidFill>
            <a:srgbClr val="F4F7FA"/>
          </a:solidFill>
          <a:ln w="9525">
            <a:solidFill>
              <a:srgbClr val="D5DDE5"/>
            </a:solidFill>
            <a:prstDash val="solid"/>
          </a:ln>
        </p:spPr>
      </p:sp>
      <p:sp>
        <p:nvSpPr>
          <p:cNvPr id="41" name="Shape 38"/>
          <p:cNvSpPr/>
          <p:nvPr/>
        </p:nvSpPr>
        <p:spPr>
          <a:xfrm>
            <a:off x="9825228" y="2139696"/>
            <a:ext cx="1700784" cy="64008"/>
          </a:xfrm>
          <a:prstGeom prst="rect">
            <a:avLst/>
          </a:prstGeom>
          <a:solidFill>
            <a:srgbClr val="004B85"/>
          </a:solidFill>
          <a:ln/>
        </p:spPr>
      </p:sp>
      <p:sp>
        <p:nvSpPr>
          <p:cNvPr id="42" name="Shape 39"/>
          <p:cNvSpPr/>
          <p:nvPr/>
        </p:nvSpPr>
        <p:spPr>
          <a:xfrm>
            <a:off x="10044684" y="2395728"/>
            <a:ext cx="347472" cy="347472"/>
          </a:xfrm>
          <a:prstGeom prst="rect">
            <a:avLst/>
          </a:prstGeom>
          <a:solidFill>
            <a:srgbClr val="004B85"/>
          </a:solidFill>
          <a:ln/>
        </p:spPr>
      </p:sp>
      <p:sp>
        <p:nvSpPr>
          <p:cNvPr id="43" name="Text 40"/>
          <p:cNvSpPr txBox="1"/>
          <p:nvPr/>
        </p:nvSpPr>
        <p:spPr>
          <a:xfrm>
            <a:off x="10044684" y="244144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6</a:t>
            </a:r>
            <a:endParaRPr lang="en-US" sz="1400" dirty="0"/>
          </a:p>
        </p:txBody>
      </p:sp>
      <p:sp>
        <p:nvSpPr>
          <p:cNvPr id="44" name="Text 41"/>
          <p:cNvSpPr txBox="1"/>
          <p:nvPr/>
        </p:nvSpPr>
        <p:spPr>
          <a:xfrm>
            <a:off x="9962388" y="2889504"/>
            <a:ext cx="1426464" cy="1097280"/>
          </a:xfrm>
          <a:prstGeom prst="rect">
            <a:avLst/>
          </a:prstGeom>
          <a:noFill/>
          <a:ln/>
        </p:spPr>
        <p:txBody>
          <a:bodyPr wrap="square" lIns="0" tIns="0" rIns="0" bIns="0" rtlCol="0" anchor="ctr"/>
          <a:lstStyle/>
          <a:p>
            <a:pPr marL="0" indent="0">
              <a:lnSpc>
                <a:spcPts val="1600"/>
              </a:lnSpc>
              <a:buNone/>
            </a:pPr>
            <a:r>
              <a:rPr lang="en-US" sz="1200" b="1" dirty="0">
                <a:solidFill>
                  <a:srgbClr val="00335C"/>
                </a:solidFill>
                <a:latin typeface="Segoe UI" pitchFamily="34" charset="0"/>
                <a:ea typeface="Segoe UI" pitchFamily="34" charset="-122"/>
                <a:cs typeface="Segoe UI" pitchFamily="34" charset="-120"/>
              </a:rPr>
              <a:t>Presentación</a:t>
            </a:r>
            <a:endParaRPr lang="en-US" sz="1200" dirty="0"/>
          </a:p>
        </p:txBody>
      </p:sp>
      <p:sp>
        <p:nvSpPr>
          <p:cNvPr id="45" name="Shape 42"/>
          <p:cNvSpPr/>
          <p:nvPr/>
        </p:nvSpPr>
        <p:spPr>
          <a:xfrm>
            <a:off x="1005840" y="4443984"/>
            <a:ext cx="8732520" cy="41148"/>
          </a:xfrm>
          <a:prstGeom prst="rect">
            <a:avLst/>
          </a:prstGeom>
          <a:solidFill>
            <a:srgbClr val="2E77B0"/>
          </a:solidFill>
          <a:ln/>
        </p:spPr>
      </p:sp>
      <p:sp>
        <p:nvSpPr>
          <p:cNvPr id="46" name="Shape 43"/>
          <p:cNvSpPr/>
          <p:nvPr/>
        </p:nvSpPr>
        <p:spPr>
          <a:xfrm>
            <a:off x="1005840" y="4160520"/>
            <a:ext cx="41148" cy="320040"/>
          </a:xfrm>
          <a:prstGeom prst="rect">
            <a:avLst/>
          </a:prstGeom>
          <a:solidFill>
            <a:srgbClr val="2E77B0"/>
          </a:solidFill>
          <a:ln/>
        </p:spPr>
      </p:sp>
      <p:sp>
        <p:nvSpPr>
          <p:cNvPr id="47" name="Shape 44"/>
          <p:cNvSpPr/>
          <p:nvPr/>
        </p:nvSpPr>
        <p:spPr>
          <a:xfrm>
            <a:off x="9701784" y="4160520"/>
            <a:ext cx="41148" cy="320040"/>
          </a:xfrm>
          <a:prstGeom prst="rect">
            <a:avLst/>
          </a:prstGeom>
          <a:solidFill>
            <a:srgbClr val="2E77B0"/>
          </a:solidFill>
          <a:ln/>
        </p:spPr>
      </p:sp>
      <p:sp>
        <p:nvSpPr>
          <p:cNvPr id="48" name="Text 45"/>
          <p:cNvSpPr txBox="1"/>
          <p:nvPr/>
        </p:nvSpPr>
        <p:spPr>
          <a:xfrm>
            <a:off x="4480560" y="4535424"/>
            <a:ext cx="2194560" cy="274320"/>
          </a:xfrm>
          <a:prstGeom prst="rect">
            <a:avLst/>
          </a:prstGeom>
          <a:noFill/>
          <a:ln/>
        </p:spPr>
        <p:txBody>
          <a:bodyPr wrap="square" lIns="0" tIns="0" rIns="0" bIns="0" rtlCol="0" anchor="ctr"/>
          <a:lstStyle/>
          <a:p>
            <a:pPr marL="0" indent="0" algn="ctr">
              <a:buNone/>
            </a:pPr>
            <a:r>
              <a:rPr lang="en-US" sz="1200" b="1" kern="0" spc="100" dirty="0">
                <a:solidFill>
                  <a:srgbClr val="2E77B0"/>
                </a:solidFill>
                <a:latin typeface="Segoe UI" pitchFamily="34" charset="0"/>
                <a:ea typeface="Segoe UI" pitchFamily="34" charset="-122"/>
                <a:cs typeface="Segoe UI" pitchFamily="34" charset="-120"/>
              </a:rPr>
              <a:t>ITERACIÓN</a:t>
            </a:r>
            <a:endParaRPr lang="en-US" sz="1200" dirty="0"/>
          </a:p>
        </p:txBody>
      </p:sp>
      <p:sp>
        <p:nvSpPr>
          <p:cNvPr id="49" name="Shape 46"/>
          <p:cNvSpPr/>
          <p:nvPr/>
        </p:nvSpPr>
        <p:spPr>
          <a:xfrm>
            <a:off x="658368" y="5047488"/>
            <a:ext cx="10872216" cy="420624"/>
          </a:xfrm>
          <a:prstGeom prst="rect">
            <a:avLst/>
          </a:prstGeom>
          <a:solidFill>
            <a:srgbClr val="E8F0F7"/>
          </a:solidFill>
          <a:ln/>
        </p:spPr>
      </p:sp>
      <p:sp>
        <p:nvSpPr>
          <p:cNvPr id="50" name="Shape 47"/>
          <p:cNvSpPr/>
          <p:nvPr/>
        </p:nvSpPr>
        <p:spPr>
          <a:xfrm>
            <a:off x="658368" y="5047488"/>
            <a:ext cx="54864" cy="420624"/>
          </a:xfrm>
          <a:prstGeom prst="rect">
            <a:avLst/>
          </a:prstGeom>
          <a:solidFill>
            <a:srgbClr val="004B85"/>
          </a:solidFill>
          <a:ln/>
        </p:spPr>
      </p:sp>
      <p:sp>
        <p:nvSpPr>
          <p:cNvPr id="51" name="Text 48"/>
          <p:cNvSpPr txBox="1"/>
          <p:nvPr/>
        </p:nvSpPr>
        <p:spPr>
          <a:xfrm>
            <a:off x="932688" y="5093208"/>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La síntesis es la fase creativa: la invención del concepto. Las demás fases la preparan o la verifican.</a:t>
            </a:r>
            <a:endParaRPr lang="en-US" sz="1150" dirty="0"/>
          </a:p>
        </p:txBody>
      </p:sp>
      <p:pic>
        <p:nvPicPr>
          <p:cNvPr id="52" name="Imagen 51">
            <a:extLst>
              <a:ext uri="{FF2B5EF4-FFF2-40B4-BE49-F238E27FC236}">
                <a16:creationId xmlns:a16="http://schemas.microsoft.com/office/drawing/2014/main" id="{AA6F6935-C0A0-A516-5C59-F0B837D3F07A}"/>
              </a:ext>
            </a:extLst>
          </p:cNvPr>
          <p:cNvPicPr>
            <a:picLocks noChangeAspect="1"/>
          </p:cNvPicPr>
          <p:nvPr/>
        </p:nvPicPr>
        <p:blipFill>
          <a:blip r:embed="rId4"/>
          <a:srcRect l="3172" t="20434" r="-77" b="11027"/>
          <a:stretch>
            <a:fillRect/>
          </a:stretch>
        </p:blipFill>
        <p:spPr>
          <a:xfrm>
            <a:off x="417525" y="1535995"/>
            <a:ext cx="11204948" cy="445645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REFLEXIÓN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Ingeniería y ciencia</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24</a:t>
            </a:r>
            <a:endParaRPr lang="en-US" sz="1000" dirty="0"/>
          </a:p>
        </p:txBody>
      </p:sp>
      <p:sp>
        <p:nvSpPr>
          <p:cNvPr id="10" name="Shape 7"/>
          <p:cNvSpPr/>
          <p:nvPr/>
        </p:nvSpPr>
        <p:spPr>
          <a:xfrm>
            <a:off x="658368" y="1737360"/>
            <a:ext cx="10872216" cy="3108960"/>
          </a:xfrm>
          <a:prstGeom prst="rect">
            <a:avLst/>
          </a:prstGeom>
          <a:solidFill>
            <a:srgbClr val="E8F0F7"/>
          </a:solidFill>
          <a:ln/>
        </p:spPr>
      </p:sp>
      <p:sp>
        <p:nvSpPr>
          <p:cNvPr id="11" name="Shape 8"/>
          <p:cNvSpPr/>
          <p:nvPr/>
        </p:nvSpPr>
        <p:spPr>
          <a:xfrm>
            <a:off x="658368" y="1737360"/>
            <a:ext cx="64008" cy="3108960"/>
          </a:xfrm>
          <a:prstGeom prst="rect">
            <a:avLst/>
          </a:prstGeom>
          <a:solidFill>
            <a:srgbClr val="004B85"/>
          </a:solidFill>
          <a:ln/>
        </p:spPr>
      </p:sp>
      <p:sp>
        <p:nvSpPr>
          <p:cNvPr id="12" name="Text 9"/>
          <p:cNvSpPr txBox="1"/>
          <p:nvPr/>
        </p:nvSpPr>
        <p:spPr>
          <a:xfrm>
            <a:off x="1097280" y="1920240"/>
            <a:ext cx="9966960" cy="2450592"/>
          </a:xfrm>
          <a:prstGeom prst="rect">
            <a:avLst/>
          </a:prstGeom>
          <a:noFill/>
          <a:ln/>
        </p:spPr>
        <p:txBody>
          <a:bodyPr wrap="square" lIns="0" tIns="0" rIns="0" bIns="0" rtlCol="0" anchor="ctr"/>
          <a:lstStyle/>
          <a:p>
            <a:pPr marL="0" indent="0">
              <a:lnSpc>
                <a:spcPts val="2755"/>
              </a:lnSpc>
              <a:buNone/>
            </a:pPr>
            <a:r>
              <a:rPr lang="en-US" sz="1900" i="1" dirty="0">
                <a:solidFill>
                  <a:srgbClr val="00335C"/>
                </a:solidFill>
                <a:latin typeface="Segoe UI" pitchFamily="34" charset="0"/>
                <a:ea typeface="Segoe UI" pitchFamily="34" charset="-122"/>
                <a:cs typeface="Segoe UI" pitchFamily="34" charset="-120"/>
              </a:rPr>
              <a:t>… En cierto sentido, este es un ejemplo clásico del verdadero significado de la ingeniería en contraste con la ciencia. Los ingenieros utilizan la ciencia para resolver sus problemas, si la ciencia está disponible. Pero disponible o no, el problema se debe resolver y cualquiera que sea la forma que tome la solución bajo estas condiciones se llama ingeniería.</a:t>
            </a:r>
            <a:endParaRPr lang="en-US" sz="1900" dirty="0"/>
          </a:p>
        </p:txBody>
      </p:sp>
      <p:sp>
        <p:nvSpPr>
          <p:cNvPr id="13" name="Text 10"/>
          <p:cNvSpPr txBox="1"/>
          <p:nvPr/>
        </p:nvSpPr>
        <p:spPr>
          <a:xfrm>
            <a:off x="1097280" y="4389120"/>
            <a:ext cx="9966960" cy="292608"/>
          </a:xfrm>
          <a:prstGeom prst="rect">
            <a:avLst/>
          </a:prstGeom>
          <a:noFill/>
          <a:ln/>
        </p:spPr>
        <p:txBody>
          <a:bodyPr wrap="square" lIns="0" tIns="0" rIns="0" bIns="0" rtlCol="0" anchor="ctr"/>
          <a:lstStyle/>
          <a:p>
            <a:pPr marL="0" indent="0" algn="r">
              <a:buNone/>
            </a:pPr>
            <a:r>
              <a:rPr lang="en-US" sz="1250" b="1" kern="0" spc="60" dirty="0">
                <a:solidFill>
                  <a:srgbClr val="B88200"/>
                </a:solidFill>
                <a:latin typeface="Segoe UI" pitchFamily="34" charset="0"/>
                <a:ea typeface="Segoe UI" pitchFamily="34" charset="-122"/>
                <a:cs typeface="Segoe UI" pitchFamily="34" charset="-120"/>
              </a:rPr>
              <a:t>SHIGLEY, PÁG. 373</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5C"/>
          </a:solidFill>
          <a:ln/>
        </p:spPr>
      </p:sp>
      <p:sp>
        <p:nvSpPr>
          <p:cNvPr id="3" name="Shape 1"/>
          <p:cNvSpPr/>
          <p:nvPr/>
        </p:nvSpPr>
        <p:spPr>
          <a:xfrm>
            <a:off x="0" y="0"/>
            <a:ext cx="274320" cy="6858000"/>
          </a:xfrm>
          <a:prstGeom prst="rect">
            <a:avLst/>
          </a:prstGeom>
          <a:solidFill>
            <a:srgbClr val="FFB903"/>
          </a:solidFill>
          <a:ln/>
        </p:spPr>
      </p:sp>
      <p:sp>
        <p:nvSpPr>
          <p:cNvPr id="4" name="Shape 2"/>
          <p:cNvSpPr/>
          <p:nvPr/>
        </p:nvSpPr>
        <p:spPr>
          <a:xfrm>
            <a:off x="7616952" y="0"/>
            <a:ext cx="4574743" cy="6858000"/>
          </a:xfrm>
          <a:prstGeom prst="rect">
            <a:avLst/>
          </a:prstGeom>
          <a:solidFill>
            <a:srgbClr val="001E38"/>
          </a:solidFill>
          <a:ln/>
        </p:spPr>
      </p:sp>
      <p:pic>
        <p:nvPicPr>
          <p:cNvPr id="5"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6" name="Text 3"/>
          <p:cNvSpPr txBox="1"/>
          <p:nvPr/>
        </p:nvSpPr>
        <p:spPr>
          <a:xfrm>
            <a:off x="1143000" y="1005840"/>
            <a:ext cx="2377440" cy="1417320"/>
          </a:xfrm>
          <a:prstGeom prst="rect">
            <a:avLst/>
          </a:prstGeom>
          <a:noFill/>
          <a:ln/>
        </p:spPr>
        <p:txBody>
          <a:bodyPr wrap="square" lIns="0" tIns="0" rIns="0" bIns="0" rtlCol="0" anchor="ctr"/>
          <a:lstStyle/>
          <a:p>
            <a:pPr marL="0" indent="0">
              <a:buNone/>
            </a:pPr>
            <a:r>
              <a:rPr lang="en-US" sz="10400" b="1" dirty="0">
                <a:solidFill>
                  <a:srgbClr val="FFB903"/>
                </a:solidFill>
                <a:latin typeface="Segoe UI" pitchFamily="34" charset="0"/>
                <a:ea typeface="Segoe UI" pitchFamily="34" charset="-122"/>
                <a:cs typeface="Segoe UI" pitchFamily="34" charset="-120"/>
              </a:rPr>
              <a:t>4</a:t>
            </a:r>
            <a:endParaRPr lang="en-US" sz="10400" dirty="0"/>
          </a:p>
        </p:txBody>
      </p:sp>
      <p:sp>
        <p:nvSpPr>
          <p:cNvPr id="7" name="Text 4"/>
          <p:cNvSpPr txBox="1"/>
          <p:nvPr/>
        </p:nvSpPr>
        <p:spPr>
          <a:xfrm>
            <a:off x="1143000" y="2350008"/>
            <a:ext cx="6126480" cy="1554480"/>
          </a:xfrm>
          <a:prstGeom prst="rect">
            <a:avLst/>
          </a:prstGeom>
          <a:noFill/>
          <a:ln/>
        </p:spPr>
        <p:txBody>
          <a:bodyPr wrap="square" lIns="0" tIns="0" rIns="0" bIns="0" rtlCol="0" anchor="ctr"/>
          <a:lstStyle/>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Etapas de un</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proceso de</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modificación o rediseño</a:t>
            </a:r>
            <a:endParaRPr lang="en-US" sz="3300" dirty="0"/>
          </a:p>
        </p:txBody>
      </p:sp>
      <p:sp>
        <p:nvSpPr>
          <p:cNvPr id="8" name="Shape 5"/>
          <p:cNvSpPr/>
          <p:nvPr/>
        </p:nvSpPr>
        <p:spPr>
          <a:xfrm>
            <a:off x="1143000" y="4069080"/>
            <a:ext cx="1371600" cy="45720"/>
          </a:xfrm>
          <a:prstGeom prst="rect">
            <a:avLst/>
          </a:prstGeom>
          <a:solidFill>
            <a:srgbClr val="FFB903"/>
          </a:solidFill>
          <a:ln/>
        </p:spPr>
      </p:sp>
      <p:sp>
        <p:nvSpPr>
          <p:cNvPr id="9" name="Text 6"/>
          <p:cNvSpPr txBox="1"/>
          <p:nvPr/>
        </p:nvSpPr>
        <p:spPr>
          <a:xfrm>
            <a:off x="1143000" y="4279392"/>
            <a:ext cx="5852160" cy="1005840"/>
          </a:xfrm>
          <a:prstGeom prst="rect">
            <a:avLst/>
          </a:prstGeom>
          <a:noFill/>
          <a:ln/>
        </p:spPr>
        <p:txBody>
          <a:bodyPr wrap="square" lIns="0" tIns="0" rIns="0" bIns="0" rtlCol="0" anchor="ctr"/>
          <a:lstStyle/>
          <a:p>
            <a:pPr marL="0" indent="0">
              <a:lnSpc>
                <a:spcPts val="2500"/>
              </a:lnSpc>
              <a:buNone/>
            </a:pPr>
            <a:r>
              <a:rPr lang="en-US" sz="1800" dirty="0">
                <a:solidFill>
                  <a:srgbClr val="B8C8D8"/>
                </a:solidFill>
                <a:latin typeface="Segoe UI" pitchFamily="34" charset="0"/>
                <a:ea typeface="Segoe UI" pitchFamily="34" charset="-122"/>
                <a:cs typeface="Segoe UI" pitchFamily="34" charset="-120"/>
              </a:rPr>
              <a:t>Del reconocimiento de la necesidad a la evaluación final, con el estudio de alternativas como núcleo del trabajo.</a:t>
            </a:r>
            <a:endParaRPr lang="en-US" sz="1800" dirty="0"/>
          </a:p>
        </p:txBody>
      </p:sp>
      <p:sp>
        <p:nvSpPr>
          <p:cNvPr id="10" name="Text 7"/>
          <p:cNvSpPr txBox="1"/>
          <p:nvPr/>
        </p:nvSpPr>
        <p:spPr>
          <a:xfrm>
            <a:off x="8211312" y="1719072"/>
            <a:ext cx="3291840" cy="338328"/>
          </a:xfrm>
          <a:prstGeom prst="rect">
            <a:avLst/>
          </a:prstGeom>
          <a:noFill/>
          <a:ln/>
        </p:spPr>
        <p:txBody>
          <a:bodyPr wrap="square" lIns="0" tIns="0" rIns="0" bIns="0" rtlCol="0" anchor="ctr"/>
          <a:lstStyle/>
          <a:p>
            <a:pPr marL="0" indent="0">
              <a:buNone/>
            </a:pPr>
            <a:r>
              <a:rPr lang="en-US" sz="1800" b="1" kern="0" spc="80" dirty="0">
                <a:solidFill>
                  <a:srgbClr val="FFB903"/>
                </a:solidFill>
                <a:latin typeface="Segoe UI" pitchFamily="34" charset="0"/>
                <a:ea typeface="Segoe UI" pitchFamily="34" charset="-122"/>
                <a:cs typeface="Segoe UI" pitchFamily="34" charset="-120"/>
              </a:rPr>
              <a:t>EN ESTA SECCIÓN</a:t>
            </a:r>
            <a:endParaRPr lang="en-US" sz="1800" dirty="0"/>
          </a:p>
        </p:txBody>
      </p:sp>
      <p:sp>
        <p:nvSpPr>
          <p:cNvPr id="11" name="Shape 8"/>
          <p:cNvSpPr/>
          <p:nvPr/>
        </p:nvSpPr>
        <p:spPr>
          <a:xfrm>
            <a:off x="8211312" y="2359152"/>
            <a:ext cx="146304" cy="36576"/>
          </a:xfrm>
          <a:prstGeom prst="rect">
            <a:avLst/>
          </a:prstGeom>
          <a:solidFill>
            <a:srgbClr val="FFB903"/>
          </a:solidFill>
          <a:ln/>
        </p:spPr>
      </p:sp>
      <p:sp>
        <p:nvSpPr>
          <p:cNvPr id="12" name="Text 9"/>
          <p:cNvSpPr txBox="1"/>
          <p:nvPr/>
        </p:nvSpPr>
        <p:spPr>
          <a:xfrm>
            <a:off x="8485632" y="224028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Necesidad, datos y definición del problema</a:t>
            </a:r>
            <a:endParaRPr lang="en-US" sz="1650" dirty="0"/>
          </a:p>
        </p:txBody>
      </p:sp>
      <p:sp>
        <p:nvSpPr>
          <p:cNvPr id="13" name="Shape 10"/>
          <p:cNvSpPr/>
          <p:nvPr/>
        </p:nvSpPr>
        <p:spPr>
          <a:xfrm>
            <a:off x="8211312" y="3319272"/>
            <a:ext cx="146304" cy="36576"/>
          </a:xfrm>
          <a:prstGeom prst="rect">
            <a:avLst/>
          </a:prstGeom>
          <a:solidFill>
            <a:srgbClr val="FFB903"/>
          </a:solidFill>
          <a:ln/>
        </p:spPr>
      </p:sp>
      <p:sp>
        <p:nvSpPr>
          <p:cNvPr id="14" name="Text 11"/>
          <p:cNvSpPr txBox="1"/>
          <p:nvPr/>
        </p:nvSpPr>
        <p:spPr>
          <a:xfrm>
            <a:off x="8485632" y="320040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Estudio y evaluación de alternativas</a:t>
            </a:r>
            <a:endParaRPr lang="en-US" sz="1650" dirty="0"/>
          </a:p>
        </p:txBody>
      </p:sp>
      <p:sp>
        <p:nvSpPr>
          <p:cNvPr id="15" name="Shape 12"/>
          <p:cNvSpPr/>
          <p:nvPr/>
        </p:nvSpPr>
        <p:spPr>
          <a:xfrm>
            <a:off x="8211312" y="4279392"/>
            <a:ext cx="146304" cy="36576"/>
          </a:xfrm>
          <a:prstGeom prst="rect">
            <a:avLst/>
          </a:prstGeom>
          <a:solidFill>
            <a:srgbClr val="FFB903"/>
          </a:solidFill>
          <a:ln/>
        </p:spPr>
      </p:sp>
      <p:sp>
        <p:nvSpPr>
          <p:cNvPr id="16" name="Text 13"/>
          <p:cNvSpPr txBox="1"/>
          <p:nvPr/>
        </p:nvSpPr>
        <p:spPr>
          <a:xfrm>
            <a:off x="8485632" y="416052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Rediseño y dimensionamiento</a:t>
            </a:r>
            <a:endParaRPr lang="en-US" sz="1650" dirty="0"/>
          </a:p>
        </p:txBody>
      </p:sp>
      <p:sp>
        <p:nvSpPr>
          <p:cNvPr id="17" name="Shape 14"/>
          <p:cNvSpPr/>
          <p:nvPr/>
        </p:nvSpPr>
        <p:spPr>
          <a:xfrm>
            <a:off x="8211312" y="5239512"/>
            <a:ext cx="146304" cy="36576"/>
          </a:xfrm>
          <a:prstGeom prst="rect">
            <a:avLst/>
          </a:prstGeom>
          <a:solidFill>
            <a:srgbClr val="FFB903"/>
          </a:solidFill>
          <a:ln/>
        </p:spPr>
      </p:sp>
      <p:sp>
        <p:nvSpPr>
          <p:cNvPr id="18" name="Text 15"/>
          <p:cNvSpPr txBox="1"/>
          <p:nvPr/>
        </p:nvSpPr>
        <p:spPr>
          <a:xfrm>
            <a:off x="8485632" y="512064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Implementación y evaluación final</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ETAPAS 1 Y 2</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2600" b="1" dirty="0">
                <a:solidFill>
                  <a:srgbClr val="00335C"/>
                </a:solidFill>
                <a:latin typeface="Segoe UI" pitchFamily="34" charset="0"/>
                <a:ea typeface="Segoe UI" pitchFamily="34" charset="-122"/>
                <a:cs typeface="Segoe UI" pitchFamily="34" charset="-120"/>
              </a:rPr>
              <a:t>Reconocimiento de la necesidad y recopilación de datos</a:t>
            </a:r>
            <a:endParaRPr lang="en-US" sz="26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25</a:t>
            </a:r>
            <a:endParaRPr lang="en-US" sz="1000" dirty="0"/>
          </a:p>
        </p:txBody>
      </p:sp>
      <p:sp>
        <p:nvSpPr>
          <p:cNvPr id="10" name="Shape 7"/>
          <p:cNvSpPr/>
          <p:nvPr/>
        </p:nvSpPr>
        <p:spPr>
          <a:xfrm>
            <a:off x="658368" y="1737360"/>
            <a:ext cx="5294376" cy="1335024"/>
          </a:xfrm>
          <a:prstGeom prst="rect">
            <a:avLst/>
          </a:prstGeom>
          <a:solidFill>
            <a:srgbClr val="F4F7FA"/>
          </a:solidFill>
          <a:ln w="9525">
            <a:solidFill>
              <a:srgbClr val="D5DDE5"/>
            </a:solidFill>
            <a:prstDash val="solid"/>
          </a:ln>
        </p:spPr>
      </p:sp>
      <p:sp>
        <p:nvSpPr>
          <p:cNvPr id="11" name="Shape 8"/>
          <p:cNvSpPr/>
          <p:nvPr/>
        </p:nvSpPr>
        <p:spPr>
          <a:xfrm>
            <a:off x="658368" y="1737360"/>
            <a:ext cx="5294376" cy="64008"/>
          </a:xfrm>
          <a:prstGeom prst="rect">
            <a:avLst/>
          </a:prstGeom>
          <a:solidFill>
            <a:srgbClr val="004B85"/>
          </a:solidFill>
          <a:ln/>
        </p:spPr>
      </p:sp>
      <p:sp>
        <p:nvSpPr>
          <p:cNvPr id="12" name="Shape 9"/>
          <p:cNvSpPr/>
          <p:nvPr/>
        </p:nvSpPr>
        <p:spPr>
          <a:xfrm>
            <a:off x="914400" y="1975104"/>
            <a:ext cx="347472" cy="347472"/>
          </a:xfrm>
          <a:prstGeom prst="rect">
            <a:avLst/>
          </a:prstGeom>
          <a:solidFill>
            <a:srgbClr val="004B85"/>
          </a:solidFill>
          <a:ln/>
        </p:spPr>
      </p:sp>
      <p:sp>
        <p:nvSpPr>
          <p:cNvPr id="13" name="Text 10"/>
          <p:cNvSpPr txBox="1"/>
          <p:nvPr/>
        </p:nvSpPr>
        <p:spPr>
          <a:xfrm>
            <a:off x="914400" y="2020824"/>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4" name="Text 11"/>
          <p:cNvSpPr txBox="1"/>
          <p:nvPr/>
        </p:nvSpPr>
        <p:spPr>
          <a:xfrm>
            <a:off x="1389888" y="1956816"/>
            <a:ext cx="4306824" cy="457200"/>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Reconocimiento de la necesidad</a:t>
            </a:r>
            <a:endParaRPr lang="en-US" sz="1800" dirty="0"/>
          </a:p>
        </p:txBody>
      </p:sp>
      <p:sp>
        <p:nvSpPr>
          <p:cNvPr id="15" name="Shape 12"/>
          <p:cNvSpPr/>
          <p:nvPr/>
        </p:nvSpPr>
        <p:spPr>
          <a:xfrm>
            <a:off x="658368" y="3291840"/>
            <a:ext cx="5294376" cy="2286000"/>
          </a:xfrm>
          <a:prstGeom prst="rect">
            <a:avLst/>
          </a:prstGeom>
          <a:solidFill>
            <a:srgbClr val="F4F7FA"/>
          </a:solidFill>
          <a:ln w="9525">
            <a:solidFill>
              <a:srgbClr val="D5DDE5"/>
            </a:solidFill>
            <a:prstDash val="solid"/>
          </a:ln>
        </p:spPr>
      </p:sp>
      <p:sp>
        <p:nvSpPr>
          <p:cNvPr id="16" name="Shape 13"/>
          <p:cNvSpPr/>
          <p:nvPr/>
        </p:nvSpPr>
        <p:spPr>
          <a:xfrm>
            <a:off x="658368" y="3291840"/>
            <a:ext cx="5294376" cy="64008"/>
          </a:xfrm>
          <a:prstGeom prst="rect">
            <a:avLst/>
          </a:prstGeom>
          <a:solidFill>
            <a:srgbClr val="004B85"/>
          </a:solidFill>
          <a:ln/>
        </p:spPr>
      </p:sp>
      <p:sp>
        <p:nvSpPr>
          <p:cNvPr id="17" name="Shape 14"/>
          <p:cNvSpPr/>
          <p:nvPr/>
        </p:nvSpPr>
        <p:spPr>
          <a:xfrm>
            <a:off x="914400" y="3529584"/>
            <a:ext cx="347472" cy="347472"/>
          </a:xfrm>
          <a:prstGeom prst="rect">
            <a:avLst/>
          </a:prstGeom>
          <a:solidFill>
            <a:srgbClr val="004B85"/>
          </a:solidFill>
          <a:ln/>
        </p:spPr>
      </p:sp>
      <p:sp>
        <p:nvSpPr>
          <p:cNvPr id="18" name="Text 15"/>
          <p:cNvSpPr txBox="1"/>
          <p:nvPr/>
        </p:nvSpPr>
        <p:spPr>
          <a:xfrm>
            <a:off x="914400" y="3575304"/>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9" name="Text 16"/>
          <p:cNvSpPr txBox="1"/>
          <p:nvPr/>
        </p:nvSpPr>
        <p:spPr>
          <a:xfrm>
            <a:off x="1389888" y="3511296"/>
            <a:ext cx="4306824" cy="3291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Recopilación de datos</a:t>
            </a:r>
            <a:endParaRPr lang="en-US" sz="1800" dirty="0"/>
          </a:p>
        </p:txBody>
      </p:sp>
      <p:sp>
        <p:nvSpPr>
          <p:cNvPr id="20" name="Shape 17"/>
          <p:cNvSpPr/>
          <p:nvPr/>
        </p:nvSpPr>
        <p:spPr>
          <a:xfrm>
            <a:off x="914400" y="4032504"/>
            <a:ext cx="109728" cy="109728"/>
          </a:xfrm>
          <a:prstGeom prst="rect">
            <a:avLst/>
          </a:prstGeom>
          <a:solidFill>
            <a:srgbClr val="FFB903"/>
          </a:solidFill>
          <a:ln/>
        </p:spPr>
      </p:sp>
      <p:sp>
        <p:nvSpPr>
          <p:cNvPr id="21" name="Text 18"/>
          <p:cNvSpPr txBox="1"/>
          <p:nvPr/>
        </p:nvSpPr>
        <p:spPr>
          <a:xfrm>
            <a:off x="1207008" y="3931920"/>
            <a:ext cx="4553712" cy="310896"/>
          </a:xfrm>
          <a:prstGeom prst="rect">
            <a:avLst/>
          </a:prstGeom>
          <a:noFill/>
          <a:ln/>
        </p:spPr>
        <p:txBody>
          <a:bodyPr wrap="square" lIns="0" tIns="0" rIns="0" bIns="0" rtlCol="0" anchor="ctr"/>
          <a:lstStyle/>
          <a:p>
            <a:pPr marL="0" indent="0">
              <a:lnSpc>
                <a:spcPts val="1688"/>
              </a:lnSpc>
              <a:buNone/>
            </a:pPr>
            <a:r>
              <a:rPr lang="en-US" sz="1250" dirty="0">
                <a:solidFill>
                  <a:srgbClr val="5C6B7A"/>
                </a:solidFill>
                <a:latin typeface="Segoe UI" pitchFamily="34" charset="0"/>
                <a:ea typeface="Segoe UI" pitchFamily="34" charset="-122"/>
                <a:cs typeface="Segoe UI" pitchFamily="34" charset="-120"/>
              </a:rPr>
              <a:t>Conjunto de especificaciones actuales de la máquina.</a:t>
            </a:r>
            <a:endParaRPr lang="en-US" sz="1250" dirty="0"/>
          </a:p>
        </p:txBody>
      </p:sp>
      <p:sp>
        <p:nvSpPr>
          <p:cNvPr id="22" name="Shape 19"/>
          <p:cNvSpPr/>
          <p:nvPr/>
        </p:nvSpPr>
        <p:spPr>
          <a:xfrm>
            <a:off x="914400" y="4416552"/>
            <a:ext cx="109728" cy="109728"/>
          </a:xfrm>
          <a:prstGeom prst="rect">
            <a:avLst/>
          </a:prstGeom>
          <a:solidFill>
            <a:srgbClr val="FFB903"/>
          </a:solidFill>
          <a:ln/>
        </p:spPr>
      </p:sp>
      <p:sp>
        <p:nvSpPr>
          <p:cNvPr id="23" name="Text 20"/>
          <p:cNvSpPr txBox="1"/>
          <p:nvPr/>
        </p:nvSpPr>
        <p:spPr>
          <a:xfrm>
            <a:off x="1207008" y="4315968"/>
            <a:ext cx="4553712" cy="310896"/>
          </a:xfrm>
          <a:prstGeom prst="rect">
            <a:avLst/>
          </a:prstGeom>
          <a:noFill/>
          <a:ln/>
        </p:spPr>
        <p:txBody>
          <a:bodyPr wrap="square" lIns="0" tIns="0" rIns="0" bIns="0" rtlCol="0" anchor="ctr"/>
          <a:lstStyle/>
          <a:p>
            <a:pPr marL="0" indent="0">
              <a:lnSpc>
                <a:spcPts val="1688"/>
              </a:lnSpc>
              <a:buNone/>
            </a:pPr>
            <a:r>
              <a:rPr lang="en-US" sz="1250" dirty="0">
                <a:solidFill>
                  <a:srgbClr val="5C6B7A"/>
                </a:solidFill>
                <a:latin typeface="Segoe UI" pitchFamily="34" charset="0"/>
                <a:ea typeface="Segoe UI" pitchFamily="34" charset="-122"/>
                <a:cs typeface="Segoe UI" pitchFamily="34" charset="-120"/>
              </a:rPr>
              <a:t>Fiabilidad inherente.</a:t>
            </a:r>
            <a:endParaRPr lang="en-US" sz="1250" dirty="0"/>
          </a:p>
        </p:txBody>
      </p:sp>
      <p:sp>
        <p:nvSpPr>
          <p:cNvPr id="24" name="Shape 21"/>
          <p:cNvSpPr/>
          <p:nvPr/>
        </p:nvSpPr>
        <p:spPr>
          <a:xfrm>
            <a:off x="914400" y="4800600"/>
            <a:ext cx="109728" cy="109728"/>
          </a:xfrm>
          <a:prstGeom prst="rect">
            <a:avLst/>
          </a:prstGeom>
          <a:solidFill>
            <a:srgbClr val="FFB903"/>
          </a:solidFill>
          <a:ln/>
        </p:spPr>
      </p:sp>
      <p:sp>
        <p:nvSpPr>
          <p:cNvPr id="25" name="Text 22"/>
          <p:cNvSpPr txBox="1"/>
          <p:nvPr/>
        </p:nvSpPr>
        <p:spPr>
          <a:xfrm>
            <a:off x="1207008" y="4700016"/>
            <a:ext cx="4553712" cy="310896"/>
          </a:xfrm>
          <a:prstGeom prst="rect">
            <a:avLst/>
          </a:prstGeom>
          <a:noFill/>
          <a:ln/>
        </p:spPr>
        <p:txBody>
          <a:bodyPr wrap="square" lIns="0" tIns="0" rIns="0" bIns="0" rtlCol="0" anchor="ctr"/>
          <a:lstStyle/>
          <a:p>
            <a:pPr marL="0" indent="0">
              <a:lnSpc>
                <a:spcPts val="1688"/>
              </a:lnSpc>
              <a:buNone/>
            </a:pPr>
            <a:r>
              <a:rPr lang="en-US" sz="1250" dirty="0">
                <a:solidFill>
                  <a:srgbClr val="5C6B7A"/>
                </a:solidFill>
                <a:latin typeface="Segoe UI" pitchFamily="34" charset="0"/>
                <a:ea typeface="Segoe UI" pitchFamily="34" charset="-122"/>
                <a:cs typeface="Segoe UI" pitchFamily="34" charset="-120"/>
              </a:rPr>
              <a:t>Prestación actual.</a:t>
            </a:r>
            <a:endParaRPr lang="en-US" sz="1250" dirty="0"/>
          </a:p>
        </p:txBody>
      </p:sp>
      <p:sp>
        <p:nvSpPr>
          <p:cNvPr id="26" name="Shape 23"/>
          <p:cNvSpPr/>
          <p:nvPr/>
        </p:nvSpPr>
        <p:spPr>
          <a:xfrm>
            <a:off x="914400" y="5184648"/>
            <a:ext cx="109728" cy="109728"/>
          </a:xfrm>
          <a:prstGeom prst="rect">
            <a:avLst/>
          </a:prstGeom>
          <a:solidFill>
            <a:srgbClr val="FFB903"/>
          </a:solidFill>
          <a:ln/>
        </p:spPr>
      </p:sp>
      <p:sp>
        <p:nvSpPr>
          <p:cNvPr id="27" name="Text 24"/>
          <p:cNvSpPr txBox="1"/>
          <p:nvPr/>
        </p:nvSpPr>
        <p:spPr>
          <a:xfrm>
            <a:off x="1207008" y="5084064"/>
            <a:ext cx="4553712" cy="310896"/>
          </a:xfrm>
          <a:prstGeom prst="rect">
            <a:avLst/>
          </a:prstGeom>
          <a:noFill/>
          <a:ln/>
        </p:spPr>
        <p:txBody>
          <a:bodyPr wrap="square" lIns="0" tIns="0" rIns="0" bIns="0" rtlCol="0" anchor="ctr"/>
          <a:lstStyle/>
          <a:p>
            <a:pPr marL="0" indent="0">
              <a:lnSpc>
                <a:spcPts val="1688"/>
              </a:lnSpc>
              <a:buNone/>
            </a:pPr>
            <a:r>
              <a:rPr lang="en-US" sz="1250" dirty="0">
                <a:solidFill>
                  <a:srgbClr val="5C6B7A"/>
                </a:solidFill>
                <a:latin typeface="Segoe UI" pitchFamily="34" charset="0"/>
                <a:ea typeface="Segoe UI" pitchFamily="34" charset="-122"/>
                <a:cs typeface="Segoe UI" pitchFamily="34" charset="-120"/>
              </a:rPr>
              <a:t>Torque de operación (potencia, velocidad).</a:t>
            </a:r>
            <a:endParaRPr lang="en-US" sz="1250" dirty="0"/>
          </a:p>
        </p:txBody>
      </p:sp>
      <p:sp>
        <p:nvSpPr>
          <p:cNvPr id="28" name="Shape 25"/>
          <p:cNvSpPr/>
          <p:nvPr/>
        </p:nvSpPr>
        <p:spPr>
          <a:xfrm>
            <a:off x="6236208" y="1737360"/>
            <a:ext cx="5294376" cy="3840480"/>
          </a:xfrm>
          <a:prstGeom prst="rect">
            <a:avLst/>
          </a:prstGeom>
          <a:solidFill>
            <a:srgbClr val="F4F7FA"/>
          </a:solidFill>
          <a:ln w="9525">
            <a:solidFill>
              <a:srgbClr val="D5DDE5"/>
            </a:solidFill>
            <a:prstDash val="solid"/>
          </a:ln>
        </p:spPr>
      </p:sp>
      <p:sp>
        <p:nvSpPr>
          <p:cNvPr id="29" name="Shape 26"/>
          <p:cNvSpPr/>
          <p:nvPr/>
        </p:nvSpPr>
        <p:spPr>
          <a:xfrm>
            <a:off x="6236208" y="1737360"/>
            <a:ext cx="5294376" cy="64008"/>
          </a:xfrm>
          <a:prstGeom prst="rect">
            <a:avLst/>
          </a:prstGeom>
          <a:solidFill>
            <a:srgbClr val="FFB903"/>
          </a:solidFill>
          <a:ln/>
        </p:spPr>
      </p:sp>
      <p:sp>
        <p:nvSpPr>
          <p:cNvPr id="30" name="Text 27"/>
          <p:cNvSpPr txBox="1"/>
          <p:nvPr/>
        </p:nvSpPr>
        <p:spPr>
          <a:xfrm>
            <a:off x="6492240" y="2011680"/>
            <a:ext cx="4782312" cy="7863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Si la necesidad nace de fallas reiterativas</a:t>
            </a:r>
            <a:endParaRPr lang="en-US" sz="1800" dirty="0"/>
          </a:p>
        </p:txBody>
      </p:sp>
      <p:sp>
        <p:nvSpPr>
          <p:cNvPr id="31" name="Text 28"/>
          <p:cNvSpPr txBox="1"/>
          <p:nvPr/>
        </p:nvSpPr>
        <p:spPr>
          <a:xfrm>
            <a:off x="6492240" y="2889504"/>
            <a:ext cx="4782312" cy="1645920"/>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Es necesario establecer inicialmente la causa raíz de estas fallas. Se debe contemplar el empleo de metodologías para el análisis de fallas, principalmente RCFA: análisis de la causa raíz de las fallas.</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 3</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Definición del problema</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26</a:t>
            </a:r>
            <a:endParaRPr lang="en-US" sz="1000" dirty="0"/>
          </a:p>
        </p:txBody>
      </p:sp>
      <p:sp>
        <p:nvSpPr>
          <p:cNvPr id="10" name="Shape 7"/>
          <p:cNvSpPr/>
          <p:nvPr/>
        </p:nvSpPr>
        <p:spPr>
          <a:xfrm>
            <a:off x="658368" y="1737360"/>
            <a:ext cx="10872216" cy="1188720"/>
          </a:xfrm>
          <a:prstGeom prst="rect">
            <a:avLst/>
          </a:prstGeom>
          <a:solidFill>
            <a:srgbClr val="E8F0F7"/>
          </a:solidFill>
          <a:ln/>
        </p:spPr>
      </p:sp>
      <p:sp>
        <p:nvSpPr>
          <p:cNvPr id="11" name="Shape 8"/>
          <p:cNvSpPr/>
          <p:nvPr/>
        </p:nvSpPr>
        <p:spPr>
          <a:xfrm>
            <a:off x="658368" y="1737360"/>
            <a:ext cx="64008" cy="1188720"/>
          </a:xfrm>
          <a:prstGeom prst="rect">
            <a:avLst/>
          </a:prstGeom>
          <a:solidFill>
            <a:srgbClr val="004B85"/>
          </a:solidFill>
          <a:ln/>
        </p:spPr>
      </p:sp>
      <p:sp>
        <p:nvSpPr>
          <p:cNvPr id="12" name="Text 9"/>
          <p:cNvSpPr txBox="1"/>
          <p:nvPr/>
        </p:nvSpPr>
        <p:spPr>
          <a:xfrm>
            <a:off x="1097280" y="1737360"/>
            <a:ext cx="9966960" cy="1188720"/>
          </a:xfrm>
          <a:prstGeom prst="rect">
            <a:avLst/>
          </a:prstGeom>
          <a:noFill/>
          <a:ln/>
        </p:spPr>
        <p:txBody>
          <a:bodyPr wrap="square" lIns="0" tIns="0" rIns="0" bIns="0" rtlCol="0" anchor="ctr"/>
          <a:lstStyle/>
          <a:p>
            <a:pPr marL="0" indent="0">
              <a:buNone/>
            </a:pPr>
            <a:r>
              <a:rPr lang="en-US" sz="2100" b="1" dirty="0">
                <a:solidFill>
                  <a:srgbClr val="00335C"/>
                </a:solidFill>
                <a:latin typeface="Segoe UI" pitchFamily="34" charset="0"/>
                <a:ea typeface="Segoe UI" pitchFamily="34" charset="-122"/>
                <a:cs typeface="Segoe UI" pitchFamily="34" charset="-120"/>
              </a:rPr>
              <a:t>Se plantea el problema a resolver o se dan las nuevas especificaciones.</a:t>
            </a:r>
            <a:endParaRPr lang="en-US" sz="2100" dirty="0"/>
          </a:p>
        </p:txBody>
      </p:sp>
      <p:sp>
        <p:nvSpPr>
          <p:cNvPr id="18" name="Text 15"/>
          <p:cNvSpPr txBox="1"/>
          <p:nvPr/>
        </p:nvSpPr>
        <p:spPr>
          <a:xfrm>
            <a:off x="1389888" y="3895344"/>
            <a:ext cx="2532888" cy="365760"/>
          </a:xfrm>
          <a:prstGeom prst="rect">
            <a:avLst/>
          </a:prstGeom>
          <a:noFill/>
          <a:ln/>
        </p:spPr>
        <p:txBody>
          <a:bodyPr wrap="square" lIns="0" tIns="0" rIns="0" bIns="0" rtlCol="0" anchor="ctr"/>
          <a:lstStyle/>
          <a:p>
            <a:pPr marL="0" indent="0">
              <a:buNone/>
            </a:pPr>
            <a:r>
              <a:rPr lang="en-US" sz="1800" b="1" dirty="0">
                <a:solidFill>
                  <a:srgbClr val="00335C"/>
                </a:solidFill>
                <a:latin typeface="Segoe UI" pitchFamily="34" charset="0"/>
                <a:ea typeface="Segoe UI" pitchFamily="34" charset="-122"/>
                <a:cs typeface="Segoe UI" pitchFamily="34" charset="-120"/>
              </a:rPr>
              <a:t>Observación</a:t>
            </a:r>
            <a:endParaRPr lang="en-US" sz="1800" dirty="0"/>
          </a:p>
        </p:txBody>
      </p:sp>
      <p:sp>
        <p:nvSpPr>
          <p:cNvPr id="19" name="Shape 16"/>
          <p:cNvSpPr/>
          <p:nvPr/>
        </p:nvSpPr>
        <p:spPr>
          <a:xfrm>
            <a:off x="4334256" y="3602736"/>
            <a:ext cx="3520440" cy="1463040"/>
          </a:xfrm>
          <a:prstGeom prst="rect">
            <a:avLst/>
          </a:prstGeom>
          <a:solidFill>
            <a:srgbClr val="F4F7FA"/>
          </a:solidFill>
          <a:ln w="9525">
            <a:solidFill>
              <a:srgbClr val="D5DDE5"/>
            </a:solidFill>
            <a:prstDash val="solid"/>
          </a:ln>
        </p:spPr>
      </p:sp>
      <p:sp>
        <p:nvSpPr>
          <p:cNvPr id="20" name="Shape 17"/>
          <p:cNvSpPr/>
          <p:nvPr/>
        </p:nvSpPr>
        <p:spPr>
          <a:xfrm>
            <a:off x="4334256" y="3602736"/>
            <a:ext cx="3520440" cy="64008"/>
          </a:xfrm>
          <a:prstGeom prst="rect">
            <a:avLst/>
          </a:prstGeom>
          <a:solidFill>
            <a:srgbClr val="004B85"/>
          </a:solidFill>
          <a:ln/>
        </p:spPr>
      </p:sp>
      <p:sp>
        <p:nvSpPr>
          <p:cNvPr id="21" name="Shape 18"/>
          <p:cNvSpPr/>
          <p:nvPr/>
        </p:nvSpPr>
        <p:spPr>
          <a:xfrm>
            <a:off x="4590288" y="3877056"/>
            <a:ext cx="347472" cy="347472"/>
          </a:xfrm>
          <a:prstGeom prst="rect">
            <a:avLst/>
          </a:prstGeom>
          <a:solidFill>
            <a:srgbClr val="004B85"/>
          </a:solidFill>
          <a:ln/>
        </p:spPr>
      </p:sp>
      <p:sp>
        <p:nvSpPr>
          <p:cNvPr id="22" name="Text 19"/>
          <p:cNvSpPr txBox="1"/>
          <p:nvPr/>
        </p:nvSpPr>
        <p:spPr>
          <a:xfrm>
            <a:off x="4590288" y="3922776"/>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23" name="Text 20"/>
          <p:cNvSpPr txBox="1"/>
          <p:nvPr/>
        </p:nvSpPr>
        <p:spPr>
          <a:xfrm>
            <a:off x="5065776" y="3895344"/>
            <a:ext cx="2532888" cy="365760"/>
          </a:xfrm>
          <a:prstGeom prst="rect">
            <a:avLst/>
          </a:prstGeom>
          <a:noFill/>
          <a:ln/>
        </p:spPr>
        <p:txBody>
          <a:bodyPr wrap="square" lIns="0" tIns="0" rIns="0" bIns="0" rtlCol="0" anchor="ctr"/>
          <a:lstStyle/>
          <a:p>
            <a:pPr marL="0" indent="0">
              <a:buNone/>
            </a:pPr>
            <a:r>
              <a:rPr lang="en-US" sz="1800" b="1" dirty="0">
                <a:solidFill>
                  <a:srgbClr val="00335C"/>
                </a:solidFill>
                <a:latin typeface="Segoe UI" pitchFamily="34" charset="0"/>
                <a:ea typeface="Segoe UI" pitchFamily="34" charset="-122"/>
                <a:cs typeface="Segoe UI" pitchFamily="34" charset="-120"/>
              </a:rPr>
              <a:t>Medición</a:t>
            </a:r>
            <a:endParaRPr lang="en-US" sz="1800" dirty="0"/>
          </a:p>
        </p:txBody>
      </p:sp>
      <p:sp>
        <p:nvSpPr>
          <p:cNvPr id="26" name="Shape 23"/>
          <p:cNvSpPr/>
          <p:nvPr/>
        </p:nvSpPr>
        <p:spPr>
          <a:xfrm>
            <a:off x="8266176" y="3877056"/>
            <a:ext cx="347472" cy="347472"/>
          </a:xfrm>
          <a:prstGeom prst="rect">
            <a:avLst/>
          </a:prstGeom>
          <a:solidFill>
            <a:srgbClr val="004B85"/>
          </a:solidFill>
          <a:ln/>
        </p:spPr>
      </p:sp>
      <p:sp>
        <p:nvSpPr>
          <p:cNvPr id="27" name="Text 24"/>
          <p:cNvSpPr txBox="1"/>
          <p:nvPr/>
        </p:nvSpPr>
        <p:spPr>
          <a:xfrm>
            <a:off x="8266176" y="3922776"/>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pic>
        <p:nvPicPr>
          <p:cNvPr id="29" name="Imagen 28">
            <a:extLst>
              <a:ext uri="{FF2B5EF4-FFF2-40B4-BE49-F238E27FC236}">
                <a16:creationId xmlns:a16="http://schemas.microsoft.com/office/drawing/2014/main" id="{DDBB27CA-19A2-BB5F-EF6B-34077AA1A79D}"/>
              </a:ext>
            </a:extLst>
          </p:cNvPr>
          <p:cNvPicPr>
            <a:picLocks noChangeAspect="1"/>
          </p:cNvPicPr>
          <p:nvPr/>
        </p:nvPicPr>
        <p:blipFill>
          <a:blip r:embed="rId4"/>
          <a:srcRect l="-201" t="33155" b="6372"/>
          <a:stretch>
            <a:fillRect/>
          </a:stretch>
        </p:blipFill>
        <p:spPr>
          <a:xfrm>
            <a:off x="1391963" y="3169920"/>
            <a:ext cx="8854812" cy="297206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REFLEXIÓN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El computador no reemplaza el criterio</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27</a:t>
            </a:r>
            <a:endParaRPr lang="en-US" sz="1000" dirty="0"/>
          </a:p>
        </p:txBody>
      </p:sp>
      <p:sp>
        <p:nvSpPr>
          <p:cNvPr id="10" name="Shape 7"/>
          <p:cNvSpPr/>
          <p:nvPr/>
        </p:nvSpPr>
        <p:spPr>
          <a:xfrm>
            <a:off x="658368" y="1737360"/>
            <a:ext cx="10872216" cy="3657600"/>
          </a:xfrm>
          <a:prstGeom prst="rect">
            <a:avLst/>
          </a:prstGeom>
          <a:solidFill>
            <a:srgbClr val="E8F0F7"/>
          </a:solidFill>
          <a:ln/>
        </p:spPr>
      </p:sp>
      <p:sp>
        <p:nvSpPr>
          <p:cNvPr id="11" name="Shape 8"/>
          <p:cNvSpPr/>
          <p:nvPr/>
        </p:nvSpPr>
        <p:spPr>
          <a:xfrm>
            <a:off x="658368" y="1737360"/>
            <a:ext cx="64008" cy="3657600"/>
          </a:xfrm>
          <a:prstGeom prst="rect">
            <a:avLst/>
          </a:prstGeom>
          <a:solidFill>
            <a:srgbClr val="004B85"/>
          </a:solidFill>
          <a:ln/>
        </p:spPr>
      </p:sp>
      <p:sp>
        <p:nvSpPr>
          <p:cNvPr id="12" name="Text 9"/>
          <p:cNvSpPr txBox="1"/>
          <p:nvPr/>
        </p:nvSpPr>
        <p:spPr>
          <a:xfrm>
            <a:off x="1097280" y="1920240"/>
            <a:ext cx="9966960" cy="2999232"/>
          </a:xfrm>
          <a:prstGeom prst="rect">
            <a:avLst/>
          </a:prstGeom>
          <a:noFill/>
          <a:ln/>
        </p:spPr>
        <p:txBody>
          <a:bodyPr wrap="square" lIns="0" tIns="0" rIns="0" bIns="0" rtlCol="0" anchor="ctr"/>
          <a:lstStyle/>
          <a:p>
            <a:pPr marL="0" indent="0">
              <a:lnSpc>
                <a:spcPts val="2465"/>
              </a:lnSpc>
              <a:buNone/>
            </a:pPr>
            <a:r>
              <a:rPr lang="en-US" sz="1700" i="1" dirty="0">
                <a:solidFill>
                  <a:srgbClr val="00335C"/>
                </a:solidFill>
                <a:latin typeface="Segoe UI" pitchFamily="34" charset="0"/>
                <a:ea typeface="Segoe UI" pitchFamily="34" charset="-122"/>
                <a:cs typeface="Segoe UI" pitchFamily="34" charset="-120"/>
              </a:rPr>
              <a:t>Actualmente, el uso generalizado de los computadores en los innumerables problemas de ingeniería, en particular en aquellos que presentan el desarrollo de dispendiosos procesos matemáticos, ha dado como consecuencia que sea común encontrar en el medio profesional, quienes han llegado a concebir el computador como el “mágico remedio” del desconocimiento teórico-práctico de conceptos, normas, modelos e idealizaciones. Como resultado de esta panacea, se ha hecho notable una delicada subestimación de las hipótesis y limitaciones de fundamental incidencia y especial significación en la correcta implementación del software.</a:t>
            </a:r>
            <a:endParaRPr lang="en-US" sz="1700" dirty="0"/>
          </a:p>
        </p:txBody>
      </p:sp>
      <p:sp>
        <p:nvSpPr>
          <p:cNvPr id="13" name="Text 10"/>
          <p:cNvSpPr txBox="1"/>
          <p:nvPr/>
        </p:nvSpPr>
        <p:spPr>
          <a:xfrm>
            <a:off x="1097280" y="4937760"/>
            <a:ext cx="9966960" cy="292608"/>
          </a:xfrm>
          <a:prstGeom prst="rect">
            <a:avLst/>
          </a:prstGeom>
          <a:noFill/>
          <a:ln/>
        </p:spPr>
        <p:txBody>
          <a:bodyPr wrap="square" lIns="0" tIns="0" rIns="0" bIns="0" rtlCol="0" anchor="ctr"/>
          <a:lstStyle/>
          <a:p>
            <a:pPr marL="0" indent="0" algn="r">
              <a:buNone/>
            </a:pPr>
            <a:r>
              <a:rPr lang="en-US" sz="1250" b="1" kern="0" spc="60" dirty="0">
                <a:solidFill>
                  <a:srgbClr val="B88200"/>
                </a:solidFill>
                <a:latin typeface="Segoe UI" pitchFamily="34" charset="0"/>
                <a:ea typeface="Segoe UI" pitchFamily="34" charset="-122"/>
                <a:cs typeface="Segoe UI" pitchFamily="34" charset="-120"/>
              </a:rPr>
              <a:t>JUAN MAURICIO MARÍN URIBE</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 4 · ESTUDIO Y EVALUACIÓN DE ALTERNATIVAS</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Identificación de subsistemas y estado del arte</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28</a:t>
            </a:r>
            <a:endParaRPr lang="en-US" sz="1000" dirty="0"/>
          </a:p>
        </p:txBody>
      </p:sp>
      <p:sp>
        <p:nvSpPr>
          <p:cNvPr id="10" name="Shape 7"/>
          <p:cNvSpPr/>
          <p:nvPr/>
        </p:nvSpPr>
        <p:spPr>
          <a:xfrm>
            <a:off x="658368" y="1920240"/>
            <a:ext cx="5294376" cy="3017520"/>
          </a:xfrm>
          <a:prstGeom prst="rect">
            <a:avLst/>
          </a:prstGeom>
          <a:solidFill>
            <a:srgbClr val="F4F7FA"/>
          </a:solidFill>
          <a:ln w="9525">
            <a:solidFill>
              <a:srgbClr val="D5DDE5"/>
            </a:solidFill>
            <a:prstDash val="solid"/>
          </a:ln>
        </p:spPr>
      </p:sp>
      <p:sp>
        <p:nvSpPr>
          <p:cNvPr id="11" name="Shape 8"/>
          <p:cNvSpPr/>
          <p:nvPr/>
        </p:nvSpPr>
        <p:spPr>
          <a:xfrm>
            <a:off x="658368" y="1920240"/>
            <a:ext cx="5294376" cy="64008"/>
          </a:xfrm>
          <a:prstGeom prst="rect">
            <a:avLst/>
          </a:prstGeom>
          <a:solidFill>
            <a:srgbClr val="004B85"/>
          </a:solidFill>
          <a:ln/>
        </p:spPr>
      </p:sp>
      <p:sp>
        <p:nvSpPr>
          <p:cNvPr id="12" name="Shape 9"/>
          <p:cNvSpPr/>
          <p:nvPr/>
        </p:nvSpPr>
        <p:spPr>
          <a:xfrm>
            <a:off x="914400" y="2176272"/>
            <a:ext cx="384048" cy="384048"/>
          </a:xfrm>
          <a:prstGeom prst="rect">
            <a:avLst/>
          </a:prstGeom>
          <a:solidFill>
            <a:srgbClr val="004B85"/>
          </a:solidFill>
          <a:ln/>
        </p:spPr>
      </p:sp>
      <p:sp>
        <p:nvSpPr>
          <p:cNvPr id="13" name="Text 10"/>
          <p:cNvSpPr txBox="1"/>
          <p:nvPr/>
        </p:nvSpPr>
        <p:spPr>
          <a:xfrm>
            <a:off x="914400" y="223113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4.1</a:t>
            </a:r>
            <a:endParaRPr lang="en-US" sz="1500" dirty="0"/>
          </a:p>
        </p:txBody>
      </p:sp>
      <p:sp>
        <p:nvSpPr>
          <p:cNvPr id="14" name="Text 11"/>
          <p:cNvSpPr txBox="1"/>
          <p:nvPr/>
        </p:nvSpPr>
        <p:spPr>
          <a:xfrm>
            <a:off x="914400" y="2724912"/>
            <a:ext cx="4782312" cy="7863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Identificación de los subsistemas comprometidos</a:t>
            </a:r>
            <a:endParaRPr lang="en-US" sz="1800" dirty="0"/>
          </a:p>
        </p:txBody>
      </p:sp>
      <p:sp>
        <p:nvSpPr>
          <p:cNvPr id="15" name="Text 12"/>
          <p:cNvSpPr txBox="1"/>
          <p:nvPr/>
        </p:nvSpPr>
        <p:spPr>
          <a:xfrm>
            <a:off x="914400" y="3602736"/>
            <a:ext cx="4782312" cy="1280160"/>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Identificación de los subsistemas comprometidos directamente con la modificación; análisis de sus condiciones de funcionamiento y especificaciones de sus componentes.</a:t>
            </a:r>
            <a:endParaRPr lang="en-US" sz="1450" dirty="0"/>
          </a:p>
        </p:txBody>
      </p:sp>
      <p:sp>
        <p:nvSpPr>
          <p:cNvPr id="16" name="Shape 13"/>
          <p:cNvSpPr/>
          <p:nvPr/>
        </p:nvSpPr>
        <p:spPr>
          <a:xfrm>
            <a:off x="6236208" y="1920240"/>
            <a:ext cx="5294376" cy="3017520"/>
          </a:xfrm>
          <a:prstGeom prst="rect">
            <a:avLst/>
          </a:prstGeom>
          <a:solidFill>
            <a:srgbClr val="F4F7FA"/>
          </a:solidFill>
          <a:ln w="9525">
            <a:solidFill>
              <a:srgbClr val="D5DDE5"/>
            </a:solidFill>
            <a:prstDash val="solid"/>
          </a:ln>
        </p:spPr>
      </p:sp>
      <p:sp>
        <p:nvSpPr>
          <p:cNvPr id="17" name="Shape 14"/>
          <p:cNvSpPr/>
          <p:nvPr/>
        </p:nvSpPr>
        <p:spPr>
          <a:xfrm>
            <a:off x="6236208" y="1920240"/>
            <a:ext cx="5294376" cy="64008"/>
          </a:xfrm>
          <a:prstGeom prst="rect">
            <a:avLst/>
          </a:prstGeom>
          <a:solidFill>
            <a:srgbClr val="FFB903"/>
          </a:solidFill>
          <a:ln/>
        </p:spPr>
      </p:sp>
      <p:sp>
        <p:nvSpPr>
          <p:cNvPr id="18" name="Shape 15"/>
          <p:cNvSpPr/>
          <p:nvPr/>
        </p:nvSpPr>
        <p:spPr>
          <a:xfrm>
            <a:off x="6492240" y="2176272"/>
            <a:ext cx="384048" cy="384048"/>
          </a:xfrm>
          <a:prstGeom prst="rect">
            <a:avLst/>
          </a:prstGeom>
          <a:solidFill>
            <a:srgbClr val="FFB903"/>
          </a:solidFill>
          <a:ln/>
        </p:spPr>
      </p:sp>
      <p:sp>
        <p:nvSpPr>
          <p:cNvPr id="19" name="Text 16"/>
          <p:cNvSpPr txBox="1"/>
          <p:nvPr/>
        </p:nvSpPr>
        <p:spPr>
          <a:xfrm>
            <a:off x="6492240" y="223113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4.2</a:t>
            </a:r>
            <a:endParaRPr lang="en-US" sz="1500" dirty="0"/>
          </a:p>
        </p:txBody>
      </p:sp>
      <p:sp>
        <p:nvSpPr>
          <p:cNvPr id="20" name="Text 17"/>
          <p:cNvSpPr txBox="1"/>
          <p:nvPr/>
        </p:nvSpPr>
        <p:spPr>
          <a:xfrm>
            <a:off x="6492240" y="2724912"/>
            <a:ext cx="4782312" cy="7863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Revisión de experiencias previas</a:t>
            </a:r>
            <a:endParaRPr lang="en-US" sz="1800" dirty="0"/>
          </a:p>
        </p:txBody>
      </p:sp>
      <p:sp>
        <p:nvSpPr>
          <p:cNvPr id="21" name="Text 18"/>
          <p:cNvSpPr txBox="1"/>
          <p:nvPr/>
        </p:nvSpPr>
        <p:spPr>
          <a:xfrm>
            <a:off x="6492240" y="3602736"/>
            <a:ext cx="4782312" cy="1280160"/>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Revisión de experiencias previas similares e investigación del estado del arte de los elementos y sistemas involucrados en la modificación.</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 4.3</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Elaboración de propuestas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29</a:t>
            </a:r>
            <a:endParaRPr lang="en-US" sz="1000" dirty="0"/>
          </a:p>
        </p:txBody>
      </p:sp>
      <p:sp>
        <p:nvSpPr>
          <p:cNvPr id="10" name="Shape 7"/>
          <p:cNvSpPr/>
          <p:nvPr/>
        </p:nvSpPr>
        <p:spPr>
          <a:xfrm>
            <a:off x="658368" y="1737360"/>
            <a:ext cx="10872216" cy="1920240"/>
          </a:xfrm>
          <a:prstGeom prst="rect">
            <a:avLst/>
          </a:prstGeom>
          <a:solidFill>
            <a:srgbClr val="E8F0F7"/>
          </a:solidFill>
          <a:ln/>
        </p:spPr>
      </p:sp>
      <p:sp>
        <p:nvSpPr>
          <p:cNvPr id="11" name="Shape 8"/>
          <p:cNvSpPr/>
          <p:nvPr/>
        </p:nvSpPr>
        <p:spPr>
          <a:xfrm>
            <a:off x="658368" y="1737360"/>
            <a:ext cx="64008" cy="1920240"/>
          </a:xfrm>
          <a:prstGeom prst="rect">
            <a:avLst/>
          </a:prstGeom>
          <a:solidFill>
            <a:srgbClr val="004B85"/>
          </a:solidFill>
          <a:ln/>
        </p:spPr>
      </p:sp>
      <p:sp>
        <p:nvSpPr>
          <p:cNvPr id="12" name="Text 9"/>
          <p:cNvSpPr txBox="1"/>
          <p:nvPr/>
        </p:nvSpPr>
        <p:spPr>
          <a:xfrm>
            <a:off x="1097280" y="1737360"/>
            <a:ext cx="9966960" cy="1920240"/>
          </a:xfrm>
          <a:prstGeom prst="rect">
            <a:avLst/>
          </a:prstGeom>
          <a:noFill/>
          <a:ln/>
        </p:spPr>
        <p:txBody>
          <a:bodyPr wrap="square" lIns="0" tIns="0" rIns="0" bIns="0" rtlCol="0" anchor="ctr"/>
          <a:lstStyle/>
          <a:p>
            <a:pPr marL="0" indent="0">
              <a:lnSpc>
                <a:spcPts val="2700"/>
              </a:lnSpc>
              <a:buNone/>
            </a:pPr>
            <a:r>
              <a:rPr lang="en-US" sz="1900" dirty="0">
                <a:solidFill>
                  <a:srgbClr val="00335C"/>
                </a:solidFill>
                <a:latin typeface="Segoe UI" pitchFamily="34" charset="0"/>
                <a:ea typeface="Segoe UI" pitchFamily="34" charset="-122"/>
                <a:cs typeface="Segoe UI" pitchFamily="34" charset="-120"/>
              </a:rPr>
              <a:t>Elaboración de propuestas (conjunto de decisiones) para modificar los subsistemas, considerando la adición, el cambio, la modificación o la combinación de otros componentes, según los nuevos requerimientos (consideraciones de diseño).</a:t>
            </a:r>
            <a:endParaRPr lang="en-US" sz="1900" dirty="0"/>
          </a:p>
        </p:txBody>
      </p:sp>
      <p:sp>
        <p:nvSpPr>
          <p:cNvPr id="13" name="Shape 10"/>
          <p:cNvSpPr/>
          <p:nvPr/>
        </p:nvSpPr>
        <p:spPr>
          <a:xfrm>
            <a:off x="658368" y="3950208"/>
            <a:ext cx="10872216" cy="914400"/>
          </a:xfrm>
          <a:prstGeom prst="rect">
            <a:avLst/>
          </a:prstGeom>
          <a:solidFill>
            <a:srgbClr val="00335C"/>
          </a:solidFill>
          <a:ln/>
        </p:spPr>
      </p:sp>
      <p:sp>
        <p:nvSpPr>
          <p:cNvPr id="14" name="Text 11"/>
          <p:cNvSpPr txBox="1"/>
          <p:nvPr/>
        </p:nvSpPr>
        <p:spPr>
          <a:xfrm>
            <a:off x="658368" y="3950208"/>
            <a:ext cx="10872216" cy="914400"/>
          </a:xfrm>
          <a:prstGeom prst="rect">
            <a:avLst/>
          </a:prstGeom>
          <a:noFill/>
          <a:ln/>
        </p:spPr>
        <p:txBody>
          <a:bodyPr wrap="square" lIns="0" tIns="0" rIns="0" bIns="0" rtlCol="0" anchor="ctr"/>
          <a:lstStyle/>
          <a:p>
            <a:pPr marL="0" indent="0" algn="ctr">
              <a:buNone/>
            </a:pPr>
            <a:r>
              <a:rPr lang="en-US" sz="1700" b="1" kern="0" spc="60" dirty="0">
                <a:solidFill>
                  <a:srgbClr val="FFB903"/>
                </a:solidFill>
                <a:latin typeface="Segoe UI" pitchFamily="34" charset="0"/>
                <a:ea typeface="Segoe UI" pitchFamily="34" charset="-122"/>
                <a:cs typeface="Segoe UI" pitchFamily="34" charset="-120"/>
              </a:rPr>
              <a:t>CONFRONTAR LAS IDEAS CON LAS PERSONAS RELACIONADAS DIRECTAMENTE CON LOS PROCESOS</a:t>
            </a:r>
            <a:endParaRPr lang="en-US" sz="1700" dirty="0"/>
          </a:p>
        </p:txBody>
      </p:sp>
      <p:sp>
        <p:nvSpPr>
          <p:cNvPr id="15" name="Shape 12"/>
          <p:cNvSpPr/>
          <p:nvPr/>
        </p:nvSpPr>
        <p:spPr>
          <a:xfrm>
            <a:off x="658368" y="5138928"/>
            <a:ext cx="10872216" cy="420624"/>
          </a:xfrm>
          <a:prstGeom prst="rect">
            <a:avLst/>
          </a:prstGeom>
          <a:solidFill>
            <a:srgbClr val="E8F0F7"/>
          </a:solidFill>
          <a:ln/>
        </p:spPr>
      </p:sp>
      <p:sp>
        <p:nvSpPr>
          <p:cNvPr id="16" name="Shape 13"/>
          <p:cNvSpPr/>
          <p:nvPr/>
        </p:nvSpPr>
        <p:spPr>
          <a:xfrm>
            <a:off x="658368" y="5138928"/>
            <a:ext cx="54864" cy="420624"/>
          </a:xfrm>
          <a:prstGeom prst="rect">
            <a:avLst/>
          </a:prstGeom>
          <a:solidFill>
            <a:srgbClr val="004B85"/>
          </a:solidFill>
          <a:ln/>
        </p:spPr>
      </p:sp>
      <p:sp>
        <p:nvSpPr>
          <p:cNvPr id="17" name="Text 14"/>
          <p:cNvSpPr txBox="1"/>
          <p:nvPr/>
        </p:nvSpPr>
        <p:spPr>
          <a:xfrm>
            <a:off x="932688" y="5184648"/>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Quien opera la máquina todos los días conoce restricciones que no aparecen en ningún plano.</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 4.3 · CONTINUACIÓN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Asesoría de especialistas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30</a:t>
            </a:r>
            <a:endParaRPr lang="en-US" sz="1000" dirty="0"/>
          </a:p>
        </p:txBody>
      </p:sp>
      <p:sp>
        <p:nvSpPr>
          <p:cNvPr id="10" name="Text 7"/>
          <p:cNvSpPr txBox="1"/>
          <p:nvPr/>
        </p:nvSpPr>
        <p:spPr>
          <a:xfrm>
            <a:off x="658368" y="1719072"/>
            <a:ext cx="10424160" cy="365760"/>
          </a:xfrm>
          <a:prstGeom prst="rect">
            <a:avLst/>
          </a:prstGeom>
          <a:noFill/>
          <a:ln/>
        </p:spPr>
        <p:txBody>
          <a:bodyPr wrap="square" lIns="0" tIns="0" rIns="0" bIns="0" rtlCol="0" anchor="ctr"/>
          <a:lstStyle/>
          <a:p>
            <a:pPr marL="0" indent="0">
              <a:buNone/>
            </a:pPr>
            <a:r>
              <a:rPr lang="en-US" sz="1700" dirty="0">
                <a:solidFill>
                  <a:srgbClr val="1B2430"/>
                </a:solidFill>
                <a:latin typeface="Segoe UI" pitchFamily="34" charset="0"/>
                <a:ea typeface="Segoe UI" pitchFamily="34" charset="-122"/>
                <a:cs typeface="Segoe UI" pitchFamily="34" charset="-120"/>
              </a:rPr>
              <a:t>Contemplar la asesoría de especialistas en algunos campos:</a:t>
            </a:r>
            <a:endParaRPr lang="en-US" sz="1700" dirty="0"/>
          </a:p>
        </p:txBody>
      </p:sp>
      <p:sp>
        <p:nvSpPr>
          <p:cNvPr id="11" name="Shape 8"/>
          <p:cNvSpPr/>
          <p:nvPr/>
        </p:nvSpPr>
        <p:spPr>
          <a:xfrm>
            <a:off x="658368" y="2377440"/>
            <a:ext cx="2066544" cy="2432304"/>
          </a:xfrm>
          <a:prstGeom prst="rect">
            <a:avLst/>
          </a:prstGeom>
          <a:solidFill>
            <a:srgbClr val="F4F7FA"/>
          </a:solidFill>
          <a:ln w="9525">
            <a:solidFill>
              <a:srgbClr val="D5DDE5"/>
            </a:solidFill>
            <a:prstDash val="solid"/>
          </a:ln>
        </p:spPr>
      </p:sp>
      <p:sp>
        <p:nvSpPr>
          <p:cNvPr id="12" name="Shape 9"/>
          <p:cNvSpPr/>
          <p:nvPr/>
        </p:nvSpPr>
        <p:spPr>
          <a:xfrm>
            <a:off x="658368" y="2377440"/>
            <a:ext cx="2066544" cy="64008"/>
          </a:xfrm>
          <a:prstGeom prst="rect">
            <a:avLst/>
          </a:prstGeom>
          <a:solidFill>
            <a:srgbClr val="004B85"/>
          </a:solidFill>
          <a:ln/>
        </p:spPr>
      </p:sp>
      <p:sp>
        <p:nvSpPr>
          <p:cNvPr id="13" name="Shape 10"/>
          <p:cNvSpPr/>
          <p:nvPr/>
        </p:nvSpPr>
        <p:spPr>
          <a:xfrm>
            <a:off x="859536" y="2651760"/>
            <a:ext cx="329184" cy="329184"/>
          </a:xfrm>
          <a:prstGeom prst="rect">
            <a:avLst/>
          </a:prstGeom>
          <a:solidFill>
            <a:srgbClr val="004B85"/>
          </a:solidFill>
          <a:ln/>
        </p:spPr>
      </p:sp>
      <p:sp>
        <p:nvSpPr>
          <p:cNvPr id="14" name="Text 11"/>
          <p:cNvSpPr txBox="1"/>
          <p:nvPr/>
        </p:nvSpPr>
        <p:spPr>
          <a:xfrm>
            <a:off x="859536" y="2697480"/>
            <a:ext cx="329184"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5" name="Text 12"/>
          <p:cNvSpPr txBox="1"/>
          <p:nvPr/>
        </p:nvSpPr>
        <p:spPr>
          <a:xfrm>
            <a:off x="859536" y="3163824"/>
            <a:ext cx="1664208" cy="1463040"/>
          </a:xfrm>
          <a:prstGeom prst="rect">
            <a:avLst/>
          </a:prstGeom>
          <a:noFill/>
          <a:ln/>
        </p:spPr>
        <p:txBody>
          <a:bodyPr wrap="square" lIns="0" tIns="0" rIns="0" bIns="0" rtlCol="0" anchor="ctr"/>
          <a:lstStyle/>
          <a:p>
            <a:pPr marL="0" indent="0">
              <a:lnSpc>
                <a:spcPts val="1900"/>
              </a:lnSpc>
              <a:buNone/>
            </a:pPr>
            <a:r>
              <a:rPr lang="en-US" sz="1400" b="1" dirty="0">
                <a:solidFill>
                  <a:srgbClr val="00335C"/>
                </a:solidFill>
                <a:latin typeface="Segoe UI" pitchFamily="34" charset="0"/>
                <a:ea typeface="Segoe UI" pitchFamily="34" charset="-122"/>
                <a:cs typeface="Segoe UI" pitchFamily="34" charset="-120"/>
              </a:rPr>
              <a:t>Plásticos de ingeniería</a:t>
            </a:r>
            <a:endParaRPr lang="en-US" sz="1400" dirty="0"/>
          </a:p>
        </p:txBody>
      </p:sp>
      <p:sp>
        <p:nvSpPr>
          <p:cNvPr id="16" name="Shape 13"/>
          <p:cNvSpPr/>
          <p:nvPr/>
        </p:nvSpPr>
        <p:spPr>
          <a:xfrm>
            <a:off x="2871216" y="2377440"/>
            <a:ext cx="2066544" cy="2432304"/>
          </a:xfrm>
          <a:prstGeom prst="rect">
            <a:avLst/>
          </a:prstGeom>
          <a:solidFill>
            <a:srgbClr val="F4F7FA"/>
          </a:solidFill>
          <a:ln w="9525">
            <a:solidFill>
              <a:srgbClr val="D5DDE5"/>
            </a:solidFill>
            <a:prstDash val="solid"/>
          </a:ln>
        </p:spPr>
      </p:sp>
      <p:sp>
        <p:nvSpPr>
          <p:cNvPr id="17" name="Shape 14"/>
          <p:cNvSpPr/>
          <p:nvPr/>
        </p:nvSpPr>
        <p:spPr>
          <a:xfrm>
            <a:off x="2871216" y="2377440"/>
            <a:ext cx="2066544" cy="64008"/>
          </a:xfrm>
          <a:prstGeom prst="rect">
            <a:avLst/>
          </a:prstGeom>
          <a:solidFill>
            <a:srgbClr val="B88200"/>
          </a:solidFill>
          <a:ln/>
        </p:spPr>
      </p:sp>
      <p:sp>
        <p:nvSpPr>
          <p:cNvPr id="18" name="Shape 15"/>
          <p:cNvSpPr/>
          <p:nvPr/>
        </p:nvSpPr>
        <p:spPr>
          <a:xfrm>
            <a:off x="3072384" y="2651760"/>
            <a:ext cx="329184" cy="329184"/>
          </a:xfrm>
          <a:prstGeom prst="rect">
            <a:avLst/>
          </a:prstGeom>
          <a:solidFill>
            <a:srgbClr val="B88200"/>
          </a:solidFill>
          <a:ln/>
        </p:spPr>
      </p:sp>
      <p:sp>
        <p:nvSpPr>
          <p:cNvPr id="19" name="Text 16"/>
          <p:cNvSpPr txBox="1"/>
          <p:nvPr/>
        </p:nvSpPr>
        <p:spPr>
          <a:xfrm>
            <a:off x="3072384" y="2697480"/>
            <a:ext cx="329184"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20" name="Text 17"/>
          <p:cNvSpPr txBox="1"/>
          <p:nvPr/>
        </p:nvSpPr>
        <p:spPr>
          <a:xfrm>
            <a:off x="3072384" y="3163824"/>
            <a:ext cx="1664208" cy="1463040"/>
          </a:xfrm>
          <a:prstGeom prst="rect">
            <a:avLst/>
          </a:prstGeom>
          <a:noFill/>
          <a:ln/>
        </p:spPr>
        <p:txBody>
          <a:bodyPr wrap="square" lIns="0" tIns="0" rIns="0" bIns="0" rtlCol="0" anchor="ctr"/>
          <a:lstStyle/>
          <a:p>
            <a:pPr marL="0" indent="0">
              <a:lnSpc>
                <a:spcPts val="1900"/>
              </a:lnSpc>
              <a:buNone/>
            </a:pPr>
            <a:r>
              <a:rPr lang="en-US" sz="1400" b="1" dirty="0">
                <a:solidFill>
                  <a:srgbClr val="00335C"/>
                </a:solidFill>
                <a:latin typeface="Segoe UI" pitchFamily="34" charset="0"/>
                <a:ea typeface="Segoe UI" pitchFamily="34" charset="-122"/>
                <a:cs typeface="Segoe UI" pitchFamily="34" charset="-120"/>
              </a:rPr>
              <a:t>Aplicaciones con mecanismos neumáticos o hidráulicos</a:t>
            </a:r>
            <a:endParaRPr lang="en-US" sz="1400" dirty="0"/>
          </a:p>
        </p:txBody>
      </p:sp>
      <p:sp>
        <p:nvSpPr>
          <p:cNvPr id="21" name="Shape 18"/>
          <p:cNvSpPr/>
          <p:nvPr/>
        </p:nvSpPr>
        <p:spPr>
          <a:xfrm>
            <a:off x="5084064" y="2377440"/>
            <a:ext cx="2066544" cy="2432304"/>
          </a:xfrm>
          <a:prstGeom prst="rect">
            <a:avLst/>
          </a:prstGeom>
          <a:solidFill>
            <a:srgbClr val="F4F7FA"/>
          </a:solidFill>
          <a:ln w="9525">
            <a:solidFill>
              <a:srgbClr val="D5DDE5"/>
            </a:solidFill>
            <a:prstDash val="solid"/>
          </a:ln>
        </p:spPr>
      </p:sp>
      <p:sp>
        <p:nvSpPr>
          <p:cNvPr id="22" name="Shape 19"/>
          <p:cNvSpPr/>
          <p:nvPr/>
        </p:nvSpPr>
        <p:spPr>
          <a:xfrm>
            <a:off x="5084064" y="2377440"/>
            <a:ext cx="2066544" cy="64008"/>
          </a:xfrm>
          <a:prstGeom prst="rect">
            <a:avLst/>
          </a:prstGeom>
          <a:solidFill>
            <a:srgbClr val="004B85"/>
          </a:solidFill>
          <a:ln/>
        </p:spPr>
      </p:sp>
      <p:sp>
        <p:nvSpPr>
          <p:cNvPr id="23" name="Shape 20"/>
          <p:cNvSpPr/>
          <p:nvPr/>
        </p:nvSpPr>
        <p:spPr>
          <a:xfrm>
            <a:off x="5285232" y="2651760"/>
            <a:ext cx="329184" cy="329184"/>
          </a:xfrm>
          <a:prstGeom prst="rect">
            <a:avLst/>
          </a:prstGeom>
          <a:solidFill>
            <a:srgbClr val="004B85"/>
          </a:solidFill>
          <a:ln/>
        </p:spPr>
      </p:sp>
      <p:sp>
        <p:nvSpPr>
          <p:cNvPr id="24" name="Text 21"/>
          <p:cNvSpPr txBox="1"/>
          <p:nvPr/>
        </p:nvSpPr>
        <p:spPr>
          <a:xfrm>
            <a:off x="5285232" y="2697480"/>
            <a:ext cx="329184"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25" name="Text 22"/>
          <p:cNvSpPr txBox="1"/>
          <p:nvPr/>
        </p:nvSpPr>
        <p:spPr>
          <a:xfrm>
            <a:off x="5285232" y="3163824"/>
            <a:ext cx="1664208" cy="1463040"/>
          </a:xfrm>
          <a:prstGeom prst="rect">
            <a:avLst/>
          </a:prstGeom>
          <a:noFill/>
          <a:ln/>
        </p:spPr>
        <p:txBody>
          <a:bodyPr wrap="square" lIns="0" tIns="0" rIns="0" bIns="0" rtlCol="0" anchor="ctr"/>
          <a:lstStyle/>
          <a:p>
            <a:pPr marL="0" indent="0">
              <a:lnSpc>
                <a:spcPts val="1900"/>
              </a:lnSpc>
              <a:buNone/>
            </a:pPr>
            <a:r>
              <a:rPr lang="en-US" sz="1400" b="1" dirty="0">
                <a:solidFill>
                  <a:srgbClr val="00335C"/>
                </a:solidFill>
                <a:latin typeface="Segoe UI" pitchFamily="34" charset="0"/>
                <a:ea typeface="Segoe UI" pitchFamily="34" charset="-122"/>
                <a:cs typeface="Segoe UI" pitchFamily="34" charset="-120"/>
              </a:rPr>
              <a:t>Recubrimientos protectores para fenómenos de corrosión o desgaste</a:t>
            </a:r>
            <a:endParaRPr lang="en-US" sz="1400" dirty="0"/>
          </a:p>
        </p:txBody>
      </p:sp>
      <p:sp>
        <p:nvSpPr>
          <p:cNvPr id="26" name="Shape 23"/>
          <p:cNvSpPr/>
          <p:nvPr/>
        </p:nvSpPr>
        <p:spPr>
          <a:xfrm>
            <a:off x="7296912" y="2377440"/>
            <a:ext cx="2066544" cy="2432304"/>
          </a:xfrm>
          <a:prstGeom prst="rect">
            <a:avLst/>
          </a:prstGeom>
          <a:solidFill>
            <a:srgbClr val="F4F7FA"/>
          </a:solidFill>
          <a:ln w="9525">
            <a:solidFill>
              <a:srgbClr val="D5DDE5"/>
            </a:solidFill>
            <a:prstDash val="solid"/>
          </a:ln>
        </p:spPr>
      </p:sp>
      <p:sp>
        <p:nvSpPr>
          <p:cNvPr id="27" name="Shape 24"/>
          <p:cNvSpPr/>
          <p:nvPr/>
        </p:nvSpPr>
        <p:spPr>
          <a:xfrm>
            <a:off x="7296912" y="2377440"/>
            <a:ext cx="2066544" cy="64008"/>
          </a:xfrm>
          <a:prstGeom prst="rect">
            <a:avLst/>
          </a:prstGeom>
          <a:solidFill>
            <a:srgbClr val="B88200"/>
          </a:solidFill>
          <a:ln/>
        </p:spPr>
      </p:sp>
      <p:sp>
        <p:nvSpPr>
          <p:cNvPr id="28" name="Shape 25"/>
          <p:cNvSpPr/>
          <p:nvPr/>
        </p:nvSpPr>
        <p:spPr>
          <a:xfrm>
            <a:off x="7498080" y="2651760"/>
            <a:ext cx="329184" cy="329184"/>
          </a:xfrm>
          <a:prstGeom prst="rect">
            <a:avLst/>
          </a:prstGeom>
          <a:solidFill>
            <a:srgbClr val="B88200"/>
          </a:solidFill>
          <a:ln/>
        </p:spPr>
      </p:sp>
      <p:sp>
        <p:nvSpPr>
          <p:cNvPr id="29" name="Text 26"/>
          <p:cNvSpPr txBox="1"/>
          <p:nvPr/>
        </p:nvSpPr>
        <p:spPr>
          <a:xfrm>
            <a:off x="7498080" y="2697480"/>
            <a:ext cx="329184"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30" name="Text 27"/>
          <p:cNvSpPr txBox="1"/>
          <p:nvPr/>
        </p:nvSpPr>
        <p:spPr>
          <a:xfrm>
            <a:off x="7498080" y="3163824"/>
            <a:ext cx="1664208" cy="1463040"/>
          </a:xfrm>
          <a:prstGeom prst="rect">
            <a:avLst/>
          </a:prstGeom>
          <a:noFill/>
          <a:ln/>
        </p:spPr>
        <p:txBody>
          <a:bodyPr wrap="square" lIns="0" tIns="0" rIns="0" bIns="0" rtlCol="0" anchor="ctr"/>
          <a:lstStyle/>
          <a:p>
            <a:pPr marL="0" indent="0">
              <a:lnSpc>
                <a:spcPts val="1900"/>
              </a:lnSpc>
              <a:buNone/>
            </a:pPr>
            <a:r>
              <a:rPr lang="en-US" sz="1400" b="1" dirty="0">
                <a:solidFill>
                  <a:srgbClr val="00335C"/>
                </a:solidFill>
                <a:latin typeface="Segoe UI" pitchFamily="34" charset="0"/>
                <a:ea typeface="Segoe UI" pitchFamily="34" charset="-122"/>
                <a:cs typeface="Segoe UI" pitchFamily="34" charset="-120"/>
              </a:rPr>
              <a:t>Procesos de automatización</a:t>
            </a:r>
            <a:endParaRPr lang="en-US" sz="1400" dirty="0"/>
          </a:p>
        </p:txBody>
      </p:sp>
      <p:sp>
        <p:nvSpPr>
          <p:cNvPr id="31" name="Shape 28"/>
          <p:cNvSpPr/>
          <p:nvPr/>
        </p:nvSpPr>
        <p:spPr>
          <a:xfrm>
            <a:off x="9509760" y="2377440"/>
            <a:ext cx="2066544" cy="2432304"/>
          </a:xfrm>
          <a:prstGeom prst="rect">
            <a:avLst/>
          </a:prstGeom>
          <a:solidFill>
            <a:srgbClr val="F4F7FA"/>
          </a:solidFill>
          <a:ln w="9525">
            <a:solidFill>
              <a:srgbClr val="D5DDE5"/>
            </a:solidFill>
            <a:prstDash val="solid"/>
          </a:ln>
        </p:spPr>
      </p:sp>
      <p:sp>
        <p:nvSpPr>
          <p:cNvPr id="32" name="Shape 29"/>
          <p:cNvSpPr/>
          <p:nvPr/>
        </p:nvSpPr>
        <p:spPr>
          <a:xfrm>
            <a:off x="9509760" y="2377440"/>
            <a:ext cx="2066544" cy="64008"/>
          </a:xfrm>
          <a:prstGeom prst="rect">
            <a:avLst/>
          </a:prstGeom>
          <a:solidFill>
            <a:srgbClr val="004B85"/>
          </a:solidFill>
          <a:ln/>
        </p:spPr>
      </p:sp>
      <p:sp>
        <p:nvSpPr>
          <p:cNvPr id="33" name="Shape 30"/>
          <p:cNvSpPr/>
          <p:nvPr/>
        </p:nvSpPr>
        <p:spPr>
          <a:xfrm>
            <a:off x="9710928" y="2651760"/>
            <a:ext cx="329184" cy="329184"/>
          </a:xfrm>
          <a:prstGeom prst="rect">
            <a:avLst/>
          </a:prstGeom>
          <a:solidFill>
            <a:srgbClr val="004B85"/>
          </a:solidFill>
          <a:ln/>
        </p:spPr>
      </p:sp>
      <p:sp>
        <p:nvSpPr>
          <p:cNvPr id="34" name="Text 31"/>
          <p:cNvSpPr txBox="1"/>
          <p:nvPr/>
        </p:nvSpPr>
        <p:spPr>
          <a:xfrm>
            <a:off x="9710928" y="2697480"/>
            <a:ext cx="329184"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5</a:t>
            </a:r>
            <a:endParaRPr lang="en-US" sz="1300" dirty="0"/>
          </a:p>
        </p:txBody>
      </p:sp>
      <p:sp>
        <p:nvSpPr>
          <p:cNvPr id="35" name="Text 32"/>
          <p:cNvSpPr txBox="1"/>
          <p:nvPr/>
        </p:nvSpPr>
        <p:spPr>
          <a:xfrm>
            <a:off x="9710928" y="3163824"/>
            <a:ext cx="1664208" cy="1463040"/>
          </a:xfrm>
          <a:prstGeom prst="rect">
            <a:avLst/>
          </a:prstGeom>
          <a:noFill/>
          <a:ln/>
        </p:spPr>
        <p:txBody>
          <a:bodyPr wrap="square" lIns="0" tIns="0" rIns="0" bIns="0" rtlCol="0" anchor="ctr"/>
          <a:lstStyle/>
          <a:p>
            <a:pPr marL="0" indent="0">
              <a:lnSpc>
                <a:spcPts val="1900"/>
              </a:lnSpc>
              <a:buNone/>
            </a:pPr>
            <a:r>
              <a:rPr lang="en-US" sz="1400" b="1" dirty="0">
                <a:solidFill>
                  <a:srgbClr val="00335C"/>
                </a:solidFill>
                <a:latin typeface="Segoe UI" pitchFamily="34" charset="0"/>
                <a:ea typeface="Segoe UI" pitchFamily="34" charset="-122"/>
                <a:cs typeface="Segoe UI" pitchFamily="34" charset="-120"/>
              </a:rPr>
              <a:t>Ingeniería especializada</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 4.4</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2800" b="1" dirty="0">
                <a:solidFill>
                  <a:srgbClr val="00335C"/>
                </a:solidFill>
                <a:latin typeface="Segoe UI" pitchFamily="34" charset="0"/>
                <a:ea typeface="Segoe UI" pitchFamily="34" charset="-122"/>
                <a:cs typeface="Segoe UI" pitchFamily="34" charset="-120"/>
              </a:rPr>
              <a:t>Rediseño de los componentes de cada propuesta</a:t>
            </a:r>
            <a:endParaRPr lang="en-US" sz="28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31</a:t>
            </a:r>
            <a:endParaRPr lang="en-US" sz="1000" dirty="0"/>
          </a:p>
        </p:txBody>
      </p:sp>
      <p:sp>
        <p:nvSpPr>
          <p:cNvPr id="10" name="Text 7"/>
          <p:cNvSpPr txBox="1"/>
          <p:nvPr/>
        </p:nvSpPr>
        <p:spPr>
          <a:xfrm>
            <a:off x="658368" y="1719072"/>
            <a:ext cx="10424160" cy="365760"/>
          </a:xfrm>
          <a:prstGeom prst="rect">
            <a:avLst/>
          </a:prstGeom>
          <a:noFill/>
          <a:ln/>
        </p:spPr>
        <p:txBody>
          <a:bodyPr wrap="square" lIns="0" tIns="0" rIns="0" bIns="0" rtlCol="0" anchor="ctr"/>
          <a:lstStyle/>
          <a:p>
            <a:pPr marL="0" indent="0">
              <a:buNone/>
            </a:pPr>
            <a:r>
              <a:rPr lang="en-US" sz="1700" dirty="0">
                <a:solidFill>
                  <a:srgbClr val="1B2430"/>
                </a:solidFill>
                <a:latin typeface="Segoe UI" pitchFamily="34" charset="0"/>
                <a:ea typeface="Segoe UI" pitchFamily="34" charset="-122"/>
                <a:cs typeface="Segoe UI" pitchFamily="34" charset="-120"/>
              </a:rPr>
              <a:t>Rediseño de los componentes de cada propuesta (conjunto de especificaciones) de acuerdo con:</a:t>
            </a:r>
            <a:endParaRPr lang="en-US" sz="1700" dirty="0"/>
          </a:p>
        </p:txBody>
      </p:sp>
      <p:sp>
        <p:nvSpPr>
          <p:cNvPr id="11" name="Shape 8"/>
          <p:cNvSpPr/>
          <p:nvPr/>
        </p:nvSpPr>
        <p:spPr>
          <a:xfrm>
            <a:off x="658368" y="2286000"/>
            <a:ext cx="5294376" cy="2194560"/>
          </a:xfrm>
          <a:prstGeom prst="rect">
            <a:avLst/>
          </a:prstGeom>
          <a:solidFill>
            <a:srgbClr val="F4F7FA"/>
          </a:solidFill>
          <a:ln w="9525">
            <a:solidFill>
              <a:srgbClr val="D5DDE5"/>
            </a:solidFill>
            <a:prstDash val="solid"/>
          </a:ln>
        </p:spPr>
      </p:sp>
      <p:sp>
        <p:nvSpPr>
          <p:cNvPr id="12" name="Shape 9"/>
          <p:cNvSpPr/>
          <p:nvPr/>
        </p:nvSpPr>
        <p:spPr>
          <a:xfrm>
            <a:off x="658368" y="2286000"/>
            <a:ext cx="5294376" cy="64008"/>
          </a:xfrm>
          <a:prstGeom prst="rect">
            <a:avLst/>
          </a:prstGeom>
          <a:solidFill>
            <a:srgbClr val="004B85"/>
          </a:solidFill>
          <a:ln/>
        </p:spPr>
      </p:sp>
      <p:sp>
        <p:nvSpPr>
          <p:cNvPr id="13" name="Shape 10"/>
          <p:cNvSpPr/>
          <p:nvPr/>
        </p:nvSpPr>
        <p:spPr>
          <a:xfrm>
            <a:off x="914400" y="2523744"/>
            <a:ext cx="347472" cy="347472"/>
          </a:xfrm>
          <a:prstGeom prst="rect">
            <a:avLst/>
          </a:prstGeom>
          <a:solidFill>
            <a:srgbClr val="004B85"/>
          </a:solidFill>
          <a:ln/>
        </p:spPr>
      </p:sp>
      <p:sp>
        <p:nvSpPr>
          <p:cNvPr id="14" name="Text 11"/>
          <p:cNvSpPr txBox="1"/>
          <p:nvPr/>
        </p:nvSpPr>
        <p:spPr>
          <a:xfrm>
            <a:off x="914400" y="2569464"/>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5" name="Text 12"/>
          <p:cNvSpPr txBox="1"/>
          <p:nvPr/>
        </p:nvSpPr>
        <p:spPr>
          <a:xfrm>
            <a:off x="1389888" y="2505456"/>
            <a:ext cx="4306824"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Tipo de elemento</a:t>
            </a:r>
            <a:endParaRPr lang="en-US" sz="1900" dirty="0"/>
          </a:p>
        </p:txBody>
      </p:sp>
      <p:sp>
        <p:nvSpPr>
          <p:cNvPr id="16" name="Text 13"/>
          <p:cNvSpPr txBox="1"/>
          <p:nvPr/>
        </p:nvSpPr>
        <p:spPr>
          <a:xfrm>
            <a:off x="914400" y="2926080"/>
            <a:ext cx="4782312" cy="1389888"/>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Consideraciones en relación con el tipo de elemento. La elección hace relación a la consideración de la función y requiere de flexibilidad, creatividad y experiencia.</a:t>
            </a:r>
            <a:endParaRPr lang="en-US" sz="1400" dirty="0"/>
          </a:p>
        </p:txBody>
      </p:sp>
      <p:sp>
        <p:nvSpPr>
          <p:cNvPr id="17" name="Shape 14"/>
          <p:cNvSpPr/>
          <p:nvPr/>
        </p:nvSpPr>
        <p:spPr>
          <a:xfrm>
            <a:off x="6236208" y="2286000"/>
            <a:ext cx="5294376" cy="2194560"/>
          </a:xfrm>
          <a:prstGeom prst="rect">
            <a:avLst/>
          </a:prstGeom>
          <a:solidFill>
            <a:srgbClr val="F4F7FA"/>
          </a:solidFill>
          <a:ln w="9525">
            <a:solidFill>
              <a:srgbClr val="D5DDE5"/>
            </a:solidFill>
            <a:prstDash val="solid"/>
          </a:ln>
        </p:spPr>
      </p:sp>
      <p:sp>
        <p:nvSpPr>
          <p:cNvPr id="18" name="Shape 15"/>
          <p:cNvSpPr/>
          <p:nvPr/>
        </p:nvSpPr>
        <p:spPr>
          <a:xfrm>
            <a:off x="6236208" y="2286000"/>
            <a:ext cx="5294376" cy="64008"/>
          </a:xfrm>
          <a:prstGeom prst="rect">
            <a:avLst/>
          </a:prstGeom>
          <a:solidFill>
            <a:srgbClr val="FFB903"/>
          </a:solidFill>
          <a:ln/>
        </p:spPr>
      </p:sp>
      <p:sp>
        <p:nvSpPr>
          <p:cNvPr id="19" name="Shape 16"/>
          <p:cNvSpPr/>
          <p:nvPr/>
        </p:nvSpPr>
        <p:spPr>
          <a:xfrm>
            <a:off x="6492240" y="2523744"/>
            <a:ext cx="347472" cy="347472"/>
          </a:xfrm>
          <a:prstGeom prst="rect">
            <a:avLst/>
          </a:prstGeom>
          <a:solidFill>
            <a:srgbClr val="FFB903"/>
          </a:solidFill>
          <a:ln/>
        </p:spPr>
      </p:sp>
      <p:sp>
        <p:nvSpPr>
          <p:cNvPr id="20" name="Text 17"/>
          <p:cNvSpPr txBox="1"/>
          <p:nvPr/>
        </p:nvSpPr>
        <p:spPr>
          <a:xfrm>
            <a:off x="6492240" y="2569464"/>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21" name="Text 18"/>
          <p:cNvSpPr txBox="1"/>
          <p:nvPr/>
        </p:nvSpPr>
        <p:spPr>
          <a:xfrm>
            <a:off x="6967728" y="2505456"/>
            <a:ext cx="4306824"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Tamaño del elemento</a:t>
            </a:r>
            <a:endParaRPr lang="en-US" sz="1900" dirty="0"/>
          </a:p>
        </p:txBody>
      </p:sp>
      <p:sp>
        <p:nvSpPr>
          <p:cNvPr id="22" name="Text 19"/>
          <p:cNvSpPr txBox="1"/>
          <p:nvPr/>
        </p:nvSpPr>
        <p:spPr>
          <a:xfrm>
            <a:off x="6492240" y="2926080"/>
            <a:ext cx="4782312" cy="1389888"/>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Consideraciones en relación con el tamaño del elemento. La estimación del tamaño adecuado para un funcionamiento satisfactorio se denomina dimensionamiento.</a:t>
            </a:r>
            <a:endParaRPr lang="en-US" sz="1400" dirty="0"/>
          </a:p>
        </p:txBody>
      </p:sp>
      <p:sp>
        <p:nvSpPr>
          <p:cNvPr id="23" name="Shape 20"/>
          <p:cNvSpPr/>
          <p:nvPr/>
        </p:nvSpPr>
        <p:spPr>
          <a:xfrm>
            <a:off x="658368" y="4754880"/>
            <a:ext cx="10872216" cy="420624"/>
          </a:xfrm>
          <a:prstGeom prst="rect">
            <a:avLst/>
          </a:prstGeom>
          <a:solidFill>
            <a:srgbClr val="E8F0F7"/>
          </a:solidFill>
          <a:ln/>
        </p:spPr>
      </p:sp>
      <p:sp>
        <p:nvSpPr>
          <p:cNvPr id="24" name="Shape 21"/>
          <p:cNvSpPr/>
          <p:nvPr/>
        </p:nvSpPr>
        <p:spPr>
          <a:xfrm>
            <a:off x="658368" y="4754880"/>
            <a:ext cx="54864" cy="420624"/>
          </a:xfrm>
          <a:prstGeom prst="rect">
            <a:avLst/>
          </a:prstGeom>
          <a:solidFill>
            <a:srgbClr val="004B85"/>
          </a:solidFill>
          <a:ln/>
        </p:spPr>
      </p:sp>
      <p:sp>
        <p:nvSpPr>
          <p:cNvPr id="25" name="Text 22"/>
          <p:cNvSpPr txBox="1"/>
          <p:nvPr/>
        </p:nvSpPr>
        <p:spPr>
          <a:xfrm>
            <a:off x="932688" y="4800600"/>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El dimensionamiento se basa en cálculos mediante teorías asociadas a las disciplinas de la ingeniería y a sus campos de la ciencia.</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 4.4 · BASES DE CÁLCULO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Teorías, códigos y catálogos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32</a:t>
            </a:r>
            <a:endParaRPr lang="en-US" sz="1000" dirty="0"/>
          </a:p>
        </p:txBody>
      </p:sp>
      <p:sp>
        <p:nvSpPr>
          <p:cNvPr id="10" name="Shape 7"/>
          <p:cNvSpPr/>
          <p:nvPr/>
        </p:nvSpPr>
        <p:spPr>
          <a:xfrm>
            <a:off x="658368" y="1828800"/>
            <a:ext cx="3520440" cy="3291840"/>
          </a:xfrm>
          <a:prstGeom prst="rect">
            <a:avLst/>
          </a:prstGeom>
          <a:solidFill>
            <a:srgbClr val="F4F7FA"/>
          </a:solidFill>
          <a:ln w="9525">
            <a:solidFill>
              <a:srgbClr val="D5DDE5"/>
            </a:solidFill>
            <a:prstDash val="solid"/>
          </a:ln>
        </p:spPr>
      </p:sp>
      <p:sp>
        <p:nvSpPr>
          <p:cNvPr id="11" name="Shape 8"/>
          <p:cNvSpPr/>
          <p:nvPr/>
        </p:nvSpPr>
        <p:spPr>
          <a:xfrm>
            <a:off x="658368" y="1828800"/>
            <a:ext cx="3520440" cy="64008"/>
          </a:xfrm>
          <a:prstGeom prst="rect">
            <a:avLst/>
          </a:prstGeom>
          <a:solidFill>
            <a:srgbClr val="004B85"/>
          </a:solidFill>
          <a:ln/>
        </p:spPr>
      </p:sp>
      <p:sp>
        <p:nvSpPr>
          <p:cNvPr id="12" name="Shape 9"/>
          <p:cNvSpPr/>
          <p:nvPr/>
        </p:nvSpPr>
        <p:spPr>
          <a:xfrm>
            <a:off x="914400" y="2084832"/>
            <a:ext cx="384048" cy="384048"/>
          </a:xfrm>
          <a:prstGeom prst="rect">
            <a:avLst/>
          </a:prstGeom>
          <a:solidFill>
            <a:srgbClr val="004B85"/>
          </a:solidFill>
          <a:ln/>
        </p:spPr>
      </p:sp>
      <p:sp>
        <p:nvSpPr>
          <p:cNvPr id="13" name="Text 10"/>
          <p:cNvSpPr txBox="1"/>
          <p:nvPr/>
        </p:nvSpPr>
        <p:spPr>
          <a:xfrm>
            <a:off x="914400"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633472"/>
            <a:ext cx="3008376" cy="475488"/>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Teorías y criterios de falla</a:t>
            </a:r>
            <a:endParaRPr lang="en-US" sz="1700" dirty="0"/>
          </a:p>
        </p:txBody>
      </p:sp>
      <p:sp>
        <p:nvSpPr>
          <p:cNvPr id="15" name="Text 12"/>
          <p:cNvSpPr txBox="1"/>
          <p:nvPr/>
        </p:nvSpPr>
        <p:spPr>
          <a:xfrm>
            <a:off x="914400" y="3200400"/>
            <a:ext cx="3008376" cy="175564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En la ingeniería mecánica, en la mecánica de sólidos: cálculos mediante teorías y criterios de falla con base en la resistencia y con consideraciones de deformación, deflexión, distorsión, pandeo y velocidad crítica.</a:t>
            </a:r>
            <a:endParaRPr lang="en-US" sz="1350" dirty="0"/>
          </a:p>
        </p:txBody>
      </p:sp>
      <p:sp>
        <p:nvSpPr>
          <p:cNvPr id="16" name="Shape 13"/>
          <p:cNvSpPr/>
          <p:nvPr/>
        </p:nvSpPr>
        <p:spPr>
          <a:xfrm>
            <a:off x="4334256" y="1828800"/>
            <a:ext cx="3520440" cy="3291840"/>
          </a:xfrm>
          <a:prstGeom prst="rect">
            <a:avLst/>
          </a:prstGeom>
          <a:solidFill>
            <a:srgbClr val="F4F7FA"/>
          </a:solidFill>
          <a:ln w="9525">
            <a:solidFill>
              <a:srgbClr val="D5DDE5"/>
            </a:solidFill>
            <a:prstDash val="solid"/>
          </a:ln>
        </p:spPr>
      </p:sp>
      <p:sp>
        <p:nvSpPr>
          <p:cNvPr id="17" name="Shape 14"/>
          <p:cNvSpPr/>
          <p:nvPr/>
        </p:nvSpPr>
        <p:spPr>
          <a:xfrm>
            <a:off x="4334256" y="1828800"/>
            <a:ext cx="3520440" cy="64008"/>
          </a:xfrm>
          <a:prstGeom prst="rect">
            <a:avLst/>
          </a:prstGeom>
          <a:solidFill>
            <a:srgbClr val="004B85"/>
          </a:solidFill>
          <a:ln/>
        </p:spPr>
      </p:sp>
      <p:sp>
        <p:nvSpPr>
          <p:cNvPr id="18" name="Shape 15"/>
          <p:cNvSpPr/>
          <p:nvPr/>
        </p:nvSpPr>
        <p:spPr>
          <a:xfrm>
            <a:off x="4590288" y="2084832"/>
            <a:ext cx="384048" cy="384048"/>
          </a:xfrm>
          <a:prstGeom prst="rect">
            <a:avLst/>
          </a:prstGeom>
          <a:solidFill>
            <a:srgbClr val="004B85"/>
          </a:solidFill>
          <a:ln/>
        </p:spPr>
      </p:sp>
      <p:sp>
        <p:nvSpPr>
          <p:cNvPr id="19" name="Text 16"/>
          <p:cNvSpPr txBox="1"/>
          <p:nvPr/>
        </p:nvSpPr>
        <p:spPr>
          <a:xfrm>
            <a:off x="4590288"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4590288" y="2633472"/>
            <a:ext cx="3008376" cy="274320"/>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Códigos</a:t>
            </a:r>
            <a:endParaRPr lang="en-US" sz="1700" dirty="0"/>
          </a:p>
        </p:txBody>
      </p:sp>
      <p:sp>
        <p:nvSpPr>
          <p:cNvPr id="21" name="Text 18"/>
          <p:cNvSpPr txBox="1"/>
          <p:nvPr/>
        </p:nvSpPr>
        <p:spPr>
          <a:xfrm>
            <a:off x="4590288" y="2999232"/>
            <a:ext cx="3008376" cy="1956816"/>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Conjunto de especificaciones para efectuar el análisis, diseño y fabricación de un elemento o sistema, buscando alcanzar un grado especificado de seguridad y funcionamiento: ASME, AGMA, AISC, BSI, API.</a:t>
            </a:r>
            <a:endParaRPr lang="en-US" sz="1350" dirty="0"/>
          </a:p>
        </p:txBody>
      </p:sp>
      <p:sp>
        <p:nvSpPr>
          <p:cNvPr id="22" name="Shape 19"/>
          <p:cNvSpPr/>
          <p:nvPr/>
        </p:nvSpPr>
        <p:spPr>
          <a:xfrm>
            <a:off x="8010144" y="1828800"/>
            <a:ext cx="3520440" cy="3291840"/>
          </a:xfrm>
          <a:prstGeom prst="rect">
            <a:avLst/>
          </a:prstGeom>
          <a:solidFill>
            <a:srgbClr val="F4F7FA"/>
          </a:solidFill>
          <a:ln w="9525">
            <a:solidFill>
              <a:srgbClr val="D5DDE5"/>
            </a:solidFill>
            <a:prstDash val="solid"/>
          </a:ln>
        </p:spPr>
      </p:sp>
      <p:sp>
        <p:nvSpPr>
          <p:cNvPr id="23" name="Shape 20"/>
          <p:cNvSpPr/>
          <p:nvPr/>
        </p:nvSpPr>
        <p:spPr>
          <a:xfrm>
            <a:off x="8010144" y="1828800"/>
            <a:ext cx="3520440" cy="64008"/>
          </a:xfrm>
          <a:prstGeom prst="rect">
            <a:avLst/>
          </a:prstGeom>
          <a:solidFill>
            <a:srgbClr val="FFB903"/>
          </a:solidFill>
          <a:ln/>
        </p:spPr>
      </p:sp>
      <p:sp>
        <p:nvSpPr>
          <p:cNvPr id="24" name="Shape 21"/>
          <p:cNvSpPr/>
          <p:nvPr/>
        </p:nvSpPr>
        <p:spPr>
          <a:xfrm>
            <a:off x="8266176" y="2084832"/>
            <a:ext cx="384048" cy="384048"/>
          </a:xfrm>
          <a:prstGeom prst="rect">
            <a:avLst/>
          </a:prstGeom>
          <a:solidFill>
            <a:srgbClr val="FFB903"/>
          </a:solidFill>
          <a:ln/>
        </p:spPr>
      </p:sp>
      <p:sp>
        <p:nvSpPr>
          <p:cNvPr id="25" name="Text 22"/>
          <p:cNvSpPr txBox="1"/>
          <p:nvPr/>
        </p:nvSpPr>
        <p:spPr>
          <a:xfrm>
            <a:off x="8266176"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6" name="Text 23"/>
          <p:cNvSpPr txBox="1"/>
          <p:nvPr/>
        </p:nvSpPr>
        <p:spPr>
          <a:xfrm>
            <a:off x="8266176" y="2633472"/>
            <a:ext cx="3008376" cy="475488"/>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Catálogos de fabricantes</a:t>
            </a:r>
            <a:endParaRPr lang="en-US" sz="1700" dirty="0"/>
          </a:p>
        </p:txBody>
      </p:sp>
      <p:sp>
        <p:nvSpPr>
          <p:cNvPr id="27" name="Text 24"/>
          <p:cNvSpPr txBox="1"/>
          <p:nvPr/>
        </p:nvSpPr>
        <p:spPr>
          <a:xfrm>
            <a:off x="8266176" y="3200400"/>
            <a:ext cx="3008376" cy="175564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Procedimientos de selección establecidos en catálogos: SKF, FAG, NTN, Renold, Good Year, Intermec, Siemens, ASSI, SEW, Parker.</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 4.4 · HERRAMIENTAS</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Elementos finitos, modelación y simulación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33</a:t>
            </a:r>
            <a:endParaRPr lang="en-US" sz="1000" dirty="0"/>
          </a:p>
        </p:txBody>
      </p:sp>
      <p:sp>
        <p:nvSpPr>
          <p:cNvPr id="10" name="Shape 7"/>
          <p:cNvSpPr/>
          <p:nvPr/>
        </p:nvSpPr>
        <p:spPr>
          <a:xfrm>
            <a:off x="658368" y="2103120"/>
            <a:ext cx="5294376" cy="2468880"/>
          </a:xfrm>
          <a:prstGeom prst="rect">
            <a:avLst/>
          </a:prstGeom>
          <a:solidFill>
            <a:srgbClr val="F4F7FA"/>
          </a:solidFill>
          <a:ln w="9525">
            <a:solidFill>
              <a:srgbClr val="D5DDE5"/>
            </a:solidFill>
            <a:prstDash val="solid"/>
          </a:ln>
        </p:spPr>
      </p:sp>
      <p:sp>
        <p:nvSpPr>
          <p:cNvPr id="11" name="Shape 8"/>
          <p:cNvSpPr/>
          <p:nvPr/>
        </p:nvSpPr>
        <p:spPr>
          <a:xfrm>
            <a:off x="658368" y="2103120"/>
            <a:ext cx="5294376" cy="64008"/>
          </a:xfrm>
          <a:prstGeom prst="rect">
            <a:avLst/>
          </a:prstGeom>
          <a:solidFill>
            <a:srgbClr val="004B85"/>
          </a:solidFill>
          <a:ln/>
        </p:spPr>
      </p:sp>
      <p:sp>
        <p:nvSpPr>
          <p:cNvPr id="12" name="Shape 9"/>
          <p:cNvSpPr/>
          <p:nvPr/>
        </p:nvSpPr>
        <p:spPr>
          <a:xfrm>
            <a:off x="914400" y="2359152"/>
            <a:ext cx="384048" cy="384048"/>
          </a:xfrm>
          <a:prstGeom prst="rect">
            <a:avLst/>
          </a:prstGeom>
          <a:solidFill>
            <a:srgbClr val="004B85"/>
          </a:solidFill>
          <a:ln/>
        </p:spPr>
      </p:sp>
      <p:sp>
        <p:nvSpPr>
          <p:cNvPr id="13" name="Text 10"/>
          <p:cNvSpPr txBox="1"/>
          <p:nvPr/>
        </p:nvSpPr>
        <p:spPr>
          <a:xfrm>
            <a:off x="914400" y="241401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907792"/>
            <a:ext cx="4782312" cy="420624"/>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Herramientas de cálculo</a:t>
            </a:r>
            <a:endParaRPr lang="en-US" sz="2000" dirty="0"/>
          </a:p>
        </p:txBody>
      </p:sp>
      <p:sp>
        <p:nvSpPr>
          <p:cNvPr id="15" name="Text 12"/>
          <p:cNvSpPr txBox="1"/>
          <p:nvPr/>
        </p:nvSpPr>
        <p:spPr>
          <a:xfrm>
            <a:off x="914400" y="3419856"/>
            <a:ext cx="4782312" cy="1097280"/>
          </a:xfrm>
          <a:prstGeom prst="rect">
            <a:avLst/>
          </a:prstGeom>
          <a:noFill/>
          <a:ln/>
        </p:spPr>
        <p:txBody>
          <a:bodyPr wrap="square" lIns="0" tIns="0" rIns="0" bIns="0" rtlCol="0" anchor="ctr"/>
          <a:lstStyle/>
          <a:p>
            <a:pPr marL="0" indent="0">
              <a:lnSpc>
                <a:spcPts val="2200"/>
              </a:lnSpc>
              <a:buNone/>
            </a:pPr>
            <a:r>
              <a:rPr lang="en-US" sz="1500" dirty="0">
                <a:solidFill>
                  <a:srgbClr val="5C6B7A"/>
                </a:solidFill>
                <a:latin typeface="Segoe UI" pitchFamily="34" charset="0"/>
                <a:ea typeface="Segoe UI" pitchFamily="34" charset="-122"/>
                <a:cs typeface="Segoe UI" pitchFamily="34" charset="-120"/>
              </a:rPr>
              <a:t>Contemplar el empleo de herramientas de cálculo, como el análisis por elementos finitos.</a:t>
            </a:r>
            <a:endParaRPr lang="en-US" sz="1500" dirty="0"/>
          </a:p>
        </p:txBody>
      </p:sp>
      <p:sp>
        <p:nvSpPr>
          <p:cNvPr id="16" name="Shape 13"/>
          <p:cNvSpPr/>
          <p:nvPr/>
        </p:nvSpPr>
        <p:spPr>
          <a:xfrm>
            <a:off x="6236208" y="2103120"/>
            <a:ext cx="5294376" cy="2468880"/>
          </a:xfrm>
          <a:prstGeom prst="rect">
            <a:avLst/>
          </a:prstGeom>
          <a:solidFill>
            <a:srgbClr val="F4F7FA"/>
          </a:solidFill>
          <a:ln w="9525">
            <a:solidFill>
              <a:srgbClr val="D5DDE5"/>
            </a:solidFill>
            <a:prstDash val="solid"/>
          </a:ln>
        </p:spPr>
      </p:sp>
      <p:sp>
        <p:nvSpPr>
          <p:cNvPr id="17" name="Shape 14"/>
          <p:cNvSpPr/>
          <p:nvPr/>
        </p:nvSpPr>
        <p:spPr>
          <a:xfrm>
            <a:off x="6236208" y="2103120"/>
            <a:ext cx="5294376" cy="64008"/>
          </a:xfrm>
          <a:prstGeom prst="rect">
            <a:avLst/>
          </a:prstGeom>
          <a:solidFill>
            <a:srgbClr val="FFB903"/>
          </a:solidFill>
          <a:ln/>
        </p:spPr>
      </p:sp>
      <p:sp>
        <p:nvSpPr>
          <p:cNvPr id="18" name="Shape 15"/>
          <p:cNvSpPr/>
          <p:nvPr/>
        </p:nvSpPr>
        <p:spPr>
          <a:xfrm>
            <a:off x="6492240" y="2359152"/>
            <a:ext cx="384048" cy="384048"/>
          </a:xfrm>
          <a:prstGeom prst="rect">
            <a:avLst/>
          </a:prstGeom>
          <a:solidFill>
            <a:srgbClr val="FFB903"/>
          </a:solidFill>
          <a:ln/>
        </p:spPr>
      </p:sp>
      <p:sp>
        <p:nvSpPr>
          <p:cNvPr id="19" name="Text 16"/>
          <p:cNvSpPr txBox="1"/>
          <p:nvPr/>
        </p:nvSpPr>
        <p:spPr>
          <a:xfrm>
            <a:off x="6492240" y="241401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6492240" y="2907792"/>
            <a:ext cx="4782312" cy="420624"/>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Modelación y simulación</a:t>
            </a:r>
            <a:endParaRPr lang="en-US" sz="2000" dirty="0"/>
          </a:p>
        </p:txBody>
      </p:sp>
      <p:sp>
        <p:nvSpPr>
          <p:cNvPr id="21" name="Text 18"/>
          <p:cNvSpPr txBox="1"/>
          <p:nvPr/>
        </p:nvSpPr>
        <p:spPr>
          <a:xfrm>
            <a:off x="6492240" y="3419856"/>
            <a:ext cx="4782312" cy="1097280"/>
          </a:xfrm>
          <a:prstGeom prst="rect">
            <a:avLst/>
          </a:prstGeom>
          <a:noFill/>
          <a:ln/>
        </p:spPr>
        <p:txBody>
          <a:bodyPr wrap="square" lIns="0" tIns="0" rIns="0" bIns="0" rtlCol="0" anchor="ctr"/>
          <a:lstStyle/>
          <a:p>
            <a:pPr marL="0" indent="0">
              <a:lnSpc>
                <a:spcPts val="2200"/>
              </a:lnSpc>
              <a:buNone/>
            </a:pPr>
            <a:r>
              <a:rPr lang="en-US" sz="1500" dirty="0">
                <a:solidFill>
                  <a:srgbClr val="5C6B7A"/>
                </a:solidFill>
                <a:latin typeface="Segoe UI" pitchFamily="34" charset="0"/>
                <a:ea typeface="Segoe UI" pitchFamily="34" charset="-122"/>
                <a:cs typeface="Segoe UI" pitchFamily="34" charset="-120"/>
              </a:rPr>
              <a:t>Además, el empleo de programas de modelación y simulación.</a:t>
            </a:r>
            <a:endParaRPr lang="en-US" sz="1500" dirty="0"/>
          </a:p>
        </p:txBody>
      </p:sp>
      <p:sp>
        <p:nvSpPr>
          <p:cNvPr id="22" name="Shape 19"/>
          <p:cNvSpPr/>
          <p:nvPr/>
        </p:nvSpPr>
        <p:spPr>
          <a:xfrm>
            <a:off x="658368" y="4864608"/>
            <a:ext cx="10872216" cy="420624"/>
          </a:xfrm>
          <a:prstGeom prst="rect">
            <a:avLst/>
          </a:prstGeom>
          <a:solidFill>
            <a:srgbClr val="E8F0F7"/>
          </a:solidFill>
          <a:ln/>
        </p:spPr>
      </p:sp>
      <p:sp>
        <p:nvSpPr>
          <p:cNvPr id="23" name="Shape 20"/>
          <p:cNvSpPr/>
          <p:nvPr/>
        </p:nvSpPr>
        <p:spPr>
          <a:xfrm>
            <a:off x="658368" y="4864608"/>
            <a:ext cx="54864" cy="420624"/>
          </a:xfrm>
          <a:prstGeom prst="rect">
            <a:avLst/>
          </a:prstGeom>
          <a:solidFill>
            <a:srgbClr val="004B85"/>
          </a:solidFill>
          <a:ln/>
        </p:spPr>
      </p:sp>
      <p:sp>
        <p:nvSpPr>
          <p:cNvPr id="24" name="Text 21"/>
          <p:cNvSpPr txBox="1"/>
          <p:nvPr/>
        </p:nvSpPr>
        <p:spPr>
          <a:xfrm>
            <a:off x="932688" y="4910328"/>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Las herramientas no sustituyen el criterio: alimentan el análisis, pero las hipótesis y limitaciones siguen siendo responsabilidad del ingeniero.</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APLICACIÓN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2800" b="1" dirty="0">
                <a:solidFill>
                  <a:srgbClr val="00335C"/>
                </a:solidFill>
                <a:latin typeface="Segoe UI" pitchFamily="34" charset="0"/>
                <a:ea typeface="Segoe UI" pitchFamily="34" charset="-122"/>
                <a:cs typeface="Segoe UI" pitchFamily="34" charset="-120"/>
              </a:rPr>
              <a:t>Método de los elementos finitos: caldera 1000 BHP</a:t>
            </a:r>
            <a:endParaRPr lang="en-US" sz="28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34</a:t>
            </a:r>
            <a:endParaRPr lang="en-US" sz="1000" dirty="0"/>
          </a:p>
        </p:txBody>
      </p:sp>
      <p:pic>
        <p:nvPicPr>
          <p:cNvPr id="10" name="Image 1" descr="/home/claude/work/assets/f_fem1.png"/>
          <p:cNvPicPr>
            <a:picLocks noChangeAspect="1"/>
          </p:cNvPicPr>
          <p:nvPr/>
        </p:nvPicPr>
        <p:blipFill>
          <a:blip r:embed="rId4"/>
          <a:stretch>
            <a:fillRect/>
          </a:stretch>
        </p:blipFill>
        <p:spPr>
          <a:xfrm>
            <a:off x="731520" y="1828800"/>
            <a:ext cx="5303520" cy="3557016"/>
          </a:xfrm>
          <a:prstGeom prst="rect">
            <a:avLst/>
          </a:prstGeom>
        </p:spPr>
      </p:pic>
      <p:pic>
        <p:nvPicPr>
          <p:cNvPr id="11" name="Image 2" descr="/home/claude/work/assets/f_fem2.png"/>
          <p:cNvPicPr>
            <a:picLocks noChangeAspect="1"/>
          </p:cNvPicPr>
          <p:nvPr/>
        </p:nvPicPr>
        <p:blipFill>
          <a:blip r:embed="rId5"/>
          <a:stretch>
            <a:fillRect/>
          </a:stretch>
        </p:blipFill>
        <p:spPr>
          <a:xfrm>
            <a:off x="6355080" y="2011680"/>
            <a:ext cx="5074920" cy="335584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APLICACIÓN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Análisis tridimensional: preproceso y M.E.F.</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35</a:t>
            </a:r>
            <a:endParaRPr lang="en-US" sz="1000" dirty="0"/>
          </a:p>
        </p:txBody>
      </p:sp>
      <p:pic>
        <p:nvPicPr>
          <p:cNvPr id="10" name="Image 1" descr="/home/claude/work/assets/f_fem3.png"/>
          <p:cNvPicPr>
            <a:picLocks noChangeAspect="1"/>
          </p:cNvPicPr>
          <p:nvPr/>
        </p:nvPicPr>
        <p:blipFill>
          <a:blip r:embed="rId4"/>
          <a:stretch>
            <a:fillRect/>
          </a:stretch>
        </p:blipFill>
        <p:spPr>
          <a:xfrm>
            <a:off x="3931920" y="1920240"/>
            <a:ext cx="4334256" cy="2852928"/>
          </a:xfrm>
          <a:prstGeom prst="rect">
            <a:avLst/>
          </a:prstGeom>
        </p:spPr>
      </p:pic>
      <p:sp>
        <p:nvSpPr>
          <p:cNvPr id="11" name="Shape 7"/>
          <p:cNvSpPr/>
          <p:nvPr/>
        </p:nvSpPr>
        <p:spPr>
          <a:xfrm>
            <a:off x="658368" y="5120640"/>
            <a:ext cx="10872216" cy="420624"/>
          </a:xfrm>
          <a:prstGeom prst="rect">
            <a:avLst/>
          </a:prstGeom>
          <a:solidFill>
            <a:srgbClr val="E8F0F7"/>
          </a:solidFill>
          <a:ln/>
        </p:spPr>
      </p:sp>
      <p:sp>
        <p:nvSpPr>
          <p:cNvPr id="12" name="Shape 8"/>
          <p:cNvSpPr/>
          <p:nvPr/>
        </p:nvSpPr>
        <p:spPr>
          <a:xfrm>
            <a:off x="658368" y="5120640"/>
            <a:ext cx="54864" cy="420624"/>
          </a:xfrm>
          <a:prstGeom prst="rect">
            <a:avLst/>
          </a:prstGeom>
          <a:solidFill>
            <a:srgbClr val="004B85"/>
          </a:solidFill>
          <a:ln/>
        </p:spPr>
      </p:sp>
      <p:sp>
        <p:nvSpPr>
          <p:cNvPr id="13" name="Text 9"/>
          <p:cNvSpPr txBox="1"/>
          <p:nvPr/>
        </p:nvSpPr>
        <p:spPr>
          <a:xfrm>
            <a:off x="932688" y="5166360"/>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Fuente: www.eadic.com</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 4.4 · ADVERTENCIA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No todo se resuelve con cálculo</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36</a:t>
            </a:r>
            <a:endParaRPr lang="en-US" sz="1000" dirty="0"/>
          </a:p>
        </p:txBody>
      </p:sp>
      <p:sp>
        <p:nvSpPr>
          <p:cNvPr id="10" name="Shape 7"/>
          <p:cNvSpPr/>
          <p:nvPr/>
        </p:nvSpPr>
        <p:spPr>
          <a:xfrm>
            <a:off x="658368" y="2011680"/>
            <a:ext cx="5294376" cy="2834640"/>
          </a:xfrm>
          <a:prstGeom prst="rect">
            <a:avLst/>
          </a:prstGeom>
          <a:solidFill>
            <a:srgbClr val="F4F7FA"/>
          </a:solidFill>
          <a:ln w="9525">
            <a:solidFill>
              <a:srgbClr val="D5DDE5"/>
            </a:solidFill>
            <a:prstDash val="solid"/>
          </a:ln>
        </p:spPr>
      </p:sp>
      <p:sp>
        <p:nvSpPr>
          <p:cNvPr id="11" name="Shape 8"/>
          <p:cNvSpPr/>
          <p:nvPr/>
        </p:nvSpPr>
        <p:spPr>
          <a:xfrm>
            <a:off x="658368" y="2011680"/>
            <a:ext cx="5294376" cy="64008"/>
          </a:xfrm>
          <a:prstGeom prst="rect">
            <a:avLst/>
          </a:prstGeom>
          <a:solidFill>
            <a:srgbClr val="004B85"/>
          </a:solidFill>
          <a:ln/>
        </p:spPr>
      </p:sp>
      <p:sp>
        <p:nvSpPr>
          <p:cNvPr id="12" name="Shape 9"/>
          <p:cNvSpPr/>
          <p:nvPr/>
        </p:nvSpPr>
        <p:spPr>
          <a:xfrm>
            <a:off x="914400" y="2267712"/>
            <a:ext cx="384048" cy="384048"/>
          </a:xfrm>
          <a:prstGeom prst="rect">
            <a:avLst/>
          </a:prstGeom>
          <a:solidFill>
            <a:srgbClr val="004B85"/>
          </a:solidFill>
          <a:ln/>
        </p:spPr>
      </p:sp>
      <p:sp>
        <p:nvSpPr>
          <p:cNvPr id="13" name="Text 10"/>
          <p:cNvSpPr txBox="1"/>
          <p:nvPr/>
        </p:nvSpPr>
        <p:spPr>
          <a:xfrm>
            <a:off x="914400"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816352"/>
            <a:ext cx="4782312" cy="804672"/>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No hay enfoque matemático para todo</a:t>
            </a:r>
            <a:endParaRPr lang="en-US" sz="1900" dirty="0"/>
          </a:p>
        </p:txBody>
      </p:sp>
      <p:sp>
        <p:nvSpPr>
          <p:cNvPr id="15" name="Text 12"/>
          <p:cNvSpPr txBox="1"/>
          <p:nvPr/>
        </p:nvSpPr>
        <p:spPr>
          <a:xfrm>
            <a:off x="914400" y="3712464"/>
            <a:ext cx="4782312" cy="969264"/>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No existe un enfoque matemático para toda decisión de diseño y en muchos casos estas decisiones deben ser dadas con base en la experiencia.</a:t>
            </a:r>
            <a:endParaRPr lang="en-US" sz="1450" dirty="0"/>
          </a:p>
        </p:txBody>
      </p:sp>
      <p:sp>
        <p:nvSpPr>
          <p:cNvPr id="16" name="Shape 13"/>
          <p:cNvSpPr/>
          <p:nvPr/>
        </p:nvSpPr>
        <p:spPr>
          <a:xfrm>
            <a:off x="6236208" y="2011680"/>
            <a:ext cx="5294376" cy="2834640"/>
          </a:xfrm>
          <a:prstGeom prst="rect">
            <a:avLst/>
          </a:prstGeom>
          <a:solidFill>
            <a:srgbClr val="F4F7FA"/>
          </a:solidFill>
          <a:ln w="9525">
            <a:solidFill>
              <a:srgbClr val="D5DDE5"/>
            </a:solidFill>
            <a:prstDash val="solid"/>
          </a:ln>
        </p:spPr>
      </p:sp>
      <p:sp>
        <p:nvSpPr>
          <p:cNvPr id="17" name="Shape 14"/>
          <p:cNvSpPr/>
          <p:nvPr/>
        </p:nvSpPr>
        <p:spPr>
          <a:xfrm>
            <a:off x="6236208" y="2011680"/>
            <a:ext cx="5294376" cy="64008"/>
          </a:xfrm>
          <a:prstGeom prst="rect">
            <a:avLst/>
          </a:prstGeom>
          <a:solidFill>
            <a:srgbClr val="FFB903"/>
          </a:solidFill>
          <a:ln/>
        </p:spPr>
      </p:sp>
      <p:sp>
        <p:nvSpPr>
          <p:cNvPr id="18" name="Shape 15"/>
          <p:cNvSpPr/>
          <p:nvPr/>
        </p:nvSpPr>
        <p:spPr>
          <a:xfrm>
            <a:off x="6492240" y="2267712"/>
            <a:ext cx="384048" cy="384048"/>
          </a:xfrm>
          <a:prstGeom prst="rect">
            <a:avLst/>
          </a:prstGeom>
          <a:solidFill>
            <a:srgbClr val="FFB903"/>
          </a:solidFill>
          <a:ln/>
        </p:spPr>
      </p:sp>
      <p:sp>
        <p:nvSpPr>
          <p:cNvPr id="19" name="Text 16"/>
          <p:cNvSpPr txBox="1"/>
          <p:nvPr/>
        </p:nvSpPr>
        <p:spPr>
          <a:xfrm>
            <a:off x="6492240"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6492240" y="2816352"/>
            <a:ext cx="4782312" cy="804672"/>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Estética y proporcionalidad</a:t>
            </a:r>
            <a:endParaRPr lang="en-US" sz="1900" dirty="0"/>
          </a:p>
        </p:txBody>
      </p:sp>
      <p:sp>
        <p:nvSpPr>
          <p:cNvPr id="21" name="Text 18"/>
          <p:cNvSpPr txBox="1"/>
          <p:nvPr/>
        </p:nvSpPr>
        <p:spPr>
          <a:xfrm>
            <a:off x="6492240" y="3712464"/>
            <a:ext cx="4782312" cy="969264"/>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Además, otras decisiones deben ser tomadas con base en factores estéticos o de proporcionalidad dimensional.</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ETAPAS 4.5 Y 4.6</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Factibilidad y optimización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37</a:t>
            </a:r>
            <a:endParaRPr lang="en-US" sz="1000" dirty="0"/>
          </a:p>
        </p:txBody>
      </p:sp>
      <p:sp>
        <p:nvSpPr>
          <p:cNvPr id="10" name="Shape 7"/>
          <p:cNvSpPr/>
          <p:nvPr/>
        </p:nvSpPr>
        <p:spPr>
          <a:xfrm>
            <a:off x="658368" y="1920240"/>
            <a:ext cx="5294376" cy="3017520"/>
          </a:xfrm>
          <a:prstGeom prst="rect">
            <a:avLst/>
          </a:prstGeom>
          <a:solidFill>
            <a:srgbClr val="F4F7FA"/>
          </a:solidFill>
          <a:ln w="9525">
            <a:solidFill>
              <a:srgbClr val="D5DDE5"/>
            </a:solidFill>
            <a:prstDash val="solid"/>
          </a:ln>
        </p:spPr>
      </p:sp>
      <p:sp>
        <p:nvSpPr>
          <p:cNvPr id="11" name="Shape 8"/>
          <p:cNvSpPr/>
          <p:nvPr/>
        </p:nvSpPr>
        <p:spPr>
          <a:xfrm>
            <a:off x="658368" y="1920240"/>
            <a:ext cx="5294376" cy="64008"/>
          </a:xfrm>
          <a:prstGeom prst="rect">
            <a:avLst/>
          </a:prstGeom>
          <a:solidFill>
            <a:srgbClr val="004B85"/>
          </a:solidFill>
          <a:ln/>
        </p:spPr>
      </p:sp>
      <p:sp>
        <p:nvSpPr>
          <p:cNvPr id="12" name="Shape 9"/>
          <p:cNvSpPr/>
          <p:nvPr/>
        </p:nvSpPr>
        <p:spPr>
          <a:xfrm>
            <a:off x="914400" y="2176272"/>
            <a:ext cx="384048" cy="384048"/>
          </a:xfrm>
          <a:prstGeom prst="rect">
            <a:avLst/>
          </a:prstGeom>
          <a:solidFill>
            <a:srgbClr val="004B85"/>
          </a:solidFill>
          <a:ln/>
        </p:spPr>
      </p:sp>
      <p:sp>
        <p:nvSpPr>
          <p:cNvPr id="13" name="Text 10"/>
          <p:cNvSpPr txBox="1"/>
          <p:nvPr/>
        </p:nvSpPr>
        <p:spPr>
          <a:xfrm>
            <a:off x="914400" y="223113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4.5</a:t>
            </a:r>
            <a:endParaRPr lang="en-US" sz="1500" dirty="0"/>
          </a:p>
        </p:txBody>
      </p:sp>
      <p:sp>
        <p:nvSpPr>
          <p:cNvPr id="14" name="Text 11"/>
          <p:cNvSpPr txBox="1"/>
          <p:nvPr/>
        </p:nvSpPr>
        <p:spPr>
          <a:xfrm>
            <a:off x="914400" y="2724912"/>
            <a:ext cx="4782312" cy="7863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Evaluación de la factibilidad (habilidad 1)</a:t>
            </a:r>
            <a:endParaRPr lang="en-US" sz="1800" dirty="0"/>
          </a:p>
        </p:txBody>
      </p:sp>
      <p:sp>
        <p:nvSpPr>
          <p:cNvPr id="15" name="Text 12"/>
          <p:cNvSpPr txBox="1"/>
          <p:nvPr/>
        </p:nvSpPr>
        <p:spPr>
          <a:xfrm>
            <a:off x="914400" y="3602736"/>
            <a:ext cx="4782312" cy="1280160"/>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Es el proceso que asegura que un conjunto de especificaciones dado sea satisfactorio: adecuado, posible y aceptable.</a:t>
            </a:r>
            <a:endParaRPr lang="en-US" sz="1450" dirty="0"/>
          </a:p>
        </p:txBody>
      </p:sp>
      <p:sp>
        <p:nvSpPr>
          <p:cNvPr id="16" name="Shape 13"/>
          <p:cNvSpPr/>
          <p:nvPr/>
        </p:nvSpPr>
        <p:spPr>
          <a:xfrm>
            <a:off x="6236208" y="1920240"/>
            <a:ext cx="5294376" cy="3017520"/>
          </a:xfrm>
          <a:prstGeom prst="rect">
            <a:avLst/>
          </a:prstGeom>
          <a:solidFill>
            <a:srgbClr val="F4F7FA"/>
          </a:solidFill>
          <a:ln w="9525">
            <a:solidFill>
              <a:srgbClr val="D5DDE5"/>
            </a:solidFill>
            <a:prstDash val="solid"/>
          </a:ln>
        </p:spPr>
      </p:sp>
      <p:sp>
        <p:nvSpPr>
          <p:cNvPr id="17" name="Shape 14"/>
          <p:cNvSpPr/>
          <p:nvPr/>
        </p:nvSpPr>
        <p:spPr>
          <a:xfrm>
            <a:off x="6236208" y="1920240"/>
            <a:ext cx="5294376" cy="64008"/>
          </a:xfrm>
          <a:prstGeom prst="rect">
            <a:avLst/>
          </a:prstGeom>
          <a:solidFill>
            <a:srgbClr val="FFB903"/>
          </a:solidFill>
          <a:ln/>
        </p:spPr>
      </p:sp>
      <p:sp>
        <p:nvSpPr>
          <p:cNvPr id="18" name="Shape 15"/>
          <p:cNvSpPr/>
          <p:nvPr/>
        </p:nvSpPr>
        <p:spPr>
          <a:xfrm>
            <a:off x="6492240" y="2176272"/>
            <a:ext cx="384048" cy="384048"/>
          </a:xfrm>
          <a:prstGeom prst="rect">
            <a:avLst/>
          </a:prstGeom>
          <a:solidFill>
            <a:srgbClr val="FFB903"/>
          </a:solidFill>
          <a:ln/>
        </p:spPr>
      </p:sp>
      <p:sp>
        <p:nvSpPr>
          <p:cNvPr id="19" name="Text 16"/>
          <p:cNvSpPr txBox="1"/>
          <p:nvPr/>
        </p:nvSpPr>
        <p:spPr>
          <a:xfrm>
            <a:off x="6492240" y="223113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4.6</a:t>
            </a:r>
            <a:endParaRPr lang="en-US" sz="1500" dirty="0"/>
          </a:p>
        </p:txBody>
      </p:sp>
      <p:sp>
        <p:nvSpPr>
          <p:cNvPr id="20" name="Text 17"/>
          <p:cNvSpPr txBox="1"/>
          <p:nvPr/>
        </p:nvSpPr>
        <p:spPr>
          <a:xfrm>
            <a:off x="6492240" y="2724912"/>
            <a:ext cx="4782312" cy="7863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Estrategia de optimización (habilidad 2)</a:t>
            </a:r>
            <a:endParaRPr lang="en-US" sz="1800" dirty="0"/>
          </a:p>
        </p:txBody>
      </p:sp>
      <p:sp>
        <p:nvSpPr>
          <p:cNvPr id="21" name="Text 18"/>
          <p:cNvSpPr txBox="1"/>
          <p:nvPr/>
        </p:nvSpPr>
        <p:spPr>
          <a:xfrm>
            <a:off x="6492240" y="3602736"/>
            <a:ext cx="4782312" cy="1280160"/>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Es el proceso para identificar las mejores alternativas. Emplea el método de las cifras de mérito, que pueden relacionarse con costo, seguridad, estética, tiempo de ejecución, etc.</a:t>
            </a:r>
            <a:endParaRPr lang="en-US" sz="14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REFLEXIÓN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Cálculo, criterio y belleza</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38</a:t>
            </a:r>
            <a:endParaRPr lang="en-US" sz="1000" dirty="0"/>
          </a:p>
        </p:txBody>
      </p:sp>
      <p:sp>
        <p:nvSpPr>
          <p:cNvPr id="10" name="Shape 7"/>
          <p:cNvSpPr/>
          <p:nvPr/>
        </p:nvSpPr>
        <p:spPr>
          <a:xfrm>
            <a:off x="658368" y="1737360"/>
            <a:ext cx="10872216" cy="2377440"/>
          </a:xfrm>
          <a:prstGeom prst="rect">
            <a:avLst/>
          </a:prstGeom>
          <a:solidFill>
            <a:srgbClr val="E8F0F7"/>
          </a:solidFill>
          <a:ln/>
        </p:spPr>
      </p:sp>
      <p:sp>
        <p:nvSpPr>
          <p:cNvPr id="11" name="Shape 8"/>
          <p:cNvSpPr/>
          <p:nvPr/>
        </p:nvSpPr>
        <p:spPr>
          <a:xfrm>
            <a:off x="658368" y="1737360"/>
            <a:ext cx="64008" cy="2377440"/>
          </a:xfrm>
          <a:prstGeom prst="rect">
            <a:avLst/>
          </a:prstGeom>
          <a:solidFill>
            <a:srgbClr val="004B85"/>
          </a:solidFill>
          <a:ln/>
        </p:spPr>
      </p:sp>
      <p:sp>
        <p:nvSpPr>
          <p:cNvPr id="12" name="Text 9"/>
          <p:cNvSpPr txBox="1"/>
          <p:nvPr/>
        </p:nvSpPr>
        <p:spPr>
          <a:xfrm>
            <a:off x="1097280" y="1920240"/>
            <a:ext cx="9966960" cy="1719072"/>
          </a:xfrm>
          <a:prstGeom prst="rect">
            <a:avLst/>
          </a:prstGeom>
          <a:noFill/>
          <a:ln/>
        </p:spPr>
        <p:txBody>
          <a:bodyPr wrap="square" lIns="0" tIns="0" rIns="0" bIns="0" rtlCol="0" anchor="ctr"/>
          <a:lstStyle/>
          <a:p>
            <a:pPr marL="0" indent="0">
              <a:lnSpc>
                <a:spcPts val="2175"/>
              </a:lnSpc>
              <a:buNone/>
            </a:pPr>
            <a:r>
              <a:rPr lang="en-US" sz="1500" i="1" dirty="0">
                <a:solidFill>
                  <a:srgbClr val="00335C"/>
                </a:solidFill>
                <a:latin typeface="Segoe UI" pitchFamily="34" charset="0"/>
                <a:ea typeface="Segoe UI" pitchFamily="34" charset="-122"/>
                <a:cs typeface="Segoe UI" pitchFamily="34" charset="-120"/>
              </a:rPr>
              <a:t>En muchos casos las consideraciones de diseño importantes son tales que no es necesario hacer cálculos para definir un elemento. Pero los estudiantes, en especial, suelen confundirse cuando se encuentran en situaciones en que es virtualmente imposible efectuar un solo cálculo y, sin embargo, tiene que tomarse una decisión importante… Estos puntos se exponen aquí de modo que no se crea que existe un enfoque matemático racional para toda decisión de diseño.</a:t>
            </a:r>
            <a:endParaRPr lang="en-US" sz="1500" dirty="0"/>
          </a:p>
        </p:txBody>
      </p:sp>
      <p:sp>
        <p:nvSpPr>
          <p:cNvPr id="13" name="Text 10"/>
          <p:cNvSpPr txBox="1"/>
          <p:nvPr/>
        </p:nvSpPr>
        <p:spPr>
          <a:xfrm>
            <a:off x="1097280" y="3657600"/>
            <a:ext cx="9966960" cy="292608"/>
          </a:xfrm>
          <a:prstGeom prst="rect">
            <a:avLst/>
          </a:prstGeom>
          <a:noFill/>
          <a:ln/>
        </p:spPr>
        <p:txBody>
          <a:bodyPr wrap="square" lIns="0" tIns="0" rIns="0" bIns="0" rtlCol="0" anchor="ctr"/>
          <a:lstStyle/>
          <a:p>
            <a:pPr marL="0" indent="0" algn="r">
              <a:buNone/>
            </a:pPr>
            <a:r>
              <a:rPr lang="en-US" sz="1250" b="1" kern="0" spc="60" dirty="0">
                <a:solidFill>
                  <a:srgbClr val="B88200"/>
                </a:solidFill>
                <a:latin typeface="Segoe UI" pitchFamily="34" charset="0"/>
                <a:ea typeface="Segoe UI" pitchFamily="34" charset="-122"/>
                <a:cs typeface="Segoe UI" pitchFamily="34" charset="-120"/>
              </a:rPr>
              <a:t>SHIGLEY</a:t>
            </a:r>
            <a:endParaRPr lang="en-US" sz="1250" dirty="0"/>
          </a:p>
        </p:txBody>
      </p:sp>
      <p:sp>
        <p:nvSpPr>
          <p:cNvPr id="14" name="Shape 11"/>
          <p:cNvSpPr/>
          <p:nvPr/>
        </p:nvSpPr>
        <p:spPr>
          <a:xfrm>
            <a:off x="658368" y="4370832"/>
            <a:ext cx="10872216" cy="1481328"/>
          </a:xfrm>
          <a:prstGeom prst="rect">
            <a:avLst/>
          </a:prstGeom>
          <a:solidFill>
            <a:srgbClr val="E8F0F7"/>
          </a:solidFill>
          <a:ln/>
        </p:spPr>
      </p:sp>
      <p:sp>
        <p:nvSpPr>
          <p:cNvPr id="15" name="Shape 12"/>
          <p:cNvSpPr/>
          <p:nvPr/>
        </p:nvSpPr>
        <p:spPr>
          <a:xfrm>
            <a:off x="658368" y="4370832"/>
            <a:ext cx="64008" cy="1481328"/>
          </a:xfrm>
          <a:prstGeom prst="rect">
            <a:avLst/>
          </a:prstGeom>
          <a:solidFill>
            <a:srgbClr val="004B85"/>
          </a:solidFill>
          <a:ln/>
        </p:spPr>
      </p:sp>
      <p:sp>
        <p:nvSpPr>
          <p:cNvPr id="16" name="Text 13"/>
          <p:cNvSpPr txBox="1"/>
          <p:nvPr/>
        </p:nvSpPr>
        <p:spPr>
          <a:xfrm>
            <a:off x="1097280" y="4553712"/>
            <a:ext cx="9966960" cy="822960"/>
          </a:xfrm>
          <a:prstGeom prst="rect">
            <a:avLst/>
          </a:prstGeom>
          <a:noFill/>
          <a:ln/>
        </p:spPr>
        <p:txBody>
          <a:bodyPr wrap="square" lIns="0" tIns="0" rIns="0" bIns="0" rtlCol="0" anchor="ctr"/>
          <a:lstStyle/>
          <a:p>
            <a:pPr marL="0" indent="0">
              <a:lnSpc>
                <a:spcPts val="2175"/>
              </a:lnSpc>
              <a:buNone/>
            </a:pPr>
            <a:r>
              <a:rPr lang="en-US" sz="1500" i="1" dirty="0">
                <a:solidFill>
                  <a:srgbClr val="00335C"/>
                </a:solidFill>
                <a:latin typeface="Segoe UI" pitchFamily="34" charset="0"/>
                <a:ea typeface="Segoe UI" pitchFamily="34" charset="-122"/>
                <a:cs typeface="Segoe UI" pitchFamily="34" charset="-120"/>
              </a:rPr>
              <a:t>Cuando estoy trabajando en un problema, nunca pienso en la belleza, sólo pienso en cómo resolver este problema, pero cuando he terminado, si la solución no es bella sé que está mal.</a:t>
            </a:r>
            <a:endParaRPr lang="en-US" sz="1500" dirty="0"/>
          </a:p>
        </p:txBody>
      </p:sp>
      <p:sp>
        <p:nvSpPr>
          <p:cNvPr id="17" name="Text 14"/>
          <p:cNvSpPr txBox="1"/>
          <p:nvPr/>
        </p:nvSpPr>
        <p:spPr>
          <a:xfrm>
            <a:off x="1097280" y="5394960"/>
            <a:ext cx="9966960" cy="292608"/>
          </a:xfrm>
          <a:prstGeom prst="rect">
            <a:avLst/>
          </a:prstGeom>
          <a:noFill/>
          <a:ln/>
        </p:spPr>
        <p:txBody>
          <a:bodyPr wrap="square" lIns="0" tIns="0" rIns="0" bIns="0" rtlCol="0" anchor="ctr"/>
          <a:lstStyle/>
          <a:p>
            <a:pPr marL="0" indent="0" algn="r">
              <a:buNone/>
            </a:pPr>
            <a:r>
              <a:rPr lang="en-US" sz="1250" b="1" kern="0" spc="60" dirty="0">
                <a:solidFill>
                  <a:srgbClr val="B88200"/>
                </a:solidFill>
                <a:latin typeface="Segoe UI" pitchFamily="34" charset="0"/>
                <a:ea typeface="Segoe UI" pitchFamily="34" charset="-122"/>
                <a:cs typeface="Segoe UI" pitchFamily="34" charset="-120"/>
              </a:rPr>
              <a:t>RICHARD BUCKMINSTER FULLER · HAMROCK, PÁG. 27</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ETAPAS 5, 6 Y 7</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Implicaciones y estudio de costos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39</a:t>
            </a:r>
            <a:endParaRPr lang="en-US" sz="1000" dirty="0"/>
          </a:p>
        </p:txBody>
      </p:sp>
      <p:sp>
        <p:nvSpPr>
          <p:cNvPr id="10" name="Shape 7"/>
          <p:cNvSpPr/>
          <p:nvPr/>
        </p:nvSpPr>
        <p:spPr>
          <a:xfrm>
            <a:off x="658368" y="1828800"/>
            <a:ext cx="3520440" cy="3200400"/>
          </a:xfrm>
          <a:prstGeom prst="rect">
            <a:avLst/>
          </a:prstGeom>
          <a:solidFill>
            <a:srgbClr val="F4F7FA"/>
          </a:solidFill>
          <a:ln w="9525">
            <a:solidFill>
              <a:srgbClr val="D5DDE5"/>
            </a:solidFill>
            <a:prstDash val="solid"/>
          </a:ln>
        </p:spPr>
      </p:sp>
      <p:sp>
        <p:nvSpPr>
          <p:cNvPr id="11" name="Shape 8"/>
          <p:cNvSpPr/>
          <p:nvPr/>
        </p:nvSpPr>
        <p:spPr>
          <a:xfrm>
            <a:off x="658368" y="1828800"/>
            <a:ext cx="3520440" cy="64008"/>
          </a:xfrm>
          <a:prstGeom prst="rect">
            <a:avLst/>
          </a:prstGeom>
          <a:solidFill>
            <a:srgbClr val="004B85"/>
          </a:solidFill>
          <a:ln/>
        </p:spPr>
      </p:sp>
      <p:sp>
        <p:nvSpPr>
          <p:cNvPr id="12" name="Shape 9"/>
          <p:cNvSpPr/>
          <p:nvPr/>
        </p:nvSpPr>
        <p:spPr>
          <a:xfrm>
            <a:off x="914400" y="2084832"/>
            <a:ext cx="384048" cy="384048"/>
          </a:xfrm>
          <a:prstGeom prst="rect">
            <a:avLst/>
          </a:prstGeom>
          <a:solidFill>
            <a:srgbClr val="004B85"/>
          </a:solidFill>
          <a:ln/>
        </p:spPr>
      </p:sp>
      <p:sp>
        <p:nvSpPr>
          <p:cNvPr id="13" name="Text 10"/>
          <p:cNvSpPr txBox="1"/>
          <p:nvPr/>
        </p:nvSpPr>
        <p:spPr>
          <a:xfrm>
            <a:off x="914400"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5</a:t>
            </a:r>
            <a:endParaRPr lang="en-US" sz="1500" dirty="0"/>
          </a:p>
        </p:txBody>
      </p:sp>
      <p:sp>
        <p:nvSpPr>
          <p:cNvPr id="14" name="Text 11"/>
          <p:cNvSpPr txBox="1"/>
          <p:nvPr/>
        </p:nvSpPr>
        <p:spPr>
          <a:xfrm>
            <a:off x="914400" y="2633472"/>
            <a:ext cx="3008376" cy="7863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Implicaciones en otros subsistemas</a:t>
            </a:r>
            <a:endParaRPr lang="en-US" sz="1700" dirty="0"/>
          </a:p>
        </p:txBody>
      </p:sp>
      <p:sp>
        <p:nvSpPr>
          <p:cNvPr id="15" name="Text 12"/>
          <p:cNvSpPr txBox="1"/>
          <p:nvPr/>
        </p:nvSpPr>
        <p:spPr>
          <a:xfrm>
            <a:off x="914400" y="3511296"/>
            <a:ext cx="3008376" cy="1353312"/>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Análisis de las implicaciones de las modificaciones en otros subsistemas o componentes de la máquina.</a:t>
            </a:r>
            <a:endParaRPr lang="en-US" sz="1400" dirty="0"/>
          </a:p>
        </p:txBody>
      </p:sp>
      <p:sp>
        <p:nvSpPr>
          <p:cNvPr id="16" name="Shape 13"/>
          <p:cNvSpPr/>
          <p:nvPr/>
        </p:nvSpPr>
        <p:spPr>
          <a:xfrm>
            <a:off x="4334256" y="1828800"/>
            <a:ext cx="3520440" cy="3200400"/>
          </a:xfrm>
          <a:prstGeom prst="rect">
            <a:avLst/>
          </a:prstGeom>
          <a:solidFill>
            <a:srgbClr val="F4F7FA"/>
          </a:solidFill>
          <a:ln w="9525">
            <a:solidFill>
              <a:srgbClr val="D5DDE5"/>
            </a:solidFill>
            <a:prstDash val="solid"/>
          </a:ln>
        </p:spPr>
      </p:sp>
      <p:sp>
        <p:nvSpPr>
          <p:cNvPr id="17" name="Shape 14"/>
          <p:cNvSpPr/>
          <p:nvPr/>
        </p:nvSpPr>
        <p:spPr>
          <a:xfrm>
            <a:off x="4334256" y="1828800"/>
            <a:ext cx="3520440" cy="64008"/>
          </a:xfrm>
          <a:prstGeom prst="rect">
            <a:avLst/>
          </a:prstGeom>
          <a:solidFill>
            <a:srgbClr val="004B85"/>
          </a:solidFill>
          <a:ln/>
        </p:spPr>
      </p:sp>
      <p:sp>
        <p:nvSpPr>
          <p:cNvPr id="18" name="Shape 15"/>
          <p:cNvSpPr/>
          <p:nvPr/>
        </p:nvSpPr>
        <p:spPr>
          <a:xfrm>
            <a:off x="4590288" y="2084832"/>
            <a:ext cx="384048" cy="384048"/>
          </a:xfrm>
          <a:prstGeom prst="rect">
            <a:avLst/>
          </a:prstGeom>
          <a:solidFill>
            <a:srgbClr val="004B85"/>
          </a:solidFill>
          <a:ln/>
        </p:spPr>
      </p:sp>
      <p:sp>
        <p:nvSpPr>
          <p:cNvPr id="19" name="Text 16"/>
          <p:cNvSpPr txBox="1"/>
          <p:nvPr/>
        </p:nvSpPr>
        <p:spPr>
          <a:xfrm>
            <a:off x="4590288"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6</a:t>
            </a:r>
            <a:endParaRPr lang="en-US" sz="1500" dirty="0"/>
          </a:p>
        </p:txBody>
      </p:sp>
      <p:sp>
        <p:nvSpPr>
          <p:cNvPr id="20" name="Text 17"/>
          <p:cNvSpPr txBox="1"/>
          <p:nvPr/>
        </p:nvSpPr>
        <p:spPr>
          <a:xfrm>
            <a:off x="4590288" y="2633472"/>
            <a:ext cx="3008376" cy="51206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Implicaciones en servicios</a:t>
            </a:r>
            <a:endParaRPr lang="en-US" sz="1700" dirty="0"/>
          </a:p>
        </p:txBody>
      </p:sp>
      <p:sp>
        <p:nvSpPr>
          <p:cNvPr id="21" name="Text 18"/>
          <p:cNvSpPr txBox="1"/>
          <p:nvPr/>
        </p:nvSpPr>
        <p:spPr>
          <a:xfrm>
            <a:off x="4590288" y="3236976"/>
            <a:ext cx="3008376" cy="1627632"/>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Análisis de las implicaciones de las modificaciones en servicios: energía, agua, combustibles, aire comprimido, etc.</a:t>
            </a:r>
            <a:endParaRPr lang="en-US" sz="1400" dirty="0"/>
          </a:p>
        </p:txBody>
      </p:sp>
      <p:sp>
        <p:nvSpPr>
          <p:cNvPr id="22" name="Shape 19"/>
          <p:cNvSpPr/>
          <p:nvPr/>
        </p:nvSpPr>
        <p:spPr>
          <a:xfrm>
            <a:off x="8010144" y="1828800"/>
            <a:ext cx="3520440" cy="3200400"/>
          </a:xfrm>
          <a:prstGeom prst="rect">
            <a:avLst/>
          </a:prstGeom>
          <a:solidFill>
            <a:srgbClr val="F4F7FA"/>
          </a:solidFill>
          <a:ln w="9525">
            <a:solidFill>
              <a:srgbClr val="D5DDE5"/>
            </a:solidFill>
            <a:prstDash val="solid"/>
          </a:ln>
        </p:spPr>
      </p:sp>
      <p:sp>
        <p:nvSpPr>
          <p:cNvPr id="23" name="Shape 20"/>
          <p:cNvSpPr/>
          <p:nvPr/>
        </p:nvSpPr>
        <p:spPr>
          <a:xfrm>
            <a:off x="8010144" y="1828800"/>
            <a:ext cx="3520440" cy="64008"/>
          </a:xfrm>
          <a:prstGeom prst="rect">
            <a:avLst/>
          </a:prstGeom>
          <a:solidFill>
            <a:srgbClr val="FFB903"/>
          </a:solidFill>
          <a:ln/>
        </p:spPr>
      </p:sp>
      <p:sp>
        <p:nvSpPr>
          <p:cNvPr id="24" name="Shape 21"/>
          <p:cNvSpPr/>
          <p:nvPr/>
        </p:nvSpPr>
        <p:spPr>
          <a:xfrm>
            <a:off x="8266176" y="2084832"/>
            <a:ext cx="384048" cy="384048"/>
          </a:xfrm>
          <a:prstGeom prst="rect">
            <a:avLst/>
          </a:prstGeom>
          <a:solidFill>
            <a:srgbClr val="FFB903"/>
          </a:solidFill>
          <a:ln/>
        </p:spPr>
      </p:sp>
      <p:sp>
        <p:nvSpPr>
          <p:cNvPr id="25" name="Text 22"/>
          <p:cNvSpPr txBox="1"/>
          <p:nvPr/>
        </p:nvSpPr>
        <p:spPr>
          <a:xfrm>
            <a:off x="8266176"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7</a:t>
            </a:r>
            <a:endParaRPr lang="en-US" sz="1500" dirty="0"/>
          </a:p>
        </p:txBody>
      </p:sp>
      <p:sp>
        <p:nvSpPr>
          <p:cNvPr id="26" name="Text 23"/>
          <p:cNvSpPr txBox="1"/>
          <p:nvPr/>
        </p:nvSpPr>
        <p:spPr>
          <a:xfrm>
            <a:off x="8266176" y="2633472"/>
            <a:ext cx="3008376" cy="274320"/>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Estudio de costos</a:t>
            </a:r>
            <a:endParaRPr lang="en-US" sz="1700" dirty="0"/>
          </a:p>
        </p:txBody>
      </p:sp>
      <p:sp>
        <p:nvSpPr>
          <p:cNvPr id="27" name="Text 24"/>
          <p:cNvSpPr txBox="1"/>
          <p:nvPr/>
        </p:nvSpPr>
        <p:spPr>
          <a:xfrm>
            <a:off x="8266176" y="2999232"/>
            <a:ext cx="3008376" cy="1865376"/>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Estudio de costos y análisis comparativo del costo-beneficio (retorno sobre la inversión).</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 8</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Implementación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40</a:t>
            </a:r>
            <a:endParaRPr lang="en-US" sz="1000" dirty="0"/>
          </a:p>
        </p:txBody>
      </p:sp>
      <p:sp>
        <p:nvSpPr>
          <p:cNvPr id="10" name="Shape 7"/>
          <p:cNvSpPr/>
          <p:nvPr/>
        </p:nvSpPr>
        <p:spPr>
          <a:xfrm>
            <a:off x="658368" y="2103120"/>
            <a:ext cx="3520440" cy="2651760"/>
          </a:xfrm>
          <a:prstGeom prst="rect">
            <a:avLst/>
          </a:prstGeom>
          <a:solidFill>
            <a:srgbClr val="F4F7FA"/>
          </a:solidFill>
          <a:ln w="9525">
            <a:solidFill>
              <a:srgbClr val="D5DDE5"/>
            </a:solidFill>
            <a:prstDash val="solid"/>
          </a:ln>
        </p:spPr>
      </p:sp>
      <p:sp>
        <p:nvSpPr>
          <p:cNvPr id="11" name="Shape 8"/>
          <p:cNvSpPr/>
          <p:nvPr/>
        </p:nvSpPr>
        <p:spPr>
          <a:xfrm>
            <a:off x="658368" y="2103120"/>
            <a:ext cx="3520440" cy="64008"/>
          </a:xfrm>
          <a:prstGeom prst="rect">
            <a:avLst/>
          </a:prstGeom>
          <a:solidFill>
            <a:srgbClr val="004B85"/>
          </a:solidFill>
          <a:ln/>
        </p:spPr>
      </p:sp>
      <p:sp>
        <p:nvSpPr>
          <p:cNvPr id="12" name="Shape 9"/>
          <p:cNvSpPr/>
          <p:nvPr/>
        </p:nvSpPr>
        <p:spPr>
          <a:xfrm>
            <a:off x="914400" y="2359152"/>
            <a:ext cx="384048" cy="384048"/>
          </a:xfrm>
          <a:prstGeom prst="rect">
            <a:avLst/>
          </a:prstGeom>
          <a:solidFill>
            <a:srgbClr val="004B85"/>
          </a:solidFill>
          <a:ln/>
        </p:spPr>
      </p:sp>
      <p:sp>
        <p:nvSpPr>
          <p:cNvPr id="13" name="Text 10"/>
          <p:cNvSpPr txBox="1"/>
          <p:nvPr/>
        </p:nvSpPr>
        <p:spPr>
          <a:xfrm>
            <a:off x="914400" y="241401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907792"/>
            <a:ext cx="3008376" cy="493776"/>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Especificaciones finales</a:t>
            </a:r>
            <a:endParaRPr lang="en-US" sz="1800" dirty="0"/>
          </a:p>
        </p:txBody>
      </p:sp>
      <p:sp>
        <p:nvSpPr>
          <p:cNvPr id="15" name="Text 12"/>
          <p:cNvSpPr txBox="1"/>
          <p:nvPr/>
        </p:nvSpPr>
        <p:spPr>
          <a:xfrm>
            <a:off x="914400" y="3493008"/>
            <a:ext cx="3008376" cy="1097280"/>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Cierre del conjunto de especificaciones que define la modificación.</a:t>
            </a:r>
            <a:endParaRPr lang="en-US" sz="1400" dirty="0"/>
          </a:p>
        </p:txBody>
      </p:sp>
      <p:sp>
        <p:nvSpPr>
          <p:cNvPr id="16" name="Shape 13"/>
          <p:cNvSpPr/>
          <p:nvPr/>
        </p:nvSpPr>
        <p:spPr>
          <a:xfrm>
            <a:off x="4334256" y="2103120"/>
            <a:ext cx="3520440" cy="2651760"/>
          </a:xfrm>
          <a:prstGeom prst="rect">
            <a:avLst/>
          </a:prstGeom>
          <a:solidFill>
            <a:srgbClr val="F4F7FA"/>
          </a:solidFill>
          <a:ln w="9525">
            <a:solidFill>
              <a:srgbClr val="D5DDE5"/>
            </a:solidFill>
            <a:prstDash val="solid"/>
          </a:ln>
        </p:spPr>
      </p:sp>
      <p:sp>
        <p:nvSpPr>
          <p:cNvPr id="17" name="Shape 14"/>
          <p:cNvSpPr/>
          <p:nvPr/>
        </p:nvSpPr>
        <p:spPr>
          <a:xfrm>
            <a:off x="4334256" y="2103120"/>
            <a:ext cx="3520440" cy="64008"/>
          </a:xfrm>
          <a:prstGeom prst="rect">
            <a:avLst/>
          </a:prstGeom>
          <a:solidFill>
            <a:srgbClr val="004B85"/>
          </a:solidFill>
          <a:ln/>
        </p:spPr>
      </p:sp>
      <p:sp>
        <p:nvSpPr>
          <p:cNvPr id="18" name="Shape 15"/>
          <p:cNvSpPr/>
          <p:nvPr/>
        </p:nvSpPr>
        <p:spPr>
          <a:xfrm>
            <a:off x="4590288" y="2359152"/>
            <a:ext cx="384048" cy="384048"/>
          </a:xfrm>
          <a:prstGeom prst="rect">
            <a:avLst/>
          </a:prstGeom>
          <a:solidFill>
            <a:srgbClr val="004B85"/>
          </a:solidFill>
          <a:ln/>
        </p:spPr>
      </p:sp>
      <p:sp>
        <p:nvSpPr>
          <p:cNvPr id="19" name="Text 16"/>
          <p:cNvSpPr txBox="1"/>
          <p:nvPr/>
        </p:nvSpPr>
        <p:spPr>
          <a:xfrm>
            <a:off x="4590288" y="241401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4590288" y="2907792"/>
            <a:ext cx="3008376" cy="493776"/>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Programación de actividades</a:t>
            </a:r>
            <a:endParaRPr lang="en-US" sz="1800" dirty="0"/>
          </a:p>
        </p:txBody>
      </p:sp>
      <p:sp>
        <p:nvSpPr>
          <p:cNvPr id="21" name="Text 18"/>
          <p:cNvSpPr txBox="1"/>
          <p:nvPr/>
        </p:nvSpPr>
        <p:spPr>
          <a:xfrm>
            <a:off x="4590288" y="3493008"/>
            <a:ext cx="3008376" cy="1097280"/>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Programación de actividades para consecución de partes y fabricaciones.</a:t>
            </a:r>
            <a:endParaRPr lang="en-US" sz="1400" dirty="0"/>
          </a:p>
        </p:txBody>
      </p:sp>
      <p:sp>
        <p:nvSpPr>
          <p:cNvPr id="22" name="Shape 19"/>
          <p:cNvSpPr/>
          <p:nvPr/>
        </p:nvSpPr>
        <p:spPr>
          <a:xfrm>
            <a:off x="8010144" y="2103120"/>
            <a:ext cx="3520440" cy="2651760"/>
          </a:xfrm>
          <a:prstGeom prst="rect">
            <a:avLst/>
          </a:prstGeom>
          <a:solidFill>
            <a:srgbClr val="F4F7FA"/>
          </a:solidFill>
          <a:ln w="9525">
            <a:solidFill>
              <a:srgbClr val="D5DDE5"/>
            </a:solidFill>
            <a:prstDash val="solid"/>
          </a:ln>
        </p:spPr>
      </p:sp>
      <p:sp>
        <p:nvSpPr>
          <p:cNvPr id="23" name="Shape 20"/>
          <p:cNvSpPr/>
          <p:nvPr/>
        </p:nvSpPr>
        <p:spPr>
          <a:xfrm>
            <a:off x="8010144" y="2103120"/>
            <a:ext cx="3520440" cy="64008"/>
          </a:xfrm>
          <a:prstGeom prst="rect">
            <a:avLst/>
          </a:prstGeom>
          <a:solidFill>
            <a:srgbClr val="FFB903"/>
          </a:solidFill>
          <a:ln/>
        </p:spPr>
      </p:sp>
      <p:sp>
        <p:nvSpPr>
          <p:cNvPr id="24" name="Shape 21"/>
          <p:cNvSpPr/>
          <p:nvPr/>
        </p:nvSpPr>
        <p:spPr>
          <a:xfrm>
            <a:off x="8266176" y="2359152"/>
            <a:ext cx="384048" cy="384048"/>
          </a:xfrm>
          <a:prstGeom prst="rect">
            <a:avLst/>
          </a:prstGeom>
          <a:solidFill>
            <a:srgbClr val="FFB903"/>
          </a:solidFill>
          <a:ln/>
        </p:spPr>
      </p:sp>
      <p:sp>
        <p:nvSpPr>
          <p:cNvPr id="25" name="Text 22"/>
          <p:cNvSpPr txBox="1"/>
          <p:nvPr/>
        </p:nvSpPr>
        <p:spPr>
          <a:xfrm>
            <a:off x="8266176" y="241401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6" name="Text 23"/>
          <p:cNvSpPr txBox="1"/>
          <p:nvPr/>
        </p:nvSpPr>
        <p:spPr>
          <a:xfrm>
            <a:off x="8266176" y="2907792"/>
            <a:ext cx="3008376" cy="493776"/>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Ejecución y puesta en marcha</a:t>
            </a:r>
            <a:endParaRPr lang="en-US" sz="1800" dirty="0"/>
          </a:p>
        </p:txBody>
      </p:sp>
      <p:sp>
        <p:nvSpPr>
          <p:cNvPr id="27" name="Text 24"/>
          <p:cNvSpPr txBox="1"/>
          <p:nvPr/>
        </p:nvSpPr>
        <p:spPr>
          <a:xfrm>
            <a:off x="8266176" y="3493008"/>
            <a:ext cx="3008376" cy="1097280"/>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Ensambles, montaje, ensayos, pruebas y puesta en marcha.</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ETAPAS 9 Y 10</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Revaloración y evaluación final</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41</a:t>
            </a:r>
            <a:endParaRPr lang="en-US" sz="1000" dirty="0"/>
          </a:p>
        </p:txBody>
      </p:sp>
      <p:sp>
        <p:nvSpPr>
          <p:cNvPr id="10" name="Shape 7"/>
          <p:cNvSpPr/>
          <p:nvPr/>
        </p:nvSpPr>
        <p:spPr>
          <a:xfrm>
            <a:off x="658368" y="1920240"/>
            <a:ext cx="5294376" cy="2743200"/>
          </a:xfrm>
          <a:prstGeom prst="rect">
            <a:avLst/>
          </a:prstGeom>
          <a:solidFill>
            <a:srgbClr val="F4F7FA"/>
          </a:solidFill>
          <a:ln w="9525">
            <a:solidFill>
              <a:srgbClr val="D5DDE5"/>
            </a:solidFill>
            <a:prstDash val="solid"/>
          </a:ln>
        </p:spPr>
      </p:sp>
      <p:sp>
        <p:nvSpPr>
          <p:cNvPr id="11" name="Shape 8"/>
          <p:cNvSpPr/>
          <p:nvPr/>
        </p:nvSpPr>
        <p:spPr>
          <a:xfrm>
            <a:off x="658368" y="1920240"/>
            <a:ext cx="5294376" cy="64008"/>
          </a:xfrm>
          <a:prstGeom prst="rect">
            <a:avLst/>
          </a:prstGeom>
          <a:solidFill>
            <a:srgbClr val="004B85"/>
          </a:solidFill>
          <a:ln/>
        </p:spPr>
      </p:sp>
      <p:sp>
        <p:nvSpPr>
          <p:cNvPr id="12" name="Shape 9"/>
          <p:cNvSpPr/>
          <p:nvPr/>
        </p:nvSpPr>
        <p:spPr>
          <a:xfrm>
            <a:off x="914400" y="2176272"/>
            <a:ext cx="384048" cy="384048"/>
          </a:xfrm>
          <a:prstGeom prst="rect">
            <a:avLst/>
          </a:prstGeom>
          <a:solidFill>
            <a:srgbClr val="004B85"/>
          </a:solidFill>
          <a:ln/>
        </p:spPr>
      </p:sp>
      <p:sp>
        <p:nvSpPr>
          <p:cNvPr id="13" name="Text 10"/>
          <p:cNvSpPr txBox="1"/>
          <p:nvPr/>
        </p:nvSpPr>
        <p:spPr>
          <a:xfrm>
            <a:off x="914400" y="223113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9</a:t>
            </a:r>
            <a:endParaRPr lang="en-US" sz="1500" dirty="0"/>
          </a:p>
        </p:txBody>
      </p:sp>
      <p:sp>
        <p:nvSpPr>
          <p:cNvPr id="14" name="Text 11"/>
          <p:cNvSpPr txBox="1"/>
          <p:nvPr/>
        </p:nvSpPr>
        <p:spPr>
          <a:xfrm>
            <a:off x="914400" y="2724912"/>
            <a:ext cx="4782312" cy="420624"/>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Revaloración de la máquina</a:t>
            </a:r>
            <a:endParaRPr lang="en-US" sz="2000" dirty="0"/>
          </a:p>
        </p:txBody>
      </p:sp>
      <p:sp>
        <p:nvSpPr>
          <p:cNvPr id="15" name="Text 12"/>
          <p:cNvSpPr txBox="1"/>
          <p:nvPr/>
        </p:nvSpPr>
        <p:spPr>
          <a:xfrm>
            <a:off x="914400" y="3236976"/>
            <a:ext cx="4782312" cy="1188720"/>
          </a:xfrm>
          <a:prstGeom prst="rect">
            <a:avLst/>
          </a:prstGeom>
          <a:noFill/>
          <a:ln/>
        </p:spPr>
        <p:txBody>
          <a:bodyPr wrap="square" lIns="0" tIns="0" rIns="0" bIns="0" rtlCol="0" anchor="ctr"/>
          <a:lstStyle/>
          <a:p>
            <a:pPr marL="0" indent="0">
              <a:lnSpc>
                <a:spcPts val="2200"/>
              </a:lnSpc>
              <a:buNone/>
            </a:pPr>
            <a:r>
              <a:rPr lang="en-US" sz="1500" dirty="0">
                <a:solidFill>
                  <a:srgbClr val="5C6B7A"/>
                </a:solidFill>
                <a:latin typeface="Segoe UI" pitchFamily="34" charset="0"/>
                <a:ea typeface="Segoe UI" pitchFamily="34" charset="-122"/>
                <a:cs typeface="Segoe UI" pitchFamily="34" charset="-120"/>
              </a:rPr>
              <a:t>Nueva valoración del activo una vez incorporada la modificación.</a:t>
            </a:r>
            <a:endParaRPr lang="en-US" sz="1500" dirty="0"/>
          </a:p>
        </p:txBody>
      </p:sp>
      <p:sp>
        <p:nvSpPr>
          <p:cNvPr id="16" name="Shape 13"/>
          <p:cNvSpPr/>
          <p:nvPr/>
        </p:nvSpPr>
        <p:spPr>
          <a:xfrm>
            <a:off x="6236208" y="1920240"/>
            <a:ext cx="5294376" cy="2743200"/>
          </a:xfrm>
          <a:prstGeom prst="rect">
            <a:avLst/>
          </a:prstGeom>
          <a:solidFill>
            <a:srgbClr val="F4F7FA"/>
          </a:solidFill>
          <a:ln w="9525">
            <a:solidFill>
              <a:srgbClr val="D5DDE5"/>
            </a:solidFill>
            <a:prstDash val="solid"/>
          </a:ln>
        </p:spPr>
      </p:sp>
      <p:sp>
        <p:nvSpPr>
          <p:cNvPr id="17" name="Shape 14"/>
          <p:cNvSpPr/>
          <p:nvPr/>
        </p:nvSpPr>
        <p:spPr>
          <a:xfrm>
            <a:off x="6236208" y="1920240"/>
            <a:ext cx="5294376" cy="64008"/>
          </a:xfrm>
          <a:prstGeom prst="rect">
            <a:avLst/>
          </a:prstGeom>
          <a:solidFill>
            <a:srgbClr val="FFB903"/>
          </a:solidFill>
          <a:ln/>
        </p:spPr>
      </p:sp>
      <p:sp>
        <p:nvSpPr>
          <p:cNvPr id="18" name="Shape 15"/>
          <p:cNvSpPr/>
          <p:nvPr/>
        </p:nvSpPr>
        <p:spPr>
          <a:xfrm>
            <a:off x="6492240" y="2176272"/>
            <a:ext cx="384048" cy="384048"/>
          </a:xfrm>
          <a:prstGeom prst="rect">
            <a:avLst/>
          </a:prstGeom>
          <a:solidFill>
            <a:srgbClr val="FFB903"/>
          </a:solidFill>
          <a:ln/>
        </p:spPr>
      </p:sp>
      <p:sp>
        <p:nvSpPr>
          <p:cNvPr id="19" name="Text 16"/>
          <p:cNvSpPr txBox="1"/>
          <p:nvPr/>
        </p:nvSpPr>
        <p:spPr>
          <a:xfrm>
            <a:off x="6492240" y="223113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10</a:t>
            </a:r>
            <a:endParaRPr lang="en-US" sz="1500" dirty="0"/>
          </a:p>
        </p:txBody>
      </p:sp>
      <p:sp>
        <p:nvSpPr>
          <p:cNvPr id="20" name="Text 17"/>
          <p:cNvSpPr txBox="1"/>
          <p:nvPr/>
        </p:nvSpPr>
        <p:spPr>
          <a:xfrm>
            <a:off x="6492240" y="2724912"/>
            <a:ext cx="4782312" cy="420624"/>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Evaluación final</a:t>
            </a:r>
            <a:endParaRPr lang="en-US" sz="2000" dirty="0"/>
          </a:p>
        </p:txBody>
      </p:sp>
      <p:sp>
        <p:nvSpPr>
          <p:cNvPr id="21" name="Text 18"/>
          <p:cNvSpPr txBox="1"/>
          <p:nvPr/>
        </p:nvSpPr>
        <p:spPr>
          <a:xfrm>
            <a:off x="6492240" y="3236976"/>
            <a:ext cx="4782312" cy="1463040"/>
          </a:xfrm>
          <a:prstGeom prst="rect">
            <a:avLst/>
          </a:prstGeom>
          <a:noFill/>
          <a:ln/>
        </p:spPr>
        <p:txBody>
          <a:bodyPr wrap="square" lIns="0" tIns="0" rIns="0" bIns="0" rtlCol="0" anchor="ctr"/>
          <a:lstStyle/>
          <a:p>
            <a:pPr marL="0" indent="0">
              <a:lnSpc>
                <a:spcPts val="2200"/>
              </a:lnSpc>
              <a:buNone/>
            </a:pPr>
            <a:r>
              <a:rPr lang="en-US" sz="1500" dirty="0">
                <a:solidFill>
                  <a:srgbClr val="5C6B7A"/>
                </a:solidFill>
                <a:latin typeface="Segoe UI" pitchFamily="34" charset="0"/>
                <a:ea typeface="Segoe UI" pitchFamily="34" charset="-122"/>
                <a:cs typeface="Segoe UI" pitchFamily="34" charset="-120"/>
              </a:rPr>
              <a:t>Confrontar los aspectos funcionales, técnicos y de costos. Evaluar con las personas relacionadas directamente con los procesos.</a:t>
            </a:r>
            <a:endParaRPr lang="en-US" sz="1500" dirty="0"/>
          </a:p>
        </p:txBody>
      </p:sp>
      <p:sp>
        <p:nvSpPr>
          <p:cNvPr id="22" name="Shape 19"/>
          <p:cNvSpPr/>
          <p:nvPr/>
        </p:nvSpPr>
        <p:spPr>
          <a:xfrm>
            <a:off x="658368" y="4864608"/>
            <a:ext cx="10872216" cy="420624"/>
          </a:xfrm>
          <a:prstGeom prst="rect">
            <a:avLst/>
          </a:prstGeom>
          <a:solidFill>
            <a:srgbClr val="E8F0F7"/>
          </a:solidFill>
          <a:ln/>
        </p:spPr>
      </p:sp>
      <p:sp>
        <p:nvSpPr>
          <p:cNvPr id="23" name="Shape 20"/>
          <p:cNvSpPr/>
          <p:nvPr/>
        </p:nvSpPr>
        <p:spPr>
          <a:xfrm>
            <a:off x="658368" y="4864608"/>
            <a:ext cx="54864" cy="420624"/>
          </a:xfrm>
          <a:prstGeom prst="rect">
            <a:avLst/>
          </a:prstGeom>
          <a:solidFill>
            <a:srgbClr val="004B85"/>
          </a:solidFill>
          <a:ln/>
        </p:spPr>
      </p:sp>
      <p:sp>
        <p:nvSpPr>
          <p:cNvPr id="24" name="Text 21"/>
          <p:cNvSpPr txBox="1"/>
          <p:nvPr/>
        </p:nvSpPr>
        <p:spPr>
          <a:xfrm>
            <a:off x="932688" y="4910328"/>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La evaluación final cierra el ciclo y realimenta el plan de mantenimiento con el nuevo estándar de la máquina.</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PROCESO DE MODIFICACIÓN</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Las diez etapas en un caso real</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5 · Acciones modificativas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41a</a:t>
            </a:r>
          </a:p>
        </p:txBody>
      </p:sp>
      <p:sp>
        <p:nvSpPr>
          <p:cNvPr id="12" name="Rectangle 11"/>
          <p:cNvSpPr/>
          <p:nvPr/>
        </p:nvSpPr>
        <p:spPr>
          <a:xfrm>
            <a:off x="658368" y="1664208"/>
            <a:ext cx="5298948"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04672" y="1832457"/>
            <a:ext cx="347472" cy="347472"/>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1881103"/>
            <a:ext cx="347472" cy="250179"/>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1</a:t>
            </a:r>
          </a:p>
        </p:txBody>
      </p:sp>
      <p:sp>
        <p:nvSpPr>
          <p:cNvPr id="15" name="TextBox 14"/>
          <p:cNvSpPr txBox="1"/>
          <p:nvPr/>
        </p:nvSpPr>
        <p:spPr>
          <a:xfrm>
            <a:off x="1280160" y="1719072"/>
            <a:ext cx="1600200" cy="574243"/>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Necesidad</a:t>
            </a:r>
          </a:p>
        </p:txBody>
      </p:sp>
      <p:sp>
        <p:nvSpPr>
          <p:cNvPr id="16" name="TextBox 15"/>
          <p:cNvSpPr txBox="1"/>
          <p:nvPr/>
        </p:nvSpPr>
        <p:spPr>
          <a:xfrm>
            <a:off x="2898648" y="1709928"/>
            <a:ext cx="2921508"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Canjilones metálicos rotos y corroídos: 6 paradas al año.</a:t>
            </a:r>
          </a:p>
        </p:txBody>
      </p:sp>
      <p:sp>
        <p:nvSpPr>
          <p:cNvPr id="17" name="Rectangle 16"/>
          <p:cNvSpPr/>
          <p:nvPr/>
        </p:nvSpPr>
        <p:spPr>
          <a:xfrm>
            <a:off x="658368" y="2421331"/>
            <a:ext cx="5298948"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4672" y="2589580"/>
            <a:ext cx="347472" cy="347472"/>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2638226"/>
            <a:ext cx="347472" cy="250179"/>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2</a:t>
            </a:r>
          </a:p>
        </p:txBody>
      </p:sp>
      <p:sp>
        <p:nvSpPr>
          <p:cNvPr id="20" name="TextBox 19"/>
          <p:cNvSpPr txBox="1"/>
          <p:nvPr/>
        </p:nvSpPr>
        <p:spPr>
          <a:xfrm>
            <a:off x="1280160" y="2476195"/>
            <a:ext cx="1600200" cy="574243"/>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Datos</a:t>
            </a:r>
          </a:p>
        </p:txBody>
      </p:sp>
      <p:sp>
        <p:nvSpPr>
          <p:cNvPr id="21" name="TextBox 20"/>
          <p:cNvSpPr txBox="1"/>
          <p:nvPr/>
        </p:nvSpPr>
        <p:spPr>
          <a:xfrm>
            <a:off x="2898648" y="2467051"/>
            <a:ext cx="2921508"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40 t/h, 120 canjilones, historial de fallas; causa raíz: impacto y corrosión.</a:t>
            </a:r>
          </a:p>
        </p:txBody>
      </p:sp>
      <p:sp>
        <p:nvSpPr>
          <p:cNvPr id="22" name="Rectangle 21"/>
          <p:cNvSpPr/>
          <p:nvPr/>
        </p:nvSpPr>
        <p:spPr>
          <a:xfrm>
            <a:off x="658368" y="3178454"/>
            <a:ext cx="5298948"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04672" y="3346704"/>
            <a:ext cx="347472" cy="347472"/>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 y="3395350"/>
            <a:ext cx="347472" cy="250179"/>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3</a:t>
            </a:r>
          </a:p>
        </p:txBody>
      </p:sp>
      <p:sp>
        <p:nvSpPr>
          <p:cNvPr id="25" name="TextBox 24"/>
          <p:cNvSpPr txBox="1"/>
          <p:nvPr/>
        </p:nvSpPr>
        <p:spPr>
          <a:xfrm>
            <a:off x="1280160" y="3233318"/>
            <a:ext cx="1600200" cy="574243"/>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Problema</a:t>
            </a:r>
          </a:p>
        </p:txBody>
      </p:sp>
      <p:sp>
        <p:nvSpPr>
          <p:cNvPr id="26" name="TextBox 25"/>
          <p:cNvSpPr txBox="1"/>
          <p:nvPr/>
        </p:nvSpPr>
        <p:spPr>
          <a:xfrm>
            <a:off x="2898648" y="3224174"/>
            <a:ext cx="2921508"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Canjilón resistente al impacto y a la corrosión, sin cambiar la banda.</a:t>
            </a:r>
          </a:p>
        </p:txBody>
      </p:sp>
      <p:sp>
        <p:nvSpPr>
          <p:cNvPr id="27" name="Rectangle 26"/>
          <p:cNvSpPr/>
          <p:nvPr/>
        </p:nvSpPr>
        <p:spPr>
          <a:xfrm>
            <a:off x="658368" y="3935577"/>
            <a:ext cx="5298948"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04672" y="4103827"/>
            <a:ext cx="347472" cy="347472"/>
          </a:xfrm>
          <a:prstGeom prst="ellipse">
            <a:avLst/>
          </a:prstGeom>
          <a:solidFill>
            <a:srgbClr val="B88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2" y="4152473"/>
            <a:ext cx="347472" cy="250179"/>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4</a:t>
            </a:r>
          </a:p>
        </p:txBody>
      </p:sp>
      <p:sp>
        <p:nvSpPr>
          <p:cNvPr id="30" name="TextBox 29"/>
          <p:cNvSpPr txBox="1"/>
          <p:nvPr/>
        </p:nvSpPr>
        <p:spPr>
          <a:xfrm>
            <a:off x="1280160" y="3990441"/>
            <a:ext cx="1600200" cy="574243"/>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Alternativas</a:t>
            </a:r>
          </a:p>
        </p:txBody>
      </p:sp>
      <p:sp>
        <p:nvSpPr>
          <p:cNvPr id="31" name="TextBox 30"/>
          <p:cNvSpPr txBox="1"/>
          <p:nvPr/>
        </p:nvSpPr>
        <p:spPr>
          <a:xfrm>
            <a:off x="2898648" y="3981297"/>
            <a:ext cx="2921508"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Acero de mayor calibre, inoxidable o plástico de ingeniería; cifras de mérito.</a:t>
            </a:r>
          </a:p>
        </p:txBody>
      </p:sp>
      <p:sp>
        <p:nvSpPr>
          <p:cNvPr id="32" name="Rectangle 31"/>
          <p:cNvSpPr/>
          <p:nvPr/>
        </p:nvSpPr>
        <p:spPr>
          <a:xfrm>
            <a:off x="658368" y="4692700"/>
            <a:ext cx="5298948"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04672" y="4860950"/>
            <a:ext cx="347472" cy="347472"/>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 y="4909596"/>
            <a:ext cx="347472" cy="250179"/>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5</a:t>
            </a:r>
          </a:p>
        </p:txBody>
      </p:sp>
      <p:sp>
        <p:nvSpPr>
          <p:cNvPr id="35" name="TextBox 34"/>
          <p:cNvSpPr txBox="1"/>
          <p:nvPr/>
        </p:nvSpPr>
        <p:spPr>
          <a:xfrm>
            <a:off x="1280160" y="4747564"/>
            <a:ext cx="1600200" cy="574243"/>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Otros subsistemas</a:t>
            </a:r>
          </a:p>
        </p:txBody>
      </p:sp>
      <p:sp>
        <p:nvSpPr>
          <p:cNvPr id="36" name="TextBox 35"/>
          <p:cNvSpPr txBox="1"/>
          <p:nvPr/>
        </p:nvSpPr>
        <p:spPr>
          <a:xfrm>
            <a:off x="2898648" y="4738420"/>
            <a:ext cx="2921508"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Canjilón más liviano: menos carga en banda y motor; revisar pernos.</a:t>
            </a:r>
          </a:p>
        </p:txBody>
      </p:sp>
      <p:sp>
        <p:nvSpPr>
          <p:cNvPr id="37" name="Rectangle 36"/>
          <p:cNvSpPr/>
          <p:nvPr/>
        </p:nvSpPr>
        <p:spPr>
          <a:xfrm>
            <a:off x="6231636" y="1664208"/>
            <a:ext cx="5298948"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377940" y="1832457"/>
            <a:ext cx="347472" cy="347472"/>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77940" y="1881103"/>
            <a:ext cx="347472" cy="250179"/>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6</a:t>
            </a:r>
          </a:p>
        </p:txBody>
      </p:sp>
      <p:sp>
        <p:nvSpPr>
          <p:cNvPr id="40" name="TextBox 39"/>
          <p:cNvSpPr txBox="1"/>
          <p:nvPr/>
        </p:nvSpPr>
        <p:spPr>
          <a:xfrm>
            <a:off x="6853427" y="1719072"/>
            <a:ext cx="1600200" cy="574243"/>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Servicios</a:t>
            </a:r>
          </a:p>
        </p:txBody>
      </p:sp>
      <p:sp>
        <p:nvSpPr>
          <p:cNvPr id="41" name="TextBox 40"/>
          <p:cNvSpPr txBox="1"/>
          <p:nvPr/>
        </p:nvSpPr>
        <p:spPr>
          <a:xfrm>
            <a:off x="8471916" y="1709928"/>
            <a:ext cx="2921508"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Menor consumo de energía; sin cambios en aire ni agua.</a:t>
            </a:r>
          </a:p>
        </p:txBody>
      </p:sp>
      <p:sp>
        <p:nvSpPr>
          <p:cNvPr id="42" name="Rectangle 41"/>
          <p:cNvSpPr/>
          <p:nvPr/>
        </p:nvSpPr>
        <p:spPr>
          <a:xfrm>
            <a:off x="6231636" y="2421331"/>
            <a:ext cx="5298948"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377940" y="2589580"/>
            <a:ext cx="347472" cy="347472"/>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77940" y="2638226"/>
            <a:ext cx="347472" cy="250179"/>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7</a:t>
            </a:r>
          </a:p>
        </p:txBody>
      </p:sp>
      <p:sp>
        <p:nvSpPr>
          <p:cNvPr id="45" name="TextBox 44"/>
          <p:cNvSpPr txBox="1"/>
          <p:nvPr/>
        </p:nvSpPr>
        <p:spPr>
          <a:xfrm>
            <a:off x="6853427" y="2476195"/>
            <a:ext cx="1600200" cy="574243"/>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Costos</a:t>
            </a:r>
          </a:p>
        </p:txBody>
      </p:sp>
      <p:sp>
        <p:nvSpPr>
          <p:cNvPr id="46" name="TextBox 45"/>
          <p:cNvSpPr txBox="1"/>
          <p:nvPr/>
        </p:nvSpPr>
        <p:spPr>
          <a:xfrm>
            <a:off x="8471916" y="2467051"/>
            <a:ext cx="2921508"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Inversión frente a ahorro anual: ver siguiente diapositiva.</a:t>
            </a:r>
          </a:p>
        </p:txBody>
      </p:sp>
      <p:sp>
        <p:nvSpPr>
          <p:cNvPr id="47" name="Rectangle 46"/>
          <p:cNvSpPr/>
          <p:nvPr/>
        </p:nvSpPr>
        <p:spPr>
          <a:xfrm>
            <a:off x="6231636" y="3178454"/>
            <a:ext cx="5298948"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377940" y="3346704"/>
            <a:ext cx="347472" cy="347472"/>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77940" y="3395350"/>
            <a:ext cx="347472" cy="250179"/>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8</a:t>
            </a:r>
          </a:p>
        </p:txBody>
      </p:sp>
      <p:sp>
        <p:nvSpPr>
          <p:cNvPr id="50" name="TextBox 49"/>
          <p:cNvSpPr txBox="1"/>
          <p:nvPr/>
        </p:nvSpPr>
        <p:spPr>
          <a:xfrm>
            <a:off x="6853427" y="3233318"/>
            <a:ext cx="1600200" cy="574243"/>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Implementación</a:t>
            </a:r>
          </a:p>
        </p:txBody>
      </p:sp>
      <p:sp>
        <p:nvSpPr>
          <p:cNvPr id="51" name="TextBox 50"/>
          <p:cNvSpPr txBox="1"/>
          <p:nvPr/>
        </p:nvSpPr>
        <p:spPr>
          <a:xfrm>
            <a:off x="8471916" y="3224174"/>
            <a:ext cx="2921508"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Compra, montaje en parada de fin de semana y prueba de capacidad.</a:t>
            </a:r>
          </a:p>
        </p:txBody>
      </p:sp>
      <p:sp>
        <p:nvSpPr>
          <p:cNvPr id="52" name="Rectangle 51"/>
          <p:cNvSpPr/>
          <p:nvPr/>
        </p:nvSpPr>
        <p:spPr>
          <a:xfrm>
            <a:off x="6231636" y="3935577"/>
            <a:ext cx="5298948"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6377940" y="4103827"/>
            <a:ext cx="347472" cy="347472"/>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377940" y="4152473"/>
            <a:ext cx="347472" cy="250179"/>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9</a:t>
            </a:r>
          </a:p>
        </p:txBody>
      </p:sp>
      <p:sp>
        <p:nvSpPr>
          <p:cNvPr id="55" name="TextBox 54"/>
          <p:cNvSpPr txBox="1"/>
          <p:nvPr/>
        </p:nvSpPr>
        <p:spPr>
          <a:xfrm>
            <a:off x="6853427" y="3990441"/>
            <a:ext cx="1600200" cy="574243"/>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Revaloración</a:t>
            </a:r>
          </a:p>
        </p:txBody>
      </p:sp>
      <p:sp>
        <p:nvSpPr>
          <p:cNvPr id="56" name="TextBox 55"/>
          <p:cNvSpPr txBox="1"/>
          <p:nvPr/>
        </p:nvSpPr>
        <p:spPr>
          <a:xfrm>
            <a:off x="8471916" y="3981297"/>
            <a:ext cx="2921508"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Actualizar ficha técnica, repuestos y plan de mantenimiento.</a:t>
            </a:r>
          </a:p>
        </p:txBody>
      </p:sp>
      <p:sp>
        <p:nvSpPr>
          <p:cNvPr id="57" name="Rectangle 56"/>
          <p:cNvSpPr/>
          <p:nvPr/>
        </p:nvSpPr>
        <p:spPr>
          <a:xfrm>
            <a:off x="6231636" y="4692700"/>
            <a:ext cx="5298948"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6377940" y="4860950"/>
            <a:ext cx="347472" cy="347472"/>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377940" y="4909596"/>
            <a:ext cx="347472" cy="250179"/>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10</a:t>
            </a:r>
          </a:p>
        </p:txBody>
      </p:sp>
      <p:sp>
        <p:nvSpPr>
          <p:cNvPr id="60" name="TextBox 59"/>
          <p:cNvSpPr txBox="1"/>
          <p:nvPr/>
        </p:nvSpPr>
        <p:spPr>
          <a:xfrm>
            <a:off x="6853427" y="4747564"/>
            <a:ext cx="1600200" cy="574243"/>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Evaluación final</a:t>
            </a:r>
          </a:p>
        </p:txBody>
      </p:sp>
      <p:sp>
        <p:nvSpPr>
          <p:cNvPr id="61" name="TextBox 60"/>
          <p:cNvSpPr txBox="1"/>
          <p:nvPr/>
        </p:nvSpPr>
        <p:spPr>
          <a:xfrm>
            <a:off x="8471916" y="4738420"/>
            <a:ext cx="2921508"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A los 3 meses, con operadores: capacidad, ruido y paradas.</a:t>
            </a:r>
          </a:p>
        </p:txBody>
      </p:sp>
      <p:sp>
        <p:nvSpPr>
          <p:cNvPr id="62" name="Rectangle 61"/>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La etapa 4 (estudio de alternativas) concentra el trabajo de ingeniería: allí se decide plástico frente a metal.</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ETAPA 7</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Estudio de costos del caso</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5 · Acciones modificativas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41b</a:t>
            </a:r>
          </a:p>
        </p:txBody>
      </p:sp>
      <p:sp>
        <p:nvSpPr>
          <p:cNvPr id="12" name="Rectangle 11"/>
          <p:cNvSpPr/>
          <p:nvPr/>
        </p:nvSpPr>
        <p:spPr>
          <a:xfrm>
            <a:off x="658368" y="1664208"/>
            <a:ext cx="3246120" cy="1188720"/>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1664208"/>
            <a:ext cx="54864" cy="1188720"/>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6968" y="1773936"/>
            <a:ext cx="2880360"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INVERSIÓN</a:t>
            </a:r>
          </a:p>
        </p:txBody>
      </p:sp>
      <p:sp>
        <p:nvSpPr>
          <p:cNvPr id="15" name="TextBox 14"/>
          <p:cNvSpPr txBox="1"/>
          <p:nvPr/>
        </p:nvSpPr>
        <p:spPr>
          <a:xfrm>
            <a:off x="886968" y="2011680"/>
            <a:ext cx="2880360" cy="457200"/>
          </a:xfrm>
          <a:prstGeom prst="rect">
            <a:avLst/>
          </a:prstGeom>
          <a:noFill/>
        </p:spPr>
        <p:txBody>
          <a:bodyPr wrap="square" lIns="0" tIns="0" rIns="0" bIns="0" anchor="t">
            <a:spAutoFit/>
          </a:bodyPr>
          <a:lstStyle/>
          <a:p>
            <a:pPr algn="l">
              <a:lnSpc>
                <a:spcPct val="122000"/>
              </a:lnSpc>
              <a:spcAft>
                <a:spcPts val="0"/>
              </a:spcAft>
            </a:pPr>
            <a:r>
              <a:rPr sz="2600" b="1" i="0">
                <a:solidFill>
                  <a:srgbClr val="00335C"/>
                </a:solidFill>
                <a:latin typeface="Segoe UI"/>
              </a:rPr>
              <a:t>$15,0 M</a:t>
            </a:r>
          </a:p>
        </p:txBody>
      </p:sp>
      <p:sp>
        <p:nvSpPr>
          <p:cNvPr id="16" name="TextBox 15"/>
          <p:cNvSpPr txBox="1"/>
          <p:nvPr/>
        </p:nvSpPr>
        <p:spPr>
          <a:xfrm>
            <a:off x="886968" y="2505456"/>
            <a:ext cx="2880360" cy="274320"/>
          </a:xfrm>
          <a:prstGeom prst="rect">
            <a:avLst/>
          </a:prstGeom>
          <a:noFill/>
        </p:spPr>
        <p:txBody>
          <a:bodyPr wrap="square" lIns="0" tIns="0" rIns="0" bIns="0" anchor="t">
            <a:spAutoFit/>
          </a:bodyPr>
          <a:lstStyle/>
          <a:p>
            <a:pPr algn="l">
              <a:lnSpc>
                <a:spcPct val="122000"/>
              </a:lnSpc>
              <a:spcAft>
                <a:spcPts val="0"/>
              </a:spcAft>
            </a:pPr>
            <a:r>
              <a:rPr sz="1050" b="0" i="0">
                <a:solidFill>
                  <a:srgbClr val="5C6B7A"/>
                </a:solidFill>
                <a:latin typeface="Segoe UI"/>
              </a:rPr>
              <a:t>Canjilones, montaje e ingeniería</a:t>
            </a:r>
          </a:p>
        </p:txBody>
      </p:sp>
      <p:sp>
        <p:nvSpPr>
          <p:cNvPr id="17" name="Rectangle 16"/>
          <p:cNvSpPr/>
          <p:nvPr/>
        </p:nvSpPr>
        <p:spPr>
          <a:xfrm>
            <a:off x="658368" y="2926080"/>
            <a:ext cx="3246120" cy="1188720"/>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58368" y="2926080"/>
            <a:ext cx="54864" cy="1188720"/>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6968" y="3035808"/>
            <a:ext cx="2880360"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AHORRO ANUAL</a:t>
            </a:r>
          </a:p>
        </p:txBody>
      </p:sp>
      <p:sp>
        <p:nvSpPr>
          <p:cNvPr id="20" name="TextBox 19"/>
          <p:cNvSpPr txBox="1"/>
          <p:nvPr/>
        </p:nvSpPr>
        <p:spPr>
          <a:xfrm>
            <a:off x="886968" y="3273552"/>
            <a:ext cx="2880360" cy="457200"/>
          </a:xfrm>
          <a:prstGeom prst="rect">
            <a:avLst/>
          </a:prstGeom>
          <a:noFill/>
        </p:spPr>
        <p:txBody>
          <a:bodyPr wrap="square" lIns="0" tIns="0" rIns="0" bIns="0" anchor="t">
            <a:spAutoFit/>
          </a:bodyPr>
          <a:lstStyle/>
          <a:p>
            <a:pPr algn="l">
              <a:lnSpc>
                <a:spcPct val="122000"/>
              </a:lnSpc>
              <a:spcAft>
                <a:spcPts val="0"/>
              </a:spcAft>
            </a:pPr>
            <a:r>
              <a:rPr sz="2600" b="1" i="0">
                <a:solidFill>
                  <a:srgbClr val="00335C"/>
                </a:solidFill>
                <a:latin typeface="Segoe UI"/>
              </a:rPr>
              <a:t>$26,7 M</a:t>
            </a:r>
          </a:p>
        </p:txBody>
      </p:sp>
      <p:sp>
        <p:nvSpPr>
          <p:cNvPr id="21" name="TextBox 20"/>
          <p:cNvSpPr txBox="1"/>
          <p:nvPr/>
        </p:nvSpPr>
        <p:spPr>
          <a:xfrm>
            <a:off x="886968" y="3767328"/>
            <a:ext cx="2880360" cy="274320"/>
          </a:xfrm>
          <a:prstGeom prst="rect">
            <a:avLst/>
          </a:prstGeom>
          <a:noFill/>
        </p:spPr>
        <p:txBody>
          <a:bodyPr wrap="square" lIns="0" tIns="0" rIns="0" bIns="0" anchor="t">
            <a:spAutoFit/>
          </a:bodyPr>
          <a:lstStyle/>
          <a:p>
            <a:pPr algn="l">
              <a:lnSpc>
                <a:spcPct val="122000"/>
              </a:lnSpc>
              <a:spcAft>
                <a:spcPts val="0"/>
              </a:spcAft>
            </a:pPr>
            <a:r>
              <a:rPr sz="1050" b="0" i="0">
                <a:solidFill>
                  <a:srgbClr val="5C6B7A"/>
                </a:solidFill>
                <a:latin typeface="Segoe UI"/>
              </a:rPr>
              <a:t>Paradas, repuestos y mano de obra</a:t>
            </a:r>
          </a:p>
        </p:txBody>
      </p:sp>
      <p:sp>
        <p:nvSpPr>
          <p:cNvPr id="22" name="Rectangle 21"/>
          <p:cNvSpPr/>
          <p:nvPr/>
        </p:nvSpPr>
        <p:spPr>
          <a:xfrm>
            <a:off x="658368" y="4187952"/>
            <a:ext cx="3246120" cy="1188720"/>
          </a:xfrm>
          <a:prstGeom prst="rect">
            <a:avLst/>
          </a:prstGeom>
          <a:solidFill>
            <a:srgbClr val="00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58368" y="4187952"/>
            <a:ext cx="54864" cy="1188720"/>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6968" y="4297680"/>
            <a:ext cx="2880360" cy="201168"/>
          </a:xfrm>
          <a:prstGeom prst="rect">
            <a:avLst/>
          </a:prstGeom>
          <a:noFill/>
        </p:spPr>
        <p:txBody>
          <a:bodyPr wrap="square" lIns="0" tIns="0" rIns="0" bIns="0" anchor="t">
            <a:spAutoFit/>
          </a:bodyPr>
          <a:lstStyle/>
          <a:p>
            <a:pPr algn="l">
              <a:lnSpc>
                <a:spcPct val="122000"/>
              </a:lnSpc>
              <a:spcAft>
                <a:spcPts val="0"/>
              </a:spcAft>
            </a:pPr>
            <a:r>
              <a:rPr sz="950" b="1" i="0">
                <a:solidFill>
                  <a:srgbClr val="FFB903"/>
                </a:solidFill>
                <a:latin typeface="Segoe UI"/>
              </a:rPr>
              <a:t>RECUPERACIÓN</a:t>
            </a:r>
          </a:p>
        </p:txBody>
      </p:sp>
      <p:sp>
        <p:nvSpPr>
          <p:cNvPr id="25" name="TextBox 24"/>
          <p:cNvSpPr txBox="1"/>
          <p:nvPr/>
        </p:nvSpPr>
        <p:spPr>
          <a:xfrm>
            <a:off x="886968" y="4535424"/>
            <a:ext cx="2880360" cy="457200"/>
          </a:xfrm>
          <a:prstGeom prst="rect">
            <a:avLst/>
          </a:prstGeom>
          <a:noFill/>
        </p:spPr>
        <p:txBody>
          <a:bodyPr wrap="square" lIns="0" tIns="0" rIns="0" bIns="0" anchor="t">
            <a:spAutoFit/>
          </a:bodyPr>
          <a:lstStyle/>
          <a:p>
            <a:pPr algn="l">
              <a:lnSpc>
                <a:spcPct val="122000"/>
              </a:lnSpc>
              <a:spcAft>
                <a:spcPts val="0"/>
              </a:spcAft>
            </a:pPr>
            <a:r>
              <a:rPr sz="2600" b="1" i="0">
                <a:solidFill>
                  <a:srgbClr val="FFFFFF"/>
                </a:solidFill>
                <a:latin typeface="Segoe UI"/>
              </a:rPr>
              <a:t>≈ 7 meses</a:t>
            </a:r>
          </a:p>
        </p:txBody>
      </p:sp>
      <p:sp>
        <p:nvSpPr>
          <p:cNvPr id="26" name="TextBox 25"/>
          <p:cNvSpPr txBox="1"/>
          <p:nvPr/>
        </p:nvSpPr>
        <p:spPr>
          <a:xfrm>
            <a:off x="886968" y="5029200"/>
            <a:ext cx="2880360" cy="274320"/>
          </a:xfrm>
          <a:prstGeom prst="rect">
            <a:avLst/>
          </a:prstGeom>
          <a:noFill/>
        </p:spPr>
        <p:txBody>
          <a:bodyPr wrap="square" lIns="0" tIns="0" rIns="0" bIns="0" anchor="t">
            <a:spAutoFit/>
          </a:bodyPr>
          <a:lstStyle/>
          <a:p>
            <a:pPr algn="l">
              <a:lnSpc>
                <a:spcPct val="122000"/>
              </a:lnSpc>
              <a:spcAft>
                <a:spcPts val="0"/>
              </a:spcAft>
            </a:pPr>
            <a:r>
              <a:rPr sz="1050" b="0" i="0">
                <a:solidFill>
                  <a:srgbClr val="C8D4E0"/>
                </a:solidFill>
                <a:latin typeface="Segoe UI"/>
              </a:rPr>
              <a:t>Retorno del primer año ≈ 78 %</a:t>
            </a:r>
          </a:p>
        </p:txBody>
      </p:sp>
      <p:graphicFrame>
        <p:nvGraphicFramePr>
          <p:cNvPr id="27" name="Table 26"/>
          <p:cNvGraphicFramePr>
            <a:graphicFrameLocks noGrp="1"/>
          </p:cNvGraphicFramePr>
          <p:nvPr/>
        </p:nvGraphicFramePr>
        <p:xfrm>
          <a:off x="4178807" y="1664208"/>
          <a:ext cx="7351774" cy="3712461"/>
        </p:xfrm>
        <a:graphic>
          <a:graphicData uri="http://schemas.openxmlformats.org/drawingml/2006/table">
            <a:tbl>
              <a:tblPr>
                <a:tableStyleId>{5C22544A-7EE6-4342-B048-85BDC9FD1C3A}</a:tableStyleId>
              </a:tblPr>
              <a:tblGrid>
                <a:gridCol w="3308298">
                  <a:extLst>
                    <a:ext uri="{9D8B030D-6E8A-4147-A177-3AD203B41FA5}">
                      <a16:colId xmlns:a16="http://schemas.microsoft.com/office/drawing/2014/main" val="20000"/>
                    </a:ext>
                  </a:extLst>
                </a:gridCol>
                <a:gridCol w="2021738">
                  <a:extLst>
                    <a:ext uri="{9D8B030D-6E8A-4147-A177-3AD203B41FA5}">
                      <a16:colId xmlns:a16="http://schemas.microsoft.com/office/drawing/2014/main" val="20001"/>
                    </a:ext>
                  </a:extLst>
                </a:gridCol>
                <a:gridCol w="2021738">
                  <a:extLst>
                    <a:ext uri="{9D8B030D-6E8A-4147-A177-3AD203B41FA5}">
                      <a16:colId xmlns:a16="http://schemas.microsoft.com/office/drawing/2014/main" val="20002"/>
                    </a:ext>
                  </a:extLst>
                </a:gridCol>
              </a:tblGrid>
              <a:tr h="402336">
                <a:tc>
                  <a:txBody>
                    <a:bodyPr/>
                    <a:lstStyle/>
                    <a:p>
                      <a:r>
                        <a:rPr sz="1300" b="1">
                          <a:solidFill>
                            <a:srgbClr val="FFFFFF"/>
                          </a:solidFill>
                          <a:latin typeface="Segoe UI"/>
                        </a:rPr>
                        <a:t>Concepto (por año)</a:t>
                      </a:r>
                    </a:p>
                  </a:txBody>
                  <a:tcPr marL="109728" marR="109728" anchor="ctr">
                    <a:solidFill>
                      <a:srgbClr val="004B85"/>
                    </a:solidFill>
                  </a:tcPr>
                </a:tc>
                <a:tc>
                  <a:txBody>
                    <a:bodyPr/>
                    <a:lstStyle/>
                    <a:p>
                      <a:r>
                        <a:rPr sz="1300" b="1">
                          <a:solidFill>
                            <a:srgbClr val="FFFFFF"/>
                          </a:solidFill>
                          <a:latin typeface="Segoe UI"/>
                        </a:rPr>
                        <a:t>Canjilones metálicos</a:t>
                      </a:r>
                    </a:p>
                  </a:txBody>
                  <a:tcPr marL="109728" marR="109728" anchor="ctr">
                    <a:solidFill>
                      <a:srgbClr val="004B85"/>
                    </a:solidFill>
                  </a:tcPr>
                </a:tc>
                <a:tc>
                  <a:txBody>
                    <a:bodyPr/>
                    <a:lstStyle/>
                    <a:p>
                      <a:r>
                        <a:rPr sz="1300" b="1">
                          <a:solidFill>
                            <a:srgbClr val="FFFFFF"/>
                          </a:solidFill>
                          <a:latin typeface="Segoe UI"/>
                        </a:rPr>
                        <a:t>Canjilones plásticos</a:t>
                      </a:r>
                    </a:p>
                  </a:txBody>
                  <a:tcPr marL="109728" marR="109728" anchor="ctr">
                    <a:solidFill>
                      <a:srgbClr val="B88200"/>
                    </a:solidFill>
                  </a:tcPr>
                </a:tc>
                <a:extLst>
                  <a:ext uri="{0D108BD9-81ED-4DB2-BD59-A6C34878D82A}">
                    <a16:rowId xmlns:a16="http://schemas.microsoft.com/office/drawing/2014/main" val="10000"/>
                  </a:ext>
                </a:extLst>
              </a:tr>
              <a:tr h="662025">
                <a:tc>
                  <a:txBody>
                    <a:bodyPr/>
                    <a:lstStyle/>
                    <a:p>
                      <a:pPr>
                        <a:lnSpc>
                          <a:spcPct val="112000"/>
                        </a:lnSpc>
                      </a:pPr>
                      <a:r>
                        <a:rPr sz="1250" b="1" i="0">
                          <a:solidFill>
                            <a:srgbClr val="00335C"/>
                          </a:solidFill>
                          <a:latin typeface="Segoe UI"/>
                        </a:rPr>
                        <a:t>Paradas por año</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6</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1</a:t>
                      </a:r>
                    </a:p>
                  </a:txBody>
                  <a:tcPr marL="109728" marR="109728" marT="36576" marB="36576" anchor="ctr">
                    <a:solidFill>
                      <a:srgbClr val="FFFFFF"/>
                    </a:solidFill>
                  </a:tcPr>
                </a:tc>
                <a:extLst>
                  <a:ext uri="{0D108BD9-81ED-4DB2-BD59-A6C34878D82A}">
                    <a16:rowId xmlns:a16="http://schemas.microsoft.com/office/drawing/2014/main" val="10001"/>
                  </a:ext>
                </a:extLst>
              </a:tr>
              <a:tr h="662025">
                <a:tc>
                  <a:txBody>
                    <a:bodyPr/>
                    <a:lstStyle/>
                    <a:p>
                      <a:pPr>
                        <a:lnSpc>
                          <a:spcPct val="112000"/>
                        </a:lnSpc>
                      </a:pPr>
                      <a:r>
                        <a:rPr sz="1250" b="1" i="0">
                          <a:solidFill>
                            <a:srgbClr val="00335C"/>
                          </a:solidFill>
                          <a:latin typeface="Segoe UI"/>
                        </a:rPr>
                        <a:t>Lucro cesante (8 h × $450.000/h)</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$21,6 M</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$3,6 M</a:t>
                      </a:r>
                    </a:p>
                  </a:txBody>
                  <a:tcPr marL="109728" marR="109728" marT="36576" marB="36576" anchor="ctr">
                    <a:solidFill>
                      <a:srgbClr val="F4F7FA"/>
                    </a:solidFill>
                  </a:tcPr>
                </a:tc>
                <a:extLst>
                  <a:ext uri="{0D108BD9-81ED-4DB2-BD59-A6C34878D82A}">
                    <a16:rowId xmlns:a16="http://schemas.microsoft.com/office/drawing/2014/main" val="10002"/>
                  </a:ext>
                </a:extLst>
              </a:tr>
              <a:tr h="662025">
                <a:tc>
                  <a:txBody>
                    <a:bodyPr/>
                    <a:lstStyle/>
                    <a:p>
                      <a:pPr>
                        <a:lnSpc>
                          <a:spcPct val="112000"/>
                        </a:lnSpc>
                      </a:pPr>
                      <a:r>
                        <a:rPr sz="1250" b="1" i="0">
                          <a:solidFill>
                            <a:srgbClr val="00335C"/>
                          </a:solidFill>
                          <a:latin typeface="Segoe UI"/>
                        </a:rPr>
                        <a:t>Repuestos</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$6,0 M</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$1,5 M</a:t>
                      </a:r>
                    </a:p>
                  </a:txBody>
                  <a:tcPr marL="109728" marR="109728" marT="36576" marB="36576" anchor="ctr">
                    <a:solidFill>
                      <a:srgbClr val="FFFFFF"/>
                    </a:solidFill>
                  </a:tcPr>
                </a:tc>
                <a:extLst>
                  <a:ext uri="{0D108BD9-81ED-4DB2-BD59-A6C34878D82A}">
                    <a16:rowId xmlns:a16="http://schemas.microsoft.com/office/drawing/2014/main" val="10003"/>
                  </a:ext>
                </a:extLst>
              </a:tr>
              <a:tr h="662025">
                <a:tc>
                  <a:txBody>
                    <a:bodyPr/>
                    <a:lstStyle/>
                    <a:p>
                      <a:pPr>
                        <a:lnSpc>
                          <a:spcPct val="112000"/>
                        </a:lnSpc>
                      </a:pPr>
                      <a:r>
                        <a:rPr sz="1250" b="1" i="0">
                          <a:solidFill>
                            <a:srgbClr val="00335C"/>
                          </a:solidFill>
                          <a:latin typeface="Segoe UI"/>
                        </a:rPr>
                        <a:t>Mano de obra (3 técnicos)</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$5,0 M</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$0,8 M</a:t>
                      </a:r>
                    </a:p>
                  </a:txBody>
                  <a:tcPr marL="109728" marR="109728" marT="36576" marB="36576" anchor="ctr">
                    <a:solidFill>
                      <a:srgbClr val="F4F7FA"/>
                    </a:solidFill>
                  </a:tcPr>
                </a:tc>
                <a:extLst>
                  <a:ext uri="{0D108BD9-81ED-4DB2-BD59-A6C34878D82A}">
                    <a16:rowId xmlns:a16="http://schemas.microsoft.com/office/drawing/2014/main" val="10004"/>
                  </a:ext>
                </a:extLst>
              </a:tr>
              <a:tr h="662025">
                <a:tc>
                  <a:txBody>
                    <a:bodyPr/>
                    <a:lstStyle/>
                    <a:p>
                      <a:pPr>
                        <a:lnSpc>
                          <a:spcPct val="112000"/>
                        </a:lnSpc>
                      </a:pPr>
                      <a:r>
                        <a:rPr sz="1250" b="1" i="0">
                          <a:solidFill>
                            <a:srgbClr val="00335C"/>
                          </a:solidFill>
                          <a:latin typeface="Segoe UI"/>
                        </a:rPr>
                        <a:t>Costo anual</a:t>
                      </a:r>
                    </a:p>
                  </a:txBody>
                  <a:tcPr marL="109728" marR="109728" marT="36576" marB="36576" anchor="ctr">
                    <a:solidFill>
                      <a:srgbClr val="FFFFFF"/>
                    </a:solidFill>
                  </a:tcPr>
                </a:tc>
                <a:tc>
                  <a:txBody>
                    <a:bodyPr/>
                    <a:lstStyle/>
                    <a:p>
                      <a:pPr>
                        <a:lnSpc>
                          <a:spcPct val="112000"/>
                        </a:lnSpc>
                      </a:pPr>
                      <a:r>
                        <a:rPr sz="1250" b="1" i="0">
                          <a:solidFill>
                            <a:srgbClr val="1B2430"/>
                          </a:solidFill>
                          <a:latin typeface="Segoe UI"/>
                        </a:rPr>
                        <a:t>$32,6 M</a:t>
                      </a:r>
                    </a:p>
                  </a:txBody>
                  <a:tcPr marL="109728" marR="109728" marT="36576" marB="36576" anchor="ctr">
                    <a:solidFill>
                      <a:srgbClr val="FFFFFF"/>
                    </a:solidFill>
                  </a:tcPr>
                </a:tc>
                <a:tc>
                  <a:txBody>
                    <a:bodyPr/>
                    <a:lstStyle/>
                    <a:p>
                      <a:pPr>
                        <a:lnSpc>
                          <a:spcPct val="112000"/>
                        </a:lnSpc>
                      </a:pPr>
                      <a:r>
                        <a:rPr sz="1250" b="1" i="0">
                          <a:solidFill>
                            <a:srgbClr val="1B2430"/>
                          </a:solidFill>
                          <a:latin typeface="Segoe UI"/>
                        </a:rPr>
                        <a:t>$5,9 M</a:t>
                      </a:r>
                    </a:p>
                  </a:txBody>
                  <a:tcPr marL="109728" marR="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28" name="Rectangle 27"/>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Recuperación = inversión ÷ ahorro anual = 15,0 ÷ 26,7 ≈ 0,56 años. Cifras ilustrativas en pesos colombianos.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5C"/>
          </a:solidFill>
          <a:ln/>
        </p:spPr>
      </p:sp>
      <p:sp>
        <p:nvSpPr>
          <p:cNvPr id="3" name="Shape 1"/>
          <p:cNvSpPr/>
          <p:nvPr/>
        </p:nvSpPr>
        <p:spPr>
          <a:xfrm>
            <a:off x="0" y="0"/>
            <a:ext cx="274320" cy="6858000"/>
          </a:xfrm>
          <a:prstGeom prst="rect">
            <a:avLst/>
          </a:prstGeom>
          <a:solidFill>
            <a:srgbClr val="FFB903"/>
          </a:solidFill>
          <a:ln/>
        </p:spPr>
      </p:sp>
      <p:sp>
        <p:nvSpPr>
          <p:cNvPr id="4" name="Shape 2"/>
          <p:cNvSpPr/>
          <p:nvPr/>
        </p:nvSpPr>
        <p:spPr>
          <a:xfrm>
            <a:off x="7616952" y="0"/>
            <a:ext cx="4574743" cy="6858000"/>
          </a:xfrm>
          <a:prstGeom prst="rect">
            <a:avLst/>
          </a:prstGeom>
          <a:solidFill>
            <a:srgbClr val="001E38"/>
          </a:solidFill>
          <a:ln/>
        </p:spPr>
      </p:sp>
      <p:pic>
        <p:nvPicPr>
          <p:cNvPr id="5"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6" name="Text 3"/>
          <p:cNvSpPr txBox="1"/>
          <p:nvPr/>
        </p:nvSpPr>
        <p:spPr>
          <a:xfrm>
            <a:off x="1143000" y="1005840"/>
            <a:ext cx="2377440" cy="1417320"/>
          </a:xfrm>
          <a:prstGeom prst="rect">
            <a:avLst/>
          </a:prstGeom>
          <a:noFill/>
          <a:ln/>
        </p:spPr>
        <p:txBody>
          <a:bodyPr wrap="square" lIns="0" tIns="0" rIns="0" bIns="0" rtlCol="0" anchor="ctr"/>
          <a:lstStyle/>
          <a:p>
            <a:pPr marL="0" indent="0">
              <a:buNone/>
            </a:pPr>
            <a:r>
              <a:rPr lang="en-US" sz="10400" b="1" dirty="0">
                <a:solidFill>
                  <a:srgbClr val="FFB903"/>
                </a:solidFill>
                <a:latin typeface="Segoe UI" pitchFamily="34" charset="0"/>
                <a:ea typeface="Segoe UI" pitchFamily="34" charset="-122"/>
                <a:cs typeface="Segoe UI" pitchFamily="34" charset="-120"/>
              </a:rPr>
              <a:t>5</a:t>
            </a:r>
            <a:endParaRPr lang="en-US" sz="10400" dirty="0"/>
          </a:p>
        </p:txBody>
      </p:sp>
      <p:sp>
        <p:nvSpPr>
          <p:cNvPr id="7" name="Text 4"/>
          <p:cNvSpPr txBox="1"/>
          <p:nvPr/>
        </p:nvSpPr>
        <p:spPr>
          <a:xfrm>
            <a:off x="1143000" y="2350008"/>
            <a:ext cx="6126480" cy="1554480"/>
          </a:xfrm>
          <a:prstGeom prst="rect">
            <a:avLst/>
          </a:prstGeom>
          <a:noFill/>
          <a:ln/>
        </p:spPr>
        <p:txBody>
          <a:bodyPr wrap="square" lIns="0" tIns="0" rIns="0" bIns="0" rtlCol="0" anchor="ctr"/>
          <a:lstStyle/>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Gestión eficiente</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del nivel</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operacional</a:t>
            </a:r>
            <a:endParaRPr lang="en-US" sz="3300" dirty="0"/>
          </a:p>
        </p:txBody>
      </p:sp>
      <p:sp>
        <p:nvSpPr>
          <p:cNvPr id="8" name="Shape 5"/>
          <p:cNvSpPr/>
          <p:nvPr/>
        </p:nvSpPr>
        <p:spPr>
          <a:xfrm>
            <a:off x="1143000" y="4069080"/>
            <a:ext cx="1371600" cy="45720"/>
          </a:xfrm>
          <a:prstGeom prst="rect">
            <a:avLst/>
          </a:prstGeom>
          <a:solidFill>
            <a:srgbClr val="FFB903"/>
          </a:solidFill>
          <a:ln/>
        </p:spPr>
      </p:sp>
      <p:sp>
        <p:nvSpPr>
          <p:cNvPr id="9" name="Text 6"/>
          <p:cNvSpPr txBox="1"/>
          <p:nvPr/>
        </p:nvSpPr>
        <p:spPr>
          <a:xfrm>
            <a:off x="1143000" y="4279392"/>
            <a:ext cx="5852160" cy="1005840"/>
          </a:xfrm>
          <a:prstGeom prst="rect">
            <a:avLst/>
          </a:prstGeom>
          <a:noFill/>
          <a:ln/>
        </p:spPr>
        <p:txBody>
          <a:bodyPr wrap="square" lIns="0" tIns="0" rIns="0" bIns="0" rtlCol="0" anchor="ctr"/>
          <a:lstStyle/>
          <a:p>
            <a:pPr marL="0" indent="0">
              <a:lnSpc>
                <a:spcPts val="2500"/>
              </a:lnSpc>
              <a:buNone/>
            </a:pPr>
            <a:r>
              <a:rPr lang="en-US" sz="1800" dirty="0">
                <a:solidFill>
                  <a:srgbClr val="B8C8D8"/>
                </a:solidFill>
                <a:latin typeface="Segoe UI" pitchFamily="34" charset="0"/>
                <a:ea typeface="Segoe UI" pitchFamily="34" charset="-122"/>
                <a:cs typeface="Segoe UI" pitchFamily="34" charset="-120"/>
              </a:rPr>
              <a:t>Aspectos que hacen más eficiente la gestión del nivel operacional de mantenimiento: detección, análisis, información y decisión.</a:t>
            </a:r>
            <a:endParaRPr lang="en-US" sz="1800" dirty="0"/>
          </a:p>
        </p:txBody>
      </p:sp>
      <p:sp>
        <p:nvSpPr>
          <p:cNvPr id="10" name="Text 7"/>
          <p:cNvSpPr txBox="1"/>
          <p:nvPr/>
        </p:nvSpPr>
        <p:spPr>
          <a:xfrm>
            <a:off x="8211312" y="1719072"/>
            <a:ext cx="3291840" cy="338328"/>
          </a:xfrm>
          <a:prstGeom prst="rect">
            <a:avLst/>
          </a:prstGeom>
          <a:noFill/>
          <a:ln/>
        </p:spPr>
        <p:txBody>
          <a:bodyPr wrap="square" lIns="0" tIns="0" rIns="0" bIns="0" rtlCol="0" anchor="ctr"/>
          <a:lstStyle/>
          <a:p>
            <a:pPr marL="0" indent="0">
              <a:buNone/>
            </a:pPr>
            <a:r>
              <a:rPr lang="en-US" sz="1800" b="1" kern="0" spc="80" dirty="0">
                <a:solidFill>
                  <a:srgbClr val="FFB903"/>
                </a:solidFill>
                <a:latin typeface="Segoe UI" pitchFamily="34" charset="0"/>
                <a:ea typeface="Segoe UI" pitchFamily="34" charset="-122"/>
                <a:cs typeface="Segoe UI" pitchFamily="34" charset="-120"/>
              </a:rPr>
              <a:t>EN ESTA SECCIÓN</a:t>
            </a:r>
            <a:endParaRPr lang="en-US" sz="1800" dirty="0"/>
          </a:p>
        </p:txBody>
      </p:sp>
      <p:sp>
        <p:nvSpPr>
          <p:cNvPr id="11" name="Shape 8"/>
          <p:cNvSpPr/>
          <p:nvPr/>
        </p:nvSpPr>
        <p:spPr>
          <a:xfrm>
            <a:off x="8211312" y="2359152"/>
            <a:ext cx="146304" cy="36576"/>
          </a:xfrm>
          <a:prstGeom prst="rect">
            <a:avLst/>
          </a:prstGeom>
          <a:solidFill>
            <a:srgbClr val="FFB903"/>
          </a:solidFill>
          <a:ln/>
        </p:spPr>
      </p:sp>
      <p:sp>
        <p:nvSpPr>
          <p:cNvPr id="12" name="Text 9"/>
          <p:cNvSpPr txBox="1"/>
          <p:nvPr/>
        </p:nvSpPr>
        <p:spPr>
          <a:xfrm>
            <a:off x="8485632" y="224028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Mapa de acciones del nivel operacional</a:t>
            </a:r>
            <a:endParaRPr lang="en-US" sz="1650" dirty="0"/>
          </a:p>
        </p:txBody>
      </p:sp>
      <p:sp>
        <p:nvSpPr>
          <p:cNvPr id="13" name="Shape 10"/>
          <p:cNvSpPr/>
          <p:nvPr/>
        </p:nvSpPr>
        <p:spPr>
          <a:xfrm>
            <a:off x="8211312" y="3319272"/>
            <a:ext cx="146304" cy="36576"/>
          </a:xfrm>
          <a:prstGeom prst="rect">
            <a:avLst/>
          </a:prstGeom>
          <a:solidFill>
            <a:srgbClr val="FFB903"/>
          </a:solidFill>
          <a:ln/>
        </p:spPr>
      </p:sp>
      <p:sp>
        <p:nvSpPr>
          <p:cNvPr id="14" name="Text 11"/>
          <p:cNvSpPr txBox="1"/>
          <p:nvPr/>
        </p:nvSpPr>
        <p:spPr>
          <a:xfrm>
            <a:off x="8485632" y="320040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Agilidad en detección y análisis</a:t>
            </a:r>
            <a:endParaRPr lang="en-US" sz="1650" dirty="0"/>
          </a:p>
        </p:txBody>
      </p:sp>
      <p:sp>
        <p:nvSpPr>
          <p:cNvPr id="15" name="Shape 12"/>
          <p:cNvSpPr/>
          <p:nvPr/>
        </p:nvSpPr>
        <p:spPr>
          <a:xfrm>
            <a:off x="8211312" y="4279392"/>
            <a:ext cx="146304" cy="36576"/>
          </a:xfrm>
          <a:prstGeom prst="rect">
            <a:avLst/>
          </a:prstGeom>
          <a:solidFill>
            <a:srgbClr val="FFB903"/>
          </a:solidFill>
          <a:ln/>
        </p:spPr>
      </p:sp>
      <p:sp>
        <p:nvSpPr>
          <p:cNvPr id="16" name="Text 13"/>
          <p:cNvSpPr txBox="1"/>
          <p:nvPr/>
        </p:nvSpPr>
        <p:spPr>
          <a:xfrm>
            <a:off x="8485632" y="416052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Información y conocimiento técnico</a:t>
            </a:r>
            <a:endParaRPr lang="en-US" sz="1650" dirty="0"/>
          </a:p>
        </p:txBody>
      </p:sp>
      <p:sp>
        <p:nvSpPr>
          <p:cNvPr id="17" name="Shape 14"/>
          <p:cNvSpPr/>
          <p:nvPr/>
        </p:nvSpPr>
        <p:spPr>
          <a:xfrm>
            <a:off x="8211312" y="5239512"/>
            <a:ext cx="146304" cy="36576"/>
          </a:xfrm>
          <a:prstGeom prst="rect">
            <a:avLst/>
          </a:prstGeom>
          <a:solidFill>
            <a:srgbClr val="FFB903"/>
          </a:solidFill>
          <a:ln/>
        </p:spPr>
      </p:sp>
      <p:sp>
        <p:nvSpPr>
          <p:cNvPr id="18" name="Text 15"/>
          <p:cNvSpPr txBox="1"/>
          <p:nvPr/>
        </p:nvSpPr>
        <p:spPr>
          <a:xfrm>
            <a:off x="8485632" y="512064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Decisión y ejecución</a:t>
            </a:r>
            <a:endParaRPr lang="en-US" sz="16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VISIÓN DE CONJUNTO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Nivel operacional: posibles acciones a ejecutar</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42</a:t>
            </a:r>
            <a:endParaRPr lang="en-US" sz="1000" dirty="0"/>
          </a:p>
        </p:txBody>
      </p:sp>
      <p:sp>
        <p:nvSpPr>
          <p:cNvPr id="10" name="Shape 7"/>
          <p:cNvSpPr/>
          <p:nvPr/>
        </p:nvSpPr>
        <p:spPr>
          <a:xfrm>
            <a:off x="4041648" y="1682496"/>
            <a:ext cx="4105656" cy="502920"/>
          </a:xfrm>
          <a:prstGeom prst="rect">
            <a:avLst/>
          </a:prstGeom>
          <a:solidFill>
            <a:srgbClr val="001E38"/>
          </a:solidFill>
          <a:ln/>
        </p:spPr>
      </p:sp>
      <p:sp>
        <p:nvSpPr>
          <p:cNvPr id="11" name="Text 8"/>
          <p:cNvSpPr txBox="1"/>
          <p:nvPr/>
        </p:nvSpPr>
        <p:spPr>
          <a:xfrm>
            <a:off x="4041648" y="1682496"/>
            <a:ext cx="4105656" cy="502920"/>
          </a:xfrm>
          <a:prstGeom prst="rect">
            <a:avLst/>
          </a:prstGeom>
          <a:noFill/>
          <a:ln/>
        </p:spPr>
        <p:txBody>
          <a:bodyPr wrap="square" lIns="0" tIns="0" rIns="0" bIns="0" rtlCol="0" anchor="ctr"/>
          <a:lstStyle/>
          <a:p>
            <a:pPr marL="0" indent="0" algn="ctr">
              <a:lnSpc>
                <a:spcPts val="1875"/>
              </a:lnSpc>
              <a:buNone/>
            </a:pPr>
            <a:r>
              <a:rPr lang="en-US" sz="1500" b="1" dirty="0">
                <a:solidFill>
                  <a:srgbClr val="FFFFFF"/>
                </a:solidFill>
                <a:latin typeface="Segoe UI" pitchFamily="34" charset="0"/>
                <a:ea typeface="Segoe UI" pitchFamily="34" charset="-122"/>
                <a:cs typeface="Segoe UI" pitchFamily="34" charset="-120"/>
              </a:rPr>
              <a:t>NIVEL OPERACIONAL</a:t>
            </a:r>
            <a:endParaRPr lang="en-US" sz="1500" dirty="0"/>
          </a:p>
        </p:txBody>
      </p:sp>
      <p:sp>
        <p:nvSpPr>
          <p:cNvPr id="12" name="Shape 9"/>
          <p:cNvSpPr/>
          <p:nvPr/>
        </p:nvSpPr>
        <p:spPr>
          <a:xfrm>
            <a:off x="6071616" y="2185416"/>
            <a:ext cx="41148" cy="256032"/>
          </a:xfrm>
          <a:prstGeom prst="rect">
            <a:avLst/>
          </a:prstGeom>
          <a:solidFill>
            <a:srgbClr val="2E77B0"/>
          </a:solidFill>
          <a:ln/>
        </p:spPr>
      </p:sp>
      <p:sp>
        <p:nvSpPr>
          <p:cNvPr id="13" name="Shape 10"/>
          <p:cNvSpPr/>
          <p:nvPr/>
        </p:nvSpPr>
        <p:spPr>
          <a:xfrm>
            <a:off x="3017520" y="2441448"/>
            <a:ext cx="6144768" cy="41148"/>
          </a:xfrm>
          <a:prstGeom prst="rect">
            <a:avLst/>
          </a:prstGeom>
          <a:solidFill>
            <a:srgbClr val="2E77B0"/>
          </a:solidFill>
          <a:ln/>
        </p:spPr>
      </p:sp>
      <p:sp>
        <p:nvSpPr>
          <p:cNvPr id="14" name="Shape 11"/>
          <p:cNvSpPr/>
          <p:nvPr/>
        </p:nvSpPr>
        <p:spPr>
          <a:xfrm>
            <a:off x="3017520" y="2441448"/>
            <a:ext cx="41148" cy="237744"/>
          </a:xfrm>
          <a:prstGeom prst="rect">
            <a:avLst/>
          </a:prstGeom>
          <a:solidFill>
            <a:srgbClr val="2E77B0"/>
          </a:solidFill>
          <a:ln/>
        </p:spPr>
      </p:sp>
      <p:sp>
        <p:nvSpPr>
          <p:cNvPr id="15" name="Shape 12"/>
          <p:cNvSpPr/>
          <p:nvPr/>
        </p:nvSpPr>
        <p:spPr>
          <a:xfrm>
            <a:off x="9125712" y="2441448"/>
            <a:ext cx="41148" cy="237744"/>
          </a:xfrm>
          <a:prstGeom prst="rect">
            <a:avLst/>
          </a:prstGeom>
          <a:solidFill>
            <a:srgbClr val="2E77B0"/>
          </a:solidFill>
          <a:ln/>
        </p:spPr>
      </p:sp>
      <p:sp>
        <p:nvSpPr>
          <p:cNvPr id="16" name="Shape 13"/>
          <p:cNvSpPr/>
          <p:nvPr/>
        </p:nvSpPr>
        <p:spPr>
          <a:xfrm>
            <a:off x="1188720" y="2679192"/>
            <a:ext cx="3657600" cy="475488"/>
          </a:xfrm>
          <a:prstGeom prst="rect">
            <a:avLst/>
          </a:prstGeom>
          <a:solidFill>
            <a:srgbClr val="00335C"/>
          </a:solidFill>
          <a:ln/>
        </p:spPr>
      </p:sp>
      <p:sp>
        <p:nvSpPr>
          <p:cNvPr id="17" name="Text 14"/>
          <p:cNvSpPr txBox="1"/>
          <p:nvPr/>
        </p:nvSpPr>
        <p:spPr>
          <a:xfrm>
            <a:off x="1188720" y="2679192"/>
            <a:ext cx="3657600" cy="475488"/>
          </a:xfrm>
          <a:prstGeom prst="rect">
            <a:avLst/>
          </a:prstGeom>
          <a:noFill/>
          <a:ln/>
        </p:spPr>
        <p:txBody>
          <a:bodyPr wrap="square" lIns="0" tIns="0" rIns="0" bIns="0" rtlCol="0" anchor="ctr"/>
          <a:lstStyle/>
          <a:p>
            <a:pPr marL="0" indent="0" algn="ctr">
              <a:lnSpc>
                <a:spcPts val="1688"/>
              </a:lnSpc>
              <a:buNone/>
            </a:pPr>
            <a:r>
              <a:rPr lang="en-US" sz="1350" b="1" dirty="0">
                <a:solidFill>
                  <a:srgbClr val="FFFFFF"/>
                </a:solidFill>
                <a:latin typeface="Segoe UI" pitchFamily="34" charset="0"/>
                <a:ea typeface="Segoe UI" pitchFamily="34" charset="-122"/>
                <a:cs typeface="Segoe UI" pitchFamily="34" charset="-120"/>
              </a:rPr>
              <a:t>ANTES DE LA FALLA</a:t>
            </a:r>
            <a:endParaRPr lang="en-US" sz="1350" dirty="0"/>
          </a:p>
        </p:txBody>
      </p:sp>
      <p:sp>
        <p:nvSpPr>
          <p:cNvPr id="18" name="Shape 15"/>
          <p:cNvSpPr/>
          <p:nvPr/>
        </p:nvSpPr>
        <p:spPr>
          <a:xfrm>
            <a:off x="7296912" y="2679192"/>
            <a:ext cx="3657600" cy="475488"/>
          </a:xfrm>
          <a:prstGeom prst="rect">
            <a:avLst/>
          </a:prstGeom>
          <a:solidFill>
            <a:srgbClr val="00335C"/>
          </a:solidFill>
          <a:ln/>
        </p:spPr>
      </p:sp>
      <p:sp>
        <p:nvSpPr>
          <p:cNvPr id="19" name="Text 16"/>
          <p:cNvSpPr txBox="1"/>
          <p:nvPr/>
        </p:nvSpPr>
        <p:spPr>
          <a:xfrm>
            <a:off x="7296912" y="2679192"/>
            <a:ext cx="3657600" cy="475488"/>
          </a:xfrm>
          <a:prstGeom prst="rect">
            <a:avLst/>
          </a:prstGeom>
          <a:noFill/>
          <a:ln/>
        </p:spPr>
        <p:txBody>
          <a:bodyPr wrap="square" lIns="0" tIns="0" rIns="0" bIns="0" rtlCol="0" anchor="ctr"/>
          <a:lstStyle/>
          <a:p>
            <a:pPr marL="0" indent="0" algn="ctr">
              <a:lnSpc>
                <a:spcPts val="1688"/>
              </a:lnSpc>
              <a:buNone/>
            </a:pPr>
            <a:r>
              <a:rPr lang="en-US" sz="1350" b="1" dirty="0">
                <a:solidFill>
                  <a:srgbClr val="FFFFFF"/>
                </a:solidFill>
                <a:latin typeface="Segoe UI" pitchFamily="34" charset="0"/>
                <a:ea typeface="Segoe UI" pitchFamily="34" charset="-122"/>
                <a:cs typeface="Segoe UI" pitchFamily="34" charset="-120"/>
              </a:rPr>
              <a:t>DESPUÉS DE LA FALLA</a:t>
            </a:r>
            <a:endParaRPr lang="en-US" sz="1350" dirty="0"/>
          </a:p>
        </p:txBody>
      </p:sp>
      <p:sp>
        <p:nvSpPr>
          <p:cNvPr id="20" name="Shape 17"/>
          <p:cNvSpPr/>
          <p:nvPr/>
        </p:nvSpPr>
        <p:spPr>
          <a:xfrm>
            <a:off x="3017520" y="3154680"/>
            <a:ext cx="41148" cy="237744"/>
          </a:xfrm>
          <a:prstGeom prst="rect">
            <a:avLst/>
          </a:prstGeom>
          <a:solidFill>
            <a:srgbClr val="2E77B0"/>
          </a:solidFill>
          <a:ln/>
        </p:spPr>
      </p:sp>
      <p:sp>
        <p:nvSpPr>
          <p:cNvPr id="21" name="Shape 18"/>
          <p:cNvSpPr/>
          <p:nvPr/>
        </p:nvSpPr>
        <p:spPr>
          <a:xfrm>
            <a:off x="9125712" y="3154680"/>
            <a:ext cx="41148" cy="237744"/>
          </a:xfrm>
          <a:prstGeom prst="rect">
            <a:avLst/>
          </a:prstGeom>
          <a:solidFill>
            <a:srgbClr val="2E77B0"/>
          </a:solidFill>
          <a:ln/>
        </p:spPr>
      </p:sp>
      <p:sp>
        <p:nvSpPr>
          <p:cNvPr id="22" name="Shape 19"/>
          <p:cNvSpPr/>
          <p:nvPr/>
        </p:nvSpPr>
        <p:spPr>
          <a:xfrm>
            <a:off x="1188720" y="3392424"/>
            <a:ext cx="3657600" cy="475488"/>
          </a:xfrm>
          <a:prstGeom prst="rect">
            <a:avLst/>
          </a:prstGeom>
          <a:solidFill>
            <a:srgbClr val="004B85"/>
          </a:solidFill>
          <a:ln/>
        </p:spPr>
      </p:sp>
      <p:sp>
        <p:nvSpPr>
          <p:cNvPr id="23" name="Text 20"/>
          <p:cNvSpPr txBox="1"/>
          <p:nvPr/>
        </p:nvSpPr>
        <p:spPr>
          <a:xfrm>
            <a:off x="1188720" y="3392424"/>
            <a:ext cx="3657600" cy="475488"/>
          </a:xfrm>
          <a:prstGeom prst="rect">
            <a:avLst/>
          </a:prstGeom>
          <a:noFill/>
          <a:ln/>
        </p:spPr>
        <p:txBody>
          <a:bodyPr wrap="square" lIns="0" tIns="0" rIns="0" bIns="0" rtlCol="0" anchor="ctr"/>
          <a:lstStyle/>
          <a:p>
            <a:pPr marL="0" indent="0" algn="ctr">
              <a:lnSpc>
                <a:spcPts val="1688"/>
              </a:lnSpc>
              <a:buNone/>
            </a:pPr>
            <a:r>
              <a:rPr lang="en-US" sz="1350" b="1" dirty="0">
                <a:solidFill>
                  <a:srgbClr val="FFFFFF"/>
                </a:solidFill>
                <a:latin typeface="Segoe UI" pitchFamily="34" charset="0"/>
                <a:ea typeface="Segoe UI" pitchFamily="34" charset="-122"/>
                <a:cs typeface="Segoe UI" pitchFamily="34" charset="-120"/>
              </a:rPr>
              <a:t>MANTENIMIENTO</a:t>
            </a:r>
            <a:endParaRPr lang="en-US" sz="1350" dirty="0"/>
          </a:p>
        </p:txBody>
      </p:sp>
      <p:sp>
        <p:nvSpPr>
          <p:cNvPr id="24" name="Shape 21"/>
          <p:cNvSpPr/>
          <p:nvPr/>
        </p:nvSpPr>
        <p:spPr>
          <a:xfrm>
            <a:off x="7296912" y="3392424"/>
            <a:ext cx="3657600" cy="475488"/>
          </a:xfrm>
          <a:prstGeom prst="rect">
            <a:avLst/>
          </a:prstGeom>
          <a:solidFill>
            <a:srgbClr val="B88200"/>
          </a:solidFill>
          <a:ln/>
        </p:spPr>
      </p:sp>
      <p:sp>
        <p:nvSpPr>
          <p:cNvPr id="25" name="Text 22"/>
          <p:cNvSpPr txBox="1"/>
          <p:nvPr/>
        </p:nvSpPr>
        <p:spPr>
          <a:xfrm>
            <a:off x="7296912" y="3392424"/>
            <a:ext cx="3657600" cy="475488"/>
          </a:xfrm>
          <a:prstGeom prst="rect">
            <a:avLst/>
          </a:prstGeom>
          <a:noFill/>
          <a:ln/>
        </p:spPr>
        <p:txBody>
          <a:bodyPr wrap="square" lIns="0" tIns="0" rIns="0" bIns="0" rtlCol="0" anchor="ctr"/>
          <a:lstStyle/>
          <a:p>
            <a:pPr marL="0" indent="0" algn="ctr">
              <a:lnSpc>
                <a:spcPts val="1688"/>
              </a:lnSpc>
              <a:buNone/>
            </a:pPr>
            <a:r>
              <a:rPr lang="en-US" sz="1350" b="1" dirty="0">
                <a:solidFill>
                  <a:srgbClr val="FFFFFF"/>
                </a:solidFill>
                <a:latin typeface="Segoe UI" pitchFamily="34" charset="0"/>
                <a:ea typeface="Segoe UI" pitchFamily="34" charset="-122"/>
                <a:cs typeface="Segoe UI" pitchFamily="34" charset="-120"/>
              </a:rPr>
              <a:t>REPARACIONES</a:t>
            </a:r>
            <a:endParaRPr lang="en-US" sz="1350" dirty="0"/>
          </a:p>
        </p:txBody>
      </p:sp>
      <p:sp>
        <p:nvSpPr>
          <p:cNvPr id="26" name="Shape 23"/>
          <p:cNvSpPr/>
          <p:nvPr/>
        </p:nvSpPr>
        <p:spPr>
          <a:xfrm>
            <a:off x="3017520" y="3867912"/>
            <a:ext cx="41148" cy="201168"/>
          </a:xfrm>
          <a:prstGeom prst="rect">
            <a:avLst/>
          </a:prstGeom>
          <a:solidFill>
            <a:srgbClr val="2E77B0"/>
          </a:solidFill>
          <a:ln/>
        </p:spPr>
      </p:sp>
      <p:sp>
        <p:nvSpPr>
          <p:cNvPr id="27" name="Shape 24"/>
          <p:cNvSpPr/>
          <p:nvPr/>
        </p:nvSpPr>
        <p:spPr>
          <a:xfrm>
            <a:off x="1920240" y="4069080"/>
            <a:ext cx="2212848" cy="41148"/>
          </a:xfrm>
          <a:prstGeom prst="rect">
            <a:avLst/>
          </a:prstGeom>
          <a:solidFill>
            <a:srgbClr val="2E77B0"/>
          </a:solidFill>
          <a:ln/>
        </p:spPr>
      </p:sp>
      <p:sp>
        <p:nvSpPr>
          <p:cNvPr id="28" name="Shape 25"/>
          <p:cNvSpPr/>
          <p:nvPr/>
        </p:nvSpPr>
        <p:spPr>
          <a:xfrm>
            <a:off x="1920240" y="4069080"/>
            <a:ext cx="41148" cy="182880"/>
          </a:xfrm>
          <a:prstGeom prst="rect">
            <a:avLst/>
          </a:prstGeom>
          <a:solidFill>
            <a:srgbClr val="2E77B0"/>
          </a:solidFill>
          <a:ln/>
        </p:spPr>
      </p:sp>
      <p:sp>
        <p:nvSpPr>
          <p:cNvPr id="29" name="Shape 26"/>
          <p:cNvSpPr/>
          <p:nvPr/>
        </p:nvSpPr>
        <p:spPr>
          <a:xfrm>
            <a:off x="4087368" y="4069080"/>
            <a:ext cx="41148" cy="182880"/>
          </a:xfrm>
          <a:prstGeom prst="rect">
            <a:avLst/>
          </a:prstGeom>
          <a:solidFill>
            <a:srgbClr val="2E77B0"/>
          </a:solidFill>
          <a:ln/>
        </p:spPr>
      </p:sp>
      <p:sp>
        <p:nvSpPr>
          <p:cNvPr id="30" name="Shape 27"/>
          <p:cNvSpPr/>
          <p:nvPr/>
        </p:nvSpPr>
        <p:spPr>
          <a:xfrm>
            <a:off x="1188720" y="4251960"/>
            <a:ext cx="1463040" cy="566928"/>
          </a:xfrm>
          <a:prstGeom prst="rect">
            <a:avLst/>
          </a:prstGeom>
          <a:solidFill>
            <a:srgbClr val="FFFFFF"/>
          </a:solidFill>
          <a:ln w="12700">
            <a:solidFill>
              <a:srgbClr val="2E77B0"/>
            </a:solidFill>
            <a:prstDash val="solid"/>
          </a:ln>
        </p:spPr>
      </p:sp>
      <p:sp>
        <p:nvSpPr>
          <p:cNvPr id="31" name="Text 28"/>
          <p:cNvSpPr txBox="1"/>
          <p:nvPr/>
        </p:nvSpPr>
        <p:spPr>
          <a:xfrm>
            <a:off x="1188720" y="4251960"/>
            <a:ext cx="1463040" cy="566928"/>
          </a:xfrm>
          <a:prstGeom prst="rect">
            <a:avLst/>
          </a:prstGeom>
          <a:noFill/>
          <a:ln/>
        </p:spPr>
        <p:txBody>
          <a:bodyPr wrap="square" lIns="0" tIns="0" rIns="0" bIns="0" rtlCol="0" anchor="ctr"/>
          <a:lstStyle/>
          <a:p>
            <a:pPr marL="0" indent="0" algn="ctr">
              <a:lnSpc>
                <a:spcPts val="1375"/>
              </a:lnSpc>
              <a:buNone/>
            </a:pPr>
            <a:r>
              <a:rPr lang="en-US" sz="1100" b="1" dirty="0">
                <a:solidFill>
                  <a:srgbClr val="00335C"/>
                </a:solidFill>
                <a:latin typeface="Segoe UI" pitchFamily="34" charset="0"/>
                <a:ea typeface="Segoe UI" pitchFamily="34" charset="-122"/>
                <a:cs typeface="Segoe UI" pitchFamily="34" charset="-120"/>
              </a:rPr>
              <a:t>ACCIONES PREVENTIVAS</a:t>
            </a:r>
            <a:endParaRPr lang="en-US" sz="1100" dirty="0"/>
          </a:p>
        </p:txBody>
      </p:sp>
      <p:sp>
        <p:nvSpPr>
          <p:cNvPr id="32" name="Shape 29"/>
          <p:cNvSpPr/>
          <p:nvPr/>
        </p:nvSpPr>
        <p:spPr>
          <a:xfrm>
            <a:off x="3383280" y="4251960"/>
            <a:ext cx="1463040" cy="566928"/>
          </a:xfrm>
          <a:prstGeom prst="rect">
            <a:avLst/>
          </a:prstGeom>
          <a:solidFill>
            <a:srgbClr val="FFFFFF"/>
          </a:solidFill>
          <a:ln w="12700">
            <a:solidFill>
              <a:srgbClr val="2E77B0"/>
            </a:solidFill>
            <a:prstDash val="solid"/>
          </a:ln>
        </p:spPr>
      </p:sp>
      <p:sp>
        <p:nvSpPr>
          <p:cNvPr id="33" name="Text 30"/>
          <p:cNvSpPr txBox="1"/>
          <p:nvPr/>
        </p:nvSpPr>
        <p:spPr>
          <a:xfrm>
            <a:off x="3383280" y="4251960"/>
            <a:ext cx="1463040" cy="566928"/>
          </a:xfrm>
          <a:prstGeom prst="rect">
            <a:avLst/>
          </a:prstGeom>
          <a:noFill/>
          <a:ln/>
        </p:spPr>
        <p:txBody>
          <a:bodyPr wrap="square" lIns="0" tIns="0" rIns="0" bIns="0" rtlCol="0" anchor="ctr"/>
          <a:lstStyle/>
          <a:p>
            <a:pPr marL="0" indent="0" algn="ctr">
              <a:lnSpc>
                <a:spcPts val="1375"/>
              </a:lnSpc>
              <a:buNone/>
            </a:pPr>
            <a:r>
              <a:rPr lang="en-US" sz="1100" b="1" dirty="0">
                <a:solidFill>
                  <a:srgbClr val="00335C"/>
                </a:solidFill>
                <a:latin typeface="Segoe UI" pitchFamily="34" charset="0"/>
                <a:ea typeface="Segoe UI" pitchFamily="34" charset="-122"/>
                <a:cs typeface="Segoe UI" pitchFamily="34" charset="-120"/>
              </a:rPr>
              <a:t>ACCIONES PREDICTIVAS</a:t>
            </a:r>
            <a:endParaRPr lang="en-US" sz="1100" dirty="0"/>
          </a:p>
        </p:txBody>
      </p:sp>
      <p:sp>
        <p:nvSpPr>
          <p:cNvPr id="34" name="Shape 31"/>
          <p:cNvSpPr/>
          <p:nvPr/>
        </p:nvSpPr>
        <p:spPr>
          <a:xfrm>
            <a:off x="9125712" y="3867912"/>
            <a:ext cx="41148" cy="201168"/>
          </a:xfrm>
          <a:prstGeom prst="rect">
            <a:avLst/>
          </a:prstGeom>
          <a:solidFill>
            <a:srgbClr val="B88200"/>
          </a:solidFill>
          <a:ln/>
        </p:spPr>
      </p:sp>
      <p:sp>
        <p:nvSpPr>
          <p:cNvPr id="35" name="Shape 32"/>
          <p:cNvSpPr/>
          <p:nvPr/>
        </p:nvSpPr>
        <p:spPr>
          <a:xfrm>
            <a:off x="8028432" y="4069080"/>
            <a:ext cx="2212848" cy="41148"/>
          </a:xfrm>
          <a:prstGeom prst="rect">
            <a:avLst/>
          </a:prstGeom>
          <a:solidFill>
            <a:srgbClr val="B88200"/>
          </a:solidFill>
          <a:ln/>
        </p:spPr>
      </p:sp>
      <p:sp>
        <p:nvSpPr>
          <p:cNvPr id="36" name="Shape 33"/>
          <p:cNvSpPr/>
          <p:nvPr/>
        </p:nvSpPr>
        <p:spPr>
          <a:xfrm>
            <a:off x="8028432" y="4069080"/>
            <a:ext cx="41148" cy="182880"/>
          </a:xfrm>
          <a:prstGeom prst="rect">
            <a:avLst/>
          </a:prstGeom>
          <a:solidFill>
            <a:srgbClr val="B88200"/>
          </a:solidFill>
          <a:ln/>
        </p:spPr>
      </p:sp>
      <p:sp>
        <p:nvSpPr>
          <p:cNvPr id="37" name="Shape 34"/>
          <p:cNvSpPr/>
          <p:nvPr/>
        </p:nvSpPr>
        <p:spPr>
          <a:xfrm>
            <a:off x="10195560" y="4069080"/>
            <a:ext cx="41148" cy="182880"/>
          </a:xfrm>
          <a:prstGeom prst="rect">
            <a:avLst/>
          </a:prstGeom>
          <a:solidFill>
            <a:srgbClr val="B88200"/>
          </a:solidFill>
          <a:ln/>
        </p:spPr>
      </p:sp>
      <p:sp>
        <p:nvSpPr>
          <p:cNvPr id="38" name="Shape 35"/>
          <p:cNvSpPr/>
          <p:nvPr/>
        </p:nvSpPr>
        <p:spPr>
          <a:xfrm>
            <a:off x="7296912" y="4251960"/>
            <a:ext cx="1463040" cy="566928"/>
          </a:xfrm>
          <a:prstGeom prst="rect">
            <a:avLst/>
          </a:prstGeom>
          <a:solidFill>
            <a:srgbClr val="FFFFFF"/>
          </a:solidFill>
          <a:ln w="12700">
            <a:solidFill>
              <a:srgbClr val="FFB903"/>
            </a:solidFill>
            <a:prstDash val="solid"/>
          </a:ln>
        </p:spPr>
      </p:sp>
      <p:sp>
        <p:nvSpPr>
          <p:cNvPr id="39" name="Text 36"/>
          <p:cNvSpPr txBox="1"/>
          <p:nvPr/>
        </p:nvSpPr>
        <p:spPr>
          <a:xfrm>
            <a:off x="7296912" y="4251960"/>
            <a:ext cx="1463040" cy="566928"/>
          </a:xfrm>
          <a:prstGeom prst="rect">
            <a:avLst/>
          </a:prstGeom>
          <a:noFill/>
          <a:ln/>
        </p:spPr>
        <p:txBody>
          <a:bodyPr wrap="square" lIns="0" tIns="0" rIns="0" bIns="0" rtlCol="0" anchor="ctr"/>
          <a:lstStyle/>
          <a:p>
            <a:pPr marL="0" indent="0" algn="ctr">
              <a:lnSpc>
                <a:spcPts val="1375"/>
              </a:lnSpc>
              <a:buNone/>
            </a:pPr>
            <a:r>
              <a:rPr lang="en-US" sz="1100" b="1" dirty="0">
                <a:solidFill>
                  <a:srgbClr val="00335C"/>
                </a:solidFill>
                <a:latin typeface="Segoe UI" pitchFamily="34" charset="0"/>
                <a:ea typeface="Segoe UI" pitchFamily="34" charset="-122"/>
                <a:cs typeface="Segoe UI" pitchFamily="34" charset="-120"/>
              </a:rPr>
              <a:t>ACCIONES CORRECTIVAS</a:t>
            </a:r>
            <a:endParaRPr lang="en-US" sz="1100" dirty="0"/>
          </a:p>
        </p:txBody>
      </p:sp>
      <p:sp>
        <p:nvSpPr>
          <p:cNvPr id="40" name="Shape 37"/>
          <p:cNvSpPr/>
          <p:nvPr/>
        </p:nvSpPr>
        <p:spPr>
          <a:xfrm>
            <a:off x="9491472" y="4251960"/>
            <a:ext cx="1463040" cy="566928"/>
          </a:xfrm>
          <a:prstGeom prst="rect">
            <a:avLst/>
          </a:prstGeom>
          <a:solidFill>
            <a:srgbClr val="FFFFFF"/>
          </a:solidFill>
          <a:ln w="12700">
            <a:solidFill>
              <a:srgbClr val="FFB903"/>
            </a:solidFill>
            <a:prstDash val="solid"/>
          </a:ln>
        </p:spPr>
      </p:sp>
      <p:sp>
        <p:nvSpPr>
          <p:cNvPr id="41" name="Text 38"/>
          <p:cNvSpPr txBox="1"/>
          <p:nvPr/>
        </p:nvSpPr>
        <p:spPr>
          <a:xfrm>
            <a:off x="9491472" y="4251960"/>
            <a:ext cx="1463040" cy="566928"/>
          </a:xfrm>
          <a:prstGeom prst="rect">
            <a:avLst/>
          </a:prstGeom>
          <a:noFill/>
          <a:ln/>
        </p:spPr>
        <p:txBody>
          <a:bodyPr wrap="square" lIns="0" tIns="0" rIns="0" bIns="0" rtlCol="0" anchor="ctr"/>
          <a:lstStyle/>
          <a:p>
            <a:pPr marL="0" indent="0" algn="ctr">
              <a:lnSpc>
                <a:spcPts val="1375"/>
              </a:lnSpc>
              <a:buNone/>
            </a:pPr>
            <a:r>
              <a:rPr lang="en-US" sz="1100" b="1" dirty="0">
                <a:solidFill>
                  <a:srgbClr val="00335C"/>
                </a:solidFill>
                <a:latin typeface="Segoe UI" pitchFamily="34" charset="0"/>
                <a:ea typeface="Segoe UI" pitchFamily="34" charset="-122"/>
                <a:cs typeface="Segoe UI" pitchFamily="34" charset="-120"/>
              </a:rPr>
              <a:t>ACCIONES MODIFICATIVAS</a:t>
            </a:r>
            <a:endParaRPr lang="en-US" sz="1100" dirty="0"/>
          </a:p>
        </p:txBody>
      </p:sp>
      <p:sp>
        <p:nvSpPr>
          <p:cNvPr id="42" name="Shape 39"/>
          <p:cNvSpPr/>
          <p:nvPr/>
        </p:nvSpPr>
        <p:spPr>
          <a:xfrm>
            <a:off x="8028432" y="4818888"/>
            <a:ext cx="41148" cy="146304"/>
          </a:xfrm>
          <a:prstGeom prst="rect">
            <a:avLst/>
          </a:prstGeom>
          <a:solidFill>
            <a:srgbClr val="2E77B0"/>
          </a:solidFill>
          <a:ln/>
        </p:spPr>
      </p:sp>
      <p:sp>
        <p:nvSpPr>
          <p:cNvPr id="43" name="Shape 40"/>
          <p:cNvSpPr/>
          <p:nvPr/>
        </p:nvSpPr>
        <p:spPr>
          <a:xfrm>
            <a:off x="7296912" y="4965192"/>
            <a:ext cx="1481328" cy="41148"/>
          </a:xfrm>
          <a:prstGeom prst="rect">
            <a:avLst/>
          </a:prstGeom>
          <a:solidFill>
            <a:srgbClr val="2E77B0"/>
          </a:solidFill>
          <a:ln/>
        </p:spPr>
      </p:sp>
      <p:sp>
        <p:nvSpPr>
          <p:cNvPr id="44" name="Shape 41"/>
          <p:cNvSpPr/>
          <p:nvPr/>
        </p:nvSpPr>
        <p:spPr>
          <a:xfrm>
            <a:off x="7296912" y="4965192"/>
            <a:ext cx="41148" cy="146304"/>
          </a:xfrm>
          <a:prstGeom prst="rect">
            <a:avLst/>
          </a:prstGeom>
          <a:solidFill>
            <a:srgbClr val="2E77B0"/>
          </a:solidFill>
          <a:ln/>
        </p:spPr>
      </p:sp>
      <p:sp>
        <p:nvSpPr>
          <p:cNvPr id="45" name="Shape 42"/>
          <p:cNvSpPr/>
          <p:nvPr/>
        </p:nvSpPr>
        <p:spPr>
          <a:xfrm>
            <a:off x="8741664" y="4965192"/>
            <a:ext cx="41148" cy="146304"/>
          </a:xfrm>
          <a:prstGeom prst="rect">
            <a:avLst/>
          </a:prstGeom>
          <a:solidFill>
            <a:srgbClr val="2E77B0"/>
          </a:solidFill>
          <a:ln/>
        </p:spPr>
      </p:sp>
      <p:sp>
        <p:nvSpPr>
          <p:cNvPr id="46" name="Shape 43"/>
          <p:cNvSpPr/>
          <p:nvPr/>
        </p:nvSpPr>
        <p:spPr>
          <a:xfrm>
            <a:off x="6675120" y="5111496"/>
            <a:ext cx="1243584" cy="548640"/>
          </a:xfrm>
          <a:prstGeom prst="rect">
            <a:avLst/>
          </a:prstGeom>
          <a:solidFill>
            <a:srgbClr val="E8F0F7"/>
          </a:solidFill>
          <a:ln w="12700">
            <a:solidFill>
              <a:srgbClr val="2E77B0"/>
            </a:solidFill>
            <a:prstDash val="solid"/>
          </a:ln>
        </p:spPr>
      </p:sp>
      <p:sp>
        <p:nvSpPr>
          <p:cNvPr id="47" name="Text 44"/>
          <p:cNvSpPr txBox="1"/>
          <p:nvPr/>
        </p:nvSpPr>
        <p:spPr>
          <a:xfrm>
            <a:off x="6675120" y="5111496"/>
            <a:ext cx="1243584" cy="548640"/>
          </a:xfrm>
          <a:prstGeom prst="rect">
            <a:avLst/>
          </a:prstGeom>
          <a:noFill/>
          <a:ln/>
        </p:spPr>
        <p:txBody>
          <a:bodyPr wrap="square" lIns="0" tIns="0" rIns="0" bIns="0" rtlCol="0" anchor="ctr"/>
          <a:lstStyle/>
          <a:p>
            <a:pPr marL="0" indent="0" algn="ctr">
              <a:lnSpc>
                <a:spcPts val="1313"/>
              </a:lnSpc>
              <a:buNone/>
            </a:pPr>
            <a:r>
              <a:rPr lang="en-US" sz="1050" b="1" dirty="0">
                <a:solidFill>
                  <a:srgbClr val="00335C"/>
                </a:solidFill>
                <a:latin typeface="Segoe UI" pitchFamily="34" charset="0"/>
                <a:ea typeface="Segoe UI" pitchFamily="34" charset="-122"/>
                <a:cs typeface="Segoe UI" pitchFamily="34" charset="-120"/>
              </a:rPr>
              <a:t>DESVARE</a:t>
            </a:r>
            <a:endParaRPr lang="en-US" sz="1050" dirty="0"/>
          </a:p>
        </p:txBody>
      </p:sp>
      <p:sp>
        <p:nvSpPr>
          <p:cNvPr id="48" name="Shape 45"/>
          <p:cNvSpPr/>
          <p:nvPr/>
        </p:nvSpPr>
        <p:spPr>
          <a:xfrm>
            <a:off x="8138160" y="5111496"/>
            <a:ext cx="1243584" cy="548640"/>
          </a:xfrm>
          <a:prstGeom prst="rect">
            <a:avLst/>
          </a:prstGeom>
          <a:solidFill>
            <a:srgbClr val="E8F0F7"/>
          </a:solidFill>
          <a:ln w="12700">
            <a:solidFill>
              <a:srgbClr val="2E77B0"/>
            </a:solidFill>
            <a:prstDash val="solid"/>
          </a:ln>
        </p:spPr>
      </p:sp>
      <p:sp>
        <p:nvSpPr>
          <p:cNvPr id="49" name="Text 46"/>
          <p:cNvSpPr txBox="1"/>
          <p:nvPr/>
        </p:nvSpPr>
        <p:spPr>
          <a:xfrm>
            <a:off x="8138160" y="5111496"/>
            <a:ext cx="1243584" cy="548640"/>
          </a:xfrm>
          <a:prstGeom prst="rect">
            <a:avLst/>
          </a:prstGeom>
          <a:noFill/>
          <a:ln/>
        </p:spPr>
        <p:txBody>
          <a:bodyPr wrap="square" lIns="0" tIns="0" rIns="0" bIns="0" rtlCol="0" anchor="ctr"/>
          <a:lstStyle/>
          <a:p>
            <a:pPr marL="0" indent="0" algn="ctr">
              <a:lnSpc>
                <a:spcPts val="1125"/>
              </a:lnSpc>
              <a:buNone/>
            </a:pPr>
            <a:r>
              <a:rPr lang="en-US" sz="900" b="1" dirty="0">
                <a:solidFill>
                  <a:srgbClr val="00335C"/>
                </a:solidFill>
                <a:latin typeface="Segoe UI" pitchFamily="34" charset="0"/>
                <a:ea typeface="Segoe UI" pitchFamily="34" charset="-122"/>
                <a:cs typeface="Segoe UI" pitchFamily="34" charset="-120"/>
              </a:rPr>
              <a:t>REPARACIÓN CORRECTA Y DEFINITIVA</a:t>
            </a:r>
            <a:endParaRPr lang="en-US" sz="900" dirty="0"/>
          </a:p>
        </p:txBody>
      </p:sp>
      <p:sp>
        <p:nvSpPr>
          <p:cNvPr id="50" name="Shape 47"/>
          <p:cNvSpPr/>
          <p:nvPr/>
        </p:nvSpPr>
        <p:spPr>
          <a:xfrm>
            <a:off x="10195560" y="4818888"/>
            <a:ext cx="41148" cy="146304"/>
          </a:xfrm>
          <a:prstGeom prst="rect">
            <a:avLst/>
          </a:prstGeom>
          <a:solidFill>
            <a:srgbClr val="B88200"/>
          </a:solidFill>
          <a:ln/>
        </p:spPr>
      </p:sp>
      <p:sp>
        <p:nvSpPr>
          <p:cNvPr id="51" name="Shape 48"/>
          <p:cNvSpPr/>
          <p:nvPr/>
        </p:nvSpPr>
        <p:spPr>
          <a:xfrm>
            <a:off x="9802368" y="4965192"/>
            <a:ext cx="822960" cy="41148"/>
          </a:xfrm>
          <a:prstGeom prst="rect">
            <a:avLst/>
          </a:prstGeom>
          <a:solidFill>
            <a:srgbClr val="B88200"/>
          </a:solidFill>
          <a:ln/>
        </p:spPr>
      </p:sp>
      <p:sp>
        <p:nvSpPr>
          <p:cNvPr id="52" name="Shape 49"/>
          <p:cNvSpPr/>
          <p:nvPr/>
        </p:nvSpPr>
        <p:spPr>
          <a:xfrm>
            <a:off x="9802368" y="4965192"/>
            <a:ext cx="41148" cy="146304"/>
          </a:xfrm>
          <a:prstGeom prst="rect">
            <a:avLst/>
          </a:prstGeom>
          <a:solidFill>
            <a:srgbClr val="B88200"/>
          </a:solidFill>
          <a:ln/>
        </p:spPr>
      </p:sp>
      <p:sp>
        <p:nvSpPr>
          <p:cNvPr id="53" name="Shape 50"/>
          <p:cNvSpPr/>
          <p:nvPr/>
        </p:nvSpPr>
        <p:spPr>
          <a:xfrm>
            <a:off x="10579608" y="4965192"/>
            <a:ext cx="41148" cy="146304"/>
          </a:xfrm>
          <a:prstGeom prst="rect">
            <a:avLst/>
          </a:prstGeom>
          <a:solidFill>
            <a:srgbClr val="B88200"/>
          </a:solidFill>
          <a:ln/>
        </p:spPr>
      </p:sp>
      <p:sp>
        <p:nvSpPr>
          <p:cNvPr id="54" name="Shape 51"/>
          <p:cNvSpPr/>
          <p:nvPr/>
        </p:nvSpPr>
        <p:spPr>
          <a:xfrm>
            <a:off x="9436608" y="5111496"/>
            <a:ext cx="749808" cy="548640"/>
          </a:xfrm>
          <a:prstGeom prst="rect">
            <a:avLst/>
          </a:prstGeom>
          <a:solidFill>
            <a:srgbClr val="E8F0F7"/>
          </a:solidFill>
          <a:ln w="12700">
            <a:solidFill>
              <a:srgbClr val="FFB903"/>
            </a:solidFill>
            <a:prstDash val="solid"/>
          </a:ln>
        </p:spPr>
      </p:sp>
      <p:sp>
        <p:nvSpPr>
          <p:cNvPr id="55" name="Text 52"/>
          <p:cNvSpPr txBox="1"/>
          <p:nvPr/>
        </p:nvSpPr>
        <p:spPr>
          <a:xfrm>
            <a:off x="9436608" y="5111496"/>
            <a:ext cx="749808" cy="548640"/>
          </a:xfrm>
          <a:prstGeom prst="rect">
            <a:avLst/>
          </a:prstGeom>
          <a:noFill/>
          <a:ln/>
        </p:spPr>
        <p:txBody>
          <a:bodyPr wrap="square" lIns="0" tIns="0" rIns="0" bIns="0" rtlCol="0" anchor="ctr"/>
          <a:lstStyle/>
          <a:p>
            <a:pPr marL="0" indent="0" algn="ctr">
              <a:lnSpc>
                <a:spcPts val="1250"/>
              </a:lnSpc>
              <a:buNone/>
            </a:pPr>
            <a:r>
              <a:rPr lang="en-US" sz="1000" b="1" dirty="0">
                <a:solidFill>
                  <a:srgbClr val="00335C"/>
                </a:solidFill>
                <a:latin typeface="Segoe UI" pitchFamily="34" charset="0"/>
                <a:ea typeface="Segoe UI" pitchFamily="34" charset="-122"/>
                <a:cs typeface="Segoe UI" pitchFamily="34" charset="-120"/>
              </a:rPr>
              <a:t>MEJORA</a:t>
            </a:r>
            <a:endParaRPr lang="en-US" sz="1000" dirty="0"/>
          </a:p>
        </p:txBody>
      </p:sp>
      <p:sp>
        <p:nvSpPr>
          <p:cNvPr id="56" name="Shape 53"/>
          <p:cNvSpPr/>
          <p:nvPr/>
        </p:nvSpPr>
        <p:spPr>
          <a:xfrm>
            <a:off x="10277856" y="5111496"/>
            <a:ext cx="914400" cy="548640"/>
          </a:xfrm>
          <a:prstGeom prst="rect">
            <a:avLst/>
          </a:prstGeom>
          <a:solidFill>
            <a:srgbClr val="E8F0F7"/>
          </a:solidFill>
          <a:ln w="12700">
            <a:solidFill>
              <a:srgbClr val="FFB903"/>
            </a:solidFill>
            <a:prstDash val="solid"/>
          </a:ln>
        </p:spPr>
      </p:sp>
      <p:sp>
        <p:nvSpPr>
          <p:cNvPr id="57" name="Text 54"/>
          <p:cNvSpPr txBox="1"/>
          <p:nvPr/>
        </p:nvSpPr>
        <p:spPr>
          <a:xfrm>
            <a:off x="10277856" y="5111496"/>
            <a:ext cx="914400" cy="548640"/>
          </a:xfrm>
          <a:prstGeom prst="rect">
            <a:avLst/>
          </a:prstGeom>
          <a:noFill/>
          <a:ln/>
        </p:spPr>
        <p:txBody>
          <a:bodyPr wrap="square" lIns="0" tIns="0" rIns="0" bIns="0" rtlCol="0" anchor="ctr"/>
          <a:lstStyle/>
          <a:p>
            <a:pPr marL="0" indent="0" algn="ctr">
              <a:lnSpc>
                <a:spcPts val="1250"/>
              </a:lnSpc>
              <a:buNone/>
            </a:pPr>
            <a:r>
              <a:rPr lang="en-US" sz="1000" b="1" dirty="0">
                <a:solidFill>
                  <a:srgbClr val="00335C"/>
                </a:solidFill>
                <a:latin typeface="Segoe UI" pitchFamily="34" charset="0"/>
                <a:ea typeface="Segoe UI" pitchFamily="34" charset="-122"/>
                <a:cs typeface="Segoe UI" pitchFamily="34" charset="-120"/>
              </a:rPr>
              <a:t>REDISEÑO</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GESTIÓN DEL NIVEL OPERACIONAL</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Agilidad en la detección y en el análisis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43</a:t>
            </a:r>
            <a:endParaRPr lang="en-US" sz="1000" dirty="0"/>
          </a:p>
        </p:txBody>
      </p:sp>
      <p:sp>
        <p:nvSpPr>
          <p:cNvPr id="10" name="Shape 7"/>
          <p:cNvSpPr/>
          <p:nvPr/>
        </p:nvSpPr>
        <p:spPr>
          <a:xfrm>
            <a:off x="658368" y="1828800"/>
            <a:ext cx="3520440" cy="3108960"/>
          </a:xfrm>
          <a:prstGeom prst="rect">
            <a:avLst/>
          </a:prstGeom>
          <a:solidFill>
            <a:srgbClr val="F4F7FA"/>
          </a:solidFill>
          <a:ln w="9525">
            <a:solidFill>
              <a:srgbClr val="D5DDE5"/>
            </a:solidFill>
            <a:prstDash val="solid"/>
          </a:ln>
        </p:spPr>
      </p:sp>
      <p:sp>
        <p:nvSpPr>
          <p:cNvPr id="11" name="Shape 8"/>
          <p:cNvSpPr/>
          <p:nvPr/>
        </p:nvSpPr>
        <p:spPr>
          <a:xfrm>
            <a:off x="658368" y="1828800"/>
            <a:ext cx="3520440" cy="64008"/>
          </a:xfrm>
          <a:prstGeom prst="rect">
            <a:avLst/>
          </a:prstGeom>
          <a:solidFill>
            <a:srgbClr val="004B85"/>
          </a:solidFill>
          <a:ln/>
        </p:spPr>
      </p:sp>
      <p:sp>
        <p:nvSpPr>
          <p:cNvPr id="12" name="Shape 9"/>
          <p:cNvSpPr/>
          <p:nvPr/>
        </p:nvSpPr>
        <p:spPr>
          <a:xfrm>
            <a:off x="914400" y="2084832"/>
            <a:ext cx="384048" cy="384048"/>
          </a:xfrm>
          <a:prstGeom prst="rect">
            <a:avLst/>
          </a:prstGeom>
          <a:solidFill>
            <a:srgbClr val="004B85"/>
          </a:solidFill>
          <a:ln/>
        </p:spPr>
      </p:sp>
      <p:sp>
        <p:nvSpPr>
          <p:cNvPr id="13" name="Text 10"/>
          <p:cNvSpPr txBox="1"/>
          <p:nvPr/>
        </p:nvSpPr>
        <p:spPr>
          <a:xfrm>
            <a:off x="914400"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633472"/>
            <a:ext cx="3008376" cy="7863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Agilidad en la detección de la falla</a:t>
            </a:r>
            <a:endParaRPr lang="en-US" sz="1700" dirty="0"/>
          </a:p>
        </p:txBody>
      </p:sp>
      <p:sp>
        <p:nvSpPr>
          <p:cNvPr id="15" name="Text 12"/>
          <p:cNvSpPr txBox="1"/>
          <p:nvPr/>
        </p:nvSpPr>
        <p:spPr>
          <a:xfrm>
            <a:off x="914400" y="3511296"/>
            <a:ext cx="3008376" cy="1261872"/>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Programación de inspecciones y detección temprana.</a:t>
            </a:r>
            <a:endParaRPr lang="en-US" sz="1400" dirty="0"/>
          </a:p>
        </p:txBody>
      </p:sp>
      <p:sp>
        <p:nvSpPr>
          <p:cNvPr id="16" name="Shape 13"/>
          <p:cNvSpPr/>
          <p:nvPr/>
        </p:nvSpPr>
        <p:spPr>
          <a:xfrm>
            <a:off x="4334256" y="1828800"/>
            <a:ext cx="3520440" cy="3108960"/>
          </a:xfrm>
          <a:prstGeom prst="rect">
            <a:avLst/>
          </a:prstGeom>
          <a:solidFill>
            <a:srgbClr val="F4F7FA"/>
          </a:solidFill>
          <a:ln w="9525">
            <a:solidFill>
              <a:srgbClr val="D5DDE5"/>
            </a:solidFill>
            <a:prstDash val="solid"/>
          </a:ln>
        </p:spPr>
      </p:sp>
      <p:sp>
        <p:nvSpPr>
          <p:cNvPr id="17" name="Shape 14"/>
          <p:cNvSpPr/>
          <p:nvPr/>
        </p:nvSpPr>
        <p:spPr>
          <a:xfrm>
            <a:off x="4334256" y="1828800"/>
            <a:ext cx="3520440" cy="64008"/>
          </a:xfrm>
          <a:prstGeom prst="rect">
            <a:avLst/>
          </a:prstGeom>
          <a:solidFill>
            <a:srgbClr val="004B85"/>
          </a:solidFill>
          <a:ln/>
        </p:spPr>
      </p:sp>
      <p:sp>
        <p:nvSpPr>
          <p:cNvPr id="18" name="Shape 15"/>
          <p:cNvSpPr/>
          <p:nvPr/>
        </p:nvSpPr>
        <p:spPr>
          <a:xfrm>
            <a:off x="4590288" y="2084832"/>
            <a:ext cx="384048" cy="384048"/>
          </a:xfrm>
          <a:prstGeom prst="rect">
            <a:avLst/>
          </a:prstGeom>
          <a:solidFill>
            <a:srgbClr val="004B85"/>
          </a:solidFill>
          <a:ln/>
        </p:spPr>
      </p:sp>
      <p:sp>
        <p:nvSpPr>
          <p:cNvPr id="19" name="Text 16"/>
          <p:cNvSpPr txBox="1"/>
          <p:nvPr/>
        </p:nvSpPr>
        <p:spPr>
          <a:xfrm>
            <a:off x="4590288"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4590288" y="2633472"/>
            <a:ext cx="3008376" cy="51206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Agilidad en el análisis de fallas</a:t>
            </a:r>
            <a:endParaRPr lang="en-US" sz="1700" dirty="0"/>
          </a:p>
        </p:txBody>
      </p:sp>
      <p:sp>
        <p:nvSpPr>
          <p:cNvPr id="21" name="Text 18"/>
          <p:cNvSpPr txBox="1"/>
          <p:nvPr/>
        </p:nvSpPr>
        <p:spPr>
          <a:xfrm>
            <a:off x="4590288" y="3236976"/>
            <a:ext cx="3008376" cy="1536192"/>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Búsqueda de la causa raíz del problema.</a:t>
            </a:r>
            <a:endParaRPr lang="en-US" sz="1400" dirty="0"/>
          </a:p>
        </p:txBody>
      </p:sp>
      <p:sp>
        <p:nvSpPr>
          <p:cNvPr id="22" name="Shape 19"/>
          <p:cNvSpPr/>
          <p:nvPr/>
        </p:nvSpPr>
        <p:spPr>
          <a:xfrm>
            <a:off x="8010144" y="1828800"/>
            <a:ext cx="3520440" cy="3108960"/>
          </a:xfrm>
          <a:prstGeom prst="rect">
            <a:avLst/>
          </a:prstGeom>
          <a:solidFill>
            <a:srgbClr val="F4F7FA"/>
          </a:solidFill>
          <a:ln w="9525">
            <a:solidFill>
              <a:srgbClr val="D5DDE5"/>
            </a:solidFill>
            <a:prstDash val="solid"/>
          </a:ln>
        </p:spPr>
      </p:sp>
      <p:sp>
        <p:nvSpPr>
          <p:cNvPr id="23" name="Shape 20"/>
          <p:cNvSpPr/>
          <p:nvPr/>
        </p:nvSpPr>
        <p:spPr>
          <a:xfrm>
            <a:off x="8010144" y="1828800"/>
            <a:ext cx="3520440" cy="64008"/>
          </a:xfrm>
          <a:prstGeom prst="rect">
            <a:avLst/>
          </a:prstGeom>
          <a:solidFill>
            <a:srgbClr val="FFB903"/>
          </a:solidFill>
          <a:ln/>
        </p:spPr>
      </p:sp>
      <p:sp>
        <p:nvSpPr>
          <p:cNvPr id="24" name="Shape 21"/>
          <p:cNvSpPr/>
          <p:nvPr/>
        </p:nvSpPr>
        <p:spPr>
          <a:xfrm>
            <a:off x="8266176" y="2084832"/>
            <a:ext cx="384048" cy="384048"/>
          </a:xfrm>
          <a:prstGeom prst="rect">
            <a:avLst/>
          </a:prstGeom>
          <a:solidFill>
            <a:srgbClr val="FFB903"/>
          </a:solidFill>
          <a:ln/>
        </p:spPr>
      </p:sp>
      <p:sp>
        <p:nvSpPr>
          <p:cNvPr id="25" name="Text 22"/>
          <p:cNvSpPr txBox="1"/>
          <p:nvPr/>
        </p:nvSpPr>
        <p:spPr>
          <a:xfrm>
            <a:off x="8266176"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6" name="Text 23"/>
          <p:cNvSpPr txBox="1"/>
          <p:nvPr/>
        </p:nvSpPr>
        <p:spPr>
          <a:xfrm>
            <a:off x="8266176" y="2633472"/>
            <a:ext cx="3008376" cy="51206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Encontrar fallas crónicas</a:t>
            </a:r>
            <a:endParaRPr lang="en-US" sz="1700" dirty="0"/>
          </a:p>
        </p:txBody>
      </p:sp>
      <p:sp>
        <p:nvSpPr>
          <p:cNvPr id="27" name="Text 24"/>
          <p:cNvSpPr txBox="1"/>
          <p:nvPr/>
        </p:nvSpPr>
        <p:spPr>
          <a:xfrm>
            <a:off x="8266176" y="3236976"/>
            <a:ext cx="3008376" cy="1536192"/>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Identificación de las fallas que se repiten y consumen la capacidad de mantenimiento.</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ENCONTRAR FALLAS CRÓNICAS</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Pareto: dónde se pierden las horas</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5 · Acciones modificativas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43a</a:t>
            </a:r>
          </a:p>
        </p:txBody>
      </p:sp>
      <p:graphicFrame>
        <p:nvGraphicFramePr>
          <p:cNvPr id="12" name="Chart 11"/>
          <p:cNvGraphicFramePr>
            <a:graphicFrameLocks noGrp="1"/>
          </p:cNvGraphicFramePr>
          <p:nvPr/>
        </p:nvGraphicFramePr>
        <p:xfrm>
          <a:off x="658368" y="1664208"/>
          <a:ext cx="6949440" cy="3712463"/>
        </p:xfrm>
        <a:graphic>
          <a:graphicData uri="http://schemas.openxmlformats.org/drawingml/2006/chart">
            <c:chart xmlns:c="http://schemas.openxmlformats.org/drawingml/2006/chart" xmlns:r="http://schemas.openxmlformats.org/officeDocument/2006/relationships" r:id="rId4"/>
          </a:graphicData>
        </a:graphic>
      </p:graphicFrame>
      <p:sp>
        <p:nvSpPr>
          <p:cNvPr id="13" name="Rectangle 12"/>
          <p:cNvSpPr/>
          <p:nvPr/>
        </p:nvSpPr>
        <p:spPr>
          <a:xfrm>
            <a:off x="7882128" y="1664208"/>
            <a:ext cx="3648456" cy="1417320"/>
          </a:xfrm>
          <a:prstGeom prst="rect">
            <a:avLst/>
          </a:prstGeom>
          <a:solidFill>
            <a:srgbClr val="00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10728" y="1801368"/>
            <a:ext cx="3191256" cy="201168"/>
          </a:xfrm>
          <a:prstGeom prst="rect">
            <a:avLst/>
          </a:prstGeom>
          <a:noFill/>
        </p:spPr>
        <p:txBody>
          <a:bodyPr wrap="square" lIns="0" tIns="0" rIns="0" bIns="0" anchor="t">
            <a:spAutoFit/>
          </a:bodyPr>
          <a:lstStyle/>
          <a:p>
            <a:pPr algn="l">
              <a:lnSpc>
                <a:spcPct val="122000"/>
              </a:lnSpc>
              <a:spcAft>
                <a:spcPts val="0"/>
              </a:spcAft>
            </a:pPr>
            <a:r>
              <a:rPr sz="950" b="1" i="0">
                <a:solidFill>
                  <a:srgbClr val="FFB903"/>
                </a:solidFill>
                <a:latin typeface="Segoe UI"/>
              </a:rPr>
              <a:t>LECTURA</a:t>
            </a:r>
          </a:p>
        </p:txBody>
      </p:sp>
      <p:sp>
        <p:nvSpPr>
          <p:cNvPr id="15" name="TextBox 14"/>
          <p:cNvSpPr txBox="1"/>
          <p:nvPr/>
        </p:nvSpPr>
        <p:spPr>
          <a:xfrm>
            <a:off x="8110728" y="2048256"/>
            <a:ext cx="3191256" cy="457200"/>
          </a:xfrm>
          <a:prstGeom prst="rect">
            <a:avLst/>
          </a:prstGeom>
          <a:noFill/>
        </p:spPr>
        <p:txBody>
          <a:bodyPr wrap="square" lIns="0" tIns="0" rIns="0" bIns="0" anchor="t">
            <a:spAutoFit/>
          </a:bodyPr>
          <a:lstStyle/>
          <a:p>
            <a:pPr algn="l">
              <a:lnSpc>
                <a:spcPct val="122000"/>
              </a:lnSpc>
              <a:spcAft>
                <a:spcPts val="0"/>
              </a:spcAft>
            </a:pPr>
            <a:r>
              <a:rPr sz="3400" b="1" i="0">
                <a:solidFill>
                  <a:srgbClr val="FFFFFF"/>
                </a:solidFill>
                <a:latin typeface="Segoe UI"/>
              </a:rPr>
              <a:t>66 %</a:t>
            </a:r>
          </a:p>
        </p:txBody>
      </p:sp>
      <p:sp>
        <p:nvSpPr>
          <p:cNvPr id="16" name="TextBox 15"/>
          <p:cNvSpPr txBox="1"/>
          <p:nvPr/>
        </p:nvSpPr>
        <p:spPr>
          <a:xfrm>
            <a:off x="8110728" y="2624328"/>
            <a:ext cx="3191256" cy="365760"/>
          </a:xfrm>
          <a:prstGeom prst="rect">
            <a:avLst/>
          </a:prstGeom>
          <a:noFill/>
        </p:spPr>
        <p:txBody>
          <a:bodyPr wrap="square" lIns="0" tIns="0" rIns="0" bIns="0" anchor="t">
            <a:spAutoFit/>
          </a:bodyPr>
          <a:lstStyle/>
          <a:p>
            <a:pPr algn="l">
              <a:lnSpc>
                <a:spcPct val="122000"/>
              </a:lnSpc>
              <a:spcAft>
                <a:spcPts val="0"/>
              </a:spcAft>
            </a:pPr>
            <a:r>
              <a:rPr sz="1150" b="0" i="0">
                <a:solidFill>
                  <a:srgbClr val="C8D4E0"/>
                </a:solidFill>
                <a:latin typeface="Segoe UI"/>
              </a:rPr>
              <a:t>de 97 h perdidas viene de solo dos causas.</a:t>
            </a:r>
          </a:p>
        </p:txBody>
      </p:sp>
      <p:sp>
        <p:nvSpPr>
          <p:cNvPr id="17" name="Oval 16"/>
          <p:cNvSpPr/>
          <p:nvPr/>
        </p:nvSpPr>
        <p:spPr>
          <a:xfrm>
            <a:off x="7900416" y="3429000"/>
            <a:ext cx="91440" cy="91440"/>
          </a:xfrm>
          <a:prstGeom prst="ellipse">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0" y="3355848"/>
            <a:ext cx="3392424" cy="417576"/>
          </a:xfrm>
          <a:prstGeom prst="rect">
            <a:avLst/>
          </a:prstGeom>
          <a:noFill/>
        </p:spPr>
        <p:txBody>
          <a:bodyPr wrap="square" lIns="0" tIns="0" rIns="0" bIns="0" anchor="t">
            <a:spAutoFit/>
          </a:bodyPr>
          <a:lstStyle/>
          <a:p>
            <a:pPr algn="l">
              <a:lnSpc>
                <a:spcPct val="122000"/>
              </a:lnSpc>
              <a:spcAft>
                <a:spcPts val="0"/>
              </a:spcAft>
            </a:pPr>
            <a:r>
              <a:rPr sz="1200" b="0" i="0">
                <a:solidFill>
                  <a:srgbClr val="1B2430"/>
                </a:solidFill>
                <a:latin typeface="Segoe UI"/>
              </a:rPr>
              <a:t>Son fallas crónicas: pequeñas, frecuentes y aceptadas como «normales».</a:t>
            </a:r>
          </a:p>
        </p:txBody>
      </p:sp>
      <p:sp>
        <p:nvSpPr>
          <p:cNvPr id="19" name="Oval 18"/>
          <p:cNvSpPr/>
          <p:nvPr/>
        </p:nvSpPr>
        <p:spPr>
          <a:xfrm>
            <a:off x="7900416" y="3928872"/>
            <a:ext cx="91440" cy="91440"/>
          </a:xfrm>
          <a:prstGeom prst="ellipse">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38160" y="3855720"/>
            <a:ext cx="3392424" cy="417576"/>
          </a:xfrm>
          <a:prstGeom prst="rect">
            <a:avLst/>
          </a:prstGeom>
          <a:noFill/>
        </p:spPr>
        <p:txBody>
          <a:bodyPr wrap="square" lIns="0" tIns="0" rIns="0" bIns="0" anchor="t">
            <a:spAutoFit/>
          </a:bodyPr>
          <a:lstStyle/>
          <a:p>
            <a:pPr algn="l">
              <a:lnSpc>
                <a:spcPct val="122000"/>
              </a:lnSpc>
              <a:spcAft>
                <a:spcPts val="0"/>
              </a:spcAft>
            </a:pPr>
            <a:r>
              <a:rPr sz="1200" b="0" i="0">
                <a:solidFill>
                  <a:srgbClr val="1B2430"/>
                </a:solidFill>
                <a:latin typeface="Segoe UI"/>
              </a:rPr>
              <a:t>Rodamientos y empalmes pasan a análisis de causa raíz.</a:t>
            </a:r>
          </a:p>
        </p:txBody>
      </p:sp>
      <p:sp>
        <p:nvSpPr>
          <p:cNvPr id="21" name="Oval 20"/>
          <p:cNvSpPr/>
          <p:nvPr/>
        </p:nvSpPr>
        <p:spPr>
          <a:xfrm>
            <a:off x="7900416" y="4428744"/>
            <a:ext cx="91440" cy="91440"/>
          </a:xfrm>
          <a:prstGeom prst="ellipse">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38160" y="4355592"/>
            <a:ext cx="3392424" cy="417576"/>
          </a:xfrm>
          <a:prstGeom prst="rect">
            <a:avLst/>
          </a:prstGeom>
          <a:noFill/>
        </p:spPr>
        <p:txBody>
          <a:bodyPr wrap="square" lIns="0" tIns="0" rIns="0" bIns="0" anchor="t">
            <a:spAutoFit/>
          </a:bodyPr>
          <a:lstStyle/>
          <a:p>
            <a:pPr algn="l">
              <a:lnSpc>
                <a:spcPct val="122000"/>
              </a:lnSpc>
              <a:spcAft>
                <a:spcPts val="0"/>
              </a:spcAft>
            </a:pPr>
            <a:r>
              <a:rPr sz="1200" b="0" i="0">
                <a:solidFill>
                  <a:srgbClr val="1B2430"/>
                </a:solidFill>
                <a:latin typeface="Segoe UI"/>
              </a:rPr>
              <a:t>El resto se mantiene con el plan preventivo actual.</a:t>
            </a:r>
          </a:p>
        </p:txBody>
      </p:sp>
      <p:sp>
        <p:nvSpPr>
          <p:cNvPr id="23" name="Rectangle 22"/>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Pocas causas concentran la mayoría de las horas perdidas: allí se enfoca primero la acción modificativa.</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GESTIÓN DEL NIVEL OPERACIONAL</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Información, conocimiento y decisión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5 · Acciones modificativas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44</a:t>
            </a:r>
            <a:endParaRPr lang="en-US" sz="1000" dirty="0"/>
          </a:p>
        </p:txBody>
      </p:sp>
      <p:sp>
        <p:nvSpPr>
          <p:cNvPr id="10" name="Shape 7"/>
          <p:cNvSpPr/>
          <p:nvPr/>
        </p:nvSpPr>
        <p:spPr>
          <a:xfrm>
            <a:off x="658368" y="1828800"/>
            <a:ext cx="3520440" cy="3291840"/>
          </a:xfrm>
          <a:prstGeom prst="rect">
            <a:avLst/>
          </a:prstGeom>
          <a:solidFill>
            <a:srgbClr val="F4F7FA"/>
          </a:solidFill>
          <a:ln w="9525">
            <a:solidFill>
              <a:srgbClr val="D5DDE5"/>
            </a:solidFill>
            <a:prstDash val="solid"/>
          </a:ln>
        </p:spPr>
      </p:sp>
      <p:sp>
        <p:nvSpPr>
          <p:cNvPr id="11" name="Shape 8"/>
          <p:cNvSpPr/>
          <p:nvPr/>
        </p:nvSpPr>
        <p:spPr>
          <a:xfrm>
            <a:off x="658368" y="1828800"/>
            <a:ext cx="3520440" cy="64008"/>
          </a:xfrm>
          <a:prstGeom prst="rect">
            <a:avLst/>
          </a:prstGeom>
          <a:solidFill>
            <a:srgbClr val="004B85"/>
          </a:solidFill>
          <a:ln/>
        </p:spPr>
      </p:sp>
      <p:sp>
        <p:nvSpPr>
          <p:cNvPr id="12" name="Shape 9"/>
          <p:cNvSpPr/>
          <p:nvPr/>
        </p:nvSpPr>
        <p:spPr>
          <a:xfrm>
            <a:off x="914400" y="2084832"/>
            <a:ext cx="384048" cy="384048"/>
          </a:xfrm>
          <a:prstGeom prst="rect">
            <a:avLst/>
          </a:prstGeom>
          <a:solidFill>
            <a:srgbClr val="004B85"/>
          </a:solidFill>
          <a:ln/>
        </p:spPr>
      </p:sp>
      <p:sp>
        <p:nvSpPr>
          <p:cNvPr id="13" name="Text 10"/>
          <p:cNvSpPr txBox="1"/>
          <p:nvPr/>
        </p:nvSpPr>
        <p:spPr>
          <a:xfrm>
            <a:off x="914400"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14" name="Text 11"/>
          <p:cNvSpPr txBox="1"/>
          <p:nvPr/>
        </p:nvSpPr>
        <p:spPr>
          <a:xfrm>
            <a:off x="914400" y="2633472"/>
            <a:ext cx="3008376" cy="7863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Información completa de los componentes</a:t>
            </a:r>
            <a:endParaRPr lang="en-US" sz="1700" dirty="0"/>
          </a:p>
        </p:txBody>
      </p:sp>
      <p:sp>
        <p:nvSpPr>
          <p:cNvPr id="15" name="Text 12"/>
          <p:cNvSpPr txBox="1"/>
          <p:nvPr/>
        </p:nvSpPr>
        <p:spPr>
          <a:xfrm>
            <a:off x="914400" y="3511296"/>
            <a:ext cx="3008376" cy="144475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Disponibilidad de la información completa (especificaciones técnicas) de los componentes de las máquinas y equipos, con todas sus características previas a la falla.</a:t>
            </a:r>
            <a:endParaRPr lang="en-US" sz="1350" dirty="0"/>
          </a:p>
        </p:txBody>
      </p:sp>
      <p:sp>
        <p:nvSpPr>
          <p:cNvPr id="16" name="Shape 13"/>
          <p:cNvSpPr/>
          <p:nvPr/>
        </p:nvSpPr>
        <p:spPr>
          <a:xfrm>
            <a:off x="4334256" y="1828800"/>
            <a:ext cx="3520440" cy="3291840"/>
          </a:xfrm>
          <a:prstGeom prst="rect">
            <a:avLst/>
          </a:prstGeom>
          <a:solidFill>
            <a:srgbClr val="F4F7FA"/>
          </a:solidFill>
          <a:ln w="9525">
            <a:solidFill>
              <a:srgbClr val="D5DDE5"/>
            </a:solidFill>
            <a:prstDash val="solid"/>
          </a:ln>
        </p:spPr>
      </p:sp>
      <p:sp>
        <p:nvSpPr>
          <p:cNvPr id="17" name="Shape 14"/>
          <p:cNvSpPr/>
          <p:nvPr/>
        </p:nvSpPr>
        <p:spPr>
          <a:xfrm>
            <a:off x="4334256" y="1828800"/>
            <a:ext cx="3520440" cy="64008"/>
          </a:xfrm>
          <a:prstGeom prst="rect">
            <a:avLst/>
          </a:prstGeom>
          <a:solidFill>
            <a:srgbClr val="004B85"/>
          </a:solidFill>
          <a:ln/>
        </p:spPr>
      </p:sp>
      <p:sp>
        <p:nvSpPr>
          <p:cNvPr id="18" name="Shape 15"/>
          <p:cNvSpPr/>
          <p:nvPr/>
        </p:nvSpPr>
        <p:spPr>
          <a:xfrm>
            <a:off x="4590288" y="2084832"/>
            <a:ext cx="384048" cy="384048"/>
          </a:xfrm>
          <a:prstGeom prst="rect">
            <a:avLst/>
          </a:prstGeom>
          <a:solidFill>
            <a:srgbClr val="004B85"/>
          </a:solidFill>
          <a:ln/>
        </p:spPr>
      </p:sp>
      <p:sp>
        <p:nvSpPr>
          <p:cNvPr id="19" name="Text 16"/>
          <p:cNvSpPr txBox="1"/>
          <p:nvPr/>
        </p:nvSpPr>
        <p:spPr>
          <a:xfrm>
            <a:off x="4590288"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5</a:t>
            </a:r>
            <a:endParaRPr lang="en-US" sz="1500" dirty="0"/>
          </a:p>
        </p:txBody>
      </p:sp>
      <p:sp>
        <p:nvSpPr>
          <p:cNvPr id="20" name="Text 17"/>
          <p:cNvSpPr txBox="1"/>
          <p:nvPr/>
        </p:nvSpPr>
        <p:spPr>
          <a:xfrm>
            <a:off x="4590288" y="2633472"/>
            <a:ext cx="3008376" cy="7863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Conocimiento de materiales y procesos</a:t>
            </a:r>
            <a:endParaRPr lang="en-US" sz="1700" dirty="0"/>
          </a:p>
        </p:txBody>
      </p:sp>
      <p:sp>
        <p:nvSpPr>
          <p:cNvPr id="21" name="Text 18"/>
          <p:cNvSpPr txBox="1"/>
          <p:nvPr/>
        </p:nvSpPr>
        <p:spPr>
          <a:xfrm>
            <a:off x="4590288" y="3511296"/>
            <a:ext cx="3008376" cy="144475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Buen conocimiento de materiales, tratamientos y procesos para mejora de especificaciones en los componentes de las máquinas: aumento en su duración o vida útil.</a:t>
            </a:r>
            <a:endParaRPr lang="en-US" sz="1350" dirty="0"/>
          </a:p>
        </p:txBody>
      </p:sp>
      <p:sp>
        <p:nvSpPr>
          <p:cNvPr id="22" name="Shape 19"/>
          <p:cNvSpPr/>
          <p:nvPr/>
        </p:nvSpPr>
        <p:spPr>
          <a:xfrm>
            <a:off x="8010144" y="1828800"/>
            <a:ext cx="3520440" cy="3291840"/>
          </a:xfrm>
          <a:prstGeom prst="rect">
            <a:avLst/>
          </a:prstGeom>
          <a:solidFill>
            <a:srgbClr val="F4F7FA"/>
          </a:solidFill>
          <a:ln w="9525">
            <a:solidFill>
              <a:srgbClr val="D5DDE5"/>
            </a:solidFill>
            <a:prstDash val="solid"/>
          </a:ln>
        </p:spPr>
      </p:sp>
      <p:sp>
        <p:nvSpPr>
          <p:cNvPr id="23" name="Shape 20"/>
          <p:cNvSpPr/>
          <p:nvPr/>
        </p:nvSpPr>
        <p:spPr>
          <a:xfrm>
            <a:off x="8010144" y="1828800"/>
            <a:ext cx="3520440" cy="64008"/>
          </a:xfrm>
          <a:prstGeom prst="rect">
            <a:avLst/>
          </a:prstGeom>
          <a:solidFill>
            <a:srgbClr val="FFB903"/>
          </a:solidFill>
          <a:ln/>
        </p:spPr>
      </p:sp>
      <p:sp>
        <p:nvSpPr>
          <p:cNvPr id="24" name="Shape 21"/>
          <p:cNvSpPr/>
          <p:nvPr/>
        </p:nvSpPr>
        <p:spPr>
          <a:xfrm>
            <a:off x="8266176" y="2084832"/>
            <a:ext cx="384048" cy="384048"/>
          </a:xfrm>
          <a:prstGeom prst="rect">
            <a:avLst/>
          </a:prstGeom>
          <a:solidFill>
            <a:srgbClr val="FFB903"/>
          </a:solidFill>
          <a:ln/>
        </p:spPr>
      </p:sp>
      <p:sp>
        <p:nvSpPr>
          <p:cNvPr id="25" name="Text 22"/>
          <p:cNvSpPr txBox="1"/>
          <p:nvPr/>
        </p:nvSpPr>
        <p:spPr>
          <a:xfrm>
            <a:off x="8266176" y="213969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6</a:t>
            </a:r>
            <a:endParaRPr lang="en-US" sz="1500" dirty="0"/>
          </a:p>
        </p:txBody>
      </p:sp>
      <p:sp>
        <p:nvSpPr>
          <p:cNvPr id="26" name="Text 23"/>
          <p:cNvSpPr txBox="1"/>
          <p:nvPr/>
        </p:nvSpPr>
        <p:spPr>
          <a:xfrm>
            <a:off x="8266176" y="2633472"/>
            <a:ext cx="3008376" cy="7863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Agilidad en la decisión y la ejecución</a:t>
            </a:r>
            <a:endParaRPr lang="en-US" sz="1700" dirty="0"/>
          </a:p>
        </p:txBody>
      </p:sp>
      <p:sp>
        <p:nvSpPr>
          <p:cNvPr id="27" name="Text 24"/>
          <p:cNvSpPr txBox="1"/>
          <p:nvPr/>
        </p:nvSpPr>
        <p:spPr>
          <a:xfrm>
            <a:off x="8266176" y="3511296"/>
            <a:ext cx="3008376" cy="144475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Agilidad en la decisión y en la ejecución de las acciones a realizar.</a:t>
            </a:r>
            <a:endParaRPr lang="en-US" sz="1350" dirty="0"/>
          </a:p>
        </p:txBody>
      </p:sp>
      <p:sp>
        <p:nvSpPr>
          <p:cNvPr id="28" name="Shape 25"/>
          <p:cNvSpPr/>
          <p:nvPr/>
        </p:nvSpPr>
        <p:spPr>
          <a:xfrm>
            <a:off x="658368" y="5321808"/>
            <a:ext cx="10872216" cy="420624"/>
          </a:xfrm>
          <a:prstGeom prst="rect">
            <a:avLst/>
          </a:prstGeom>
          <a:solidFill>
            <a:srgbClr val="E8F0F7"/>
          </a:solidFill>
          <a:ln/>
        </p:spPr>
      </p:sp>
      <p:sp>
        <p:nvSpPr>
          <p:cNvPr id="29" name="Shape 26"/>
          <p:cNvSpPr/>
          <p:nvPr/>
        </p:nvSpPr>
        <p:spPr>
          <a:xfrm>
            <a:off x="658368" y="5321808"/>
            <a:ext cx="54864" cy="420624"/>
          </a:xfrm>
          <a:prstGeom prst="rect">
            <a:avLst/>
          </a:prstGeom>
          <a:solidFill>
            <a:srgbClr val="004B85"/>
          </a:solidFill>
          <a:ln/>
        </p:spPr>
      </p:sp>
      <p:sp>
        <p:nvSpPr>
          <p:cNvPr id="30" name="Text 27"/>
          <p:cNvSpPr txBox="1"/>
          <p:nvPr/>
        </p:nvSpPr>
        <p:spPr>
          <a:xfrm>
            <a:off x="932688" y="5367528"/>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Con esto se cierra el curso: el nivel operacional se gestiona bien cuando se detecta pronto, se analiza a fondo, se documenta todo y se decide rápido.</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E5026D2E0FE88488153A29B3DFF52EB" ma:contentTypeVersion="3" ma:contentTypeDescription="Crear nuevo documento." ma:contentTypeScope="" ma:versionID="21910e2e0e3d3a18c69eafede869fe81">
  <xsd:schema xmlns:xsd="http://www.w3.org/2001/XMLSchema" xmlns:xs="http://www.w3.org/2001/XMLSchema" xmlns:p="http://schemas.microsoft.com/office/2006/metadata/properties" xmlns:ns2="732eacde-151a-4416-9e6c-b7f18d69a314" targetNamespace="http://schemas.microsoft.com/office/2006/metadata/properties" ma:root="true" ma:fieldsID="3f4e17f172f069d4f2e8bcfdf8bab442" ns2:_="">
    <xsd:import namespace="732eacde-151a-4416-9e6c-b7f18d69a31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2eacde-151a-4416-9e6c-b7f18d69a3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B4A9B2F-F362-4F00-A753-CFE91FDC67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2eacde-151a-4416-9e6c-b7f18d69a3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1F3B053-B26E-4381-906F-8F73C5422675}">
  <ds:schemaRefs>
    <ds:schemaRef ds:uri="http://schemas.microsoft.com/sharepoint/v3/contenttype/forms"/>
  </ds:schemaRefs>
</ds:datastoreItem>
</file>

<file path=customXml/itemProps3.xml><?xml version="1.0" encoding="utf-8"?>
<ds:datastoreItem xmlns:ds="http://schemas.openxmlformats.org/officeDocument/2006/customXml" ds:itemID="{39316ABA-EEAE-45F5-9678-EF9872A1669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58</Slides>
  <Notes>58</Notes>
  <HiddenSlides>0</HiddenSlides>
  <MMClips>0</MMClips>
  <ScaleCrop>false</ScaleCrop>
  <HeadingPairs>
    <vt:vector size="4" baseType="variant">
      <vt:variant>
        <vt:lpstr>Tema</vt:lpstr>
      </vt:variant>
      <vt:variant>
        <vt:i4>1</vt:i4>
      </vt:variant>
      <vt:variant>
        <vt:lpstr>Títulos de diapositiva</vt:lpstr>
      </vt:variant>
      <vt:variant>
        <vt:i4>58</vt:i4>
      </vt:variant>
    </vt:vector>
  </HeadingPairs>
  <TitlesOfParts>
    <vt:vector size="59" baseType="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EAFIT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Acciones modificativas: mejora y rediseño</dc:title>
  <dc:subject>PptxGenJS Presentation</dc:subject>
  <dc:creator>Jaime Leonardo Barbosa Pérez</dc:creator>
  <cp:lastModifiedBy>David Zuluaga Henao</cp:lastModifiedBy>
  <cp:revision>20</cp:revision>
  <dcterms:created xsi:type="dcterms:W3CDTF">2026-09-14T20:13:32Z</dcterms:created>
  <dcterms:modified xsi:type="dcterms:W3CDTF">2026-10-02T04:30:32Z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0x0101008E5026D2E0FE88488153A29B3DFF52EB</vt:lpwstr>
  </property>
</Properties>
</file>