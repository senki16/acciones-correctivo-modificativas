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549" r:id="rId2"/>
    <p:sldId id="304" r:id="rId3"/>
    <p:sldId id="306" r:id="rId4"/>
    <p:sldId id="322" r:id="rId5"/>
    <p:sldId id="536" r:id="rId6"/>
    <p:sldId id="339" r:id="rId7"/>
    <p:sldId id="305" r:id="rId8"/>
    <p:sldId id="308" r:id="rId9"/>
    <p:sldId id="309" r:id="rId10"/>
    <p:sldId id="310" r:id="rId11"/>
    <p:sldId id="311" r:id="rId12"/>
    <p:sldId id="312" r:id="rId13"/>
    <p:sldId id="313" r:id="rId14"/>
    <p:sldId id="531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3" r:id="rId24"/>
    <p:sldId id="324" r:id="rId25"/>
    <p:sldId id="325" r:id="rId26"/>
    <p:sldId id="533" r:id="rId27"/>
    <p:sldId id="534" r:id="rId28"/>
    <p:sldId id="535" r:id="rId29"/>
    <p:sldId id="326" r:id="rId30"/>
    <p:sldId id="327" r:id="rId31"/>
    <p:sldId id="328" r:id="rId32"/>
  </p:sldIdLst>
  <p:sldSz cx="12192000" cy="6858000"/>
  <p:notesSz cx="6985000" cy="9283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Leonardo Barbosa Perez" userId="3291dd0c0a50a603" providerId="LiveId" clId="{93D89129-11BF-4CEF-9F32-CC2F4F7C480C}"/>
    <pc:docChg chg="modSld">
      <pc:chgData name="Jaime Leonardo Barbosa Perez" userId="3291dd0c0a50a603" providerId="LiveId" clId="{93D89129-11BF-4CEF-9F32-CC2F4F7C480C}" dt="2026-05-07T22:53:17.223" v="3" actId="1076"/>
      <pc:docMkLst>
        <pc:docMk/>
      </pc:docMkLst>
      <pc:sldChg chg="mod modShow">
        <pc:chgData name="Jaime Leonardo Barbosa Perez" userId="3291dd0c0a50a603" providerId="LiveId" clId="{93D89129-11BF-4CEF-9F32-CC2F4F7C480C}" dt="2026-05-07T22:52:55.779" v="1" actId="729"/>
        <pc:sldMkLst>
          <pc:docMk/>
          <pc:sldMk cId="3510507345" sldId="322"/>
        </pc:sldMkLst>
      </pc:sldChg>
      <pc:sldChg chg="modSp mod">
        <pc:chgData name="Jaime Leonardo Barbosa Perez" userId="3291dd0c0a50a603" providerId="LiveId" clId="{93D89129-11BF-4CEF-9F32-CC2F4F7C480C}" dt="2026-05-07T22:53:17.223" v="3" actId="1076"/>
        <pc:sldMkLst>
          <pc:docMk/>
          <pc:sldMk cId="2058868044" sldId="339"/>
        </pc:sldMkLst>
        <pc:picChg chg="mod">
          <ac:chgData name="Jaime Leonardo Barbosa Perez" userId="3291dd0c0a50a603" providerId="LiveId" clId="{93D89129-11BF-4CEF-9F32-CC2F4F7C480C}" dt="2026-05-07T22:53:17.223" v="3" actId="1076"/>
          <ac:picMkLst>
            <pc:docMk/>
            <pc:sldMk cId="2058868044" sldId="339"/>
            <ac:picMk id="92162" creationId="{00000000-0000-0000-0000-000000000000}"/>
          </ac:picMkLst>
        </pc:picChg>
      </pc:sldChg>
      <pc:sldChg chg="mod modShow">
        <pc:chgData name="Jaime Leonardo Barbosa Perez" userId="3291dd0c0a50a603" providerId="LiveId" clId="{93D89129-11BF-4CEF-9F32-CC2F4F7C480C}" dt="2026-05-07T22:52:52.674" v="0" actId="729"/>
        <pc:sldMkLst>
          <pc:docMk/>
          <pc:sldMk cId="1996437785" sldId="549"/>
        </pc:sldMkLst>
      </pc:sldChg>
    </pc:docChg>
  </pc:docChgLst>
  <pc:docChgLst>
    <pc:chgData name="Jaime Leonardo Barbosa Perez" userId="3291dd0c0a50a603" providerId="LiveId" clId="{215C019D-1D12-470B-93BD-6A7D069EA818}"/>
    <pc:docChg chg="delSld modSld">
      <pc:chgData name="Jaime Leonardo Barbosa Perez" userId="3291dd0c0a50a603" providerId="LiveId" clId="{215C019D-1D12-470B-93BD-6A7D069EA818}" dt="2026-04-29T19:39:08.299" v="12" actId="47"/>
      <pc:docMkLst>
        <pc:docMk/>
      </pc:docMkLst>
      <pc:sldChg chg="mod modShow">
        <pc:chgData name="Jaime Leonardo Barbosa Perez" userId="3291dd0c0a50a603" providerId="LiveId" clId="{215C019D-1D12-470B-93BD-6A7D069EA818}" dt="2026-04-29T19:38:34.381" v="9" actId="34476"/>
        <pc:sldMkLst>
          <pc:docMk/>
          <pc:sldMk cId="2008541452" sldId="311"/>
        </pc:sldMkLst>
      </pc:sldChg>
      <pc:sldChg chg="mod modShow">
        <pc:chgData name="Jaime Leonardo Barbosa Perez" userId="3291dd0c0a50a603" providerId="LiveId" clId="{215C019D-1D12-470B-93BD-6A7D069EA818}" dt="2026-04-29T19:36:47.092" v="8" actId="34476"/>
        <pc:sldMkLst>
          <pc:docMk/>
          <pc:sldMk cId="3510507345" sldId="322"/>
        </pc:sldMkLst>
      </pc:sldChg>
      <pc:sldChg chg="mod modShow">
        <pc:chgData name="Jaime Leonardo Barbosa Perez" userId="3291dd0c0a50a603" providerId="LiveId" clId="{215C019D-1D12-470B-93BD-6A7D069EA818}" dt="2026-04-29T19:38:41.297" v="10" actId="34476"/>
        <pc:sldMkLst>
          <pc:docMk/>
          <pc:sldMk cId="661843729" sldId="5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FAA9CDD0-40B0-47B1-9CA1-D888E0B9FE01}" type="datetimeFigureOut">
              <a:rPr lang="es-CO" smtClean="0"/>
              <a:t>7/05/2026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60463"/>
            <a:ext cx="5572125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71468045-0AD8-46AF-81C9-4754479C94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883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6787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4678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51DE87-2D66-429B-955B-E4D999488074}" type="slidenum">
              <a:rPr lang="es-CO" smtClean="0"/>
              <a:pPr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33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68045-0AD8-46AF-81C9-4754479C94B8}" type="slidenum">
              <a:rPr lang="es-CO" smtClean="0"/>
              <a:t>31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773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S10TaQK0ss" TargetMode="Externa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rbuHbmqWxds" TargetMode="External"/><Relationship Id="rId4" Type="http://schemas.openxmlformats.org/officeDocument/2006/relationships/hyperlink" Target="https://www.youtube.com/watch?v=WHnacg19-cQ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1112803" y="2551837"/>
            <a:ext cx="973122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363" indent="-360363" algn="ctr">
              <a:defRPr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 es una acción correctiva</a:t>
            </a:r>
          </a:p>
          <a:p>
            <a:pPr marL="360363" indent="-360363" algn="ctr">
              <a:defRPr/>
            </a:pP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60363" indent="-360363" algn="ctr">
              <a:defRPr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 es una acción modificativa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21292" y="867874"/>
            <a:ext cx="318430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s-MX" sz="3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ACTIVIDAD 8</a:t>
            </a:r>
          </a:p>
        </p:txBody>
      </p:sp>
    </p:spTree>
    <p:extLst>
      <p:ext uri="{BB962C8B-B14F-4D97-AF65-F5344CB8AC3E}">
        <p14:creationId xmlns:p14="http://schemas.microsoft.com/office/powerpoint/2010/main" val="199643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0"/>
          <p:cNvSpPr>
            <a:spLocks noChangeArrowheads="1"/>
          </p:cNvSpPr>
          <p:nvPr/>
        </p:nvSpPr>
        <p:spPr bwMode="auto">
          <a:xfrm>
            <a:off x="2238349" y="1142985"/>
            <a:ext cx="8072437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5400" b="1" dirty="0"/>
              <a:t>Acciones</a:t>
            </a:r>
            <a:endParaRPr lang="es-ES" sz="5400" b="1" dirty="0"/>
          </a:p>
        </p:txBody>
      </p:sp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4261449" y="2428868"/>
            <a:ext cx="4120567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200" dirty="0"/>
              <a:t> </a:t>
            </a:r>
            <a:r>
              <a:rPr lang="es-MX" sz="3200" b="1" dirty="0"/>
              <a:t>Antes de la falla: </a:t>
            </a:r>
          </a:p>
          <a:p>
            <a:pPr eaLnBrk="1" hangingPunct="1">
              <a:spcBef>
                <a:spcPct val="50000"/>
              </a:spcBef>
            </a:pPr>
            <a:r>
              <a:rPr lang="es-MX" sz="3200" b="1" dirty="0"/>
              <a:t>   Mantenimiento</a:t>
            </a:r>
          </a:p>
          <a:p>
            <a:pPr lvl="1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200" dirty="0"/>
              <a:t>Preventivas</a:t>
            </a:r>
          </a:p>
          <a:p>
            <a:pPr lvl="1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200" dirty="0"/>
              <a:t>Predictivas</a:t>
            </a:r>
            <a:r>
              <a:rPr lang="es-MX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15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0"/>
          <p:cNvSpPr>
            <a:spLocks noChangeArrowheads="1"/>
          </p:cNvSpPr>
          <p:nvPr/>
        </p:nvSpPr>
        <p:spPr bwMode="auto">
          <a:xfrm>
            <a:off x="2376466" y="742396"/>
            <a:ext cx="7777162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400" b="1" dirty="0"/>
              <a:t>Reparaciones</a:t>
            </a:r>
            <a:endParaRPr lang="es-ES" sz="4400" b="1" dirty="0"/>
          </a:p>
        </p:txBody>
      </p:sp>
      <p:sp>
        <p:nvSpPr>
          <p:cNvPr id="56323" name="Text Box 21"/>
          <p:cNvSpPr txBox="1">
            <a:spLocks noChangeArrowheads="1"/>
          </p:cNvSpPr>
          <p:nvPr/>
        </p:nvSpPr>
        <p:spPr bwMode="auto">
          <a:xfrm>
            <a:off x="1138106" y="1714670"/>
            <a:ext cx="991578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3200" dirty="0"/>
              <a:t>Son las tareas que se realizan después de que sucede la falla</a:t>
            </a:r>
            <a:r>
              <a:rPr lang="es-MX" sz="2400" dirty="0"/>
              <a:t>.</a:t>
            </a:r>
            <a:endParaRPr lang="es-ES" sz="2400" dirty="0"/>
          </a:p>
        </p:txBody>
      </p:sp>
      <p:sp>
        <p:nvSpPr>
          <p:cNvPr id="56324" name="Text Box 22"/>
          <p:cNvSpPr txBox="1">
            <a:spLocks noChangeArrowheads="1"/>
          </p:cNvSpPr>
          <p:nvPr/>
        </p:nvSpPr>
        <p:spPr bwMode="auto">
          <a:xfrm>
            <a:off x="2468382" y="3035031"/>
            <a:ext cx="6624638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3200" dirty="0"/>
              <a:t>Se clasifican en: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b="1" dirty="0"/>
              <a:t> Acciones correctivas.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b="1" dirty="0"/>
              <a:t> Acciones modificativas.</a:t>
            </a:r>
            <a:endParaRPr lang="es-ES" sz="3200" b="1" dirty="0"/>
          </a:p>
        </p:txBody>
      </p:sp>
    </p:spTree>
    <p:extLst>
      <p:ext uri="{BB962C8B-B14F-4D97-AF65-F5344CB8AC3E}">
        <p14:creationId xmlns:p14="http://schemas.microsoft.com/office/powerpoint/2010/main" val="273863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815886" y="2097558"/>
            <a:ext cx="4114380" cy="380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  <a:buFont typeface="Arial" charset="0"/>
              <a:buAutoNum type="arabicPeriod"/>
              <a:defRPr/>
            </a:pPr>
            <a:r>
              <a:rPr lang="es-ES" sz="2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Establezca algunas consideraciones que permitan decidir el tipo de reparación a realizar al presentarse determinada falla.</a:t>
            </a:r>
          </a:p>
          <a:p>
            <a:pPr marL="457200" indent="-457200" algn="just">
              <a:spcBef>
                <a:spcPct val="50000"/>
              </a:spcBef>
              <a:buFont typeface="Arial" charset="0"/>
              <a:buAutoNum type="arabicPeriod"/>
              <a:defRPr/>
            </a:pPr>
            <a:r>
              <a:rPr lang="es-ES" sz="2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Elabore un diagrama de flujo (rutina) en el cual se indiquen los pasos a seguir luego de presentarse una falla.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15886" y="951707"/>
            <a:ext cx="469783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s-MX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ACTIVIDAD GRUPAL</a:t>
            </a:r>
          </a:p>
        </p:txBody>
      </p:sp>
      <p:grpSp>
        <p:nvGrpSpPr>
          <p:cNvPr id="72708" name="3 Grupo"/>
          <p:cNvGrpSpPr>
            <a:grpSpLocks/>
          </p:cNvGrpSpPr>
          <p:nvPr/>
        </p:nvGrpSpPr>
        <p:grpSpPr bwMode="auto">
          <a:xfrm>
            <a:off x="5870909" y="750094"/>
            <a:ext cx="5572125" cy="5357812"/>
            <a:chOff x="3429000" y="1143000"/>
            <a:chExt cx="5572125" cy="5357813"/>
          </a:xfrm>
        </p:grpSpPr>
        <p:cxnSp>
          <p:nvCxnSpPr>
            <p:cNvPr id="72709" name="4 Conector recto"/>
            <p:cNvCxnSpPr>
              <a:cxnSpLocks noChangeShapeType="1"/>
            </p:cNvCxnSpPr>
            <p:nvPr/>
          </p:nvCxnSpPr>
          <p:spPr bwMode="auto">
            <a:xfrm rot="10800000" flipV="1">
              <a:off x="7334250" y="4827588"/>
              <a:ext cx="598488" cy="296862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0" name="5 Conector recto"/>
            <p:cNvCxnSpPr>
              <a:cxnSpLocks noChangeShapeType="1"/>
            </p:cNvCxnSpPr>
            <p:nvPr/>
          </p:nvCxnSpPr>
          <p:spPr bwMode="auto">
            <a:xfrm rot="5400000">
              <a:off x="4761707" y="4923631"/>
              <a:ext cx="819150" cy="661987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1" name="6 Conector recto"/>
            <p:cNvCxnSpPr>
              <a:cxnSpLocks noChangeShapeType="1"/>
            </p:cNvCxnSpPr>
            <p:nvPr/>
          </p:nvCxnSpPr>
          <p:spPr bwMode="auto">
            <a:xfrm>
              <a:off x="7929563" y="4857750"/>
              <a:ext cx="533400" cy="257175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2" name="7 Conector recto"/>
            <p:cNvCxnSpPr>
              <a:cxnSpLocks noChangeShapeType="1"/>
            </p:cNvCxnSpPr>
            <p:nvPr/>
          </p:nvCxnSpPr>
          <p:spPr bwMode="auto">
            <a:xfrm>
              <a:off x="7202488" y="3857625"/>
              <a:ext cx="717550" cy="466725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3" name="8 Conector recto"/>
            <p:cNvCxnSpPr>
              <a:cxnSpLocks noChangeShapeType="1"/>
            </p:cNvCxnSpPr>
            <p:nvPr/>
          </p:nvCxnSpPr>
          <p:spPr bwMode="auto">
            <a:xfrm rot="10800000" flipV="1">
              <a:off x="5486400" y="3857625"/>
              <a:ext cx="1716088" cy="460375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4" name="67 Conector recto"/>
            <p:cNvCxnSpPr>
              <a:cxnSpLocks noChangeShapeType="1"/>
            </p:cNvCxnSpPr>
            <p:nvPr/>
          </p:nvCxnSpPr>
          <p:spPr bwMode="auto">
            <a:xfrm rot="5400000">
              <a:off x="6943725" y="3101975"/>
              <a:ext cx="503238" cy="14288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5" name="10 Conector recto"/>
            <p:cNvCxnSpPr>
              <a:cxnSpLocks noChangeShapeType="1"/>
            </p:cNvCxnSpPr>
            <p:nvPr/>
          </p:nvCxnSpPr>
          <p:spPr bwMode="auto">
            <a:xfrm rot="16200000" flipH="1">
              <a:off x="5403850" y="4908550"/>
              <a:ext cx="827088" cy="630238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72716" name="5 Conector recto de flecha"/>
            <p:cNvCxnSpPr>
              <a:cxnSpLocks noChangeShapeType="1"/>
            </p:cNvCxnSpPr>
            <p:nvPr/>
          </p:nvCxnSpPr>
          <p:spPr bwMode="auto">
            <a:xfrm>
              <a:off x="5145088" y="1773238"/>
              <a:ext cx="2070100" cy="58420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5" name="14 Rectángulo redondeado"/>
            <p:cNvSpPr>
              <a:spLocks noChangeArrowheads="1"/>
            </p:cNvSpPr>
            <p:nvPr/>
          </p:nvSpPr>
          <p:spPr bwMode="auto">
            <a:xfrm>
              <a:off x="3429000" y="1143000"/>
              <a:ext cx="3429000" cy="642937"/>
            </a:xfrm>
            <a:prstGeom prst="roundRect">
              <a:avLst>
                <a:gd name="adj" fmla="val 16667"/>
              </a:avLst>
            </a:prstGeom>
            <a:solidFill>
              <a:schemeClr val="bg2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pPr>
                <a:defRPr/>
              </a:pPr>
              <a:r>
                <a:rPr lang="es-CO" b="1" dirty="0"/>
                <a:t>NIVEL OPERACIONAL</a:t>
              </a:r>
            </a:p>
            <a:p>
              <a:pPr>
                <a:defRPr/>
              </a:pPr>
              <a:r>
                <a:rPr lang="es-CO" b="1" dirty="0"/>
                <a:t>Posibles acciones a ejecutar</a:t>
              </a:r>
            </a:p>
          </p:txBody>
        </p:sp>
        <p:sp>
          <p:nvSpPr>
            <p:cNvPr id="72718" name="15 Rectángulo redondeado"/>
            <p:cNvSpPr>
              <a:spLocks noChangeArrowheads="1"/>
            </p:cNvSpPr>
            <p:nvPr/>
          </p:nvSpPr>
          <p:spPr bwMode="auto">
            <a:xfrm>
              <a:off x="6786563" y="5143500"/>
              <a:ext cx="1071562" cy="357188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REDISEÑO</a:t>
              </a:r>
            </a:p>
          </p:txBody>
        </p:sp>
        <p:sp>
          <p:nvSpPr>
            <p:cNvPr id="72719" name="15 Rectángulo redondeado"/>
            <p:cNvSpPr>
              <a:spLocks noChangeArrowheads="1"/>
            </p:cNvSpPr>
            <p:nvPr/>
          </p:nvSpPr>
          <p:spPr bwMode="auto">
            <a:xfrm>
              <a:off x="6289675" y="2381250"/>
              <a:ext cx="1854200" cy="503238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DESPUÉS DE LA FALLA</a:t>
              </a:r>
            </a:p>
          </p:txBody>
        </p:sp>
        <p:sp>
          <p:nvSpPr>
            <p:cNvPr id="72720" name="15 Rectángulo redondeado"/>
            <p:cNvSpPr>
              <a:spLocks noChangeArrowheads="1"/>
            </p:cNvSpPr>
            <p:nvPr/>
          </p:nvSpPr>
          <p:spPr bwMode="auto">
            <a:xfrm>
              <a:off x="6297613" y="3365500"/>
              <a:ext cx="1854200" cy="503238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REPARACIONES</a:t>
              </a:r>
            </a:p>
          </p:txBody>
        </p:sp>
        <p:sp>
          <p:nvSpPr>
            <p:cNvPr id="72721" name="15 Rectángulo redondeado"/>
            <p:cNvSpPr>
              <a:spLocks noChangeArrowheads="1"/>
            </p:cNvSpPr>
            <p:nvPr/>
          </p:nvSpPr>
          <p:spPr bwMode="auto">
            <a:xfrm>
              <a:off x="4714875" y="4362450"/>
              <a:ext cx="1547813" cy="503238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ACCIONES CORRECTIVAS</a:t>
              </a:r>
            </a:p>
          </p:txBody>
        </p:sp>
        <p:sp>
          <p:nvSpPr>
            <p:cNvPr id="72722" name="15 Rectángulo redondeado"/>
            <p:cNvSpPr>
              <a:spLocks noChangeArrowheads="1"/>
            </p:cNvSpPr>
            <p:nvPr/>
          </p:nvSpPr>
          <p:spPr bwMode="auto">
            <a:xfrm>
              <a:off x="5475288" y="5676900"/>
              <a:ext cx="1357312" cy="823913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REPARACIÓN CORRECTA Y DEFINITIVA</a:t>
              </a:r>
            </a:p>
          </p:txBody>
        </p:sp>
        <p:sp>
          <p:nvSpPr>
            <p:cNvPr id="72723" name="15 Rectángulo redondeado"/>
            <p:cNvSpPr>
              <a:spLocks noChangeArrowheads="1"/>
            </p:cNvSpPr>
            <p:nvPr/>
          </p:nvSpPr>
          <p:spPr bwMode="auto">
            <a:xfrm>
              <a:off x="7143750" y="4357688"/>
              <a:ext cx="1547813" cy="503237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ACCIONES MODIFICATIVAS</a:t>
              </a:r>
            </a:p>
          </p:txBody>
        </p:sp>
        <p:sp>
          <p:nvSpPr>
            <p:cNvPr id="72724" name="15 Rectángulo redondeado"/>
            <p:cNvSpPr>
              <a:spLocks noChangeArrowheads="1"/>
            </p:cNvSpPr>
            <p:nvPr/>
          </p:nvSpPr>
          <p:spPr bwMode="auto">
            <a:xfrm>
              <a:off x="3929059" y="5676900"/>
              <a:ext cx="1436692" cy="823913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REPARACIÓN PROVISIONAL (DESVARE)</a:t>
              </a:r>
            </a:p>
          </p:txBody>
        </p:sp>
        <p:sp>
          <p:nvSpPr>
            <p:cNvPr id="72725" name="15 Rectángulo redondeado"/>
            <p:cNvSpPr>
              <a:spLocks noChangeArrowheads="1"/>
            </p:cNvSpPr>
            <p:nvPr/>
          </p:nvSpPr>
          <p:spPr bwMode="auto">
            <a:xfrm>
              <a:off x="7929563" y="5143500"/>
              <a:ext cx="1071562" cy="357188"/>
            </a:xfrm>
            <a:prstGeom prst="roundRect">
              <a:avLst>
                <a:gd name="adj" fmla="val 16667"/>
              </a:avLst>
            </a:prstGeom>
            <a:solidFill>
              <a:srgbClr val="F7B47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s-CO" sz="1400" b="1"/>
                <a:t>MEJORA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050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197013" y="408196"/>
            <a:ext cx="7777162" cy="129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200" b="1" dirty="0"/>
              <a:t>Preguntas claves</a:t>
            </a:r>
            <a:endParaRPr lang="es-ES" sz="32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155939" y="1705184"/>
            <a:ext cx="9790981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 eaLnBrk="1" hangingPunct="1">
              <a:spcBef>
                <a:spcPct val="50000"/>
              </a:spcBef>
              <a:buAutoNum type="arabicPeriod"/>
            </a:pPr>
            <a:r>
              <a:rPr lang="es-MX" sz="2400" dirty="0"/>
              <a:t>Cual es el tipo de falla? (progresiva, repentina, limitación parcial, limitación total, oculta, crónica, reiterativa)</a:t>
            </a:r>
          </a:p>
          <a:p>
            <a:pPr marL="514350" indent="-514350" eaLnBrk="1" hangingPunct="1">
              <a:spcBef>
                <a:spcPct val="50000"/>
              </a:spcBef>
              <a:buAutoNum type="arabicPeriod"/>
            </a:pPr>
            <a:r>
              <a:rPr lang="es-MX" sz="2400" dirty="0"/>
              <a:t>Cual es la consecuencia de la falla?</a:t>
            </a:r>
          </a:p>
          <a:p>
            <a:pPr marL="971550" lvl="1" indent="-51435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MX" sz="2400" dirty="0"/>
              <a:t>Se afecta la función primaria?</a:t>
            </a:r>
          </a:p>
          <a:p>
            <a:pPr marL="971550" lvl="1" indent="-51435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MX" sz="2400" dirty="0"/>
              <a:t>Se afecta la seguridad de las personas?</a:t>
            </a:r>
          </a:p>
          <a:p>
            <a:pPr marL="971550" lvl="1" indent="-51435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s-MX" sz="2400" dirty="0"/>
              <a:t>Se afecta el medio ambiente?</a:t>
            </a:r>
          </a:p>
          <a:p>
            <a:pPr eaLnBrk="1" hangingPunct="1">
              <a:spcBef>
                <a:spcPct val="50000"/>
              </a:spcBef>
            </a:pPr>
            <a:r>
              <a:rPr lang="es-ES" sz="2400" dirty="0"/>
              <a:t>3. Se requiere iniciar la reparación inmediatamente? </a:t>
            </a:r>
          </a:p>
          <a:p>
            <a:pPr eaLnBrk="1" hangingPunct="1">
              <a:spcBef>
                <a:spcPct val="50000"/>
              </a:spcBef>
            </a:pPr>
            <a:r>
              <a:rPr lang="es-ES" sz="2400" dirty="0"/>
              <a:t>4. Se dispone de todos los elementos necesarios para la 	reparación?</a:t>
            </a:r>
          </a:p>
        </p:txBody>
      </p:sp>
    </p:spTree>
    <p:extLst>
      <p:ext uri="{BB962C8B-B14F-4D97-AF65-F5344CB8AC3E}">
        <p14:creationId xmlns:p14="http://schemas.microsoft.com/office/powerpoint/2010/main" val="270363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86"/>
          <p:cNvPicPr>
            <a:picLocks noChangeAspect="1" noChangeArrowheads="1"/>
          </p:cNvPicPr>
          <p:nvPr/>
        </p:nvPicPr>
        <p:blipFill>
          <a:blip r:embed="rId3"/>
          <a:srcRect l="4218" t="2328" r="1271" b="1086"/>
          <a:stretch>
            <a:fillRect/>
          </a:stretch>
        </p:blipFill>
        <p:spPr bwMode="auto">
          <a:xfrm>
            <a:off x="4031248" y="156565"/>
            <a:ext cx="7135516" cy="6286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3" name="Rectangle 2"/>
          <p:cNvSpPr>
            <a:spLocks noChangeArrowheads="1"/>
          </p:cNvSpPr>
          <p:nvPr/>
        </p:nvSpPr>
        <p:spPr bwMode="auto">
          <a:xfrm>
            <a:off x="918510" y="2626016"/>
            <a:ext cx="22082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000" b="1" dirty="0"/>
              <a:t>Diagrama de decisiones para reparaciones</a:t>
            </a:r>
            <a:endParaRPr lang="es-ES" sz="2000" b="1" dirty="0"/>
          </a:p>
        </p:txBody>
      </p:sp>
    </p:spTree>
    <p:extLst>
      <p:ext uri="{BB962C8B-B14F-4D97-AF65-F5344CB8AC3E}">
        <p14:creationId xmlns:p14="http://schemas.microsoft.com/office/powerpoint/2010/main" val="205886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0"/>
          <p:cNvSpPr>
            <a:spLocks noChangeArrowheads="1"/>
          </p:cNvSpPr>
          <p:nvPr/>
        </p:nvSpPr>
        <p:spPr bwMode="auto">
          <a:xfrm>
            <a:off x="3881422" y="357167"/>
            <a:ext cx="428628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800" b="1" dirty="0"/>
              <a:t>Acciones</a:t>
            </a:r>
            <a:endParaRPr lang="es-ES" sz="4800" b="1" dirty="0"/>
          </a:p>
        </p:txBody>
      </p:sp>
      <p:sp>
        <p:nvSpPr>
          <p:cNvPr id="44035" name="Text Box 21"/>
          <p:cNvSpPr txBox="1">
            <a:spLocks noChangeArrowheads="1"/>
          </p:cNvSpPr>
          <p:nvPr/>
        </p:nvSpPr>
        <p:spPr bwMode="auto">
          <a:xfrm>
            <a:off x="2204576" y="1376342"/>
            <a:ext cx="7639971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s-MX" sz="2800" b="1" dirty="0"/>
              <a:t>Después de la falla: Reparaciones</a:t>
            </a:r>
          </a:p>
          <a:p>
            <a:pPr lvl="1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 Acciones correctivas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 Reparación provisional (Desvare)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 Reparación correcta y definitiva</a:t>
            </a:r>
          </a:p>
          <a:p>
            <a:pPr lvl="1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 Acciones Modificativas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 Mejora</a:t>
            </a:r>
          </a:p>
          <a:p>
            <a:pPr lvl="2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 Rediseño</a:t>
            </a:r>
          </a:p>
        </p:txBody>
      </p:sp>
    </p:spTree>
    <p:extLst>
      <p:ext uri="{BB962C8B-B14F-4D97-AF65-F5344CB8AC3E}">
        <p14:creationId xmlns:p14="http://schemas.microsoft.com/office/powerpoint/2010/main" val="365056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3240906" y="837553"/>
            <a:ext cx="6240389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Acciones Correctivas</a:t>
            </a:r>
            <a:endParaRPr lang="es-ES" sz="4000" b="1" dirty="0"/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1031846" y="1907623"/>
            <a:ext cx="10192624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s-MX" sz="2600" dirty="0"/>
              <a:t>A la reparación de una falla se le denomina acción correctiva y se realiza con la intención de recuperar la funcionalidad del elemento o sistema, luego de la pérdida de su capacidad para realizar la función o las prestaciones que se requieren.</a:t>
            </a:r>
            <a:endParaRPr lang="es-ES" sz="2600" dirty="0"/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688871" y="4205386"/>
            <a:ext cx="6624638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2800" dirty="0"/>
              <a:t>Se clasifican en: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2800" b="1" dirty="0"/>
              <a:t> Reparación provisional (desvare).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2800" b="1" dirty="0"/>
              <a:t> Reparación correcta y definitiva.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410444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3595671" y="571481"/>
            <a:ext cx="5205395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Desvare</a:t>
            </a:r>
            <a:endParaRPr lang="es-ES" sz="4000" b="1" dirty="0"/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925887" y="1915562"/>
            <a:ext cx="10544962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s-MX" sz="2600" dirty="0"/>
              <a:t>Consiste en aplicar una reparación </a:t>
            </a:r>
            <a:r>
              <a:rPr lang="es-MX" sz="2600" b="1" i="1" dirty="0"/>
              <a:t>inmediata </a:t>
            </a:r>
            <a:r>
              <a:rPr lang="es-MX" sz="2600" dirty="0"/>
              <a:t>a determinado equipo para devolverlo a la condición de trabajo u operación, pero no necesariamente a sus condiciones estándares.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MX" sz="2600" dirty="0"/>
              <a:t>Se busca </a:t>
            </a:r>
            <a:r>
              <a:rPr lang="es-MX" sz="2600" b="1" dirty="0"/>
              <a:t>reducir o eliminar </a:t>
            </a:r>
            <a:r>
              <a:rPr lang="es-MX" sz="2600" dirty="0"/>
              <a:t>los efectos inmediatos de una falla con relación a la producción, las personas y el medio ambiente.</a:t>
            </a:r>
            <a:endParaRPr lang="es-ES" sz="2600" dirty="0"/>
          </a:p>
          <a:p>
            <a:pPr algn="just" eaLnBrk="1" hangingPunct="1">
              <a:spcBef>
                <a:spcPct val="50000"/>
              </a:spcBef>
            </a:pPr>
            <a:r>
              <a:rPr lang="es-MX" sz="2600" b="1" dirty="0"/>
              <a:t>Se debe tener precaución para no crear con los desvares condiciones que propicien otras fallas.</a:t>
            </a:r>
            <a:endParaRPr lang="es-ES" sz="2600" b="1" i="1" dirty="0"/>
          </a:p>
        </p:txBody>
      </p:sp>
    </p:spTree>
    <p:extLst>
      <p:ext uri="{BB962C8B-B14F-4D97-AF65-F5344CB8AC3E}">
        <p14:creationId xmlns:p14="http://schemas.microsoft.com/office/powerpoint/2010/main" val="255813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1889185" y="1530906"/>
            <a:ext cx="895069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Reparación correcta y definitiva</a:t>
            </a:r>
            <a:endParaRPr lang="es-ES" sz="4000" b="1" dirty="0"/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381469" y="3072075"/>
            <a:ext cx="996612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s-MX" sz="2800" dirty="0"/>
              <a:t>Devuelve el equipo a sus condiciones estándares. Generalmente para este tipo de reparación se tienen experiencias previas similares y se conoce la causa de la falla.</a:t>
            </a:r>
            <a:endParaRPr lang="es-ES" sz="2800" b="1" i="1" dirty="0"/>
          </a:p>
        </p:txBody>
      </p:sp>
    </p:spTree>
    <p:extLst>
      <p:ext uri="{BB962C8B-B14F-4D97-AF65-F5344CB8AC3E}">
        <p14:creationId xmlns:p14="http://schemas.microsoft.com/office/powerpoint/2010/main" val="403357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Título"/>
          <p:cNvSpPr>
            <a:spLocks noGrp="1"/>
          </p:cNvSpPr>
          <p:nvPr>
            <p:ph type="title" idx="4294967295"/>
          </p:nvPr>
        </p:nvSpPr>
        <p:spPr bwMode="auto">
          <a:xfrm>
            <a:off x="4652453" y="1194549"/>
            <a:ext cx="3197585" cy="7921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CO" dirty="0"/>
              <a:t>ACTIVIDAD 9</a:t>
            </a:r>
          </a:p>
        </p:txBody>
      </p:sp>
      <p:sp>
        <p:nvSpPr>
          <p:cNvPr id="61443" name="3 CuadroTexto"/>
          <p:cNvSpPr txBox="1">
            <a:spLocks noChangeArrowheads="1"/>
          </p:cNvSpPr>
          <p:nvPr/>
        </p:nvSpPr>
        <p:spPr bwMode="auto">
          <a:xfrm>
            <a:off x="2755735" y="2214564"/>
            <a:ext cx="668052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sz="2800" dirty="0"/>
              <a:t>Que actividades debe comprender una reparación correcta y definitiva?</a:t>
            </a:r>
          </a:p>
        </p:txBody>
      </p:sp>
      <p:sp>
        <p:nvSpPr>
          <p:cNvPr id="61444" name="3 Rectángulo"/>
          <p:cNvSpPr>
            <a:spLocks noChangeArrowheads="1"/>
          </p:cNvSpPr>
          <p:nvPr/>
        </p:nvSpPr>
        <p:spPr bwMode="auto">
          <a:xfrm>
            <a:off x="1677800" y="3757356"/>
            <a:ext cx="868381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514350" algn="ctr">
              <a:spcBef>
                <a:spcPct val="50000"/>
              </a:spcBef>
            </a:pPr>
            <a:r>
              <a:rPr lang="es-MX" sz="2800" dirty="0"/>
              <a:t>Establezca algunas diferencias (al menos 5) entre acción correctiva y acción modificativa.</a:t>
            </a:r>
          </a:p>
        </p:txBody>
      </p:sp>
    </p:spTree>
    <p:extLst>
      <p:ext uri="{BB962C8B-B14F-4D97-AF65-F5344CB8AC3E}">
        <p14:creationId xmlns:p14="http://schemas.microsoft.com/office/powerpoint/2010/main" val="200854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2873159" y="476930"/>
            <a:ext cx="6572269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123938" y="1307303"/>
            <a:ext cx="8253639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</a:pPr>
            <a:r>
              <a:rPr lang="es-MX" sz="2200" b="1" dirty="0"/>
              <a:t>Generalmente comprende las siguientes actividades:</a:t>
            </a:r>
          </a:p>
          <a:p>
            <a:pPr marL="342900" indent="-342900" algn="just">
              <a:spcBef>
                <a:spcPct val="50000"/>
              </a:spcBef>
              <a:buFontTx/>
              <a:buAutoNum type="arabicPeriod"/>
            </a:pPr>
            <a:r>
              <a:rPr lang="es-MX" sz="2200" dirty="0"/>
              <a:t>Detección de la falla.</a:t>
            </a:r>
          </a:p>
          <a:p>
            <a:pPr marL="342900" indent="-342900" algn="just">
              <a:spcBef>
                <a:spcPct val="50000"/>
              </a:spcBef>
              <a:buFontTx/>
              <a:buAutoNum type="arabicPeriod"/>
            </a:pPr>
            <a:r>
              <a:rPr lang="es-MX" sz="2200" dirty="0"/>
              <a:t>Localización e identificación de las partes afectadas</a:t>
            </a:r>
            <a:r>
              <a:rPr lang="es-MX" sz="2000" dirty="0"/>
              <a:t>.</a:t>
            </a:r>
          </a:p>
        </p:txBody>
      </p:sp>
      <p:pic>
        <p:nvPicPr>
          <p:cNvPr id="6246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8337" y="2989804"/>
            <a:ext cx="5775325" cy="324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751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2759857" y="753733"/>
            <a:ext cx="6672281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906009" y="1798532"/>
            <a:ext cx="10379978" cy="3093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</a:pPr>
            <a:r>
              <a:rPr lang="es-MX" sz="2200" b="1" dirty="0"/>
              <a:t>Generalmente comprende las siguientes actividades:</a:t>
            </a:r>
          </a:p>
          <a:p>
            <a:pPr marL="342900" indent="-342900" algn="just">
              <a:spcBef>
                <a:spcPct val="50000"/>
              </a:spcBef>
            </a:pPr>
            <a:r>
              <a:rPr lang="es-MX" sz="2200" dirty="0"/>
              <a:t>2.1 Análisis de las posibles </a:t>
            </a:r>
            <a:r>
              <a:rPr lang="es-MX" sz="2200" b="1" dirty="0"/>
              <a:t>causas de la falla</a:t>
            </a:r>
          </a:p>
          <a:p>
            <a:pPr marL="342900" indent="-342900" algn="just">
              <a:spcBef>
                <a:spcPts val="1800"/>
              </a:spcBef>
            </a:pPr>
            <a:r>
              <a:rPr lang="es-MX" sz="2200" dirty="0"/>
              <a:t>(Causas inmediatas, causas básicas y causas raíces)</a:t>
            </a:r>
          </a:p>
          <a:p>
            <a:pPr marL="342900" indent="-342900" algn="just">
              <a:spcBef>
                <a:spcPts val="1800"/>
              </a:spcBef>
            </a:pPr>
            <a:r>
              <a:rPr lang="es-MX" sz="2200" b="1" dirty="0"/>
              <a:t>Procedimientos:</a:t>
            </a:r>
            <a:r>
              <a:rPr lang="es-MX" sz="2200" dirty="0"/>
              <a:t>  </a:t>
            </a:r>
          </a:p>
          <a:p>
            <a:pPr marL="342900" indent="-342900" algn="just">
              <a:spcBef>
                <a:spcPct val="50000"/>
              </a:spcBef>
              <a:buFont typeface="Arial" charset="0"/>
              <a:buChar char="•"/>
            </a:pPr>
            <a:r>
              <a:rPr lang="es-MX" sz="2200" b="1" dirty="0"/>
              <a:t>FMECA</a:t>
            </a:r>
            <a:r>
              <a:rPr lang="es-MX" sz="2200" dirty="0"/>
              <a:t> (Análisis de los Modos, Efectos, Causas y Criticidades de las fallas</a:t>
            </a:r>
          </a:p>
          <a:p>
            <a:pPr marL="342900" indent="-342900" algn="just">
              <a:spcBef>
                <a:spcPct val="50000"/>
              </a:spcBef>
              <a:buFont typeface="Arial" charset="0"/>
              <a:buChar char="•"/>
            </a:pPr>
            <a:r>
              <a:rPr lang="es-MX" sz="2200" b="1" dirty="0"/>
              <a:t>RCFA </a:t>
            </a:r>
            <a:r>
              <a:rPr lang="es-MX" sz="2200" dirty="0"/>
              <a:t> (Análisis de Causa Raíz en Eventos Específicos de Fallas).</a:t>
            </a:r>
            <a:endParaRPr lang="es-MX" sz="2200" i="1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405061" y="5399212"/>
            <a:ext cx="7381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</a:pPr>
            <a:r>
              <a:rPr lang="es-MX" sz="3200" b="1" dirty="0"/>
              <a:t>¿QUIÉN HACE LOS ANÁLISIS?</a:t>
            </a:r>
          </a:p>
        </p:txBody>
      </p:sp>
    </p:spTree>
    <p:extLst>
      <p:ext uri="{BB962C8B-B14F-4D97-AF65-F5344CB8AC3E}">
        <p14:creationId xmlns:p14="http://schemas.microsoft.com/office/powerpoint/2010/main" val="304640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D0DC4E3-5E95-4452-B1A5-A4C0CA08EDD4}"/>
              </a:ext>
            </a:extLst>
          </p:cNvPr>
          <p:cNvSpPr txBox="1"/>
          <p:nvPr/>
        </p:nvSpPr>
        <p:spPr>
          <a:xfrm>
            <a:off x="2308412" y="510617"/>
            <a:ext cx="75751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/>
              <a:t>Consideraciones estándares en fallas</a:t>
            </a:r>
            <a:endParaRPr lang="es-CO" sz="30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A047C0-8558-480C-B250-9EB256FB48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29" t="24702" r="6161" b="20833"/>
          <a:stretch/>
        </p:blipFill>
        <p:spPr>
          <a:xfrm>
            <a:off x="1390000" y="1325493"/>
            <a:ext cx="9412000" cy="47448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91BAF49-800F-4906-8598-9A609AE3EDB1}"/>
              </a:ext>
            </a:extLst>
          </p:cNvPr>
          <p:cNvSpPr txBox="1"/>
          <p:nvPr/>
        </p:nvSpPr>
        <p:spPr>
          <a:xfrm>
            <a:off x="7108541" y="6208151"/>
            <a:ext cx="3693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Mantenimiento industrial efectivo, Alberto Mora G, 2020</a:t>
            </a:r>
            <a:endParaRPr lang="es-CO" sz="1000" dirty="0"/>
          </a:p>
        </p:txBody>
      </p:sp>
    </p:spTree>
    <p:extLst>
      <p:ext uri="{BB962C8B-B14F-4D97-AF65-F5344CB8AC3E}">
        <p14:creationId xmlns:p14="http://schemas.microsoft.com/office/powerpoint/2010/main" val="66184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2689106" y="779688"/>
            <a:ext cx="6245241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64515" name="4 CuadroTexto"/>
          <p:cNvSpPr txBox="1">
            <a:spLocks noChangeArrowheads="1"/>
          </p:cNvSpPr>
          <p:nvPr/>
        </p:nvSpPr>
        <p:spPr bwMode="auto">
          <a:xfrm>
            <a:off x="902898" y="1805915"/>
            <a:ext cx="68608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sz="2400" dirty="0"/>
              <a:t>2.2. Procedimiento para análisis de las fallas.</a:t>
            </a:r>
          </a:p>
        </p:txBody>
      </p:sp>
      <p:sp>
        <p:nvSpPr>
          <p:cNvPr id="64516" name="CuadroTexto 1"/>
          <p:cNvSpPr txBox="1">
            <a:spLocks noChangeArrowheads="1"/>
          </p:cNvSpPr>
          <p:nvPr/>
        </p:nvSpPr>
        <p:spPr bwMode="auto">
          <a:xfrm>
            <a:off x="902898" y="2590523"/>
            <a:ext cx="7628706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2400" dirty="0"/>
              <a:t>2.2.1. Revisión de antecedentes.</a:t>
            </a:r>
          </a:p>
          <a:p>
            <a:r>
              <a:rPr lang="es-CO" sz="2400" dirty="0"/>
              <a:t>Estudio acerca de los procesos de fabricación de las piezas (mecánicos, térmicos y químicos) y del historial de servicios (detalles ambientales y antecedentes de trabajo).</a:t>
            </a:r>
          </a:p>
          <a:p>
            <a:endParaRPr lang="es-CO" sz="2400" dirty="0"/>
          </a:p>
          <a:p>
            <a:r>
              <a:rPr lang="es-CO" sz="2400" dirty="0"/>
              <a:t>2.2.2. Exámenes preliminares</a:t>
            </a:r>
          </a:p>
          <a:p>
            <a:r>
              <a:rPr lang="es-CO" sz="2400" dirty="0"/>
              <a:t>Inspecciones visuales y registro fotográfico.</a:t>
            </a:r>
          </a:p>
        </p:txBody>
      </p:sp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34347" y="2529548"/>
            <a:ext cx="233362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4571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2919263" y="415372"/>
            <a:ext cx="6852265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65539" name="CuadroTexto 4"/>
          <p:cNvSpPr txBox="1">
            <a:spLocks noChangeArrowheads="1"/>
          </p:cNvSpPr>
          <p:nvPr/>
        </p:nvSpPr>
        <p:spPr bwMode="auto">
          <a:xfrm>
            <a:off x="1073791" y="1695145"/>
            <a:ext cx="1040234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2400" dirty="0"/>
              <a:t>2.2.3. Selección, identificación, preservación y adecuación de muestras</a:t>
            </a:r>
          </a:p>
          <a:p>
            <a:endParaRPr lang="es-CO" sz="2400" dirty="0"/>
          </a:p>
          <a:p>
            <a:r>
              <a:rPr lang="es-CO" sz="2400" dirty="0"/>
              <a:t>2.2.4. Determinación de las pruebas y los ensayos a realizar: pruebas no destructivas (partículas magnéticas, líquidos penetrantes en inspección por ultrasonido).</a:t>
            </a:r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0481" y="4392778"/>
            <a:ext cx="6497637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2583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2927648" y="908721"/>
            <a:ext cx="642942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66563" name="CuadroTexto 4"/>
          <p:cNvSpPr txBox="1">
            <a:spLocks noChangeArrowheads="1"/>
          </p:cNvSpPr>
          <p:nvPr/>
        </p:nvSpPr>
        <p:spPr bwMode="auto">
          <a:xfrm>
            <a:off x="4330460" y="2223666"/>
            <a:ext cx="7168551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2400" dirty="0"/>
              <a:t>….. 2.2.4. </a:t>
            </a:r>
          </a:p>
          <a:p>
            <a:r>
              <a:rPr lang="es-CO" sz="2400" b="1" dirty="0"/>
              <a:t>Ensayos mecánicos </a:t>
            </a:r>
            <a:r>
              <a:rPr lang="es-CO" sz="2400" dirty="0"/>
              <a:t>(dureza, tensión, impacto y fatiga)</a:t>
            </a:r>
          </a:p>
          <a:p>
            <a:r>
              <a:rPr lang="es-CO" sz="2400" b="1" dirty="0"/>
              <a:t>Examen macroscópico </a:t>
            </a:r>
            <a:r>
              <a:rPr lang="es-CO" sz="2400" dirty="0"/>
              <a:t>(con este se determina el origen, la dirección de propagación y el tipo de fractura).</a:t>
            </a:r>
          </a:p>
          <a:p>
            <a:r>
              <a:rPr lang="es-CO" sz="2400" b="1" dirty="0"/>
              <a:t>Examen microscópico</a:t>
            </a:r>
            <a:r>
              <a:rPr lang="es-CO" sz="2400" dirty="0"/>
              <a:t> (con este se determina el mecanismo de la fractura y los posibles mecanismos de desgaste.</a:t>
            </a:r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5500" y="1521496"/>
            <a:ext cx="2939770" cy="4605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5023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2759475" y="484684"/>
            <a:ext cx="6172218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67587" name="CuadroTexto 4"/>
          <p:cNvSpPr txBox="1">
            <a:spLocks noChangeArrowheads="1"/>
          </p:cNvSpPr>
          <p:nvPr/>
        </p:nvSpPr>
        <p:spPr bwMode="auto">
          <a:xfrm>
            <a:off x="2027208" y="1278725"/>
            <a:ext cx="947180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2400" dirty="0"/>
              <a:t>2.2.5. Proceso de análisis metalográfico: inspección de la microestructura, el cual señala: inclusiones metálicas, segregaciones, descarburación, oxidación, tamaño del grano, martensita sin revenir, corrosión intergranular. </a:t>
            </a:r>
          </a:p>
        </p:txBody>
      </p:sp>
      <p:sp>
        <p:nvSpPr>
          <p:cNvPr id="67588" name="CuadroTexto 5"/>
          <p:cNvSpPr txBox="1">
            <a:spLocks noChangeArrowheads="1"/>
          </p:cNvSpPr>
          <p:nvPr/>
        </p:nvSpPr>
        <p:spPr bwMode="auto">
          <a:xfrm>
            <a:off x="3338423" y="3259016"/>
            <a:ext cx="6266787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CO" sz="2500" b="1" dirty="0"/>
              <a:t>Análisis de la composición química</a:t>
            </a:r>
          </a:p>
        </p:txBody>
      </p:sp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6645" y="4146701"/>
            <a:ext cx="387667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8745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140148" y="910183"/>
            <a:ext cx="6172218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000" b="1" dirty="0"/>
              <a:t>Reparación correcta y definitiva</a:t>
            </a:r>
            <a:endParaRPr lang="es-ES" sz="3000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1380565" y="1893900"/>
            <a:ext cx="1006736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CO" sz="2200" dirty="0">
                <a:latin typeface="Arial" panose="020B0604020202020204" pitchFamily="34" charset="0"/>
              </a:rPr>
              <a:t>2.2.6. Análisis de la información y de las evidencias recolectadas. Determinación de las posibles causas de la falla, las cuales se pueden agrupar en los siguientes procesos: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Diseño (tamaño, configuración geométrica, proporcionalidad, etc.)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Selección de materiales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Maquinado (mecanizado – discontinuidades)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Tratamiento térmico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Rectificado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Corte (corte por hilo, electroerosión)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s-CO" sz="2200" dirty="0">
                <a:latin typeface="Arial" panose="020B0604020202020204" pitchFamily="34" charset="0"/>
              </a:rPr>
              <a:t>Operación (desalineamiento, desajuste, sobrecarga, carga de impacto, vida útil, etc.)</a:t>
            </a:r>
          </a:p>
        </p:txBody>
      </p:sp>
    </p:spTree>
    <p:extLst>
      <p:ext uri="{BB962C8B-B14F-4D97-AF65-F5344CB8AC3E}">
        <p14:creationId xmlns:p14="http://schemas.microsoft.com/office/powerpoint/2010/main" val="339116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2135560" y="1340768"/>
            <a:ext cx="7777162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/>
              <a:t>Reparación correcta y definitiva</a:t>
            </a:r>
            <a:endParaRPr lang="es-ES" sz="3600" b="1"/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1723911" y="2551906"/>
            <a:ext cx="8744178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s-MX" sz="3600" b="1" dirty="0"/>
              <a:t>3. </a:t>
            </a:r>
            <a:r>
              <a:rPr lang="es-MX" sz="3600" dirty="0"/>
              <a:t>Consecución, </a:t>
            </a:r>
            <a:r>
              <a:rPr lang="es-MX" sz="3600" b="1" dirty="0"/>
              <a:t>fabricación</a:t>
            </a:r>
            <a:r>
              <a:rPr lang="es-MX" sz="3600" dirty="0"/>
              <a:t> o </a:t>
            </a:r>
            <a:r>
              <a:rPr lang="es-MX" sz="3600" b="1" dirty="0"/>
              <a:t>recuperación</a:t>
            </a:r>
            <a:r>
              <a:rPr lang="es-MX" sz="3600" dirty="0"/>
              <a:t> de las partes requeridas para la reparación.</a:t>
            </a:r>
            <a:endParaRPr lang="es-MX" sz="2600" dirty="0">
              <a:solidFill>
                <a:srgbClr val="37829E"/>
              </a:solidFill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10186" y="4939631"/>
            <a:ext cx="7381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</a:pPr>
            <a:r>
              <a:rPr lang="es-MX" sz="3200" b="1"/>
              <a:t>¿REEMPLAZAR O RECUPERAR?</a:t>
            </a:r>
          </a:p>
        </p:txBody>
      </p:sp>
    </p:spTree>
    <p:extLst>
      <p:ext uri="{BB962C8B-B14F-4D97-AF65-F5344CB8AC3E}">
        <p14:creationId xmlns:p14="http://schemas.microsoft.com/office/powerpoint/2010/main" val="11999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2003476" y="1340769"/>
            <a:ext cx="777716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Reparación correcta y definitiva</a:t>
            </a:r>
            <a:endParaRPr lang="es-ES" sz="3600" b="1" dirty="0"/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992038" y="2234262"/>
            <a:ext cx="9783537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66725" lvl="1" algn="just">
              <a:spcBef>
                <a:spcPct val="50000"/>
              </a:spcBef>
            </a:pPr>
            <a:r>
              <a:rPr lang="es-MX" sz="2800" b="1" dirty="0"/>
              <a:t>3.1. Elaboración y calificación </a:t>
            </a:r>
            <a:r>
              <a:rPr lang="es-MX" sz="2800" dirty="0"/>
              <a:t>de procedimientos para  el caso   de actividades de recuperación con soldadura.</a:t>
            </a:r>
          </a:p>
          <a:p>
            <a:pPr marL="466725" lvl="1" algn="just">
              <a:spcBef>
                <a:spcPct val="50000"/>
              </a:spcBef>
            </a:pPr>
            <a:r>
              <a:rPr lang="es-MX" sz="2800" b="1" dirty="0"/>
              <a:t>3.2. Consecución o diseño y fabricación </a:t>
            </a:r>
            <a:r>
              <a:rPr lang="es-MX" sz="2800" dirty="0"/>
              <a:t>de herramientas especiales, plantillas y mecanismos o dispositivos auxiliares requeridos para la reparación.</a:t>
            </a:r>
          </a:p>
        </p:txBody>
      </p:sp>
    </p:spTree>
    <p:extLst>
      <p:ext uri="{BB962C8B-B14F-4D97-AF65-F5344CB8AC3E}">
        <p14:creationId xmlns:p14="http://schemas.microsoft.com/office/powerpoint/2010/main" val="1626742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2284890" y="1556792"/>
            <a:ext cx="7777163" cy="791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Reparación correcta y definitiva</a:t>
            </a:r>
            <a:endParaRPr lang="es-ES" sz="3600" b="1" dirty="0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326776" y="2504810"/>
            <a:ext cx="9538447" cy="270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  <a:buFont typeface="+mj-lt"/>
              <a:buAutoNum type="arabicPeriod" startAt="4"/>
              <a:defRPr/>
            </a:pPr>
            <a:r>
              <a:rPr lang="es-MX" sz="2800" dirty="0"/>
              <a:t>Proceso de reparación: desmontaje, sustituciones y montaje de partes.</a:t>
            </a:r>
          </a:p>
          <a:p>
            <a:pPr marL="342900" indent="-342900" algn="just">
              <a:spcBef>
                <a:spcPct val="50000"/>
              </a:spcBef>
              <a:buFontTx/>
              <a:buAutoNum type="arabicPeriod" startAt="4"/>
              <a:defRPr/>
            </a:pPr>
            <a:r>
              <a:rPr lang="es-MX" sz="2800" dirty="0"/>
              <a:t> Verificaciones y pruebas</a:t>
            </a:r>
            <a:r>
              <a:rPr lang="es-MX" sz="2000" dirty="0"/>
              <a:t>.</a:t>
            </a:r>
          </a:p>
          <a:p>
            <a:pPr marL="342900" indent="-342900" algn="just">
              <a:spcBef>
                <a:spcPct val="50000"/>
              </a:spcBef>
              <a:defRPr/>
            </a:pPr>
            <a:endParaRPr lang="es-MX" sz="2000" dirty="0"/>
          </a:p>
          <a:p>
            <a:pPr marL="342900" indent="-342900" algn="just">
              <a:spcBef>
                <a:spcPct val="50000"/>
              </a:spcBef>
              <a:defRPr/>
            </a:pPr>
            <a:r>
              <a:rPr lang="es-MX" sz="2800" dirty="0"/>
              <a:t>    </a:t>
            </a:r>
            <a:r>
              <a:rPr lang="es-MX" sz="2800" b="1" dirty="0"/>
              <a:t>ELABORAR GUÍA DE REPARACIÓN</a:t>
            </a:r>
          </a:p>
        </p:txBody>
      </p:sp>
    </p:spTree>
    <p:extLst>
      <p:ext uri="{BB962C8B-B14F-4D97-AF65-F5344CB8AC3E}">
        <p14:creationId xmlns:p14="http://schemas.microsoft.com/office/powerpoint/2010/main" val="1625594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2294626" y="713782"/>
            <a:ext cx="8129026" cy="71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Reparación correcta y definitiva</a:t>
            </a:r>
            <a:endParaRPr lang="es-ES" sz="3600" b="1" dirty="0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572488" y="1709435"/>
            <a:ext cx="9573301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  <a:defRPr/>
            </a:pPr>
            <a:r>
              <a:rPr lang="es-MX" sz="2800" b="1" dirty="0"/>
              <a:t>GUÍA DE REPARACIÓN</a:t>
            </a: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es-MX" sz="2800" dirty="0"/>
              <a:t>Instructivo que describe la manera de ejecutar una reparación en determinado equipo. Incluye la identificación clara y precisa de éste, secuencia de actividades (hoja de ruta), materiales requeridos, herramientas e instrumentos a utilizar, cantidad y especialidad del personal que debe intervenir, medidas de seguridad y el tiempo previsto para la ejecución.</a:t>
            </a:r>
          </a:p>
        </p:txBody>
      </p:sp>
    </p:spTree>
    <p:extLst>
      <p:ext uri="{BB962C8B-B14F-4D97-AF65-F5344CB8AC3E}">
        <p14:creationId xmlns:p14="http://schemas.microsoft.com/office/powerpoint/2010/main" val="2086598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760854" y="737811"/>
            <a:ext cx="8670292" cy="13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Reparación correcta y definitiva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67038" y="2276873"/>
            <a:ext cx="7416800" cy="3046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b="1" u="sng" dirty="0"/>
              <a:t>TÉCNICAS PARA RECUPERACIÓN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/>
              <a:t>- </a:t>
            </a:r>
            <a:r>
              <a:rPr lang="es-ES" sz="2800" dirty="0"/>
              <a:t>Recubrimientos con soldadura.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s-ES" sz="2800" dirty="0"/>
              <a:t>- Recubrimientos por metalización.</a:t>
            </a:r>
          </a:p>
          <a:p>
            <a:pPr marL="457200" indent="-457200" algn="ctr" eaLnBrk="1" hangingPunct="1">
              <a:spcBef>
                <a:spcPct val="50000"/>
              </a:spcBef>
              <a:buFontTx/>
              <a:buChar char="-"/>
              <a:defRPr/>
            </a:pPr>
            <a:r>
              <a:rPr lang="es-ES" sz="2800" dirty="0"/>
              <a:t>Recubrimientos con adhesivos químicos.</a:t>
            </a:r>
          </a:p>
          <a:p>
            <a:pPr marL="457200" indent="-457200" algn="ctr" eaLnBrk="1" hangingPunct="1">
              <a:spcBef>
                <a:spcPct val="50000"/>
              </a:spcBef>
              <a:buFontTx/>
              <a:buChar char="-"/>
              <a:defRPr/>
            </a:pPr>
            <a:r>
              <a:rPr lang="es-ES" sz="2800" dirty="0"/>
              <a:t>Recubrimientos cerámicos.  </a:t>
            </a:r>
          </a:p>
        </p:txBody>
      </p:sp>
    </p:spTree>
    <p:extLst>
      <p:ext uri="{BB962C8B-B14F-4D97-AF65-F5344CB8AC3E}">
        <p14:creationId xmlns:p14="http://schemas.microsoft.com/office/powerpoint/2010/main" val="1312438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1759789" y="331199"/>
            <a:ext cx="8488392" cy="88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Recubrimientos por metalización</a:t>
            </a:r>
          </a:p>
        </p:txBody>
      </p:sp>
      <p:pic>
        <p:nvPicPr>
          <p:cNvPr id="7578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8596" y="1563183"/>
            <a:ext cx="5742799" cy="467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uadroTexto 3">
            <a:hlinkClick r:id="rId3"/>
          </p:cNvPr>
          <p:cNvSpPr txBox="1"/>
          <p:nvPr/>
        </p:nvSpPr>
        <p:spPr>
          <a:xfrm>
            <a:off x="7211495" y="3114913"/>
            <a:ext cx="4747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https://www.youtube.com/watch?v=BS10TaQK0ss</a:t>
            </a:r>
          </a:p>
        </p:txBody>
      </p:sp>
      <p:sp>
        <p:nvSpPr>
          <p:cNvPr id="5" name="CuadroTexto 4">
            <a:hlinkClick r:id="rId4"/>
          </p:cNvPr>
          <p:cNvSpPr txBox="1"/>
          <p:nvPr/>
        </p:nvSpPr>
        <p:spPr>
          <a:xfrm>
            <a:off x="7201913" y="2826996"/>
            <a:ext cx="4747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https://www.youtube.com/watch?v=WHnacg19-cQ</a:t>
            </a:r>
          </a:p>
        </p:txBody>
      </p:sp>
      <p:sp>
        <p:nvSpPr>
          <p:cNvPr id="6" name="CuadroTexto 5">
            <a:hlinkClick r:id="rId5"/>
          </p:cNvPr>
          <p:cNvSpPr txBox="1"/>
          <p:nvPr/>
        </p:nvSpPr>
        <p:spPr>
          <a:xfrm>
            <a:off x="7201913" y="2493261"/>
            <a:ext cx="4747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https://www.youtube.com/watch?v=rbuHbmqWxds</a:t>
            </a:r>
          </a:p>
        </p:txBody>
      </p:sp>
    </p:spTree>
    <p:extLst>
      <p:ext uri="{BB962C8B-B14F-4D97-AF65-F5344CB8AC3E}">
        <p14:creationId xmlns:p14="http://schemas.microsoft.com/office/powerpoint/2010/main" val="2390681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2045" t="20182" r="1606" b="2307"/>
          <a:stretch/>
        </p:blipFill>
        <p:spPr>
          <a:xfrm>
            <a:off x="1609165" y="951131"/>
            <a:ext cx="8973670" cy="518007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014B10-1C38-48FC-A3FB-9D09CF67B822}"/>
              </a:ext>
            </a:extLst>
          </p:cNvPr>
          <p:cNvSpPr txBox="1"/>
          <p:nvPr/>
        </p:nvSpPr>
        <p:spPr>
          <a:xfrm>
            <a:off x="1434353" y="179294"/>
            <a:ext cx="9323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Recubrimientos con adhesivos químicos</a:t>
            </a:r>
            <a:endParaRPr lang="es-CO" sz="36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C5A6CC-2F4E-4CD7-883B-5AC9EBB09A6A}"/>
              </a:ext>
            </a:extLst>
          </p:cNvPr>
          <p:cNvSpPr txBox="1"/>
          <p:nvPr/>
        </p:nvSpPr>
        <p:spPr>
          <a:xfrm>
            <a:off x="1653990" y="888378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Fijación de roscas</a:t>
            </a:r>
            <a:endParaRPr lang="es-CO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BA52A3-2F6C-4C80-926E-C5AA376FED6D}"/>
              </a:ext>
            </a:extLst>
          </p:cNvPr>
          <p:cNvSpPr txBox="1"/>
          <p:nvPr/>
        </p:nvSpPr>
        <p:spPr>
          <a:xfrm>
            <a:off x="4558555" y="897308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Sellado de roscas</a:t>
            </a:r>
            <a:endParaRPr lang="es-CO" sz="1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69BBEA-5F18-45C4-A8F7-082EDB32F3AF}"/>
              </a:ext>
            </a:extLst>
          </p:cNvPr>
          <p:cNvSpPr txBox="1"/>
          <p:nvPr/>
        </p:nvSpPr>
        <p:spPr>
          <a:xfrm>
            <a:off x="7463118" y="897308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Formación de juntas</a:t>
            </a:r>
            <a:endParaRPr lang="es-CO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9CE000-59C5-42E6-9D60-A21F9E6C1F44}"/>
              </a:ext>
            </a:extLst>
          </p:cNvPr>
          <p:cNvSpPr txBox="1"/>
          <p:nvPr/>
        </p:nvSpPr>
        <p:spPr>
          <a:xfrm>
            <a:off x="1609165" y="2250978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Retención obturación</a:t>
            </a:r>
            <a:endParaRPr lang="es-CO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357AF0-5029-48BD-9AAC-A848764F11E9}"/>
              </a:ext>
            </a:extLst>
          </p:cNvPr>
          <p:cNvSpPr txBox="1"/>
          <p:nvPr/>
        </p:nvSpPr>
        <p:spPr>
          <a:xfrm>
            <a:off x="4558555" y="2250978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Adhesivos instantáneos</a:t>
            </a:r>
            <a:endParaRPr lang="es-CO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DBF1150-258B-46F0-8D76-73980C3A5344}"/>
              </a:ext>
            </a:extLst>
          </p:cNvPr>
          <p:cNvSpPr txBox="1"/>
          <p:nvPr/>
        </p:nvSpPr>
        <p:spPr>
          <a:xfrm>
            <a:off x="7463118" y="2250978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Adhesivos de curado por luz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58128E-D913-41C1-989B-17BB9E8578E2}"/>
              </a:ext>
            </a:extLst>
          </p:cNvPr>
          <p:cNvSpPr txBox="1"/>
          <p:nvPr/>
        </p:nvSpPr>
        <p:spPr>
          <a:xfrm>
            <a:off x="1609165" y="3577649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Uniones estructurales</a:t>
            </a:r>
            <a:endParaRPr lang="es-CO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2EC602B-9F44-4A6A-89CA-6F2862BDB107}"/>
              </a:ext>
            </a:extLst>
          </p:cNvPr>
          <p:cNvSpPr txBox="1"/>
          <p:nvPr/>
        </p:nvSpPr>
        <p:spPr>
          <a:xfrm>
            <a:off x="4558554" y="3577649"/>
            <a:ext cx="29045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Compuestos con rellenos metálicos</a:t>
            </a:r>
            <a:endParaRPr lang="es-CO" sz="1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09C1E4-319F-4511-96BB-EDA9633B43FF}"/>
              </a:ext>
            </a:extLst>
          </p:cNvPr>
          <p:cNvSpPr txBox="1"/>
          <p:nvPr/>
        </p:nvSpPr>
        <p:spPr>
          <a:xfrm>
            <a:off x="7391400" y="3541899"/>
            <a:ext cx="3276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Compuestos y recubrimientos protectores</a:t>
            </a:r>
            <a:endParaRPr lang="es-CO" sz="12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FB45011-0D0D-4096-B461-38071F4535FA}"/>
              </a:ext>
            </a:extLst>
          </p:cNvPr>
          <p:cNvSpPr txBox="1"/>
          <p:nvPr/>
        </p:nvSpPr>
        <p:spPr>
          <a:xfrm>
            <a:off x="1653990" y="4931319"/>
            <a:ext cx="847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Limpieza</a:t>
            </a:r>
            <a:endParaRPr lang="es-CO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A3C3F0A-C180-44FA-B427-F3F15D52DC95}"/>
              </a:ext>
            </a:extLst>
          </p:cNvPr>
          <p:cNvSpPr txBox="1"/>
          <p:nvPr/>
        </p:nvSpPr>
        <p:spPr>
          <a:xfrm>
            <a:off x="4558554" y="4931143"/>
            <a:ext cx="2173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Lubricación y protección</a:t>
            </a:r>
            <a:endParaRPr lang="es-CO" sz="12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803B8C-0C4C-489E-B008-6B7F09BD2A1F}"/>
              </a:ext>
            </a:extLst>
          </p:cNvPr>
          <p:cNvSpPr txBox="1"/>
          <p:nvPr/>
        </p:nvSpPr>
        <p:spPr>
          <a:xfrm>
            <a:off x="7391400" y="4931143"/>
            <a:ext cx="2173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Preparación de superficies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68004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85169" y="499203"/>
            <a:ext cx="7777162" cy="1053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Recuperación de algún elemento mediante </a:t>
            </a:r>
          </a:p>
          <a:p>
            <a:pPr algn="ctr" eaLnBrk="1" hangingPunct="1"/>
            <a:r>
              <a:rPr lang="es-MX" sz="2800" b="1" dirty="0"/>
              <a:t>procesos con soldadura</a:t>
            </a:r>
            <a:endParaRPr lang="es-ES" sz="28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898019" y="1888232"/>
            <a:ext cx="10655806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MX" sz="2400" dirty="0"/>
              <a:t>Para el campo del mantenimiento (en el cual y en muchos casos las reparaciones se realizan en elementos cuyos materiales no son conocidos o están contaminados o fatigados, en posiciones difíciles o incomodas y con limitaciones en cuanto a la disponibilidad de equipos) se han desarrollado aleaciones para los materiales de aporte con mejores características, algunas de las cuales son:</a:t>
            </a:r>
          </a:p>
          <a:p>
            <a:pPr algn="just">
              <a:spcBef>
                <a:spcPct val="50000"/>
              </a:spcBef>
            </a:pPr>
            <a:r>
              <a:rPr lang="es-MX" sz="2400" dirty="0"/>
              <a:t>1. Composición química balanceada y con control de la estructura del deposito para el manejo de las características </a:t>
            </a:r>
            <a:r>
              <a:rPr lang="es-MX" sz="2400" dirty="0" err="1"/>
              <a:t>microestructurales</a:t>
            </a:r>
            <a:r>
              <a:rPr lang="es-MX" sz="2400" dirty="0"/>
              <a:t>, resistencia a la contaminación superficial, evitando porosidades y resistencia al ataque corrosivo.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514984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85169" y="421565"/>
            <a:ext cx="7777162" cy="1053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Recuperación de algún elemento mediante </a:t>
            </a:r>
          </a:p>
          <a:p>
            <a:pPr algn="ctr" eaLnBrk="1" hangingPunct="1"/>
            <a:r>
              <a:rPr lang="es-MX" sz="2800" b="1" dirty="0"/>
              <a:t>procesos con soldadura</a:t>
            </a:r>
            <a:endParaRPr lang="es-ES" sz="28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055071" y="1685670"/>
            <a:ext cx="1008185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MX" sz="2400" dirty="0"/>
              <a:t>2. Aleaciones para depósitos con alta dureza para el control de mecanismos de desgaste.</a:t>
            </a:r>
          </a:p>
          <a:p>
            <a:pPr>
              <a:spcBef>
                <a:spcPct val="50000"/>
              </a:spcBef>
            </a:pPr>
            <a:r>
              <a:rPr lang="es-MX" sz="2400" dirty="0"/>
              <a:t>3. Baja entada de calor para evitar deformaciones y distorsiones.</a:t>
            </a:r>
          </a:p>
          <a:p>
            <a:pPr>
              <a:spcBef>
                <a:spcPct val="50000"/>
              </a:spcBef>
            </a:pPr>
            <a:r>
              <a:rPr lang="es-ES" sz="2400" dirty="0"/>
              <a:t>4. Alto porcentaje de deposito para optimizar procesos.</a:t>
            </a:r>
          </a:p>
          <a:p>
            <a:pPr>
              <a:spcBef>
                <a:spcPct val="50000"/>
              </a:spcBef>
            </a:pPr>
            <a:r>
              <a:rPr lang="es-ES" sz="2400" dirty="0"/>
              <a:t>5. Fácil uso: Estabilidad en C. D. y C. A., escoria </a:t>
            </a:r>
            <a:r>
              <a:rPr lang="es-ES" sz="2400" dirty="0" err="1"/>
              <a:t>autodesprendible</a:t>
            </a:r>
            <a:r>
              <a:rPr lang="es-ES" sz="2400" dirty="0"/>
              <a:t>, soldabilidad en todas las posiciones, cordones de muy buen acabado y presentación.</a:t>
            </a:r>
          </a:p>
          <a:p>
            <a:pPr>
              <a:spcBef>
                <a:spcPct val="50000"/>
              </a:spcBef>
            </a:pPr>
            <a:r>
              <a:rPr lang="es-ES" sz="2400" dirty="0"/>
              <a:t>6. Alto margen de seguridad y factor de prolongación de servicio.</a:t>
            </a:r>
          </a:p>
        </p:txBody>
      </p:sp>
    </p:spTree>
    <p:extLst>
      <p:ext uri="{BB962C8B-B14F-4D97-AF65-F5344CB8AC3E}">
        <p14:creationId xmlns:p14="http://schemas.microsoft.com/office/powerpoint/2010/main" val="3795271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1021976" y="610809"/>
            <a:ext cx="10148047" cy="124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Actividades para la recuperación de algún elemento mediante procesos con soldadura</a:t>
            </a:r>
            <a:endParaRPr lang="es-ES" sz="2800" b="1" dirty="0"/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029811" y="2276873"/>
            <a:ext cx="898915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s-MX" sz="2400" dirty="0"/>
              <a:t>Análisis de la falla.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es-MX" sz="2400" dirty="0"/>
              <a:t>Identificación del metal base: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400" dirty="0"/>
              <a:t>Información del fabricante.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400" dirty="0"/>
              <a:t>Pruebas de taller: tipo de viruta, chispa, imán, etc.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400" dirty="0"/>
              <a:t>Pruebas de laboratorio: análisis químico, análisis metalográfico.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400" dirty="0"/>
              <a:t>Análisis de la función que desempeña el elemento: tipo de trabajo, cargas, esfuerzos, etc.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56965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1380226" y="1980214"/>
            <a:ext cx="9085785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s-MX" sz="2400" dirty="0"/>
              <a:t>3</a:t>
            </a:r>
            <a:r>
              <a:rPr lang="es-MX" sz="2800" dirty="0"/>
              <a:t>.  Selección de la aleación: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Propiedades mecánicas.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Propiedades metalúrgicas.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Resistencia al desgaste.</a:t>
            </a:r>
          </a:p>
          <a:p>
            <a:pPr marL="342900" indent="-342900">
              <a:spcBef>
                <a:spcPct val="50000"/>
              </a:spcBef>
              <a:buFontTx/>
              <a:buAutoNum type="arabicPeriod" startAt="4"/>
            </a:pPr>
            <a:r>
              <a:rPr lang="es-MX" sz="2800" dirty="0"/>
              <a:t>Sistema de aplicación: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Geometría y dimensiones del elemento.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Tratamiento térmico requerido.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F92B561-9AE7-EA0C-66E6-68AA5E9B8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976" y="610809"/>
            <a:ext cx="10148047" cy="124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Actividades para la recuperación de algún elemento mediante procesos con soldadura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509122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1269486" y="2628239"/>
            <a:ext cx="9653027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s-MX" sz="2400" dirty="0"/>
              <a:t>5.  </a:t>
            </a:r>
            <a:r>
              <a:rPr lang="es-MX" sz="2800" dirty="0"/>
              <a:t>Técnica de aplicación: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Preparación de la pieza (limpieza, biselado, etc.).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Procesos de precalentamiento y pos calentamiento.</a:t>
            </a:r>
          </a:p>
          <a:p>
            <a:pPr marL="800100" lvl="1" indent="-342900">
              <a:spcBef>
                <a:spcPct val="50000"/>
              </a:spcBef>
              <a:buFontTx/>
              <a:buChar char="•"/>
            </a:pPr>
            <a:r>
              <a:rPr lang="es-MX" sz="2800" dirty="0"/>
              <a:t>Velocidades de enfriamiento.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71C4F7E-EE35-8D55-CD8A-AA532E22E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976" y="610809"/>
            <a:ext cx="10148047" cy="124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Actividades para la recuperación de algún elemento mediante procesos con soldadura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3904578013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026D2E0FE88488153A29B3DFF52EB" ma:contentTypeVersion="0" ma:contentTypeDescription="Crear nuevo documento." ma:contentTypeScope="" ma:versionID="2741dcfb37821b3aca211a9937fee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037ac2621b9b9c8cd06b50fac5857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00B5EB-7943-44D1-A749-BBBEABC5FB4E}"/>
</file>

<file path=customXml/itemProps2.xml><?xml version="1.0" encoding="utf-8"?>
<ds:datastoreItem xmlns:ds="http://schemas.openxmlformats.org/officeDocument/2006/customXml" ds:itemID="{A7901110-2984-4951-9685-B06A6517B32D}"/>
</file>

<file path=customXml/itemProps3.xml><?xml version="1.0" encoding="utf-8"?>
<ds:datastoreItem xmlns:ds="http://schemas.openxmlformats.org/officeDocument/2006/customXml" ds:itemID="{21603D02-BAB3-448A-B9A2-2DB2ADA54D47}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4572</TotalTime>
  <Words>1417</Words>
  <Application>Microsoft Office PowerPoint</Application>
  <PresentationFormat>Panorámica</PresentationFormat>
  <Paragraphs>170</Paragraphs>
  <Slides>31</Slides>
  <Notes>2</Notes>
  <HiddenSlides>2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Calibri</vt:lpstr>
      <vt:lpstr>Century Gothic</vt:lpstr>
      <vt:lpstr>Wingdings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ACTIVIDAD 9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ACCIONES CORRECTIVO MODIFICATIVAS 2019-2 ESPECIALIZACIÓN EN MANTENIMIENTO INDUSTRIAL</dc:title>
  <dc:creator>Jaime Leonardo Barbosa Perez</dc:creator>
  <cp:lastModifiedBy>Jaime Leonardo Barbosa Perez</cp:lastModifiedBy>
  <cp:revision>88</cp:revision>
  <cp:lastPrinted>2019-09-03T22:50:31Z</cp:lastPrinted>
  <dcterms:created xsi:type="dcterms:W3CDTF">2019-08-22T14:58:02Z</dcterms:created>
  <dcterms:modified xsi:type="dcterms:W3CDTF">2026-05-08T00:42:00Z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0x0101008E5026D2E0FE88488153A29B3DFF52EB</vt:lpwstr>
  </property>
</Properties>
</file>