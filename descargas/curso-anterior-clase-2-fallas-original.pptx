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sldIdLst>
    <p:sldId id="272" r:id="rId2"/>
    <p:sldId id="273" r:id="rId3"/>
    <p:sldId id="274" r:id="rId4"/>
    <p:sldId id="275" r:id="rId5"/>
    <p:sldId id="276" r:id="rId6"/>
    <p:sldId id="277" r:id="rId7"/>
    <p:sldId id="551" r:id="rId8"/>
    <p:sldId id="278" r:id="rId9"/>
    <p:sldId id="279" r:id="rId10"/>
    <p:sldId id="284" r:id="rId11"/>
    <p:sldId id="286" r:id="rId12"/>
    <p:sldId id="529" r:id="rId13"/>
    <p:sldId id="293" r:id="rId14"/>
    <p:sldId id="294" r:id="rId15"/>
    <p:sldId id="295" r:id="rId16"/>
    <p:sldId id="296" r:id="rId17"/>
    <p:sldId id="297" r:id="rId18"/>
    <p:sldId id="298" r:id="rId19"/>
    <p:sldId id="300" r:id="rId20"/>
    <p:sldId id="547" r:id="rId21"/>
    <p:sldId id="303" r:id="rId22"/>
    <p:sldId id="530" r:id="rId23"/>
    <p:sldId id="301" r:id="rId24"/>
    <p:sldId id="302" r:id="rId25"/>
    <p:sldId id="553" r:id="rId26"/>
  </p:sldIdLst>
  <p:sldSz cx="12192000" cy="6858000"/>
  <p:notesSz cx="6985000" cy="92837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173F1E-941A-4797-B93A-4F468686E42C}" v="1" dt="2026-05-01T00:03:17.97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36" Type="http://schemas.openxmlformats.org/officeDocument/2006/relationships/customXml" Target="../customXml/item3.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35" Type="http://schemas.openxmlformats.org/officeDocument/2006/relationships/customXml" Target="../customXml/item2.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ime Leonardo Barbosa Perez" userId="3291dd0c0a50a603" providerId="LiveId" clId="{93D89129-11BF-4CEF-9F32-CC2F4F7C480C}"/>
    <pc:docChg chg="modSld">
      <pc:chgData name="Jaime Leonardo Barbosa Perez" userId="3291dd0c0a50a603" providerId="LiveId" clId="{93D89129-11BF-4CEF-9F32-CC2F4F7C480C}" dt="2026-05-01T00:03:30.840" v="11" actId="20577"/>
      <pc:docMkLst>
        <pc:docMk/>
      </pc:docMkLst>
      <pc:sldChg chg="addSp modSp mod">
        <pc:chgData name="Jaime Leonardo Barbosa Perez" userId="3291dd0c0a50a603" providerId="LiveId" clId="{93D89129-11BF-4CEF-9F32-CC2F4F7C480C}" dt="2026-05-01T00:03:30.840" v="11" actId="20577"/>
        <pc:sldMkLst>
          <pc:docMk/>
          <pc:sldMk cId="890869243" sldId="553"/>
        </pc:sldMkLst>
        <pc:spChg chg="mod">
          <ac:chgData name="Jaime Leonardo Barbosa Perez" userId="3291dd0c0a50a603" providerId="LiveId" clId="{93D89129-11BF-4CEF-9F32-CC2F4F7C480C}" dt="2026-05-01T00:03:02.283" v="0" actId="1076"/>
          <ac:spMkLst>
            <pc:docMk/>
            <pc:sldMk cId="890869243" sldId="553"/>
            <ac:spMk id="3" creationId="{0C1A4544-296E-55CF-2C86-5A797E73A609}"/>
          </ac:spMkLst>
        </pc:spChg>
        <pc:spChg chg="mod">
          <ac:chgData name="Jaime Leonardo Barbosa Perez" userId="3291dd0c0a50a603" providerId="LiveId" clId="{93D89129-11BF-4CEF-9F32-CC2F4F7C480C}" dt="2026-05-01T00:03:05.720" v="1" actId="1076"/>
          <ac:spMkLst>
            <pc:docMk/>
            <pc:sldMk cId="890869243" sldId="553"/>
            <ac:spMk id="4" creationId="{42C39876-F18C-5408-36BC-A61FD1D0B864}"/>
          </ac:spMkLst>
        </pc:spChg>
        <pc:spChg chg="mod">
          <ac:chgData name="Jaime Leonardo Barbosa Perez" userId="3291dd0c0a50a603" providerId="LiveId" clId="{93D89129-11BF-4CEF-9F32-CC2F4F7C480C}" dt="2026-05-01T00:03:12.570" v="2" actId="1076"/>
          <ac:spMkLst>
            <pc:docMk/>
            <pc:sldMk cId="890869243" sldId="553"/>
            <ac:spMk id="6" creationId="{D2133827-1928-B743-F75F-D311202051D4}"/>
          </ac:spMkLst>
        </pc:spChg>
        <pc:spChg chg="add mod">
          <ac:chgData name="Jaime Leonardo Barbosa Perez" userId="3291dd0c0a50a603" providerId="LiveId" clId="{93D89129-11BF-4CEF-9F32-CC2F4F7C480C}" dt="2026-05-01T00:03:30.840" v="11" actId="20577"/>
          <ac:spMkLst>
            <pc:docMk/>
            <pc:sldMk cId="890869243" sldId="553"/>
            <ac:spMk id="8" creationId="{AB9FB713-AE59-1869-7FA8-EBF7D4E75748}"/>
          </ac:spMkLst>
        </pc:spChg>
      </pc:sldChg>
    </pc:docChg>
  </pc:docChgLst>
  <pc:docChgLst>
    <pc:chgData name="Jaime Leonardo Barbosa Perez" userId="3291dd0c0a50a603" providerId="LiveId" clId="{215C019D-1D12-470B-93BD-6A7D069EA818}"/>
    <pc:docChg chg="addSld modSld">
      <pc:chgData name="Jaime Leonardo Barbosa Perez" userId="3291dd0c0a50a603" providerId="LiveId" clId="{215C019D-1D12-470B-93BD-6A7D069EA818}" dt="2026-04-29T19:23:16.232" v="6"/>
      <pc:docMkLst>
        <pc:docMk/>
      </pc:docMkLst>
      <pc:sldChg chg="add">
        <pc:chgData name="Jaime Leonardo Barbosa Perez" userId="3291dd0c0a50a603" providerId="LiveId" clId="{215C019D-1D12-470B-93BD-6A7D069EA818}" dt="2026-04-29T19:23:16.232" v="6"/>
        <pc:sldMkLst>
          <pc:docMk/>
          <pc:sldMk cId="1737682235" sldId="272"/>
        </pc:sldMkLst>
      </pc:sldChg>
      <pc:sldChg chg="add">
        <pc:chgData name="Jaime Leonardo Barbosa Perez" userId="3291dd0c0a50a603" providerId="LiveId" clId="{215C019D-1D12-470B-93BD-6A7D069EA818}" dt="2026-04-29T19:23:16.232" v="6"/>
        <pc:sldMkLst>
          <pc:docMk/>
          <pc:sldMk cId="404030462" sldId="273"/>
        </pc:sldMkLst>
      </pc:sldChg>
      <pc:sldChg chg="add">
        <pc:chgData name="Jaime Leonardo Barbosa Perez" userId="3291dd0c0a50a603" providerId="LiveId" clId="{215C019D-1D12-470B-93BD-6A7D069EA818}" dt="2026-04-29T19:23:16.232" v="6"/>
        <pc:sldMkLst>
          <pc:docMk/>
          <pc:sldMk cId="2741705527" sldId="274"/>
        </pc:sldMkLst>
      </pc:sldChg>
      <pc:sldChg chg="add">
        <pc:chgData name="Jaime Leonardo Barbosa Perez" userId="3291dd0c0a50a603" providerId="LiveId" clId="{215C019D-1D12-470B-93BD-6A7D069EA818}" dt="2026-04-29T19:23:16.232" v="6"/>
        <pc:sldMkLst>
          <pc:docMk/>
          <pc:sldMk cId="3488004092" sldId="275"/>
        </pc:sldMkLst>
      </pc:sldChg>
      <pc:sldChg chg="add">
        <pc:chgData name="Jaime Leonardo Barbosa Perez" userId="3291dd0c0a50a603" providerId="LiveId" clId="{215C019D-1D12-470B-93BD-6A7D069EA818}" dt="2026-04-29T19:23:16.232" v="6"/>
        <pc:sldMkLst>
          <pc:docMk/>
          <pc:sldMk cId="2392968495" sldId="276"/>
        </pc:sldMkLst>
      </pc:sldChg>
      <pc:sldChg chg="add">
        <pc:chgData name="Jaime Leonardo Barbosa Perez" userId="3291dd0c0a50a603" providerId="LiveId" clId="{215C019D-1D12-470B-93BD-6A7D069EA818}" dt="2026-04-29T19:23:16.232" v="6"/>
        <pc:sldMkLst>
          <pc:docMk/>
          <pc:sldMk cId="3694016734" sldId="277"/>
        </pc:sldMkLst>
      </pc:sldChg>
      <pc:sldChg chg="add">
        <pc:chgData name="Jaime Leonardo Barbosa Perez" userId="3291dd0c0a50a603" providerId="LiveId" clId="{215C019D-1D12-470B-93BD-6A7D069EA818}" dt="2026-04-29T19:23:16.232" v="6"/>
        <pc:sldMkLst>
          <pc:docMk/>
          <pc:sldMk cId="2236617269" sldId="278"/>
        </pc:sldMkLst>
      </pc:sldChg>
      <pc:sldChg chg="add">
        <pc:chgData name="Jaime Leonardo Barbosa Perez" userId="3291dd0c0a50a603" providerId="LiveId" clId="{215C019D-1D12-470B-93BD-6A7D069EA818}" dt="2026-04-29T19:23:16.232" v="6"/>
        <pc:sldMkLst>
          <pc:docMk/>
          <pc:sldMk cId="2615312204" sldId="279"/>
        </pc:sldMkLst>
      </pc:sldChg>
      <pc:sldChg chg="add">
        <pc:chgData name="Jaime Leonardo Barbosa Perez" userId="3291dd0c0a50a603" providerId="LiveId" clId="{215C019D-1D12-470B-93BD-6A7D069EA818}" dt="2026-04-29T19:23:16.232" v="6"/>
        <pc:sldMkLst>
          <pc:docMk/>
          <pc:sldMk cId="2286265331" sldId="284"/>
        </pc:sldMkLst>
      </pc:sldChg>
      <pc:sldChg chg="modSp mod">
        <pc:chgData name="Jaime Leonardo Barbosa Perez" userId="3291dd0c0a50a603" providerId="LiveId" clId="{215C019D-1D12-470B-93BD-6A7D069EA818}" dt="2026-04-28T00:38:09.213" v="4" actId="1076"/>
        <pc:sldMkLst>
          <pc:docMk/>
          <pc:sldMk cId="2898443094" sldId="286"/>
        </pc:sldMkLst>
        <pc:spChg chg="mod">
          <ac:chgData name="Jaime Leonardo Barbosa Perez" userId="3291dd0c0a50a603" providerId="LiveId" clId="{215C019D-1D12-470B-93BD-6A7D069EA818}" dt="2026-04-28T00:38:09.213" v="4" actId="1076"/>
          <ac:spMkLst>
            <pc:docMk/>
            <pc:sldMk cId="2898443094" sldId="286"/>
            <ac:spMk id="35842" creationId="{00000000-0000-0000-0000-000000000000}"/>
          </ac:spMkLst>
        </pc:spChg>
        <pc:spChg chg="mod">
          <ac:chgData name="Jaime Leonardo Barbosa Perez" userId="3291dd0c0a50a603" providerId="LiveId" clId="{215C019D-1D12-470B-93BD-6A7D069EA818}" dt="2026-04-28T00:37:59.855" v="2" actId="1076"/>
          <ac:spMkLst>
            <pc:docMk/>
            <pc:sldMk cId="2898443094" sldId="286"/>
            <ac:spMk id="35843" creationId="{00000000-0000-0000-0000-000000000000}"/>
          </ac:spMkLst>
        </pc:spChg>
      </pc:sldChg>
      <pc:sldChg chg="add">
        <pc:chgData name="Jaime Leonardo Barbosa Perez" userId="3291dd0c0a50a603" providerId="LiveId" clId="{215C019D-1D12-470B-93BD-6A7D069EA818}" dt="2026-04-29T19:23:16.232" v="6"/>
        <pc:sldMkLst>
          <pc:docMk/>
          <pc:sldMk cId="3284925212" sldId="551"/>
        </pc:sldMkLst>
      </pc:sldChg>
      <pc:sldChg chg="add">
        <pc:chgData name="Jaime Leonardo Barbosa Perez" userId="3291dd0c0a50a603" providerId="LiveId" clId="{215C019D-1D12-470B-93BD-6A7D069EA818}" dt="2026-04-29T19:22:48.940" v="5"/>
        <pc:sldMkLst>
          <pc:docMk/>
          <pc:sldMk cId="890869243" sldId="5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26833" cy="465797"/>
          </a:xfrm>
          <a:prstGeom prst="rect">
            <a:avLst/>
          </a:prstGeom>
        </p:spPr>
        <p:txBody>
          <a:bodyPr vert="horz" lIns="92958" tIns="46479" rIns="92958" bIns="46479" rtlCol="0"/>
          <a:lstStyle>
            <a:lvl1pPr algn="l">
              <a:defRPr sz="1200"/>
            </a:lvl1pPr>
          </a:lstStyle>
          <a:p>
            <a:endParaRPr lang="es-CO"/>
          </a:p>
        </p:txBody>
      </p:sp>
      <p:sp>
        <p:nvSpPr>
          <p:cNvPr id="3" name="Marcador de fecha 2"/>
          <p:cNvSpPr>
            <a:spLocks noGrp="1"/>
          </p:cNvSpPr>
          <p:nvPr>
            <p:ph type="dt" idx="1"/>
          </p:nvPr>
        </p:nvSpPr>
        <p:spPr>
          <a:xfrm>
            <a:off x="3956550" y="0"/>
            <a:ext cx="3026833" cy="465797"/>
          </a:xfrm>
          <a:prstGeom prst="rect">
            <a:avLst/>
          </a:prstGeom>
        </p:spPr>
        <p:txBody>
          <a:bodyPr vert="horz" lIns="92958" tIns="46479" rIns="92958" bIns="46479" rtlCol="0"/>
          <a:lstStyle>
            <a:lvl1pPr algn="r">
              <a:defRPr sz="1200"/>
            </a:lvl1pPr>
          </a:lstStyle>
          <a:p>
            <a:fld id="{FAA9CDD0-40B0-47B1-9CA1-D888E0B9FE01}" type="datetimeFigureOut">
              <a:rPr lang="es-CO" smtClean="0"/>
              <a:t>30/04/2026</a:t>
            </a:fld>
            <a:endParaRPr lang="es-CO"/>
          </a:p>
        </p:txBody>
      </p:sp>
      <p:sp>
        <p:nvSpPr>
          <p:cNvPr id="4" name="Marcador de imagen de diapositiva 3"/>
          <p:cNvSpPr>
            <a:spLocks noGrp="1" noRot="1" noChangeAspect="1"/>
          </p:cNvSpPr>
          <p:nvPr>
            <p:ph type="sldImg" idx="2"/>
          </p:nvPr>
        </p:nvSpPr>
        <p:spPr>
          <a:xfrm>
            <a:off x="706438" y="1160463"/>
            <a:ext cx="5572125" cy="3133725"/>
          </a:xfrm>
          <a:prstGeom prst="rect">
            <a:avLst/>
          </a:prstGeom>
          <a:noFill/>
          <a:ln w="12700">
            <a:solidFill>
              <a:prstClr val="black"/>
            </a:solidFill>
          </a:ln>
        </p:spPr>
        <p:txBody>
          <a:bodyPr vert="horz" lIns="92958" tIns="46479" rIns="92958" bIns="46479" rtlCol="0" anchor="ctr"/>
          <a:lstStyle/>
          <a:p>
            <a:endParaRPr lang="es-CO"/>
          </a:p>
        </p:txBody>
      </p:sp>
      <p:sp>
        <p:nvSpPr>
          <p:cNvPr id="5" name="Marcador de notas 4"/>
          <p:cNvSpPr>
            <a:spLocks noGrp="1"/>
          </p:cNvSpPr>
          <p:nvPr>
            <p:ph type="body" sz="quarter" idx="3"/>
          </p:nvPr>
        </p:nvSpPr>
        <p:spPr>
          <a:xfrm>
            <a:off x="698500" y="4467781"/>
            <a:ext cx="5588000" cy="3655457"/>
          </a:xfrm>
          <a:prstGeom prst="rect">
            <a:avLst/>
          </a:prstGeom>
        </p:spPr>
        <p:txBody>
          <a:bodyPr vert="horz" lIns="92958" tIns="46479" rIns="92958" bIns="46479" rtlCol="0"/>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817904"/>
            <a:ext cx="3026833" cy="465796"/>
          </a:xfrm>
          <a:prstGeom prst="rect">
            <a:avLst/>
          </a:prstGeom>
        </p:spPr>
        <p:txBody>
          <a:bodyPr vert="horz" lIns="92958" tIns="46479" rIns="92958" bIns="46479"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956550" y="8817904"/>
            <a:ext cx="3026833" cy="465796"/>
          </a:xfrm>
          <a:prstGeom prst="rect">
            <a:avLst/>
          </a:prstGeom>
        </p:spPr>
        <p:txBody>
          <a:bodyPr vert="horz" lIns="92958" tIns="46479" rIns="92958" bIns="46479" rtlCol="0" anchor="b"/>
          <a:lstStyle>
            <a:lvl1pPr algn="r">
              <a:defRPr sz="1200"/>
            </a:lvl1pPr>
          </a:lstStyle>
          <a:p>
            <a:fld id="{71468045-0AD8-46AF-81C9-4754479C94B8}" type="slidenum">
              <a:rPr lang="es-CO" smtClean="0"/>
              <a:t>‹Nº›</a:t>
            </a:fld>
            <a:endParaRPr lang="es-CO"/>
          </a:p>
        </p:txBody>
      </p:sp>
    </p:spTree>
    <p:extLst>
      <p:ext uri="{BB962C8B-B14F-4D97-AF65-F5344CB8AC3E}">
        <p14:creationId xmlns:p14="http://schemas.microsoft.com/office/powerpoint/2010/main" val="1638830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editar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bg>
      <p:bgRef idx="1003">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s-ES"/>
              <a:t>Haga clic para modificar el estilo de título del patrón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Editar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Date Placeholder 2"/>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Editar el estilo de texto del patrón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Editar el estilo de texto del patrón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s-ES"/>
              <a:t>Haga clic para modificar el estilo de título del patrón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s-ES"/>
              <a:t>Editar el estilo de texto del patrón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Editar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B61BEF0D-F0BB-DE4B-95CE-6DB70DBA9567}" type="datetimeFigureOut">
              <a:rPr lang="en-US" dirty="0"/>
              <a:pPr/>
              <a:t>4/30/2026</a:t>
            </a:fld>
            <a:endParaRPr lang="en-US" dirty="0"/>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D57F1E4F-1CFF-5643-939E-217C01CDF565}" type="slidenum">
              <a:rPr lang="en-US" dirty="0"/>
              <a:pPr/>
              <a:t>‹Nº›</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68"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CqEccgR0q-o&amp;t=19s" TargetMode="External"/><Relationship Id="rId2" Type="http://schemas.openxmlformats.org/officeDocument/2006/relationships/hyperlink" Target="https://www.lavanguardia.com/natural/20211026/7816560/accidente-eolica-marina-espectacular-caida-agua-tres-palas-61-metros.html" TargetMode="External"/><Relationship Id="rId1" Type="http://schemas.openxmlformats.org/officeDocument/2006/relationships/slideLayout" Target="../slideLayouts/slideLayout7.xml"/><Relationship Id="rId4" Type="http://schemas.openxmlformats.org/officeDocument/2006/relationships/image" Target="../media/image2.jpeg"/></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1 CuadroTexto"/>
          <p:cNvSpPr txBox="1">
            <a:spLocks noChangeArrowheads="1"/>
          </p:cNvSpPr>
          <p:nvPr/>
        </p:nvSpPr>
        <p:spPr bwMode="auto">
          <a:xfrm>
            <a:off x="4524364" y="571481"/>
            <a:ext cx="3030538" cy="646113"/>
          </a:xfrm>
          <a:prstGeom prst="rect">
            <a:avLst/>
          </a:prstGeom>
          <a:noFill/>
          <a:ln w="9525">
            <a:noFill/>
            <a:miter lim="800000"/>
            <a:headEnd/>
            <a:tailEnd/>
          </a:ln>
        </p:spPr>
        <p:txBody>
          <a:bodyPr wrap="none">
            <a:spAutoFit/>
          </a:bodyPr>
          <a:lstStyle/>
          <a:p>
            <a:pPr algn="ctr" eaLnBrk="1" hangingPunct="1"/>
            <a:r>
              <a:rPr lang="es-CO" sz="3600" dirty="0"/>
              <a:t>ACTIVIDAD 6</a:t>
            </a:r>
          </a:p>
        </p:txBody>
      </p:sp>
      <p:sp>
        <p:nvSpPr>
          <p:cNvPr id="21507" name="2 CuadroTexto"/>
          <p:cNvSpPr txBox="1">
            <a:spLocks noChangeArrowheads="1"/>
          </p:cNvSpPr>
          <p:nvPr/>
        </p:nvSpPr>
        <p:spPr bwMode="auto">
          <a:xfrm>
            <a:off x="1006680" y="1844824"/>
            <a:ext cx="10050010" cy="3046988"/>
          </a:xfrm>
          <a:prstGeom prst="rect">
            <a:avLst/>
          </a:prstGeom>
          <a:noFill/>
          <a:ln w="9525">
            <a:noFill/>
            <a:miter lim="800000"/>
            <a:headEnd/>
            <a:tailEnd/>
          </a:ln>
        </p:spPr>
        <p:txBody>
          <a:bodyPr wrap="square">
            <a:spAutoFit/>
          </a:bodyPr>
          <a:lstStyle/>
          <a:p>
            <a:pPr algn="ctr" eaLnBrk="1" hangingPunct="1"/>
            <a:r>
              <a:rPr lang="es-CO" sz="2400" dirty="0"/>
              <a:t>Definición de una falla?</a:t>
            </a:r>
          </a:p>
          <a:p>
            <a:pPr algn="ctr" eaLnBrk="1" hangingPunct="1"/>
            <a:endParaRPr lang="es-CO" sz="2400" dirty="0"/>
          </a:p>
          <a:p>
            <a:pPr algn="ctr" eaLnBrk="1" hangingPunct="1"/>
            <a:r>
              <a:rPr lang="es-CO" sz="2400" dirty="0"/>
              <a:t>Mencione las razones por las cuales se presentan fallas</a:t>
            </a:r>
          </a:p>
          <a:p>
            <a:pPr algn="ctr" eaLnBrk="1" hangingPunct="1"/>
            <a:endParaRPr lang="es-CO" sz="2400" dirty="0"/>
          </a:p>
          <a:p>
            <a:pPr algn="ctr" eaLnBrk="1" hangingPunct="1"/>
            <a:r>
              <a:rPr lang="es-CO" sz="2400" dirty="0"/>
              <a:t>Es posible evitar las fallas?</a:t>
            </a:r>
          </a:p>
          <a:p>
            <a:pPr algn="ctr" eaLnBrk="1" hangingPunct="1"/>
            <a:endParaRPr lang="es-CO" sz="2400" dirty="0"/>
          </a:p>
          <a:p>
            <a:pPr algn="ctr" eaLnBrk="1" hangingPunct="1"/>
            <a:r>
              <a:rPr lang="es-CO" sz="2400" dirty="0"/>
              <a:t>Realice una descripción de los pasos a seguir luego de presentarse una falla (preferiblemente de una experiencia propia)</a:t>
            </a:r>
          </a:p>
        </p:txBody>
      </p:sp>
    </p:spTree>
    <p:extLst>
      <p:ext uri="{BB962C8B-B14F-4D97-AF65-F5344CB8AC3E}">
        <p14:creationId xmlns:p14="http://schemas.microsoft.com/office/powerpoint/2010/main" val="17376822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2530" name="Rectangle 20"/>
          <p:cNvSpPr>
            <a:spLocks noChangeArrowheads="1"/>
          </p:cNvSpPr>
          <p:nvPr/>
        </p:nvSpPr>
        <p:spPr bwMode="auto">
          <a:xfrm>
            <a:off x="4029152" y="630520"/>
            <a:ext cx="4143404" cy="1019175"/>
          </a:xfrm>
          <a:prstGeom prst="rect">
            <a:avLst/>
          </a:prstGeom>
          <a:noFill/>
          <a:ln w="9525">
            <a:noFill/>
            <a:miter lim="800000"/>
            <a:headEnd/>
            <a:tailEnd/>
          </a:ln>
        </p:spPr>
        <p:txBody>
          <a:bodyPr anchor="ctr"/>
          <a:lstStyle/>
          <a:p>
            <a:pPr algn="ctr" eaLnBrk="1" hangingPunct="1"/>
            <a:r>
              <a:rPr lang="es-MX" sz="3600" b="1" dirty="0"/>
              <a:t>Falla</a:t>
            </a:r>
            <a:endParaRPr lang="es-ES" sz="3600" b="1" dirty="0"/>
          </a:p>
        </p:txBody>
      </p:sp>
      <p:sp>
        <p:nvSpPr>
          <p:cNvPr id="34837" name="Text Box 21"/>
          <p:cNvSpPr txBox="1">
            <a:spLocks noChangeArrowheads="1"/>
          </p:cNvSpPr>
          <p:nvPr/>
        </p:nvSpPr>
        <p:spPr bwMode="auto">
          <a:xfrm>
            <a:off x="1306163" y="1737858"/>
            <a:ext cx="9579674" cy="3724096"/>
          </a:xfrm>
          <a:prstGeom prst="rect">
            <a:avLst/>
          </a:prstGeom>
          <a:noFill/>
          <a:ln w="9525">
            <a:noFill/>
            <a:miter lim="800000"/>
            <a:headEnd/>
            <a:tailEnd/>
          </a:ln>
        </p:spPr>
        <p:txBody>
          <a:bodyPr wrap="square">
            <a:spAutoFit/>
          </a:bodyPr>
          <a:lstStyle/>
          <a:p>
            <a:pPr marL="457200" indent="-457200" algn="just">
              <a:spcBef>
                <a:spcPct val="50000"/>
              </a:spcBef>
              <a:buFont typeface="Arial" charset="0"/>
              <a:buAutoNum type="arabicPeriod"/>
            </a:pPr>
            <a:r>
              <a:rPr lang="es-MX" sz="2400" dirty="0"/>
              <a:t>Incapacidad de algún elemento, sistema o máquina de satisfacer un criterio de funcionamiento requerido o deseado (desviación de un estándar de funcionamiento).</a:t>
            </a:r>
          </a:p>
          <a:p>
            <a:pPr marL="457200" indent="-457200" algn="just">
              <a:spcBef>
                <a:spcPts val="1200"/>
              </a:spcBef>
              <a:buFont typeface="Arial" charset="0"/>
              <a:buAutoNum type="arabicPeriod"/>
            </a:pPr>
            <a:r>
              <a:rPr lang="es-MX" sz="2400" dirty="0"/>
              <a:t>Evento que genera pérdida total o parcial de determinada función en alguna  máquina o equipo.</a:t>
            </a:r>
          </a:p>
          <a:p>
            <a:pPr marL="457200" indent="-457200" algn="just">
              <a:spcBef>
                <a:spcPts val="1200"/>
              </a:spcBef>
              <a:buFont typeface="Arial" charset="0"/>
              <a:buAutoNum type="arabicPeriod"/>
            </a:pPr>
            <a:r>
              <a:rPr lang="es-MX" sz="2400" dirty="0"/>
              <a:t>Es cualquier hecho que se produzca en la instalación y que tenga como consecuencia un descenso en el nivel productivo, en la calidad del producto, en la seguridad, o que aumente la degradación del medio ambiente.</a:t>
            </a:r>
            <a:endParaRPr lang="es-ES" sz="2400" dirty="0"/>
          </a:p>
        </p:txBody>
      </p:sp>
    </p:spTree>
    <p:extLst>
      <p:ext uri="{BB962C8B-B14F-4D97-AF65-F5344CB8AC3E}">
        <p14:creationId xmlns:p14="http://schemas.microsoft.com/office/powerpoint/2010/main" val="4040304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4837">
                                            <p:txEl>
                                              <p:pRg st="1" end="1"/>
                                            </p:txEl>
                                          </p:spTgt>
                                        </p:tgtEl>
                                        <p:attrNameLst>
                                          <p:attrName>style.visibility</p:attrName>
                                        </p:attrNameLst>
                                      </p:cBhvr>
                                      <p:to>
                                        <p:strVal val="visible"/>
                                      </p:to>
                                    </p:set>
                                    <p:animEffect transition="in" filter="box(in)">
                                      <p:cBhvr>
                                        <p:cTn id="7" dur="500"/>
                                        <p:tgtEl>
                                          <p:spTgt spid="3483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4837">
                                            <p:txEl>
                                              <p:pRg st="2" end="2"/>
                                            </p:txEl>
                                          </p:spTgt>
                                        </p:tgtEl>
                                        <p:attrNameLst>
                                          <p:attrName>style.visibility</p:attrName>
                                        </p:attrNameLst>
                                      </p:cBhvr>
                                      <p:to>
                                        <p:strVal val="visible"/>
                                      </p:to>
                                    </p:set>
                                    <p:animEffect transition="in" filter="box(in)">
                                      <p:cBhvr>
                                        <p:cTn id="12" dur="500"/>
                                        <p:tgtEl>
                                          <p:spTgt spid="3483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0"/>
          <p:cNvSpPr>
            <a:spLocks noChangeArrowheads="1"/>
          </p:cNvSpPr>
          <p:nvPr/>
        </p:nvSpPr>
        <p:spPr bwMode="auto">
          <a:xfrm>
            <a:off x="3359696" y="722446"/>
            <a:ext cx="5786479" cy="865187"/>
          </a:xfrm>
          <a:prstGeom prst="rect">
            <a:avLst/>
          </a:prstGeom>
          <a:noFill/>
          <a:ln w="9525">
            <a:noFill/>
            <a:miter lim="800000"/>
            <a:headEnd/>
            <a:tailEnd/>
          </a:ln>
        </p:spPr>
        <p:txBody>
          <a:bodyPr anchor="ctr"/>
          <a:lstStyle/>
          <a:p>
            <a:pPr algn="ctr" eaLnBrk="1" hangingPunct="1"/>
            <a:r>
              <a:rPr lang="es-MX" sz="3600" b="1" dirty="0"/>
              <a:t>Se presentan fallas por…</a:t>
            </a:r>
            <a:endParaRPr lang="es-ES" sz="3600" b="1" dirty="0"/>
          </a:p>
        </p:txBody>
      </p:sp>
      <p:sp>
        <p:nvSpPr>
          <p:cNvPr id="17411" name="Text Box 21"/>
          <p:cNvSpPr txBox="1">
            <a:spLocks noChangeArrowheads="1"/>
          </p:cNvSpPr>
          <p:nvPr/>
        </p:nvSpPr>
        <p:spPr bwMode="auto">
          <a:xfrm>
            <a:off x="1380227" y="1579379"/>
            <a:ext cx="8801011" cy="4154984"/>
          </a:xfrm>
          <a:prstGeom prst="rect">
            <a:avLst/>
          </a:prstGeom>
          <a:noFill/>
          <a:ln w="9525">
            <a:noFill/>
            <a:miter lim="800000"/>
            <a:headEnd/>
            <a:tailEnd/>
          </a:ln>
        </p:spPr>
        <p:txBody>
          <a:bodyPr wrap="square">
            <a:spAutoFit/>
          </a:bodyPr>
          <a:lstStyle/>
          <a:p>
            <a:pPr marL="273050" indent="-273050" algn="just">
              <a:spcBef>
                <a:spcPct val="50000"/>
              </a:spcBef>
              <a:buFont typeface="Wingdings" pitchFamily="2" charset="2"/>
              <a:buChar char="§"/>
              <a:defRPr/>
            </a:pPr>
            <a:r>
              <a:rPr lang="es-MX" sz="2400" dirty="0"/>
              <a:t>Imposibilidad para evitar que se presenten </a:t>
            </a:r>
            <a:r>
              <a:rPr lang="es-MX" sz="2400" u="sng" dirty="0"/>
              <a:t>daños</a:t>
            </a:r>
            <a:r>
              <a:rPr lang="es-MX" sz="2400" dirty="0"/>
              <a:t> en algunas de las partes o componentes de los sistemas. </a:t>
            </a:r>
          </a:p>
          <a:p>
            <a:pPr algn="just" eaLnBrk="1" hangingPunct="1">
              <a:spcBef>
                <a:spcPct val="50000"/>
              </a:spcBef>
              <a:defRPr/>
            </a:pPr>
            <a:r>
              <a:rPr lang="es-MX" sz="2400" dirty="0"/>
              <a:t>No es posible lograr una confiabilidad total en un diseño mecánico; siempre existirá alguna probabilidad de falla.</a:t>
            </a:r>
          </a:p>
          <a:p>
            <a:pPr marL="622300" lvl="1" indent="-174625" algn="just">
              <a:spcBef>
                <a:spcPct val="50000"/>
              </a:spcBef>
              <a:buFont typeface="Arial" charset="0"/>
              <a:buChar char="•"/>
              <a:defRPr/>
            </a:pPr>
            <a:r>
              <a:rPr lang="es-ES" sz="2400" dirty="0"/>
              <a:t>Teorías disponibles para cálculos. Criterios de diseño para vida finita o infinita.</a:t>
            </a:r>
          </a:p>
          <a:p>
            <a:pPr marL="622300" lvl="1" indent="-174625" algn="just">
              <a:spcBef>
                <a:spcPct val="50000"/>
              </a:spcBef>
              <a:buFont typeface="Arial" charset="0"/>
              <a:buChar char="•"/>
              <a:defRPr/>
            </a:pPr>
            <a:r>
              <a:rPr lang="es-ES" sz="2400" dirty="0"/>
              <a:t>Aspectos relacionados con costos.</a:t>
            </a:r>
          </a:p>
          <a:p>
            <a:pPr marL="622300" lvl="1" indent="-174625" algn="just">
              <a:spcBef>
                <a:spcPct val="50000"/>
              </a:spcBef>
              <a:buFont typeface="Arial" charset="0"/>
              <a:buChar char="•"/>
              <a:defRPr/>
            </a:pPr>
            <a:r>
              <a:rPr lang="es-ES" sz="2400" dirty="0"/>
              <a:t>Diferencia entre parámetros de diseño y condiciones reales de operación.</a:t>
            </a:r>
          </a:p>
        </p:txBody>
      </p:sp>
    </p:spTree>
    <p:extLst>
      <p:ext uri="{BB962C8B-B14F-4D97-AF65-F5344CB8AC3E}">
        <p14:creationId xmlns:p14="http://schemas.microsoft.com/office/powerpoint/2010/main" val="2741705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578" name="Rectangle 20"/>
          <p:cNvSpPr>
            <a:spLocks noChangeArrowheads="1"/>
          </p:cNvSpPr>
          <p:nvPr/>
        </p:nvSpPr>
        <p:spPr bwMode="auto">
          <a:xfrm>
            <a:off x="2207419" y="882169"/>
            <a:ext cx="7777162" cy="865188"/>
          </a:xfrm>
          <a:prstGeom prst="rect">
            <a:avLst/>
          </a:prstGeom>
          <a:noFill/>
          <a:ln w="9525">
            <a:noFill/>
            <a:miter lim="800000"/>
            <a:headEnd/>
            <a:tailEnd/>
          </a:ln>
        </p:spPr>
        <p:txBody>
          <a:bodyPr anchor="ctr"/>
          <a:lstStyle/>
          <a:p>
            <a:pPr algn="ctr" eaLnBrk="1" hangingPunct="1"/>
            <a:r>
              <a:rPr lang="es-MX" sz="3600" b="1" dirty="0"/>
              <a:t>Se presentan fallas por…</a:t>
            </a:r>
            <a:endParaRPr lang="es-ES" sz="3600" b="1" dirty="0"/>
          </a:p>
        </p:txBody>
      </p:sp>
      <p:sp>
        <p:nvSpPr>
          <p:cNvPr id="24579" name="Text Box 21"/>
          <p:cNvSpPr txBox="1">
            <a:spLocks noChangeArrowheads="1"/>
          </p:cNvSpPr>
          <p:nvPr/>
        </p:nvSpPr>
        <p:spPr bwMode="auto">
          <a:xfrm>
            <a:off x="1353935" y="2002101"/>
            <a:ext cx="9484130" cy="3108543"/>
          </a:xfrm>
          <a:prstGeom prst="rect">
            <a:avLst/>
          </a:prstGeom>
          <a:noFill/>
          <a:ln w="9525">
            <a:noFill/>
            <a:miter lim="800000"/>
            <a:headEnd/>
            <a:tailEnd/>
          </a:ln>
        </p:spPr>
        <p:txBody>
          <a:bodyPr wrap="square">
            <a:spAutoFit/>
          </a:bodyPr>
          <a:lstStyle/>
          <a:p>
            <a:pPr marL="174625" indent="-174625" algn="just">
              <a:spcBef>
                <a:spcPct val="50000"/>
              </a:spcBef>
              <a:buFont typeface="Wingdings" pitchFamily="2" charset="2"/>
              <a:buChar char="§"/>
            </a:pPr>
            <a:r>
              <a:rPr lang="es-MX" sz="2800" dirty="0"/>
              <a:t>Errores humanos: respuestas o acciones equivocadas, operaciones sin acatar guías o procedimientos, deficiencias en la comunicación.</a:t>
            </a:r>
          </a:p>
          <a:p>
            <a:pPr marL="174625" indent="-174625" algn="just">
              <a:spcBef>
                <a:spcPct val="50000"/>
              </a:spcBef>
              <a:buFont typeface="Wingdings" pitchFamily="2" charset="2"/>
              <a:buChar char="§"/>
            </a:pPr>
            <a:r>
              <a:rPr lang="es-MX" sz="2800" dirty="0"/>
              <a:t>Fenómenos naturales.</a:t>
            </a:r>
          </a:p>
          <a:p>
            <a:pPr marL="174625" indent="-174625" algn="just">
              <a:spcBef>
                <a:spcPct val="50000"/>
              </a:spcBef>
              <a:buFont typeface="Wingdings" pitchFamily="2" charset="2"/>
              <a:buChar char="§"/>
            </a:pPr>
            <a:r>
              <a:rPr lang="es-MX" sz="2800" dirty="0"/>
              <a:t>Falta de implementación de otro tipo de acciones de acuerdo con análisis costo-beneficio.</a:t>
            </a:r>
          </a:p>
        </p:txBody>
      </p:sp>
    </p:spTree>
    <p:extLst>
      <p:ext uri="{BB962C8B-B14F-4D97-AF65-F5344CB8AC3E}">
        <p14:creationId xmlns:p14="http://schemas.microsoft.com/office/powerpoint/2010/main" val="34880040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idx="4294967295"/>
          </p:nvPr>
        </p:nvSpPr>
        <p:spPr bwMode="auto">
          <a:xfrm>
            <a:off x="1976438" y="508597"/>
            <a:ext cx="8239124" cy="865431"/>
          </a:xfrm>
          <a:prstGeom prst="rect">
            <a:avLst/>
          </a:prstGeom>
          <a:ln>
            <a:miter lim="800000"/>
            <a:headEnd/>
            <a:tailEnd/>
          </a:ln>
        </p:spPr>
        <p:txBody>
          <a:bodyPr>
            <a:normAutofit fontScale="90000"/>
          </a:bodyPr>
          <a:lstStyle/>
          <a:p>
            <a:pPr algn="ctr">
              <a:defRPr/>
            </a:pPr>
            <a:r>
              <a:rPr lang="es-ES" sz="2800" b="1" dirty="0">
                <a:ea typeface="+mn-ea"/>
                <a:cs typeface="+mn-cs"/>
              </a:rPr>
              <a:t>Dos fallas en 3 semanas, ¿Qué puede estar pasando con los aviones de Avianca?</a:t>
            </a:r>
          </a:p>
        </p:txBody>
      </p:sp>
      <p:sp>
        <p:nvSpPr>
          <p:cNvPr id="25604" name="Text Box 3"/>
          <p:cNvSpPr txBox="1">
            <a:spLocks noChangeArrowheads="1"/>
          </p:cNvSpPr>
          <p:nvPr/>
        </p:nvSpPr>
        <p:spPr bwMode="auto">
          <a:xfrm>
            <a:off x="629369" y="1845907"/>
            <a:ext cx="7038816" cy="1477328"/>
          </a:xfrm>
          <a:prstGeom prst="rect">
            <a:avLst/>
          </a:prstGeom>
          <a:noFill/>
          <a:ln w="9525">
            <a:noFill/>
            <a:miter lim="800000"/>
            <a:headEnd/>
            <a:tailEnd/>
          </a:ln>
        </p:spPr>
        <p:txBody>
          <a:bodyPr wrap="square">
            <a:spAutoFit/>
          </a:bodyPr>
          <a:lstStyle/>
          <a:p>
            <a:pPr algn="just">
              <a:spcBef>
                <a:spcPct val="50000"/>
              </a:spcBef>
            </a:pPr>
            <a:r>
              <a:rPr lang="es-ES" dirty="0"/>
              <a:t>Los vuelos 9351 (MED-BOG) y 8499 (BUC-MED), de Avianca, presentaron fallas mecánicas en uno de los motores luego del despegue en sus respectivas rutas. En ambas situaciones, se activó la emergencia que obligó a los aterrizajes de las aeronaves sin que afectara la seguridad del vuelo. </a:t>
            </a:r>
          </a:p>
        </p:txBody>
      </p:sp>
      <p:pic>
        <p:nvPicPr>
          <p:cNvPr id="2050" name="Picture 2" descr="Motores Airbus 320 Avianca">
            <a:extLst>
              <a:ext uri="{FF2B5EF4-FFF2-40B4-BE49-F238E27FC236}">
                <a16:creationId xmlns:a16="http://schemas.microsoft.com/office/drawing/2014/main" id="{2D992016-F8C1-DC7E-F604-7697C9583D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0116" y="3620490"/>
            <a:ext cx="4849383" cy="27289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2968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idx="4294967295"/>
          </p:nvPr>
        </p:nvSpPr>
        <p:spPr bwMode="auto">
          <a:xfrm>
            <a:off x="1709737" y="335097"/>
            <a:ext cx="8772525" cy="935038"/>
          </a:xfrm>
          <a:prstGeom prst="rect">
            <a:avLst/>
          </a:prstGeom>
          <a:ln>
            <a:miter lim="800000"/>
            <a:headEnd/>
            <a:tailEnd/>
          </a:ln>
        </p:spPr>
        <p:txBody>
          <a:bodyPr>
            <a:normAutofit fontScale="90000"/>
          </a:bodyPr>
          <a:lstStyle/>
          <a:p>
            <a:pPr algn="ctr">
              <a:defRPr/>
            </a:pPr>
            <a:r>
              <a:rPr lang="es-ES" sz="2800" b="1" dirty="0">
                <a:ea typeface="+mn-ea"/>
                <a:cs typeface="+mn-cs"/>
              </a:rPr>
              <a:t>Accidente en una eólica marina: espectacular caída al agua de tres palas de 61 metros</a:t>
            </a:r>
          </a:p>
        </p:txBody>
      </p:sp>
      <p:sp>
        <p:nvSpPr>
          <p:cNvPr id="3" name="CuadroTexto 2">
            <a:extLst>
              <a:ext uri="{FF2B5EF4-FFF2-40B4-BE49-F238E27FC236}">
                <a16:creationId xmlns:a16="http://schemas.microsoft.com/office/drawing/2014/main" id="{1CCDE753-A0A8-949D-2F86-36D950710E39}"/>
              </a:ext>
            </a:extLst>
          </p:cNvPr>
          <p:cNvSpPr txBox="1"/>
          <p:nvPr/>
        </p:nvSpPr>
        <p:spPr>
          <a:xfrm>
            <a:off x="1762122" y="4963274"/>
            <a:ext cx="8667749" cy="1477328"/>
          </a:xfrm>
          <a:prstGeom prst="rect">
            <a:avLst/>
          </a:prstGeom>
          <a:noFill/>
        </p:spPr>
        <p:txBody>
          <a:bodyPr wrap="square">
            <a:spAutoFit/>
          </a:bodyPr>
          <a:lstStyle/>
          <a:p>
            <a:pPr algn="ctr"/>
            <a:r>
              <a:rPr lang="es-CO" dirty="0">
                <a:hlinkClick r:id="rId2"/>
              </a:rPr>
              <a:t>https://www.lavanguardia.com/natural/20211026/7816560/accidente-eolica-marina-espectacular-caida-agua-tres-palas-61-metros.html</a:t>
            </a:r>
            <a:endParaRPr lang="es-CO" dirty="0"/>
          </a:p>
          <a:p>
            <a:pPr algn="ctr"/>
            <a:endParaRPr lang="es-CO" dirty="0"/>
          </a:p>
          <a:p>
            <a:pPr algn="ctr"/>
            <a:r>
              <a:rPr lang="es-CO" dirty="0">
                <a:hlinkClick r:id="rId3"/>
              </a:rPr>
              <a:t>https://www.youtube.com/watch?v=CqEccgR0q-o&amp;t=19s</a:t>
            </a:r>
            <a:endParaRPr lang="es-CO" dirty="0"/>
          </a:p>
          <a:p>
            <a:pPr algn="ctr"/>
            <a:endParaRPr lang="es-CO" dirty="0"/>
          </a:p>
        </p:txBody>
      </p:sp>
      <p:pic>
        <p:nvPicPr>
          <p:cNvPr id="1026" name="Picture 2" descr="Visitando un parque eólico: ¿Cómo funciona la energía eólica?  fundacionendesa.org">
            <a:extLst>
              <a:ext uri="{FF2B5EF4-FFF2-40B4-BE49-F238E27FC236}">
                <a16:creationId xmlns:a16="http://schemas.microsoft.com/office/drawing/2014/main" id="{683EFBA3-C537-957E-43BE-1138138CE78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92485" y="1270135"/>
            <a:ext cx="2407025" cy="33981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40167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bwMode="auto">
          <a:xfrm>
            <a:off x="3744686" y="774056"/>
            <a:ext cx="4293326" cy="720725"/>
          </a:xfrm>
          <a:prstGeom prst="rect">
            <a:avLst/>
          </a:prstGeom>
          <a:solidFill>
            <a:srgbClr val="FFFFFF"/>
          </a:solidFill>
          <a:ln w="9525">
            <a:noFill/>
            <a:miter lim="800000"/>
            <a:headEnd/>
            <a:tailEnd/>
          </a:ln>
        </p:spPr>
        <p:txBody>
          <a:bodyPr/>
          <a:lstStyle/>
          <a:p>
            <a:pPr algn="ctr"/>
            <a:r>
              <a:rPr lang="es-CO" sz="2400" dirty="0"/>
              <a:t>Vuelo 4590 de Air France Accidente del Concorde</a:t>
            </a:r>
          </a:p>
        </p:txBody>
      </p:sp>
      <p:pic>
        <p:nvPicPr>
          <p:cNvPr id="2050" name="Picture 2" descr="Aerospatiale-BAC Concorde 101, Air France AN0702255.jpg"/>
          <p:cNvPicPr>
            <a:picLocks noChangeAspect="1" noChangeArrowheads="1"/>
          </p:cNvPicPr>
          <p:nvPr/>
        </p:nvPicPr>
        <p:blipFill rotWithShape="1">
          <a:blip r:embed="rId2">
            <a:extLst>
              <a:ext uri="{28A0092B-C50C-407E-A947-70E740481C1C}">
                <a14:useLocalDpi xmlns:a14="http://schemas.microsoft.com/office/drawing/2010/main" val="0"/>
              </a:ext>
            </a:extLst>
          </a:blip>
          <a:srcRect t="18798" b="22341"/>
          <a:stretch/>
        </p:blipFill>
        <p:spPr bwMode="auto">
          <a:xfrm>
            <a:off x="1562063" y="1863898"/>
            <a:ext cx="8658571" cy="3675017"/>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4F678CC3-F69D-4EDC-B08B-7439AF1291D5}"/>
              </a:ext>
            </a:extLst>
          </p:cNvPr>
          <p:cNvSpPr txBox="1"/>
          <p:nvPr/>
        </p:nvSpPr>
        <p:spPr>
          <a:xfrm>
            <a:off x="2959297" y="5908032"/>
            <a:ext cx="6104964" cy="369332"/>
          </a:xfrm>
          <a:prstGeom prst="rect">
            <a:avLst/>
          </a:prstGeom>
          <a:noFill/>
        </p:spPr>
        <p:txBody>
          <a:bodyPr wrap="square">
            <a:spAutoFit/>
          </a:bodyPr>
          <a:lstStyle/>
          <a:p>
            <a:r>
              <a:rPr lang="es-CO" dirty="0"/>
              <a:t>https://www.youtube.com/watch?v=R-jDAuoerZI</a:t>
            </a:r>
          </a:p>
        </p:txBody>
      </p:sp>
    </p:spTree>
    <p:extLst>
      <p:ext uri="{BB962C8B-B14F-4D97-AF65-F5344CB8AC3E}">
        <p14:creationId xmlns:p14="http://schemas.microsoft.com/office/powerpoint/2010/main" val="32849252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idx="4294967295"/>
          </p:nvPr>
        </p:nvSpPr>
        <p:spPr bwMode="auto">
          <a:xfrm>
            <a:off x="638175" y="381000"/>
            <a:ext cx="10763249" cy="1223860"/>
          </a:xfrm>
          <a:prstGeom prst="rect">
            <a:avLst/>
          </a:prstGeom>
          <a:ln>
            <a:miter lim="800000"/>
            <a:headEnd/>
            <a:tailEnd/>
          </a:ln>
        </p:spPr>
        <p:txBody>
          <a:bodyPr>
            <a:normAutofit/>
          </a:bodyPr>
          <a:lstStyle/>
          <a:p>
            <a:pPr algn="ctr">
              <a:defRPr/>
            </a:pPr>
            <a:r>
              <a:rPr lang="es-ES" sz="2800" b="1" dirty="0">
                <a:ea typeface="+mn-ea"/>
                <a:cs typeface="+mn-cs"/>
              </a:rPr>
              <a:t>Pasajeros denuncian que avión de </a:t>
            </a:r>
            <a:r>
              <a:rPr lang="es-ES" sz="2800" b="1" dirty="0" err="1">
                <a:ea typeface="+mn-ea"/>
                <a:cs typeface="+mn-cs"/>
              </a:rPr>
              <a:t>Latam</a:t>
            </a:r>
            <a:r>
              <a:rPr lang="es-ES" sz="2800" b="1" dirty="0">
                <a:ea typeface="+mn-ea"/>
                <a:cs typeface="+mn-cs"/>
              </a:rPr>
              <a:t> tenía fallas desde antes de despegar de Rionegro</a:t>
            </a:r>
          </a:p>
        </p:txBody>
      </p:sp>
      <p:sp>
        <p:nvSpPr>
          <p:cNvPr id="27651" name="Text Box 3"/>
          <p:cNvSpPr txBox="1">
            <a:spLocks noChangeArrowheads="1"/>
          </p:cNvSpPr>
          <p:nvPr/>
        </p:nvSpPr>
        <p:spPr bwMode="auto">
          <a:xfrm>
            <a:off x="314326" y="1671432"/>
            <a:ext cx="5686425" cy="3370153"/>
          </a:xfrm>
          <a:prstGeom prst="rect">
            <a:avLst/>
          </a:prstGeom>
          <a:noFill/>
          <a:ln w="9525">
            <a:noFill/>
            <a:miter lim="800000"/>
            <a:headEnd/>
            <a:tailEnd/>
          </a:ln>
        </p:spPr>
        <p:txBody>
          <a:bodyPr wrap="square">
            <a:spAutoFit/>
          </a:bodyPr>
          <a:lstStyle/>
          <a:p>
            <a:pPr algn="just">
              <a:spcBef>
                <a:spcPts val="1800"/>
              </a:spcBef>
            </a:pPr>
            <a:r>
              <a:rPr lang="es-ES" dirty="0"/>
              <a:t>En la tarde del pasado martes 29 de marzo de 2023 se registró una atemorizante emergencia con un avión en Rionegro, Antioquia. La aeronave aterrizó de emergencia en el aeropuerto José María Córdova luego de presentar un problema con una de las ruedas.</a:t>
            </a:r>
          </a:p>
          <a:p>
            <a:pPr algn="just">
              <a:spcBef>
                <a:spcPts val="1800"/>
              </a:spcBef>
            </a:pPr>
            <a:r>
              <a:rPr lang="es-ES" dirty="0"/>
              <a:t>La emergencia se dio cuando el avión con matrícula CC- BAS que operaba el vuelo LA4292 en la ruta Medellín - Cartagena presentó un problema en una de las ruedas del tren de nariz durante el despegue.</a:t>
            </a:r>
          </a:p>
        </p:txBody>
      </p:sp>
      <p:pic>
        <p:nvPicPr>
          <p:cNvPr id="3074" name="Picture 2" descr="¿Qué le pasó al avión de Latam en aeropuerto Rionegro? Útima...">
            <a:extLst>
              <a:ext uri="{FF2B5EF4-FFF2-40B4-BE49-F238E27FC236}">
                <a16:creationId xmlns:a16="http://schemas.microsoft.com/office/drawing/2014/main" id="{9F0CB032-B330-B4A5-FADD-5302CBEBA2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39485" y="3354822"/>
            <a:ext cx="4600497" cy="2586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66172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1 Título"/>
          <p:cNvSpPr>
            <a:spLocks noGrp="1"/>
          </p:cNvSpPr>
          <p:nvPr>
            <p:ph type="title" idx="4294967295"/>
          </p:nvPr>
        </p:nvSpPr>
        <p:spPr bwMode="auto">
          <a:xfrm>
            <a:off x="2024140" y="294053"/>
            <a:ext cx="8032176" cy="843630"/>
          </a:xfrm>
          <a:prstGeom prst="rect">
            <a:avLst/>
          </a:prstGeom>
          <a:ln>
            <a:miter lim="800000"/>
            <a:headEnd/>
            <a:tailEnd/>
          </a:ln>
        </p:spPr>
        <p:txBody>
          <a:bodyPr>
            <a:normAutofit/>
          </a:bodyPr>
          <a:lstStyle/>
          <a:p>
            <a:pPr>
              <a:defRPr/>
            </a:pPr>
            <a:r>
              <a:rPr lang="es-CO" sz="2800" b="1" dirty="0">
                <a:ea typeface="+mn-ea"/>
                <a:cs typeface="+mn-cs"/>
              </a:rPr>
              <a:t>Emergencia en teleférico de Monserrate</a:t>
            </a:r>
            <a:endParaRPr lang="es-ES" sz="2800" b="1" dirty="0">
              <a:ea typeface="+mn-ea"/>
              <a:cs typeface="+mn-cs"/>
            </a:endParaRPr>
          </a:p>
        </p:txBody>
      </p:sp>
      <p:pic>
        <p:nvPicPr>
          <p:cNvPr id="28676" name="Picture 3"/>
          <p:cNvPicPr>
            <a:picLocks noChangeAspect="1" noChangeArrowheads="1"/>
          </p:cNvPicPr>
          <p:nvPr/>
        </p:nvPicPr>
        <p:blipFill>
          <a:blip r:embed="rId2"/>
          <a:srcRect l="2197" t="36133" r="15771" b="12109"/>
          <a:stretch>
            <a:fillRect/>
          </a:stretch>
        </p:blipFill>
        <p:spPr bwMode="auto">
          <a:xfrm>
            <a:off x="2219280" y="1234274"/>
            <a:ext cx="7641896" cy="4571848"/>
          </a:xfrm>
          <a:prstGeom prst="rect">
            <a:avLst/>
          </a:prstGeom>
          <a:noFill/>
          <a:ln w="9525">
            <a:noFill/>
            <a:miter lim="800000"/>
            <a:headEnd/>
            <a:tailEnd/>
          </a:ln>
        </p:spPr>
      </p:pic>
    </p:spTree>
    <p:extLst>
      <p:ext uri="{BB962C8B-B14F-4D97-AF65-F5344CB8AC3E}">
        <p14:creationId xmlns:p14="http://schemas.microsoft.com/office/powerpoint/2010/main" val="26153122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1" name="70 Conector recto"/>
          <p:cNvCxnSpPr>
            <a:cxnSpLocks noChangeShapeType="1"/>
          </p:cNvCxnSpPr>
          <p:nvPr/>
        </p:nvCxnSpPr>
        <p:spPr bwMode="auto">
          <a:xfrm rot="10800000" flipV="1">
            <a:off x="8345067" y="4449292"/>
            <a:ext cx="598487" cy="296862"/>
          </a:xfrm>
          <a:prstGeom prst="line">
            <a:avLst/>
          </a:prstGeom>
          <a:noFill/>
          <a:ln w="25400" algn="ctr">
            <a:solidFill>
              <a:schemeClr val="tx1"/>
            </a:solidFill>
            <a:round/>
            <a:headEnd/>
            <a:tailEnd type="triangle" w="med" len="med"/>
          </a:ln>
        </p:spPr>
      </p:cxnSp>
      <p:cxnSp>
        <p:nvCxnSpPr>
          <p:cNvPr id="93" name="92 Conector recto"/>
          <p:cNvCxnSpPr>
            <a:cxnSpLocks noChangeShapeType="1"/>
          </p:cNvCxnSpPr>
          <p:nvPr/>
        </p:nvCxnSpPr>
        <p:spPr bwMode="auto">
          <a:xfrm rot="5400000">
            <a:off x="5772522" y="4545335"/>
            <a:ext cx="819150" cy="661988"/>
          </a:xfrm>
          <a:prstGeom prst="line">
            <a:avLst/>
          </a:prstGeom>
          <a:noFill/>
          <a:ln w="25400" algn="ctr">
            <a:solidFill>
              <a:schemeClr val="tx1"/>
            </a:solidFill>
            <a:round/>
            <a:headEnd/>
            <a:tailEnd type="triangle" w="med" len="med"/>
          </a:ln>
        </p:spPr>
      </p:cxnSp>
      <p:cxnSp>
        <p:nvCxnSpPr>
          <p:cNvPr id="70" name="69 Conector recto"/>
          <p:cNvCxnSpPr>
            <a:cxnSpLocks noChangeShapeType="1"/>
          </p:cNvCxnSpPr>
          <p:nvPr/>
        </p:nvCxnSpPr>
        <p:spPr bwMode="auto">
          <a:xfrm>
            <a:off x="8940378" y="4479455"/>
            <a:ext cx="533400" cy="257175"/>
          </a:xfrm>
          <a:prstGeom prst="line">
            <a:avLst/>
          </a:prstGeom>
          <a:noFill/>
          <a:ln w="25400" algn="ctr">
            <a:solidFill>
              <a:schemeClr val="tx1"/>
            </a:solidFill>
            <a:round/>
            <a:headEnd/>
            <a:tailEnd type="triangle" w="med" len="med"/>
          </a:ln>
        </p:spPr>
      </p:cxnSp>
      <p:cxnSp>
        <p:nvCxnSpPr>
          <p:cNvPr id="66" name="65 Conector recto"/>
          <p:cNvCxnSpPr>
            <a:cxnSpLocks noChangeShapeType="1"/>
          </p:cNvCxnSpPr>
          <p:nvPr/>
        </p:nvCxnSpPr>
        <p:spPr bwMode="auto">
          <a:xfrm>
            <a:off x="8213303" y="3479330"/>
            <a:ext cx="717550" cy="466725"/>
          </a:xfrm>
          <a:prstGeom prst="line">
            <a:avLst/>
          </a:prstGeom>
          <a:noFill/>
          <a:ln w="25400" algn="ctr">
            <a:solidFill>
              <a:schemeClr val="tx1"/>
            </a:solidFill>
            <a:round/>
            <a:headEnd/>
            <a:tailEnd type="triangle" w="med" len="med"/>
          </a:ln>
        </p:spPr>
      </p:cxnSp>
      <p:cxnSp>
        <p:nvCxnSpPr>
          <p:cNvPr id="67" name="66 Conector recto"/>
          <p:cNvCxnSpPr>
            <a:cxnSpLocks noChangeShapeType="1"/>
          </p:cNvCxnSpPr>
          <p:nvPr/>
        </p:nvCxnSpPr>
        <p:spPr bwMode="auto">
          <a:xfrm rot="10800000" flipV="1">
            <a:off x="6497217" y="3479330"/>
            <a:ext cx="1716087" cy="460375"/>
          </a:xfrm>
          <a:prstGeom prst="line">
            <a:avLst/>
          </a:prstGeom>
          <a:noFill/>
          <a:ln w="25400" algn="ctr">
            <a:solidFill>
              <a:schemeClr val="tx1"/>
            </a:solidFill>
            <a:round/>
            <a:headEnd/>
            <a:tailEnd type="triangle" w="med" len="med"/>
          </a:ln>
        </p:spPr>
      </p:cxnSp>
      <p:cxnSp>
        <p:nvCxnSpPr>
          <p:cNvPr id="33799" name="67 Conector recto"/>
          <p:cNvCxnSpPr>
            <a:cxnSpLocks noChangeShapeType="1"/>
          </p:cNvCxnSpPr>
          <p:nvPr/>
        </p:nvCxnSpPr>
        <p:spPr bwMode="auto">
          <a:xfrm rot="5400000">
            <a:off x="7954541" y="2723680"/>
            <a:ext cx="503238" cy="14287"/>
          </a:xfrm>
          <a:prstGeom prst="line">
            <a:avLst/>
          </a:prstGeom>
          <a:noFill/>
          <a:ln w="25400" algn="ctr">
            <a:solidFill>
              <a:schemeClr val="tx1"/>
            </a:solidFill>
            <a:round/>
            <a:headEnd/>
            <a:tailEnd type="triangle" w="med" len="med"/>
          </a:ln>
        </p:spPr>
      </p:cxnSp>
      <p:cxnSp>
        <p:nvCxnSpPr>
          <p:cNvPr id="92" name="91 Conector recto"/>
          <p:cNvCxnSpPr>
            <a:cxnSpLocks noChangeShapeType="1"/>
          </p:cNvCxnSpPr>
          <p:nvPr/>
        </p:nvCxnSpPr>
        <p:spPr bwMode="auto">
          <a:xfrm rot="16200000" flipH="1">
            <a:off x="6414666" y="4530255"/>
            <a:ext cx="827088" cy="630237"/>
          </a:xfrm>
          <a:prstGeom prst="line">
            <a:avLst/>
          </a:prstGeom>
          <a:noFill/>
          <a:ln w="25400" algn="ctr">
            <a:solidFill>
              <a:schemeClr val="tx1"/>
            </a:solidFill>
            <a:round/>
            <a:headEnd/>
            <a:tailEnd type="triangle" w="med" len="med"/>
          </a:ln>
        </p:spPr>
      </p:cxnSp>
      <p:cxnSp>
        <p:nvCxnSpPr>
          <p:cNvPr id="61" name="60 Conector recto"/>
          <p:cNvCxnSpPr>
            <a:cxnSpLocks noChangeShapeType="1"/>
          </p:cNvCxnSpPr>
          <p:nvPr/>
        </p:nvCxnSpPr>
        <p:spPr bwMode="auto">
          <a:xfrm>
            <a:off x="3438104" y="3466630"/>
            <a:ext cx="773113" cy="511175"/>
          </a:xfrm>
          <a:prstGeom prst="line">
            <a:avLst/>
          </a:prstGeom>
          <a:noFill/>
          <a:ln w="25400" algn="ctr">
            <a:solidFill>
              <a:schemeClr val="tx1"/>
            </a:solidFill>
            <a:round/>
            <a:headEnd/>
            <a:tailEnd type="triangle" w="med" len="med"/>
          </a:ln>
        </p:spPr>
      </p:cxnSp>
      <p:cxnSp>
        <p:nvCxnSpPr>
          <p:cNvPr id="58" name="57 Conector recto"/>
          <p:cNvCxnSpPr>
            <a:cxnSpLocks noChangeShapeType="1"/>
          </p:cNvCxnSpPr>
          <p:nvPr/>
        </p:nvCxnSpPr>
        <p:spPr bwMode="auto">
          <a:xfrm rot="10800000" flipV="1">
            <a:off x="2636417" y="3466630"/>
            <a:ext cx="801687" cy="473075"/>
          </a:xfrm>
          <a:prstGeom prst="line">
            <a:avLst/>
          </a:prstGeom>
          <a:noFill/>
          <a:ln w="25400" algn="ctr">
            <a:solidFill>
              <a:schemeClr val="tx1"/>
            </a:solidFill>
            <a:round/>
            <a:headEnd/>
            <a:tailEnd type="triangle" w="med" len="med"/>
          </a:ln>
        </p:spPr>
      </p:cxnSp>
      <p:cxnSp>
        <p:nvCxnSpPr>
          <p:cNvPr id="33803" name="5 Conector recto de flecha"/>
          <p:cNvCxnSpPr>
            <a:cxnSpLocks noChangeShapeType="1"/>
          </p:cNvCxnSpPr>
          <p:nvPr/>
        </p:nvCxnSpPr>
        <p:spPr bwMode="auto">
          <a:xfrm rot="10800000" flipV="1">
            <a:off x="3363492" y="1393354"/>
            <a:ext cx="2789237" cy="590550"/>
          </a:xfrm>
          <a:prstGeom prst="straightConnector1">
            <a:avLst/>
          </a:prstGeom>
          <a:noFill/>
          <a:ln w="25400" algn="ctr">
            <a:solidFill>
              <a:schemeClr val="tx1"/>
            </a:solidFill>
            <a:round/>
            <a:headEnd/>
            <a:tailEnd type="triangle" w="med" len="med"/>
          </a:ln>
        </p:spPr>
      </p:cxnSp>
      <p:sp>
        <p:nvSpPr>
          <p:cNvPr id="10247" name="15 Rectángulo redondeado"/>
          <p:cNvSpPr>
            <a:spLocks noChangeArrowheads="1"/>
          </p:cNvSpPr>
          <p:nvPr/>
        </p:nvSpPr>
        <p:spPr bwMode="auto">
          <a:xfrm>
            <a:off x="2511003" y="2010893"/>
            <a:ext cx="1854200" cy="503237"/>
          </a:xfrm>
          <a:prstGeom prst="roundRect">
            <a:avLst>
              <a:gd name="adj" fmla="val 16667"/>
            </a:avLst>
          </a:prstGeom>
          <a:solidFill>
            <a:schemeClr val="accent5"/>
          </a:solidFill>
          <a:ln w="9525" algn="ctr">
            <a:solidFill>
              <a:schemeClr val="tx1"/>
            </a:solidFill>
            <a:round/>
            <a:headEnd/>
            <a:tailEnd/>
          </a:ln>
        </p:spPr>
        <p:txBody>
          <a:bodyPr lIns="0" tIns="0" rIns="0" bIns="0" anchor="ctr" anchorCtr="1"/>
          <a:lstStyle/>
          <a:p>
            <a:pPr algn="ctr" eaLnBrk="1" hangingPunct="1">
              <a:defRPr/>
            </a:pPr>
            <a:r>
              <a:rPr lang="es-CO" sz="1400" b="1" dirty="0"/>
              <a:t>ANTES DE LA FALLA</a:t>
            </a:r>
          </a:p>
        </p:txBody>
      </p:sp>
      <p:cxnSp>
        <p:nvCxnSpPr>
          <p:cNvPr id="33805" name="5 Conector recto de flecha"/>
          <p:cNvCxnSpPr>
            <a:cxnSpLocks noChangeShapeType="1"/>
          </p:cNvCxnSpPr>
          <p:nvPr/>
        </p:nvCxnSpPr>
        <p:spPr bwMode="auto">
          <a:xfrm>
            <a:off x="6155903" y="1394942"/>
            <a:ext cx="2070100" cy="584200"/>
          </a:xfrm>
          <a:prstGeom prst="straightConnector1">
            <a:avLst/>
          </a:prstGeom>
          <a:noFill/>
          <a:ln w="25400" algn="ctr">
            <a:solidFill>
              <a:schemeClr val="tx1"/>
            </a:solidFill>
            <a:round/>
            <a:headEnd/>
            <a:tailEnd type="triangle" w="med" len="med"/>
          </a:ln>
        </p:spPr>
      </p:cxnSp>
      <p:sp>
        <p:nvSpPr>
          <p:cNvPr id="10252" name="14 Rectángulo redondeado"/>
          <p:cNvSpPr>
            <a:spLocks noChangeArrowheads="1"/>
          </p:cNvSpPr>
          <p:nvPr/>
        </p:nvSpPr>
        <p:spPr bwMode="auto">
          <a:xfrm>
            <a:off x="4439816" y="764704"/>
            <a:ext cx="3429000" cy="642938"/>
          </a:xfrm>
          <a:prstGeom prst="roundRect">
            <a:avLst>
              <a:gd name="adj" fmla="val 16667"/>
            </a:avLst>
          </a:prstGeom>
          <a:solidFill>
            <a:schemeClr val="bg2">
              <a:lumMod val="75000"/>
            </a:schemeClr>
          </a:solidFill>
          <a:ln w="9525" algn="ctr">
            <a:solidFill>
              <a:schemeClr val="tx1"/>
            </a:solidFill>
            <a:round/>
            <a:headEnd/>
            <a:tailEnd/>
          </a:ln>
        </p:spPr>
        <p:txBody>
          <a:bodyPr lIns="0" tIns="0" rIns="0" bIns="0" anchor="ctr" anchorCtr="1"/>
          <a:lstStyle/>
          <a:p>
            <a:pPr algn="ctr" eaLnBrk="1" hangingPunct="1">
              <a:defRPr/>
            </a:pPr>
            <a:r>
              <a:rPr lang="es-CO" b="1" dirty="0"/>
              <a:t>NIVEL OPERACIONAL</a:t>
            </a:r>
          </a:p>
          <a:p>
            <a:pPr algn="ctr" eaLnBrk="1" hangingPunct="1">
              <a:defRPr/>
            </a:pPr>
            <a:r>
              <a:rPr lang="es-CO" b="1" dirty="0"/>
              <a:t>Posibles acciones a ejecutar</a:t>
            </a:r>
          </a:p>
        </p:txBody>
      </p:sp>
      <p:sp>
        <p:nvSpPr>
          <p:cNvPr id="28" name="15 Rectángulo redondeado"/>
          <p:cNvSpPr>
            <a:spLocks noChangeArrowheads="1"/>
          </p:cNvSpPr>
          <p:nvPr/>
        </p:nvSpPr>
        <p:spPr bwMode="auto">
          <a:xfrm>
            <a:off x="2517353" y="2979268"/>
            <a:ext cx="1854200" cy="503237"/>
          </a:xfrm>
          <a:prstGeom prst="roundRect">
            <a:avLst>
              <a:gd name="adj" fmla="val 16667"/>
            </a:avLst>
          </a:prstGeom>
          <a:solidFill>
            <a:schemeClr val="accent5"/>
          </a:solidFill>
          <a:ln w="9525" algn="ctr">
            <a:solidFill>
              <a:schemeClr val="tx1"/>
            </a:solidFill>
            <a:round/>
            <a:headEnd/>
            <a:tailEnd/>
          </a:ln>
        </p:spPr>
        <p:txBody>
          <a:bodyPr lIns="0" tIns="0" rIns="0" bIns="0" anchor="ctr" anchorCtr="1"/>
          <a:lstStyle/>
          <a:p>
            <a:pPr algn="ctr" eaLnBrk="1" hangingPunct="1">
              <a:defRPr/>
            </a:pPr>
            <a:r>
              <a:rPr lang="es-CO" sz="1400" b="1" dirty="0"/>
              <a:t>MANTENIMIENTO</a:t>
            </a:r>
          </a:p>
        </p:txBody>
      </p:sp>
      <p:sp>
        <p:nvSpPr>
          <p:cNvPr id="30" name="15 Rectángulo redondeado"/>
          <p:cNvSpPr>
            <a:spLocks noChangeArrowheads="1"/>
          </p:cNvSpPr>
          <p:nvPr/>
        </p:nvSpPr>
        <p:spPr bwMode="auto">
          <a:xfrm>
            <a:off x="1939503" y="3979393"/>
            <a:ext cx="1428750" cy="503237"/>
          </a:xfrm>
          <a:prstGeom prst="roundRect">
            <a:avLst>
              <a:gd name="adj" fmla="val 16667"/>
            </a:avLst>
          </a:prstGeom>
          <a:solidFill>
            <a:schemeClr val="accent5"/>
          </a:solidFill>
          <a:ln w="9525" algn="ctr">
            <a:solidFill>
              <a:schemeClr val="tx1"/>
            </a:solidFill>
            <a:round/>
            <a:headEnd/>
            <a:tailEnd/>
          </a:ln>
        </p:spPr>
        <p:txBody>
          <a:bodyPr lIns="0" tIns="0" rIns="0" bIns="0" anchor="ctr" anchorCtr="1"/>
          <a:lstStyle/>
          <a:p>
            <a:pPr algn="ctr" eaLnBrk="1" hangingPunct="1">
              <a:defRPr/>
            </a:pPr>
            <a:r>
              <a:rPr lang="es-CO" sz="1400" b="1" dirty="0"/>
              <a:t>ACCIONES PREVENTIVAS</a:t>
            </a:r>
          </a:p>
        </p:txBody>
      </p:sp>
      <p:sp>
        <p:nvSpPr>
          <p:cNvPr id="31" name="15 Rectángulo redondeado"/>
          <p:cNvSpPr>
            <a:spLocks noChangeArrowheads="1"/>
          </p:cNvSpPr>
          <p:nvPr/>
        </p:nvSpPr>
        <p:spPr bwMode="auto">
          <a:xfrm>
            <a:off x="3511128" y="3990504"/>
            <a:ext cx="1428750" cy="503238"/>
          </a:xfrm>
          <a:prstGeom prst="roundRect">
            <a:avLst>
              <a:gd name="adj" fmla="val 16667"/>
            </a:avLst>
          </a:prstGeom>
          <a:solidFill>
            <a:schemeClr val="accent5"/>
          </a:solidFill>
          <a:ln w="9525" algn="ctr">
            <a:solidFill>
              <a:schemeClr val="tx1"/>
            </a:solidFill>
            <a:round/>
            <a:headEnd/>
            <a:tailEnd/>
          </a:ln>
        </p:spPr>
        <p:txBody>
          <a:bodyPr lIns="0" tIns="0" rIns="0" bIns="0" anchor="ctr" anchorCtr="1"/>
          <a:lstStyle/>
          <a:p>
            <a:pPr algn="ctr" eaLnBrk="1" hangingPunct="1">
              <a:defRPr/>
            </a:pPr>
            <a:r>
              <a:rPr lang="es-CO" sz="1400" b="1" dirty="0"/>
              <a:t>ACCIONES PREDICTIVAS</a:t>
            </a:r>
          </a:p>
        </p:txBody>
      </p:sp>
      <p:cxnSp>
        <p:nvCxnSpPr>
          <p:cNvPr id="33810" name="56 Conector recto"/>
          <p:cNvCxnSpPr>
            <a:cxnSpLocks noChangeShapeType="1"/>
            <a:stCxn id="10247" idx="2"/>
            <a:endCxn id="28" idx="0"/>
          </p:cNvCxnSpPr>
          <p:nvPr/>
        </p:nvCxnSpPr>
        <p:spPr bwMode="auto">
          <a:xfrm rot="5400000">
            <a:off x="3194423" y="2743524"/>
            <a:ext cx="473075" cy="14287"/>
          </a:xfrm>
          <a:prstGeom prst="line">
            <a:avLst/>
          </a:prstGeom>
          <a:noFill/>
          <a:ln w="25400" algn="ctr">
            <a:solidFill>
              <a:schemeClr val="tx1"/>
            </a:solidFill>
            <a:round/>
            <a:headEnd/>
            <a:tailEnd type="triangle" w="med" len="med"/>
          </a:ln>
        </p:spPr>
      </p:cxnSp>
      <p:sp>
        <p:nvSpPr>
          <p:cNvPr id="38" name="15 Rectángulo redondeado"/>
          <p:cNvSpPr>
            <a:spLocks noChangeArrowheads="1"/>
          </p:cNvSpPr>
          <p:nvPr/>
        </p:nvSpPr>
        <p:spPr bwMode="auto">
          <a:xfrm>
            <a:off x="7797379" y="4765204"/>
            <a:ext cx="1071563" cy="357188"/>
          </a:xfrm>
          <a:prstGeom prst="roundRect">
            <a:avLst>
              <a:gd name="adj" fmla="val 16667"/>
            </a:avLst>
          </a:prstGeom>
          <a:solidFill>
            <a:srgbClr val="F7B47D"/>
          </a:solidFill>
          <a:ln w="9525" algn="ctr">
            <a:solidFill>
              <a:schemeClr val="tx1"/>
            </a:solidFill>
            <a:round/>
            <a:headEnd/>
            <a:tailEnd/>
          </a:ln>
        </p:spPr>
        <p:txBody>
          <a:bodyPr lIns="0" tIns="0" rIns="0" bIns="0" anchor="ctr" anchorCtr="1"/>
          <a:lstStyle/>
          <a:p>
            <a:pPr algn="ctr" eaLnBrk="1" hangingPunct="1"/>
            <a:r>
              <a:rPr lang="es-CO" sz="1400" b="1"/>
              <a:t>REDISEÑO</a:t>
            </a:r>
          </a:p>
        </p:txBody>
      </p:sp>
      <p:sp>
        <p:nvSpPr>
          <p:cNvPr id="33812" name="15 Rectángulo redondeado"/>
          <p:cNvSpPr>
            <a:spLocks noChangeArrowheads="1"/>
          </p:cNvSpPr>
          <p:nvPr/>
        </p:nvSpPr>
        <p:spPr bwMode="auto">
          <a:xfrm>
            <a:off x="7300491" y="2002954"/>
            <a:ext cx="1854200" cy="503238"/>
          </a:xfrm>
          <a:prstGeom prst="roundRect">
            <a:avLst>
              <a:gd name="adj" fmla="val 16667"/>
            </a:avLst>
          </a:prstGeom>
          <a:solidFill>
            <a:srgbClr val="F7B47D"/>
          </a:solidFill>
          <a:ln w="9525" algn="ctr">
            <a:solidFill>
              <a:schemeClr val="tx1"/>
            </a:solidFill>
            <a:round/>
            <a:headEnd/>
            <a:tailEnd/>
          </a:ln>
        </p:spPr>
        <p:txBody>
          <a:bodyPr lIns="0" tIns="0" rIns="0" bIns="0" anchor="ctr" anchorCtr="1"/>
          <a:lstStyle/>
          <a:p>
            <a:pPr algn="ctr" eaLnBrk="1" hangingPunct="1"/>
            <a:r>
              <a:rPr lang="es-CO" sz="1400" b="1"/>
              <a:t>DESPUÉS DE LA FALLA</a:t>
            </a:r>
          </a:p>
        </p:txBody>
      </p:sp>
      <p:sp>
        <p:nvSpPr>
          <p:cNvPr id="33813" name="15 Rectángulo redondeado"/>
          <p:cNvSpPr>
            <a:spLocks noChangeArrowheads="1"/>
          </p:cNvSpPr>
          <p:nvPr/>
        </p:nvSpPr>
        <p:spPr bwMode="auto">
          <a:xfrm>
            <a:off x="7308428" y="2987204"/>
            <a:ext cx="1854200" cy="503238"/>
          </a:xfrm>
          <a:prstGeom prst="roundRect">
            <a:avLst>
              <a:gd name="adj" fmla="val 16667"/>
            </a:avLst>
          </a:prstGeom>
          <a:solidFill>
            <a:srgbClr val="F7B47D"/>
          </a:solidFill>
          <a:ln w="9525" algn="ctr">
            <a:solidFill>
              <a:schemeClr val="tx1"/>
            </a:solidFill>
            <a:round/>
            <a:headEnd/>
            <a:tailEnd/>
          </a:ln>
        </p:spPr>
        <p:txBody>
          <a:bodyPr lIns="0" tIns="0" rIns="0" bIns="0" anchor="ctr" anchorCtr="1"/>
          <a:lstStyle/>
          <a:p>
            <a:pPr algn="ctr" eaLnBrk="1" hangingPunct="1"/>
            <a:r>
              <a:rPr lang="es-CO" sz="1400" b="1"/>
              <a:t>REPARACIONES</a:t>
            </a:r>
          </a:p>
        </p:txBody>
      </p:sp>
      <p:sp>
        <p:nvSpPr>
          <p:cNvPr id="32" name="15 Rectángulo redondeado"/>
          <p:cNvSpPr>
            <a:spLocks noChangeArrowheads="1"/>
          </p:cNvSpPr>
          <p:nvPr/>
        </p:nvSpPr>
        <p:spPr bwMode="auto">
          <a:xfrm>
            <a:off x="5725691" y="3984154"/>
            <a:ext cx="1547812" cy="503238"/>
          </a:xfrm>
          <a:prstGeom prst="roundRect">
            <a:avLst>
              <a:gd name="adj" fmla="val 16667"/>
            </a:avLst>
          </a:prstGeom>
          <a:solidFill>
            <a:srgbClr val="F7B47D"/>
          </a:solidFill>
          <a:ln w="9525" algn="ctr">
            <a:solidFill>
              <a:schemeClr val="tx1"/>
            </a:solidFill>
            <a:round/>
            <a:headEnd/>
            <a:tailEnd/>
          </a:ln>
        </p:spPr>
        <p:txBody>
          <a:bodyPr lIns="0" tIns="0" rIns="0" bIns="0" anchor="ctr" anchorCtr="1"/>
          <a:lstStyle/>
          <a:p>
            <a:pPr algn="ctr" eaLnBrk="1" hangingPunct="1"/>
            <a:r>
              <a:rPr lang="es-CO" sz="1400" b="1"/>
              <a:t>ACCIONES CORRECTIVAS</a:t>
            </a:r>
          </a:p>
        </p:txBody>
      </p:sp>
      <p:sp>
        <p:nvSpPr>
          <p:cNvPr id="35" name="15 Rectángulo redondeado"/>
          <p:cNvSpPr>
            <a:spLocks noChangeArrowheads="1"/>
          </p:cNvSpPr>
          <p:nvPr/>
        </p:nvSpPr>
        <p:spPr bwMode="auto">
          <a:xfrm>
            <a:off x="6486104" y="5298605"/>
            <a:ext cx="1357313" cy="823913"/>
          </a:xfrm>
          <a:prstGeom prst="roundRect">
            <a:avLst>
              <a:gd name="adj" fmla="val 16667"/>
            </a:avLst>
          </a:prstGeom>
          <a:solidFill>
            <a:srgbClr val="F7B47D"/>
          </a:solidFill>
          <a:ln w="9525" algn="ctr">
            <a:solidFill>
              <a:schemeClr val="tx1"/>
            </a:solidFill>
            <a:round/>
            <a:headEnd/>
            <a:tailEnd/>
          </a:ln>
        </p:spPr>
        <p:txBody>
          <a:bodyPr lIns="0" tIns="0" rIns="0" bIns="0" anchor="ctr" anchorCtr="1"/>
          <a:lstStyle/>
          <a:p>
            <a:pPr algn="ctr" eaLnBrk="1" hangingPunct="1"/>
            <a:r>
              <a:rPr lang="es-CO" sz="1400" b="1"/>
              <a:t>REPARACIÓN CORRECTA Y DEFINITIVA</a:t>
            </a:r>
          </a:p>
        </p:txBody>
      </p:sp>
      <p:sp>
        <p:nvSpPr>
          <p:cNvPr id="33" name="15 Rectángulo redondeado"/>
          <p:cNvSpPr>
            <a:spLocks noChangeArrowheads="1"/>
          </p:cNvSpPr>
          <p:nvPr/>
        </p:nvSpPr>
        <p:spPr bwMode="auto">
          <a:xfrm>
            <a:off x="8154566" y="3979393"/>
            <a:ext cx="1547812" cy="503237"/>
          </a:xfrm>
          <a:prstGeom prst="roundRect">
            <a:avLst>
              <a:gd name="adj" fmla="val 16667"/>
            </a:avLst>
          </a:prstGeom>
          <a:solidFill>
            <a:srgbClr val="F7B47D"/>
          </a:solidFill>
          <a:ln w="9525" algn="ctr">
            <a:solidFill>
              <a:schemeClr val="tx1"/>
            </a:solidFill>
            <a:round/>
            <a:headEnd/>
            <a:tailEnd/>
          </a:ln>
        </p:spPr>
        <p:txBody>
          <a:bodyPr lIns="0" tIns="0" rIns="0" bIns="0" anchor="ctr" anchorCtr="1"/>
          <a:lstStyle/>
          <a:p>
            <a:pPr algn="ctr" eaLnBrk="1" hangingPunct="1"/>
            <a:r>
              <a:rPr lang="es-CO" sz="1400" b="1"/>
              <a:t>ACCIONES MODIFICATIVAS</a:t>
            </a:r>
          </a:p>
        </p:txBody>
      </p:sp>
      <p:sp>
        <p:nvSpPr>
          <p:cNvPr id="36" name="15 Rectángulo redondeado"/>
          <p:cNvSpPr>
            <a:spLocks noChangeArrowheads="1"/>
          </p:cNvSpPr>
          <p:nvPr/>
        </p:nvSpPr>
        <p:spPr bwMode="auto">
          <a:xfrm>
            <a:off x="5011316" y="5298605"/>
            <a:ext cx="1365250" cy="823913"/>
          </a:xfrm>
          <a:prstGeom prst="roundRect">
            <a:avLst>
              <a:gd name="adj" fmla="val 16667"/>
            </a:avLst>
          </a:prstGeom>
          <a:solidFill>
            <a:srgbClr val="F7B47D"/>
          </a:solidFill>
          <a:ln w="9525" algn="ctr">
            <a:solidFill>
              <a:schemeClr val="tx1"/>
            </a:solidFill>
            <a:round/>
            <a:headEnd/>
            <a:tailEnd/>
          </a:ln>
        </p:spPr>
        <p:txBody>
          <a:bodyPr lIns="0" tIns="0" rIns="0" bIns="0" anchor="ctr" anchorCtr="1"/>
          <a:lstStyle/>
          <a:p>
            <a:pPr algn="ctr" eaLnBrk="1" hangingPunct="1"/>
            <a:r>
              <a:rPr lang="es-CO" sz="1400" b="1"/>
              <a:t>REPARACIÓN PROVISIONAL (DESVARE)</a:t>
            </a:r>
          </a:p>
        </p:txBody>
      </p:sp>
      <p:sp>
        <p:nvSpPr>
          <p:cNvPr id="37" name="15 Rectángulo redondeado"/>
          <p:cNvSpPr>
            <a:spLocks noChangeArrowheads="1"/>
          </p:cNvSpPr>
          <p:nvPr/>
        </p:nvSpPr>
        <p:spPr bwMode="auto">
          <a:xfrm>
            <a:off x="8940379" y="4765204"/>
            <a:ext cx="1071563" cy="357188"/>
          </a:xfrm>
          <a:prstGeom prst="roundRect">
            <a:avLst>
              <a:gd name="adj" fmla="val 16667"/>
            </a:avLst>
          </a:prstGeom>
          <a:solidFill>
            <a:srgbClr val="F7B47D"/>
          </a:solidFill>
          <a:ln w="9525" algn="ctr">
            <a:solidFill>
              <a:schemeClr val="tx1"/>
            </a:solidFill>
            <a:round/>
            <a:headEnd/>
            <a:tailEnd/>
          </a:ln>
        </p:spPr>
        <p:txBody>
          <a:bodyPr lIns="0" tIns="0" rIns="0" bIns="0" anchor="ctr" anchorCtr="1"/>
          <a:lstStyle/>
          <a:p>
            <a:pPr algn="ctr" eaLnBrk="1" hangingPunct="1"/>
            <a:r>
              <a:rPr lang="es-CO" sz="1400" b="1"/>
              <a:t>MEJORA</a:t>
            </a:r>
          </a:p>
        </p:txBody>
      </p:sp>
    </p:spTree>
    <p:extLst>
      <p:ext uri="{BB962C8B-B14F-4D97-AF65-F5344CB8AC3E}">
        <p14:creationId xmlns:p14="http://schemas.microsoft.com/office/powerpoint/2010/main" val="22862653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8"/>
                                        </p:tgtEl>
                                        <p:attrNameLst>
                                          <p:attrName>style.visibility</p:attrName>
                                        </p:attrNameLst>
                                      </p:cBhvr>
                                      <p:to>
                                        <p:strVal val="visible"/>
                                      </p:to>
                                    </p:set>
                                    <p:anim calcmode="lin" valueType="num">
                                      <p:cBhvr additive="base">
                                        <p:cTn id="7" dur="500" fill="hold"/>
                                        <p:tgtEl>
                                          <p:spTgt spid="58"/>
                                        </p:tgtEl>
                                        <p:attrNameLst>
                                          <p:attrName>ppt_x</p:attrName>
                                        </p:attrNameLst>
                                      </p:cBhvr>
                                      <p:tavLst>
                                        <p:tav tm="0">
                                          <p:val>
                                            <p:strVal val="#ppt_x"/>
                                          </p:val>
                                        </p:tav>
                                        <p:tav tm="100000">
                                          <p:val>
                                            <p:strVal val="#ppt_x"/>
                                          </p:val>
                                        </p:tav>
                                      </p:tavLst>
                                    </p:anim>
                                    <p:anim calcmode="lin" valueType="num">
                                      <p:cBhvr additive="base">
                                        <p:cTn id="8" dur="500" fill="hold"/>
                                        <p:tgtEl>
                                          <p:spTgt spid="5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0"/>
                                        </p:tgtEl>
                                        <p:attrNameLst>
                                          <p:attrName>style.visibility</p:attrName>
                                        </p:attrNameLst>
                                      </p:cBhvr>
                                      <p:to>
                                        <p:strVal val="visible"/>
                                      </p:to>
                                    </p:set>
                                    <p:anim calcmode="lin" valueType="num">
                                      <p:cBhvr additive="base">
                                        <p:cTn id="11" dur="500" fill="hold"/>
                                        <p:tgtEl>
                                          <p:spTgt spid="30"/>
                                        </p:tgtEl>
                                        <p:attrNameLst>
                                          <p:attrName>ppt_x</p:attrName>
                                        </p:attrNameLst>
                                      </p:cBhvr>
                                      <p:tavLst>
                                        <p:tav tm="0">
                                          <p:val>
                                            <p:strVal val="#ppt_x"/>
                                          </p:val>
                                        </p:tav>
                                        <p:tav tm="100000">
                                          <p:val>
                                            <p:strVal val="#ppt_x"/>
                                          </p:val>
                                        </p:tav>
                                      </p:tavLst>
                                    </p:anim>
                                    <p:anim calcmode="lin" valueType="num">
                                      <p:cBhvr additive="base">
                                        <p:cTn id="12" dur="500" fill="hold"/>
                                        <p:tgtEl>
                                          <p:spTgt spid="30"/>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1"/>
                                        </p:tgtEl>
                                        <p:attrNameLst>
                                          <p:attrName>style.visibility</p:attrName>
                                        </p:attrNameLst>
                                      </p:cBhvr>
                                      <p:to>
                                        <p:strVal val="visible"/>
                                      </p:to>
                                    </p:set>
                                    <p:anim calcmode="lin" valueType="num">
                                      <p:cBhvr additive="base">
                                        <p:cTn id="15" dur="500" fill="hold"/>
                                        <p:tgtEl>
                                          <p:spTgt spid="61"/>
                                        </p:tgtEl>
                                        <p:attrNameLst>
                                          <p:attrName>ppt_x</p:attrName>
                                        </p:attrNameLst>
                                      </p:cBhvr>
                                      <p:tavLst>
                                        <p:tav tm="0">
                                          <p:val>
                                            <p:strVal val="#ppt_x"/>
                                          </p:val>
                                        </p:tav>
                                        <p:tav tm="100000">
                                          <p:val>
                                            <p:strVal val="#ppt_x"/>
                                          </p:val>
                                        </p:tav>
                                      </p:tavLst>
                                    </p:anim>
                                    <p:anim calcmode="lin" valueType="num">
                                      <p:cBhvr additive="base">
                                        <p:cTn id="16" dur="500" fill="hold"/>
                                        <p:tgtEl>
                                          <p:spTgt spid="6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anim calcmode="lin" valueType="num">
                                      <p:cBhvr additive="base">
                                        <p:cTn id="19" dur="500" fill="hold"/>
                                        <p:tgtEl>
                                          <p:spTgt spid="31"/>
                                        </p:tgtEl>
                                        <p:attrNameLst>
                                          <p:attrName>ppt_x</p:attrName>
                                        </p:attrNameLst>
                                      </p:cBhvr>
                                      <p:tavLst>
                                        <p:tav tm="0">
                                          <p:val>
                                            <p:strVal val="#ppt_x"/>
                                          </p:val>
                                        </p:tav>
                                        <p:tav tm="100000">
                                          <p:val>
                                            <p:strVal val="#ppt_x"/>
                                          </p:val>
                                        </p:tav>
                                      </p:tavLst>
                                    </p:anim>
                                    <p:anim calcmode="lin" valueType="num">
                                      <p:cBhvr additive="base">
                                        <p:cTn id="20"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7"/>
                                        </p:tgtEl>
                                        <p:attrNameLst>
                                          <p:attrName>style.visibility</p:attrName>
                                        </p:attrNameLst>
                                      </p:cBhvr>
                                      <p:to>
                                        <p:strVal val="visible"/>
                                      </p:to>
                                    </p:set>
                                    <p:anim calcmode="lin" valueType="num">
                                      <p:cBhvr additive="base">
                                        <p:cTn id="25" dur="500" fill="hold"/>
                                        <p:tgtEl>
                                          <p:spTgt spid="67"/>
                                        </p:tgtEl>
                                        <p:attrNameLst>
                                          <p:attrName>ppt_x</p:attrName>
                                        </p:attrNameLst>
                                      </p:cBhvr>
                                      <p:tavLst>
                                        <p:tav tm="0">
                                          <p:val>
                                            <p:strVal val="#ppt_x"/>
                                          </p:val>
                                        </p:tav>
                                        <p:tav tm="100000">
                                          <p:val>
                                            <p:strVal val="#ppt_x"/>
                                          </p:val>
                                        </p:tav>
                                      </p:tavLst>
                                    </p:anim>
                                    <p:anim calcmode="lin" valueType="num">
                                      <p:cBhvr additive="base">
                                        <p:cTn id="26" dur="500" fill="hold"/>
                                        <p:tgtEl>
                                          <p:spTgt spid="67"/>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66"/>
                                        </p:tgtEl>
                                        <p:attrNameLst>
                                          <p:attrName>style.visibility</p:attrName>
                                        </p:attrNameLst>
                                      </p:cBhvr>
                                      <p:to>
                                        <p:strVal val="visible"/>
                                      </p:to>
                                    </p:set>
                                    <p:anim calcmode="lin" valueType="num">
                                      <p:cBhvr additive="base">
                                        <p:cTn id="29" dur="500" fill="hold"/>
                                        <p:tgtEl>
                                          <p:spTgt spid="66"/>
                                        </p:tgtEl>
                                        <p:attrNameLst>
                                          <p:attrName>ppt_x</p:attrName>
                                        </p:attrNameLst>
                                      </p:cBhvr>
                                      <p:tavLst>
                                        <p:tav tm="0">
                                          <p:val>
                                            <p:strVal val="#ppt_x"/>
                                          </p:val>
                                        </p:tav>
                                        <p:tav tm="100000">
                                          <p:val>
                                            <p:strVal val="#ppt_x"/>
                                          </p:val>
                                        </p:tav>
                                      </p:tavLst>
                                    </p:anim>
                                    <p:anim calcmode="lin" valueType="num">
                                      <p:cBhvr additive="base">
                                        <p:cTn id="30" dur="500" fill="hold"/>
                                        <p:tgtEl>
                                          <p:spTgt spid="66"/>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2"/>
                                        </p:tgtEl>
                                        <p:attrNameLst>
                                          <p:attrName>style.visibility</p:attrName>
                                        </p:attrNameLst>
                                      </p:cBhvr>
                                      <p:to>
                                        <p:strVal val="visible"/>
                                      </p:to>
                                    </p:set>
                                    <p:anim calcmode="lin" valueType="num">
                                      <p:cBhvr additive="base">
                                        <p:cTn id="33" dur="500" fill="hold"/>
                                        <p:tgtEl>
                                          <p:spTgt spid="32"/>
                                        </p:tgtEl>
                                        <p:attrNameLst>
                                          <p:attrName>ppt_x</p:attrName>
                                        </p:attrNameLst>
                                      </p:cBhvr>
                                      <p:tavLst>
                                        <p:tav tm="0">
                                          <p:val>
                                            <p:strVal val="#ppt_x"/>
                                          </p:val>
                                        </p:tav>
                                        <p:tav tm="100000">
                                          <p:val>
                                            <p:strVal val="#ppt_x"/>
                                          </p:val>
                                        </p:tav>
                                      </p:tavLst>
                                    </p:anim>
                                    <p:anim calcmode="lin" valueType="num">
                                      <p:cBhvr additive="base">
                                        <p:cTn id="34" dur="500" fill="hold"/>
                                        <p:tgtEl>
                                          <p:spTgt spid="32"/>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3"/>
                                        </p:tgtEl>
                                        <p:attrNameLst>
                                          <p:attrName>style.visibility</p:attrName>
                                        </p:attrNameLst>
                                      </p:cBhvr>
                                      <p:to>
                                        <p:strVal val="visible"/>
                                      </p:to>
                                    </p:set>
                                    <p:anim calcmode="lin" valueType="num">
                                      <p:cBhvr additive="base">
                                        <p:cTn id="37" dur="500" fill="hold"/>
                                        <p:tgtEl>
                                          <p:spTgt spid="33"/>
                                        </p:tgtEl>
                                        <p:attrNameLst>
                                          <p:attrName>ppt_x</p:attrName>
                                        </p:attrNameLst>
                                      </p:cBhvr>
                                      <p:tavLst>
                                        <p:tav tm="0">
                                          <p:val>
                                            <p:strVal val="#ppt_x"/>
                                          </p:val>
                                        </p:tav>
                                        <p:tav tm="100000">
                                          <p:val>
                                            <p:strVal val="#ppt_x"/>
                                          </p:val>
                                        </p:tav>
                                      </p:tavLst>
                                    </p:anim>
                                    <p:anim calcmode="lin" valueType="num">
                                      <p:cBhvr additive="base">
                                        <p:cTn id="38" dur="500" fill="hold"/>
                                        <p:tgtEl>
                                          <p:spTgt spid="33"/>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71"/>
                                        </p:tgtEl>
                                        <p:attrNameLst>
                                          <p:attrName>style.visibility</p:attrName>
                                        </p:attrNameLst>
                                      </p:cBhvr>
                                      <p:to>
                                        <p:strVal val="visible"/>
                                      </p:to>
                                    </p:set>
                                    <p:anim calcmode="lin" valueType="num">
                                      <p:cBhvr additive="base">
                                        <p:cTn id="41" dur="500" fill="hold"/>
                                        <p:tgtEl>
                                          <p:spTgt spid="71"/>
                                        </p:tgtEl>
                                        <p:attrNameLst>
                                          <p:attrName>ppt_x</p:attrName>
                                        </p:attrNameLst>
                                      </p:cBhvr>
                                      <p:tavLst>
                                        <p:tav tm="0">
                                          <p:val>
                                            <p:strVal val="#ppt_x"/>
                                          </p:val>
                                        </p:tav>
                                        <p:tav tm="100000">
                                          <p:val>
                                            <p:strVal val="#ppt_x"/>
                                          </p:val>
                                        </p:tav>
                                      </p:tavLst>
                                    </p:anim>
                                    <p:anim calcmode="lin" valueType="num">
                                      <p:cBhvr additive="base">
                                        <p:cTn id="42" dur="500" fill="hold"/>
                                        <p:tgtEl>
                                          <p:spTgt spid="71"/>
                                        </p:tgtEl>
                                        <p:attrNameLst>
                                          <p:attrName>ppt_y</p:attrName>
                                        </p:attrNameLst>
                                      </p:cBhvr>
                                      <p:tavLst>
                                        <p:tav tm="0">
                                          <p:val>
                                            <p:strVal val="1+#ppt_h/2"/>
                                          </p:val>
                                        </p:tav>
                                        <p:tav tm="100000">
                                          <p:val>
                                            <p:strVal val="#ppt_y"/>
                                          </p:val>
                                        </p:tav>
                                      </p:tavLst>
                                    </p:anim>
                                  </p:childTnLst>
                                </p:cTn>
                              </p:par>
                              <p:par>
                                <p:cTn id="43" presetID="2" presetClass="entr" presetSubtype="4" fill="hold" nodeType="withEffect">
                                  <p:stCondLst>
                                    <p:cond delay="0"/>
                                  </p:stCondLst>
                                  <p:childTnLst>
                                    <p:set>
                                      <p:cBhvr>
                                        <p:cTn id="44" dur="1" fill="hold">
                                          <p:stCondLst>
                                            <p:cond delay="0"/>
                                          </p:stCondLst>
                                        </p:cTn>
                                        <p:tgtEl>
                                          <p:spTgt spid="70"/>
                                        </p:tgtEl>
                                        <p:attrNameLst>
                                          <p:attrName>style.visibility</p:attrName>
                                        </p:attrNameLst>
                                      </p:cBhvr>
                                      <p:to>
                                        <p:strVal val="visible"/>
                                      </p:to>
                                    </p:set>
                                    <p:anim calcmode="lin" valueType="num">
                                      <p:cBhvr additive="base">
                                        <p:cTn id="45" dur="500" fill="hold"/>
                                        <p:tgtEl>
                                          <p:spTgt spid="70"/>
                                        </p:tgtEl>
                                        <p:attrNameLst>
                                          <p:attrName>ppt_x</p:attrName>
                                        </p:attrNameLst>
                                      </p:cBhvr>
                                      <p:tavLst>
                                        <p:tav tm="0">
                                          <p:val>
                                            <p:strVal val="#ppt_x"/>
                                          </p:val>
                                        </p:tav>
                                        <p:tav tm="100000">
                                          <p:val>
                                            <p:strVal val="#ppt_x"/>
                                          </p:val>
                                        </p:tav>
                                      </p:tavLst>
                                    </p:anim>
                                    <p:anim calcmode="lin" valueType="num">
                                      <p:cBhvr additive="base">
                                        <p:cTn id="46" dur="500" fill="hold"/>
                                        <p:tgtEl>
                                          <p:spTgt spid="70"/>
                                        </p:tgtEl>
                                        <p:attrNameLst>
                                          <p:attrName>ppt_y</p:attrName>
                                        </p:attrNameLst>
                                      </p:cBhvr>
                                      <p:tavLst>
                                        <p:tav tm="0">
                                          <p:val>
                                            <p:strVal val="1+#ppt_h/2"/>
                                          </p:val>
                                        </p:tav>
                                        <p:tav tm="100000">
                                          <p:val>
                                            <p:strVal val="#ppt_y"/>
                                          </p:val>
                                        </p:tav>
                                      </p:tavLst>
                                    </p:anim>
                                  </p:childTnLst>
                                </p:cTn>
                              </p:par>
                              <p:par>
                                <p:cTn id="47" presetID="2" presetClass="entr" presetSubtype="4" fill="hold" grpId="0" nodeType="withEffect">
                                  <p:stCondLst>
                                    <p:cond delay="0"/>
                                  </p:stCondLst>
                                  <p:childTnLst>
                                    <p:set>
                                      <p:cBhvr>
                                        <p:cTn id="48" dur="1" fill="hold">
                                          <p:stCondLst>
                                            <p:cond delay="0"/>
                                          </p:stCondLst>
                                        </p:cTn>
                                        <p:tgtEl>
                                          <p:spTgt spid="37"/>
                                        </p:tgtEl>
                                        <p:attrNameLst>
                                          <p:attrName>style.visibility</p:attrName>
                                        </p:attrNameLst>
                                      </p:cBhvr>
                                      <p:to>
                                        <p:strVal val="visible"/>
                                      </p:to>
                                    </p:set>
                                    <p:anim calcmode="lin" valueType="num">
                                      <p:cBhvr additive="base">
                                        <p:cTn id="49" dur="500" fill="hold"/>
                                        <p:tgtEl>
                                          <p:spTgt spid="37"/>
                                        </p:tgtEl>
                                        <p:attrNameLst>
                                          <p:attrName>ppt_x</p:attrName>
                                        </p:attrNameLst>
                                      </p:cBhvr>
                                      <p:tavLst>
                                        <p:tav tm="0">
                                          <p:val>
                                            <p:strVal val="#ppt_x"/>
                                          </p:val>
                                        </p:tav>
                                        <p:tav tm="100000">
                                          <p:val>
                                            <p:strVal val="#ppt_x"/>
                                          </p:val>
                                        </p:tav>
                                      </p:tavLst>
                                    </p:anim>
                                    <p:anim calcmode="lin" valueType="num">
                                      <p:cBhvr additive="base">
                                        <p:cTn id="50" dur="500" fill="hold"/>
                                        <p:tgtEl>
                                          <p:spTgt spid="37"/>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anim calcmode="lin" valueType="num">
                                      <p:cBhvr additive="base">
                                        <p:cTn id="53" dur="500" fill="hold"/>
                                        <p:tgtEl>
                                          <p:spTgt spid="38"/>
                                        </p:tgtEl>
                                        <p:attrNameLst>
                                          <p:attrName>ppt_x</p:attrName>
                                        </p:attrNameLst>
                                      </p:cBhvr>
                                      <p:tavLst>
                                        <p:tav tm="0">
                                          <p:val>
                                            <p:strVal val="#ppt_x"/>
                                          </p:val>
                                        </p:tav>
                                        <p:tav tm="100000">
                                          <p:val>
                                            <p:strVal val="#ppt_x"/>
                                          </p:val>
                                        </p:tav>
                                      </p:tavLst>
                                    </p:anim>
                                    <p:anim calcmode="lin" valueType="num">
                                      <p:cBhvr additive="base">
                                        <p:cTn id="54" dur="500" fill="hold"/>
                                        <p:tgtEl>
                                          <p:spTgt spid="38"/>
                                        </p:tgtEl>
                                        <p:attrNameLst>
                                          <p:attrName>ppt_y</p:attrName>
                                        </p:attrNameLst>
                                      </p:cBhvr>
                                      <p:tavLst>
                                        <p:tav tm="0">
                                          <p:val>
                                            <p:strVal val="1+#ppt_h/2"/>
                                          </p:val>
                                        </p:tav>
                                        <p:tav tm="100000">
                                          <p:val>
                                            <p:strVal val="#ppt_y"/>
                                          </p:val>
                                        </p:tav>
                                      </p:tavLst>
                                    </p:anim>
                                  </p:childTnLst>
                                </p:cTn>
                              </p:par>
                              <p:par>
                                <p:cTn id="55" presetID="2" presetClass="entr" presetSubtype="4" fill="hold" nodeType="withEffect">
                                  <p:stCondLst>
                                    <p:cond delay="0"/>
                                  </p:stCondLst>
                                  <p:childTnLst>
                                    <p:set>
                                      <p:cBhvr>
                                        <p:cTn id="56" dur="1" fill="hold">
                                          <p:stCondLst>
                                            <p:cond delay="0"/>
                                          </p:stCondLst>
                                        </p:cTn>
                                        <p:tgtEl>
                                          <p:spTgt spid="92"/>
                                        </p:tgtEl>
                                        <p:attrNameLst>
                                          <p:attrName>style.visibility</p:attrName>
                                        </p:attrNameLst>
                                      </p:cBhvr>
                                      <p:to>
                                        <p:strVal val="visible"/>
                                      </p:to>
                                    </p:set>
                                    <p:anim calcmode="lin" valueType="num">
                                      <p:cBhvr additive="base">
                                        <p:cTn id="57" dur="500" fill="hold"/>
                                        <p:tgtEl>
                                          <p:spTgt spid="92"/>
                                        </p:tgtEl>
                                        <p:attrNameLst>
                                          <p:attrName>ppt_x</p:attrName>
                                        </p:attrNameLst>
                                      </p:cBhvr>
                                      <p:tavLst>
                                        <p:tav tm="0">
                                          <p:val>
                                            <p:strVal val="#ppt_x"/>
                                          </p:val>
                                        </p:tav>
                                        <p:tav tm="100000">
                                          <p:val>
                                            <p:strVal val="#ppt_x"/>
                                          </p:val>
                                        </p:tav>
                                      </p:tavLst>
                                    </p:anim>
                                    <p:anim calcmode="lin" valueType="num">
                                      <p:cBhvr additive="base">
                                        <p:cTn id="58" dur="500" fill="hold"/>
                                        <p:tgtEl>
                                          <p:spTgt spid="92"/>
                                        </p:tgtEl>
                                        <p:attrNameLst>
                                          <p:attrName>ppt_y</p:attrName>
                                        </p:attrNameLst>
                                      </p:cBhvr>
                                      <p:tavLst>
                                        <p:tav tm="0">
                                          <p:val>
                                            <p:strVal val="1+#ppt_h/2"/>
                                          </p:val>
                                        </p:tav>
                                        <p:tav tm="100000">
                                          <p:val>
                                            <p:strVal val="#ppt_y"/>
                                          </p:val>
                                        </p:tav>
                                      </p:tavLst>
                                    </p:anim>
                                  </p:childTnLst>
                                </p:cTn>
                              </p:par>
                              <p:par>
                                <p:cTn id="59" presetID="2" presetClass="entr" presetSubtype="4" fill="hold" nodeType="withEffect">
                                  <p:stCondLst>
                                    <p:cond delay="0"/>
                                  </p:stCondLst>
                                  <p:childTnLst>
                                    <p:set>
                                      <p:cBhvr>
                                        <p:cTn id="60" dur="1" fill="hold">
                                          <p:stCondLst>
                                            <p:cond delay="0"/>
                                          </p:stCondLst>
                                        </p:cTn>
                                        <p:tgtEl>
                                          <p:spTgt spid="93"/>
                                        </p:tgtEl>
                                        <p:attrNameLst>
                                          <p:attrName>style.visibility</p:attrName>
                                        </p:attrNameLst>
                                      </p:cBhvr>
                                      <p:to>
                                        <p:strVal val="visible"/>
                                      </p:to>
                                    </p:set>
                                    <p:anim calcmode="lin" valueType="num">
                                      <p:cBhvr additive="base">
                                        <p:cTn id="61" dur="500" fill="hold"/>
                                        <p:tgtEl>
                                          <p:spTgt spid="93"/>
                                        </p:tgtEl>
                                        <p:attrNameLst>
                                          <p:attrName>ppt_x</p:attrName>
                                        </p:attrNameLst>
                                      </p:cBhvr>
                                      <p:tavLst>
                                        <p:tav tm="0">
                                          <p:val>
                                            <p:strVal val="#ppt_x"/>
                                          </p:val>
                                        </p:tav>
                                        <p:tav tm="100000">
                                          <p:val>
                                            <p:strVal val="#ppt_x"/>
                                          </p:val>
                                        </p:tav>
                                      </p:tavLst>
                                    </p:anim>
                                    <p:anim calcmode="lin" valueType="num">
                                      <p:cBhvr additive="base">
                                        <p:cTn id="62" dur="500" fill="hold"/>
                                        <p:tgtEl>
                                          <p:spTgt spid="93"/>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36"/>
                                        </p:tgtEl>
                                        <p:attrNameLst>
                                          <p:attrName>style.visibility</p:attrName>
                                        </p:attrNameLst>
                                      </p:cBhvr>
                                      <p:to>
                                        <p:strVal val="visible"/>
                                      </p:to>
                                    </p:set>
                                    <p:anim calcmode="lin" valueType="num">
                                      <p:cBhvr additive="base">
                                        <p:cTn id="65" dur="500" fill="hold"/>
                                        <p:tgtEl>
                                          <p:spTgt spid="36"/>
                                        </p:tgtEl>
                                        <p:attrNameLst>
                                          <p:attrName>ppt_x</p:attrName>
                                        </p:attrNameLst>
                                      </p:cBhvr>
                                      <p:tavLst>
                                        <p:tav tm="0">
                                          <p:val>
                                            <p:strVal val="#ppt_x"/>
                                          </p:val>
                                        </p:tav>
                                        <p:tav tm="100000">
                                          <p:val>
                                            <p:strVal val="#ppt_x"/>
                                          </p:val>
                                        </p:tav>
                                      </p:tavLst>
                                    </p:anim>
                                    <p:anim calcmode="lin" valueType="num">
                                      <p:cBhvr additive="base">
                                        <p:cTn id="66" dur="500" fill="hold"/>
                                        <p:tgtEl>
                                          <p:spTgt spid="36"/>
                                        </p:tgtEl>
                                        <p:attrNameLst>
                                          <p:attrName>ppt_y</p:attrName>
                                        </p:attrNameLst>
                                      </p:cBhvr>
                                      <p:tavLst>
                                        <p:tav tm="0">
                                          <p:val>
                                            <p:strVal val="1+#ppt_h/2"/>
                                          </p:val>
                                        </p:tav>
                                        <p:tav tm="100000">
                                          <p:val>
                                            <p:strVal val="#ppt_y"/>
                                          </p:val>
                                        </p:tav>
                                      </p:tavLst>
                                    </p:anim>
                                  </p:childTnLst>
                                </p:cTn>
                              </p:par>
                              <p:par>
                                <p:cTn id="67" presetID="2" presetClass="entr" presetSubtype="4" fill="hold" grpId="0" nodeType="withEffect">
                                  <p:stCondLst>
                                    <p:cond delay="0"/>
                                  </p:stCondLst>
                                  <p:childTnLst>
                                    <p:set>
                                      <p:cBhvr>
                                        <p:cTn id="68" dur="1" fill="hold">
                                          <p:stCondLst>
                                            <p:cond delay="0"/>
                                          </p:stCondLst>
                                        </p:cTn>
                                        <p:tgtEl>
                                          <p:spTgt spid="35"/>
                                        </p:tgtEl>
                                        <p:attrNameLst>
                                          <p:attrName>style.visibility</p:attrName>
                                        </p:attrNameLst>
                                      </p:cBhvr>
                                      <p:to>
                                        <p:strVal val="visible"/>
                                      </p:to>
                                    </p:set>
                                    <p:anim calcmode="lin" valueType="num">
                                      <p:cBhvr additive="base">
                                        <p:cTn id="69" dur="500" fill="hold"/>
                                        <p:tgtEl>
                                          <p:spTgt spid="35"/>
                                        </p:tgtEl>
                                        <p:attrNameLst>
                                          <p:attrName>ppt_x</p:attrName>
                                        </p:attrNameLst>
                                      </p:cBhvr>
                                      <p:tavLst>
                                        <p:tav tm="0">
                                          <p:val>
                                            <p:strVal val="#ppt_x"/>
                                          </p:val>
                                        </p:tav>
                                        <p:tav tm="100000">
                                          <p:val>
                                            <p:strVal val="#ppt_x"/>
                                          </p:val>
                                        </p:tav>
                                      </p:tavLst>
                                    </p:anim>
                                    <p:anim calcmode="lin" valueType="num">
                                      <p:cBhvr additive="base">
                                        <p:cTn id="70"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8" grpId="0" animBg="1"/>
      <p:bldP spid="32" grpId="0" animBg="1"/>
      <p:bldP spid="35" grpId="0" animBg="1"/>
      <p:bldP spid="33" grpId="0" animBg="1"/>
      <p:bldP spid="36" grpId="0" animBg="1"/>
      <p:bldP spid="3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1 Título"/>
          <p:cNvSpPr>
            <a:spLocks noGrp="1"/>
          </p:cNvSpPr>
          <p:nvPr>
            <p:ph type="title" idx="4294967295"/>
          </p:nvPr>
        </p:nvSpPr>
        <p:spPr bwMode="auto">
          <a:xfrm>
            <a:off x="4716489" y="824568"/>
            <a:ext cx="2759022" cy="647700"/>
          </a:xfrm>
          <a:noFill/>
          <a:ln>
            <a:miter lim="800000"/>
            <a:headEnd/>
            <a:tailEnd/>
          </a:ln>
        </p:spPr>
        <p:txBody>
          <a:bodyPr vert="horz" wrap="square" lIns="91440" tIns="45720" rIns="91440" bIns="45720" numCol="1" rtlCol="0" anchor="t" anchorCtr="0" compatLnSpc="1">
            <a:prstTxWarp prst="textNoShape">
              <a:avLst/>
            </a:prstTxWarp>
            <a:normAutofit/>
          </a:bodyPr>
          <a:lstStyle/>
          <a:p>
            <a:r>
              <a:rPr lang="es-CO" dirty="0"/>
              <a:t>Actividad</a:t>
            </a:r>
          </a:p>
        </p:txBody>
      </p:sp>
      <p:sp>
        <p:nvSpPr>
          <p:cNvPr id="35843" name="2 Marcador de contenido"/>
          <p:cNvSpPr>
            <a:spLocks noGrp="1"/>
          </p:cNvSpPr>
          <p:nvPr>
            <p:ph idx="4294967295"/>
          </p:nvPr>
        </p:nvSpPr>
        <p:spPr bwMode="auto">
          <a:xfrm>
            <a:off x="1719170" y="1786691"/>
            <a:ext cx="8753660" cy="3478271"/>
          </a:xfrm>
          <a:noFill/>
          <a:ln>
            <a:miter lim="800000"/>
            <a:headEnd/>
            <a:tailEnd/>
          </a:ln>
        </p:spPr>
        <p:txBody>
          <a:bodyPr vert="horz" wrap="square" lIns="91440" tIns="45720" rIns="91440" bIns="45720" numCol="1" rtlCol="0" anchor="t" anchorCtr="0" compatLnSpc="1">
            <a:prstTxWarp prst="textNoShape">
              <a:avLst/>
            </a:prstTxWarp>
            <a:normAutofit/>
          </a:bodyPr>
          <a:lstStyle/>
          <a:p>
            <a:pPr marL="0" indent="0">
              <a:buNone/>
            </a:pPr>
            <a:r>
              <a:rPr lang="es-CO" sz="2400" dirty="0">
                <a:solidFill>
                  <a:schemeClr val="tx1"/>
                </a:solidFill>
              </a:rPr>
              <a:t>Defina las siguientes fallas y de un ejemplo de cada una</a:t>
            </a:r>
          </a:p>
          <a:p>
            <a:pPr marL="514350" indent="-514350">
              <a:buFontTx/>
              <a:buAutoNum type="arabicPeriod"/>
            </a:pPr>
            <a:r>
              <a:rPr lang="es-CO" sz="2400" dirty="0">
                <a:solidFill>
                  <a:schemeClr val="tx1"/>
                </a:solidFill>
              </a:rPr>
              <a:t>Falla oculta</a:t>
            </a:r>
          </a:p>
          <a:p>
            <a:pPr marL="514350" indent="-514350">
              <a:buFontTx/>
              <a:buAutoNum type="arabicPeriod"/>
            </a:pPr>
            <a:r>
              <a:rPr lang="es-CO" sz="2400" dirty="0">
                <a:solidFill>
                  <a:schemeClr val="tx1"/>
                </a:solidFill>
              </a:rPr>
              <a:t>Falla esporádica</a:t>
            </a:r>
          </a:p>
          <a:p>
            <a:pPr marL="514350" indent="-514350">
              <a:buFontTx/>
              <a:buAutoNum type="arabicPeriod"/>
            </a:pPr>
            <a:r>
              <a:rPr lang="es-CO" sz="2400" dirty="0">
                <a:solidFill>
                  <a:schemeClr val="tx1"/>
                </a:solidFill>
              </a:rPr>
              <a:t>Falla crónica</a:t>
            </a:r>
          </a:p>
          <a:p>
            <a:pPr marL="514350" indent="-514350">
              <a:buFontTx/>
              <a:buAutoNum type="arabicPeriod"/>
            </a:pPr>
            <a:r>
              <a:rPr lang="es-CO" sz="2400" dirty="0">
                <a:solidFill>
                  <a:schemeClr val="tx1"/>
                </a:solidFill>
              </a:rPr>
              <a:t>Falla reiterativa</a:t>
            </a:r>
          </a:p>
          <a:p>
            <a:pPr marL="514350" indent="-514350">
              <a:buFontTx/>
              <a:buAutoNum type="arabicPeriod"/>
            </a:pPr>
            <a:r>
              <a:rPr lang="es-CO" sz="2400" dirty="0">
                <a:solidFill>
                  <a:schemeClr val="tx1"/>
                </a:solidFill>
              </a:rPr>
              <a:t>Daño</a:t>
            </a:r>
          </a:p>
        </p:txBody>
      </p:sp>
    </p:spTree>
    <p:extLst>
      <p:ext uri="{BB962C8B-B14F-4D97-AF65-F5344CB8AC3E}">
        <p14:creationId xmlns:p14="http://schemas.microsoft.com/office/powerpoint/2010/main" val="2898443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4340975" y="482928"/>
            <a:ext cx="3544560" cy="646331"/>
          </a:xfrm>
          <a:prstGeom prst="rect">
            <a:avLst/>
          </a:prstGeom>
          <a:noFill/>
        </p:spPr>
        <p:txBody>
          <a:bodyPr wrap="none" lIns="91440" tIns="45720" rIns="91440" bIns="45720">
            <a:spAutoFit/>
          </a:bodyPr>
          <a:lstStyle/>
          <a:p>
            <a:pPr algn="ctr"/>
            <a:r>
              <a:rPr lang="es-ES" sz="3600" b="0" cap="none" spc="0" dirty="0">
                <a:ln w="0"/>
                <a:solidFill>
                  <a:schemeClr val="tx1"/>
                </a:solidFill>
                <a:effectLst>
                  <a:outerShdw blurRad="38100" dist="19050" dir="2700000" algn="tl" rotWithShape="0">
                    <a:schemeClr val="dk1">
                      <a:alpha val="40000"/>
                    </a:schemeClr>
                  </a:outerShdw>
                </a:effectLst>
              </a:rPr>
              <a:t>Modos de falla</a:t>
            </a:r>
          </a:p>
        </p:txBody>
      </p:sp>
      <p:sp>
        <p:nvSpPr>
          <p:cNvPr id="3" name="Rectángulo 2"/>
          <p:cNvSpPr/>
          <p:nvPr/>
        </p:nvSpPr>
        <p:spPr>
          <a:xfrm>
            <a:off x="672353" y="1328317"/>
            <a:ext cx="10919012" cy="4401205"/>
          </a:xfrm>
          <a:prstGeom prst="rect">
            <a:avLst/>
          </a:prstGeom>
          <a:noFill/>
        </p:spPr>
        <p:txBody>
          <a:bodyPr wrap="square" lIns="91440" tIns="45720" rIns="91440" bIns="45720">
            <a:spAutoFit/>
          </a:bodyPr>
          <a:lstStyle/>
          <a:p>
            <a:pPr algn="just"/>
            <a:r>
              <a:rPr lang="es-ES" sz="2800" dirty="0">
                <a:ln w="0"/>
                <a:effectLst>
                  <a:outerShdw blurRad="38100" dist="19050" dir="2700000" algn="tl" rotWithShape="0">
                    <a:schemeClr val="dk1">
                      <a:alpha val="40000"/>
                    </a:schemeClr>
                  </a:outerShdw>
                </a:effectLst>
              </a:rPr>
              <a:t>Son las deficiencias que se observan o se perciben en el sistema o máquina al momento de reportar la falla. Son los que causan el estado de falla en el equipo o los que inciden indirectamente para que este evento ocurra. </a:t>
            </a:r>
          </a:p>
          <a:p>
            <a:pPr algn="just"/>
            <a:r>
              <a:rPr lang="es-ES" sz="2800" b="0" cap="none" spc="0" dirty="0">
                <a:ln w="0"/>
                <a:solidFill>
                  <a:schemeClr val="tx1"/>
                </a:solidFill>
                <a:effectLst>
                  <a:outerShdw blurRad="38100" dist="19050" dir="2700000" algn="tl" rotWithShape="0">
                    <a:schemeClr val="dk1">
                      <a:alpha val="40000"/>
                    </a:schemeClr>
                  </a:outerShdw>
                </a:effectLst>
              </a:rPr>
              <a:t>Se pueden clasificar en:</a:t>
            </a:r>
          </a:p>
          <a:p>
            <a:pPr marL="457200" indent="-457200" algn="just">
              <a:buFont typeface="Arial" panose="020B0604020202020204" pitchFamily="34" charset="0"/>
              <a:buChar char="•"/>
            </a:pPr>
            <a:r>
              <a:rPr lang="es-ES" sz="2800" dirty="0">
                <a:ln w="0"/>
                <a:effectLst>
                  <a:outerShdw blurRad="38100" dist="19050" dir="2700000" algn="tl" rotWithShape="0">
                    <a:schemeClr val="dk1">
                      <a:alpha val="40000"/>
                    </a:schemeClr>
                  </a:outerShdw>
                </a:effectLst>
              </a:rPr>
              <a:t>Falla completa (total)</a:t>
            </a:r>
          </a:p>
          <a:p>
            <a:pPr marL="457200" indent="-457200" algn="just">
              <a:buFont typeface="Arial" panose="020B0604020202020204" pitchFamily="34" charset="0"/>
              <a:buChar char="•"/>
            </a:pPr>
            <a:r>
              <a:rPr lang="es-ES" sz="2800" b="0" cap="none" spc="0" dirty="0">
                <a:ln w="0"/>
                <a:solidFill>
                  <a:schemeClr val="tx1"/>
                </a:solidFill>
                <a:effectLst>
                  <a:outerShdw blurRad="38100" dist="19050" dir="2700000" algn="tl" rotWithShape="0">
                    <a:schemeClr val="dk1">
                      <a:alpha val="40000"/>
                    </a:schemeClr>
                  </a:outerShdw>
                </a:effectLst>
              </a:rPr>
              <a:t>Falla parcial </a:t>
            </a:r>
          </a:p>
          <a:p>
            <a:pPr marL="457200" indent="-457200" algn="just">
              <a:buFont typeface="Arial" panose="020B0604020202020204" pitchFamily="34" charset="0"/>
              <a:buChar char="•"/>
            </a:pPr>
            <a:r>
              <a:rPr lang="es-ES" sz="2800" dirty="0">
                <a:ln w="0"/>
                <a:effectLst>
                  <a:outerShdw blurRad="38100" dist="19050" dir="2700000" algn="tl" rotWithShape="0">
                    <a:schemeClr val="dk1">
                      <a:alpha val="40000"/>
                    </a:schemeClr>
                  </a:outerShdw>
                </a:effectLst>
              </a:rPr>
              <a:t>Falla intermitente</a:t>
            </a:r>
          </a:p>
          <a:p>
            <a:pPr marL="457200" indent="-457200" algn="just">
              <a:buFont typeface="Arial" panose="020B0604020202020204" pitchFamily="34" charset="0"/>
              <a:buChar char="•"/>
            </a:pPr>
            <a:r>
              <a:rPr lang="es-ES" sz="2800" b="0" cap="none" spc="0" dirty="0">
                <a:ln w="0"/>
                <a:solidFill>
                  <a:schemeClr val="tx1"/>
                </a:solidFill>
                <a:effectLst>
                  <a:outerShdw blurRad="38100" dist="19050" dir="2700000" algn="tl" rotWithShape="0">
                    <a:schemeClr val="dk1">
                      <a:alpha val="40000"/>
                    </a:schemeClr>
                  </a:outerShdw>
                </a:effectLst>
              </a:rPr>
              <a:t>Falla con el tiempo (gradual)</a:t>
            </a:r>
          </a:p>
          <a:p>
            <a:pPr marL="457200" indent="-457200" algn="just">
              <a:buFont typeface="Arial" panose="020B0604020202020204" pitchFamily="34" charset="0"/>
              <a:buChar char="•"/>
            </a:pPr>
            <a:r>
              <a:rPr lang="es-ES" sz="2800" dirty="0">
                <a:ln w="0"/>
                <a:effectLst>
                  <a:outerShdw blurRad="38100" dist="19050" dir="2700000" algn="tl" rotWithShape="0">
                    <a:schemeClr val="dk1">
                      <a:alpha val="40000"/>
                    </a:schemeClr>
                  </a:outerShdw>
                </a:effectLst>
              </a:rPr>
              <a:t>Falla en el desempeño de la función</a:t>
            </a:r>
            <a:endParaRPr lang="es-ES" sz="28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784264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3010" name="Rectangle 20"/>
          <p:cNvSpPr>
            <a:spLocks noChangeArrowheads="1"/>
          </p:cNvSpPr>
          <p:nvPr/>
        </p:nvSpPr>
        <p:spPr bwMode="auto">
          <a:xfrm>
            <a:off x="1881158" y="577699"/>
            <a:ext cx="8072438" cy="1019175"/>
          </a:xfrm>
          <a:prstGeom prst="rect">
            <a:avLst/>
          </a:prstGeom>
          <a:noFill/>
          <a:ln w="9525">
            <a:noFill/>
            <a:miter lim="800000"/>
            <a:headEnd/>
            <a:tailEnd/>
          </a:ln>
        </p:spPr>
        <p:txBody>
          <a:bodyPr anchor="ctr"/>
          <a:lstStyle/>
          <a:p>
            <a:pPr algn="ctr" eaLnBrk="1" hangingPunct="1"/>
            <a:r>
              <a:rPr lang="es-MX" sz="3200" b="1" dirty="0"/>
              <a:t>Clasificación de las Fallas</a:t>
            </a:r>
            <a:endParaRPr lang="es-ES" sz="3200" b="1" dirty="0"/>
          </a:p>
        </p:txBody>
      </p:sp>
      <p:sp>
        <p:nvSpPr>
          <p:cNvPr id="43011" name="Text Box 21"/>
          <p:cNvSpPr txBox="1">
            <a:spLocks noChangeArrowheads="1"/>
          </p:cNvSpPr>
          <p:nvPr/>
        </p:nvSpPr>
        <p:spPr bwMode="auto">
          <a:xfrm>
            <a:off x="1009291" y="1623740"/>
            <a:ext cx="6073787" cy="461665"/>
          </a:xfrm>
          <a:prstGeom prst="rect">
            <a:avLst/>
          </a:prstGeom>
          <a:noFill/>
          <a:ln w="9525">
            <a:noFill/>
            <a:miter lim="800000"/>
            <a:headEnd/>
            <a:tailEnd/>
          </a:ln>
        </p:spPr>
        <p:txBody>
          <a:bodyPr wrap="square">
            <a:spAutoFit/>
          </a:bodyPr>
          <a:lstStyle/>
          <a:p>
            <a:pPr algn="just" eaLnBrk="1" hangingPunct="1">
              <a:spcBef>
                <a:spcPct val="50000"/>
              </a:spcBef>
            </a:pPr>
            <a:r>
              <a:rPr lang="es-ES" sz="2400" b="1" dirty="0"/>
              <a:t>SEGÚN LA FACILIDAD DE DETECCIÓN</a:t>
            </a:r>
            <a:endParaRPr lang="es-ES" sz="2400" dirty="0"/>
          </a:p>
        </p:txBody>
      </p:sp>
      <p:sp>
        <p:nvSpPr>
          <p:cNvPr id="43012" name="Text Box 21"/>
          <p:cNvSpPr txBox="1">
            <a:spLocks noChangeArrowheads="1"/>
          </p:cNvSpPr>
          <p:nvPr/>
        </p:nvSpPr>
        <p:spPr bwMode="auto">
          <a:xfrm>
            <a:off x="1078902" y="2342201"/>
            <a:ext cx="5857875" cy="492125"/>
          </a:xfrm>
          <a:prstGeom prst="rect">
            <a:avLst/>
          </a:prstGeom>
          <a:noFill/>
          <a:ln w="9525">
            <a:noFill/>
            <a:miter lim="800000"/>
            <a:headEnd/>
            <a:tailEnd/>
          </a:ln>
        </p:spPr>
        <p:txBody>
          <a:bodyPr>
            <a:spAutoFit/>
          </a:bodyPr>
          <a:lstStyle/>
          <a:p>
            <a:pPr algn="just" eaLnBrk="1" hangingPunct="1">
              <a:spcBef>
                <a:spcPct val="50000"/>
              </a:spcBef>
              <a:buFont typeface="Wingdings" pitchFamily="2" charset="2"/>
              <a:buChar char="ü"/>
            </a:pPr>
            <a:r>
              <a:rPr lang="es-MX" sz="2600" b="1" dirty="0"/>
              <a:t>Evidente:</a:t>
            </a:r>
            <a:r>
              <a:rPr lang="es-MX" sz="2600" dirty="0"/>
              <a:t> Fácilmente detectable</a:t>
            </a:r>
            <a:endParaRPr lang="es-ES" sz="2600" dirty="0"/>
          </a:p>
        </p:txBody>
      </p:sp>
      <p:pic>
        <p:nvPicPr>
          <p:cNvPr id="43013" name="Picture 4"/>
          <p:cNvPicPr>
            <a:picLocks noChangeAspect="1" noChangeArrowheads="1"/>
          </p:cNvPicPr>
          <p:nvPr/>
        </p:nvPicPr>
        <p:blipFill>
          <a:blip r:embed="rId2"/>
          <a:srcRect l="4443" r="5070" b="1907"/>
          <a:stretch>
            <a:fillRect/>
          </a:stretch>
        </p:blipFill>
        <p:spPr bwMode="auto">
          <a:xfrm>
            <a:off x="8772137" y="1746503"/>
            <a:ext cx="2141537" cy="3787775"/>
          </a:xfrm>
          <a:prstGeom prst="rect">
            <a:avLst/>
          </a:prstGeom>
          <a:noFill/>
          <a:ln w="9525">
            <a:noFill/>
            <a:miter lim="800000"/>
            <a:headEnd/>
            <a:tailEnd/>
          </a:ln>
        </p:spPr>
      </p:pic>
      <p:sp>
        <p:nvSpPr>
          <p:cNvPr id="43014" name="Text Box 21"/>
          <p:cNvSpPr txBox="1">
            <a:spLocks noChangeArrowheads="1"/>
          </p:cNvSpPr>
          <p:nvPr/>
        </p:nvSpPr>
        <p:spPr bwMode="auto">
          <a:xfrm>
            <a:off x="1009291" y="3143249"/>
            <a:ext cx="6517017" cy="2492990"/>
          </a:xfrm>
          <a:prstGeom prst="rect">
            <a:avLst/>
          </a:prstGeom>
          <a:noFill/>
          <a:ln w="9525">
            <a:noFill/>
            <a:miter lim="800000"/>
            <a:headEnd/>
            <a:tailEnd/>
          </a:ln>
        </p:spPr>
        <p:txBody>
          <a:bodyPr wrap="square">
            <a:spAutoFit/>
          </a:bodyPr>
          <a:lstStyle/>
          <a:p>
            <a:pPr algn="just" eaLnBrk="1" hangingPunct="1">
              <a:spcBef>
                <a:spcPct val="50000"/>
              </a:spcBef>
              <a:buFont typeface="Wingdings" pitchFamily="2" charset="2"/>
              <a:buChar char="ü"/>
            </a:pPr>
            <a:r>
              <a:rPr lang="es-MX" sz="2600" b="1" dirty="0"/>
              <a:t>Oculta: </a:t>
            </a:r>
            <a:r>
              <a:rPr lang="es-MX" sz="2600" dirty="0"/>
              <a:t>No detectable fácilmente, se presentan con frecuencia en los sistemas de protección de las máquinas y generalmente tiene consecuencias si ocurre otra falla, lo cual se denomina </a:t>
            </a:r>
            <a:r>
              <a:rPr lang="es-MX" sz="2600" b="1" dirty="0"/>
              <a:t>falla múltiple</a:t>
            </a:r>
            <a:r>
              <a:rPr lang="es-MX" sz="2600" dirty="0"/>
              <a:t>.</a:t>
            </a:r>
            <a:endParaRPr lang="es-ES" sz="2600" dirty="0"/>
          </a:p>
        </p:txBody>
      </p:sp>
    </p:spTree>
    <p:extLst>
      <p:ext uri="{BB962C8B-B14F-4D97-AF65-F5344CB8AC3E}">
        <p14:creationId xmlns:p14="http://schemas.microsoft.com/office/powerpoint/2010/main" val="2622838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4034" name="Rectangle 20"/>
          <p:cNvSpPr>
            <a:spLocks noChangeArrowheads="1"/>
          </p:cNvSpPr>
          <p:nvPr/>
        </p:nvSpPr>
        <p:spPr bwMode="auto">
          <a:xfrm>
            <a:off x="2198813" y="569475"/>
            <a:ext cx="8072437" cy="1019175"/>
          </a:xfrm>
          <a:prstGeom prst="rect">
            <a:avLst/>
          </a:prstGeom>
          <a:noFill/>
          <a:ln w="9525">
            <a:noFill/>
            <a:miter lim="800000"/>
            <a:headEnd/>
            <a:tailEnd/>
          </a:ln>
        </p:spPr>
        <p:txBody>
          <a:bodyPr anchor="ctr"/>
          <a:lstStyle/>
          <a:p>
            <a:pPr algn="ctr" eaLnBrk="1" hangingPunct="1"/>
            <a:r>
              <a:rPr lang="es-MX" sz="3200" b="1" dirty="0"/>
              <a:t>Clasificación de las Fallas</a:t>
            </a:r>
            <a:endParaRPr lang="es-ES" sz="3200" b="1" dirty="0"/>
          </a:p>
        </p:txBody>
      </p:sp>
      <p:sp>
        <p:nvSpPr>
          <p:cNvPr id="44035" name="Text Box 21"/>
          <p:cNvSpPr txBox="1">
            <a:spLocks noChangeArrowheads="1"/>
          </p:cNvSpPr>
          <p:nvPr/>
        </p:nvSpPr>
        <p:spPr bwMode="auto">
          <a:xfrm>
            <a:off x="1514458" y="1493759"/>
            <a:ext cx="4295778" cy="477054"/>
          </a:xfrm>
          <a:prstGeom prst="rect">
            <a:avLst/>
          </a:prstGeom>
          <a:noFill/>
          <a:ln w="9525">
            <a:noFill/>
            <a:miter lim="800000"/>
            <a:headEnd/>
            <a:tailEnd/>
          </a:ln>
        </p:spPr>
        <p:txBody>
          <a:bodyPr wrap="square">
            <a:spAutoFit/>
          </a:bodyPr>
          <a:lstStyle/>
          <a:p>
            <a:pPr algn="just" eaLnBrk="1" hangingPunct="1">
              <a:spcBef>
                <a:spcPct val="50000"/>
              </a:spcBef>
            </a:pPr>
            <a:r>
              <a:rPr lang="es-ES" sz="2500" b="1" dirty="0"/>
              <a:t>SEGÚN LA FRECUENCIA</a:t>
            </a:r>
            <a:endParaRPr lang="es-ES" sz="2500" dirty="0"/>
          </a:p>
        </p:txBody>
      </p:sp>
      <p:sp>
        <p:nvSpPr>
          <p:cNvPr id="44036" name="Text Box 21"/>
          <p:cNvSpPr txBox="1">
            <a:spLocks noChangeArrowheads="1"/>
          </p:cNvSpPr>
          <p:nvPr/>
        </p:nvSpPr>
        <p:spPr bwMode="auto">
          <a:xfrm>
            <a:off x="1444720" y="2222481"/>
            <a:ext cx="8567737" cy="3893374"/>
          </a:xfrm>
          <a:prstGeom prst="rect">
            <a:avLst/>
          </a:prstGeom>
          <a:noFill/>
          <a:ln w="9525">
            <a:noFill/>
            <a:miter lim="800000"/>
            <a:headEnd/>
            <a:tailEnd/>
          </a:ln>
        </p:spPr>
        <p:txBody>
          <a:bodyPr>
            <a:spAutoFit/>
          </a:bodyPr>
          <a:lstStyle/>
          <a:p>
            <a:pPr algn="just" eaLnBrk="1" hangingPunct="1">
              <a:spcBef>
                <a:spcPct val="50000"/>
              </a:spcBef>
              <a:buFont typeface="Wingdings" pitchFamily="2" charset="2"/>
              <a:buChar char="ü"/>
            </a:pPr>
            <a:r>
              <a:rPr lang="es-MX" sz="2600" b="1" dirty="0"/>
              <a:t>Esporádica:</a:t>
            </a:r>
            <a:r>
              <a:rPr lang="es-MX" sz="2600" dirty="0"/>
              <a:t> </a:t>
            </a:r>
            <a:r>
              <a:rPr lang="es-CO" sz="2600" dirty="0"/>
              <a:t>Desviación del estándar fácilmente apreciable. Generalmente son </a:t>
            </a:r>
            <a:r>
              <a:rPr lang="es-CO" sz="2600" b="1" dirty="0"/>
              <a:t>poco frecuentes </a:t>
            </a:r>
            <a:r>
              <a:rPr lang="es-CO" sz="2600" dirty="0"/>
              <a:t>y en algunos casos de consecuencias graves. Son de fácil control.</a:t>
            </a:r>
          </a:p>
          <a:p>
            <a:pPr algn="just" eaLnBrk="1" hangingPunct="1">
              <a:spcBef>
                <a:spcPct val="50000"/>
              </a:spcBef>
              <a:buFont typeface="Wingdings" pitchFamily="2" charset="2"/>
              <a:buChar char="ü"/>
            </a:pPr>
            <a:r>
              <a:rPr lang="es-CO" sz="2600" b="1" dirty="0"/>
              <a:t>Crónica:</a:t>
            </a:r>
            <a:r>
              <a:rPr lang="es-CO" sz="2600" dirty="0"/>
              <a:t> Desviación del estándar difícilmente apreciable. Son </a:t>
            </a:r>
            <a:r>
              <a:rPr lang="es-CO" sz="2600" b="1" dirty="0"/>
              <a:t>frecuentes</a:t>
            </a:r>
            <a:r>
              <a:rPr lang="es-CO" sz="2600" dirty="0"/>
              <a:t>, de difícil control, se aceptan como parte normal de los costos de producción. Son típicas de algunos elementos mecánicos.</a:t>
            </a:r>
            <a:endParaRPr lang="es-ES" sz="2600" dirty="0"/>
          </a:p>
        </p:txBody>
      </p:sp>
    </p:spTree>
    <p:extLst>
      <p:ext uri="{BB962C8B-B14F-4D97-AF65-F5344CB8AC3E}">
        <p14:creationId xmlns:p14="http://schemas.microsoft.com/office/powerpoint/2010/main" val="29304987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01391F1-BF5E-4C4A-B31B-7DA71B8D6832}"/>
              </a:ext>
            </a:extLst>
          </p:cNvPr>
          <p:cNvPicPr>
            <a:picLocks noChangeAspect="1"/>
          </p:cNvPicPr>
          <p:nvPr/>
        </p:nvPicPr>
        <p:blipFill>
          <a:blip r:embed="rId2"/>
          <a:stretch>
            <a:fillRect/>
          </a:stretch>
        </p:blipFill>
        <p:spPr>
          <a:xfrm>
            <a:off x="1196971" y="284895"/>
            <a:ext cx="9798057" cy="6169477"/>
          </a:xfrm>
          <a:prstGeom prst="rect">
            <a:avLst/>
          </a:prstGeom>
        </p:spPr>
      </p:pic>
      <p:sp>
        <p:nvSpPr>
          <p:cNvPr id="3" name="CuadroTexto 2">
            <a:extLst>
              <a:ext uri="{FF2B5EF4-FFF2-40B4-BE49-F238E27FC236}">
                <a16:creationId xmlns:a16="http://schemas.microsoft.com/office/drawing/2014/main" id="{9B40A63E-7B3B-429F-990B-6A50F35DFF3C}"/>
              </a:ext>
            </a:extLst>
          </p:cNvPr>
          <p:cNvSpPr txBox="1"/>
          <p:nvPr/>
        </p:nvSpPr>
        <p:spPr>
          <a:xfrm>
            <a:off x="7301569" y="6454372"/>
            <a:ext cx="3693459" cy="246221"/>
          </a:xfrm>
          <a:prstGeom prst="rect">
            <a:avLst/>
          </a:prstGeom>
          <a:noFill/>
        </p:spPr>
        <p:txBody>
          <a:bodyPr wrap="square" rtlCol="0">
            <a:spAutoFit/>
          </a:bodyPr>
          <a:lstStyle/>
          <a:p>
            <a:r>
              <a:rPr lang="es-ES" sz="1000" dirty="0"/>
              <a:t>Mantenimiento industrial efectivo, Alberto Mora G, 2020</a:t>
            </a:r>
            <a:endParaRPr lang="es-CO" sz="1000" dirty="0"/>
          </a:p>
        </p:txBody>
      </p:sp>
    </p:spTree>
    <p:extLst>
      <p:ext uri="{BB962C8B-B14F-4D97-AF65-F5344CB8AC3E}">
        <p14:creationId xmlns:p14="http://schemas.microsoft.com/office/powerpoint/2010/main" val="3492436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6082" name="Rectangle 20"/>
          <p:cNvSpPr>
            <a:spLocks noChangeArrowheads="1"/>
          </p:cNvSpPr>
          <p:nvPr/>
        </p:nvSpPr>
        <p:spPr bwMode="auto">
          <a:xfrm>
            <a:off x="2666976" y="1071547"/>
            <a:ext cx="6715172" cy="823913"/>
          </a:xfrm>
          <a:prstGeom prst="rect">
            <a:avLst/>
          </a:prstGeom>
          <a:noFill/>
          <a:ln w="9525">
            <a:noFill/>
            <a:miter lim="800000"/>
            <a:headEnd/>
            <a:tailEnd/>
          </a:ln>
        </p:spPr>
        <p:txBody>
          <a:bodyPr anchor="ctr"/>
          <a:lstStyle/>
          <a:p>
            <a:pPr algn="ctr" eaLnBrk="1" hangingPunct="1"/>
            <a:r>
              <a:rPr lang="es-MX" sz="3600" b="1" dirty="0"/>
              <a:t>Clasificación de las Fallas</a:t>
            </a:r>
            <a:endParaRPr lang="es-ES" sz="3600" b="1" dirty="0"/>
          </a:p>
        </p:txBody>
      </p:sp>
      <p:sp>
        <p:nvSpPr>
          <p:cNvPr id="46083" name="Text Box 21"/>
          <p:cNvSpPr txBox="1">
            <a:spLocks noChangeArrowheads="1"/>
          </p:cNvSpPr>
          <p:nvPr/>
        </p:nvSpPr>
        <p:spPr bwMode="auto">
          <a:xfrm>
            <a:off x="2881290" y="2071679"/>
            <a:ext cx="6423048" cy="523875"/>
          </a:xfrm>
          <a:prstGeom prst="rect">
            <a:avLst/>
          </a:prstGeom>
          <a:noFill/>
          <a:ln w="9525">
            <a:noFill/>
            <a:miter lim="800000"/>
            <a:headEnd/>
            <a:tailEnd/>
          </a:ln>
        </p:spPr>
        <p:txBody>
          <a:bodyPr wrap="square">
            <a:spAutoFit/>
          </a:bodyPr>
          <a:lstStyle/>
          <a:p>
            <a:pPr algn="just" eaLnBrk="1" hangingPunct="1">
              <a:spcBef>
                <a:spcPct val="50000"/>
              </a:spcBef>
            </a:pPr>
            <a:r>
              <a:rPr lang="es-ES" sz="2800" b="1" dirty="0"/>
              <a:t>SEGÚN LA FORMA DE APARECER</a:t>
            </a:r>
            <a:endParaRPr lang="es-ES" sz="2800" dirty="0"/>
          </a:p>
        </p:txBody>
      </p:sp>
      <p:sp>
        <p:nvSpPr>
          <p:cNvPr id="46084" name="Text Box 21"/>
          <p:cNvSpPr txBox="1">
            <a:spLocks noChangeArrowheads="1"/>
          </p:cNvSpPr>
          <p:nvPr/>
        </p:nvSpPr>
        <p:spPr bwMode="auto">
          <a:xfrm>
            <a:off x="2265029" y="2714620"/>
            <a:ext cx="8011486" cy="1092607"/>
          </a:xfrm>
          <a:prstGeom prst="rect">
            <a:avLst/>
          </a:prstGeom>
          <a:noFill/>
          <a:ln w="9525">
            <a:noFill/>
            <a:miter lim="800000"/>
            <a:headEnd/>
            <a:tailEnd/>
          </a:ln>
        </p:spPr>
        <p:txBody>
          <a:bodyPr wrap="square">
            <a:spAutoFit/>
          </a:bodyPr>
          <a:lstStyle/>
          <a:p>
            <a:pPr algn="just" eaLnBrk="1" hangingPunct="1">
              <a:spcBef>
                <a:spcPct val="50000"/>
              </a:spcBef>
              <a:buFont typeface="Wingdings" pitchFamily="2" charset="2"/>
              <a:buChar char="ü"/>
            </a:pPr>
            <a:r>
              <a:rPr lang="es-MX" sz="2600" b="1" dirty="0"/>
              <a:t>Progresiva: se va acumulando con el tiempo</a:t>
            </a:r>
            <a:endParaRPr lang="es-CO" sz="2600" dirty="0"/>
          </a:p>
          <a:p>
            <a:pPr algn="just" eaLnBrk="1" hangingPunct="1">
              <a:spcBef>
                <a:spcPct val="50000"/>
              </a:spcBef>
              <a:buFont typeface="Wingdings" pitchFamily="2" charset="2"/>
              <a:buChar char="ü"/>
            </a:pPr>
            <a:r>
              <a:rPr lang="es-MX" sz="2600" b="1" dirty="0"/>
              <a:t>Repentina: aparece sin eventos anteriores</a:t>
            </a:r>
            <a:endParaRPr lang="es-ES" sz="2600" dirty="0"/>
          </a:p>
        </p:txBody>
      </p:sp>
      <p:sp>
        <p:nvSpPr>
          <p:cNvPr id="46085" name="Text Box 21"/>
          <p:cNvSpPr txBox="1">
            <a:spLocks noChangeArrowheads="1"/>
          </p:cNvSpPr>
          <p:nvPr/>
        </p:nvSpPr>
        <p:spPr bwMode="auto">
          <a:xfrm>
            <a:off x="2809853" y="3925886"/>
            <a:ext cx="6715149" cy="523220"/>
          </a:xfrm>
          <a:prstGeom prst="rect">
            <a:avLst/>
          </a:prstGeom>
          <a:noFill/>
          <a:ln w="9525">
            <a:noFill/>
            <a:miter lim="800000"/>
            <a:headEnd/>
            <a:tailEnd/>
          </a:ln>
        </p:spPr>
        <p:txBody>
          <a:bodyPr wrap="square">
            <a:spAutoFit/>
          </a:bodyPr>
          <a:lstStyle/>
          <a:p>
            <a:pPr algn="just" eaLnBrk="1" hangingPunct="1">
              <a:spcBef>
                <a:spcPct val="50000"/>
              </a:spcBef>
            </a:pPr>
            <a:r>
              <a:rPr lang="es-ES" sz="2800" b="1" dirty="0"/>
              <a:t>SEGÚN LA CAPACIDAD DE TRABAJO</a:t>
            </a:r>
            <a:endParaRPr lang="es-ES" sz="2800" dirty="0"/>
          </a:p>
        </p:txBody>
      </p:sp>
      <p:sp>
        <p:nvSpPr>
          <p:cNvPr id="46086" name="Text Box 21"/>
          <p:cNvSpPr txBox="1">
            <a:spLocks noChangeArrowheads="1"/>
          </p:cNvSpPr>
          <p:nvPr/>
        </p:nvSpPr>
        <p:spPr bwMode="auto">
          <a:xfrm>
            <a:off x="2265028" y="4567765"/>
            <a:ext cx="9009776" cy="1092607"/>
          </a:xfrm>
          <a:prstGeom prst="rect">
            <a:avLst/>
          </a:prstGeom>
          <a:noFill/>
          <a:ln w="9525">
            <a:noFill/>
            <a:miter lim="800000"/>
            <a:headEnd/>
            <a:tailEnd/>
          </a:ln>
        </p:spPr>
        <p:txBody>
          <a:bodyPr wrap="square">
            <a:spAutoFit/>
          </a:bodyPr>
          <a:lstStyle/>
          <a:p>
            <a:pPr algn="just" eaLnBrk="1" hangingPunct="1">
              <a:spcBef>
                <a:spcPct val="50000"/>
              </a:spcBef>
              <a:buFont typeface="Wingdings" pitchFamily="2" charset="2"/>
              <a:buChar char="ü"/>
            </a:pPr>
            <a:r>
              <a:rPr lang="es-MX" sz="2600" b="1" dirty="0"/>
              <a:t>Limitación parcial: afecta una parte del sistema</a:t>
            </a:r>
            <a:endParaRPr lang="es-CO" sz="2600" dirty="0"/>
          </a:p>
          <a:p>
            <a:pPr algn="just" eaLnBrk="1" hangingPunct="1">
              <a:spcBef>
                <a:spcPct val="50000"/>
              </a:spcBef>
              <a:buFont typeface="Wingdings" pitchFamily="2" charset="2"/>
              <a:buChar char="ü"/>
            </a:pPr>
            <a:r>
              <a:rPr lang="es-MX" sz="2600" b="1" dirty="0"/>
              <a:t>Limitación total: genera un paro total en la máquina</a:t>
            </a:r>
            <a:endParaRPr lang="es-ES" sz="2600" dirty="0"/>
          </a:p>
        </p:txBody>
      </p:sp>
    </p:spTree>
    <p:extLst>
      <p:ext uri="{BB962C8B-B14F-4D97-AF65-F5344CB8AC3E}">
        <p14:creationId xmlns:p14="http://schemas.microsoft.com/office/powerpoint/2010/main" val="3632847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7106" name="Rectangle 20"/>
          <p:cNvSpPr>
            <a:spLocks noChangeArrowheads="1"/>
          </p:cNvSpPr>
          <p:nvPr/>
        </p:nvSpPr>
        <p:spPr bwMode="auto">
          <a:xfrm>
            <a:off x="2643522" y="492476"/>
            <a:ext cx="6627831" cy="781050"/>
          </a:xfrm>
          <a:prstGeom prst="rect">
            <a:avLst/>
          </a:prstGeom>
          <a:noFill/>
          <a:ln w="9525">
            <a:noFill/>
            <a:miter lim="800000"/>
            <a:headEnd/>
            <a:tailEnd/>
          </a:ln>
        </p:spPr>
        <p:txBody>
          <a:bodyPr anchor="ctr"/>
          <a:lstStyle/>
          <a:p>
            <a:pPr algn="ctr" eaLnBrk="1" hangingPunct="1"/>
            <a:r>
              <a:rPr lang="es-MX" sz="3600" b="1" dirty="0"/>
              <a:t>Clasificación de las Fallas</a:t>
            </a:r>
            <a:endParaRPr lang="es-ES" sz="3600" b="1" dirty="0"/>
          </a:p>
        </p:txBody>
      </p:sp>
      <p:sp>
        <p:nvSpPr>
          <p:cNvPr id="47107" name="Text Box 21"/>
          <p:cNvSpPr txBox="1">
            <a:spLocks noChangeArrowheads="1"/>
          </p:cNvSpPr>
          <p:nvPr/>
        </p:nvSpPr>
        <p:spPr bwMode="auto">
          <a:xfrm>
            <a:off x="2334762" y="1273526"/>
            <a:ext cx="7245350" cy="523875"/>
          </a:xfrm>
          <a:prstGeom prst="rect">
            <a:avLst/>
          </a:prstGeom>
          <a:noFill/>
          <a:ln w="9525">
            <a:noFill/>
            <a:miter lim="800000"/>
            <a:headEnd/>
            <a:tailEnd/>
          </a:ln>
        </p:spPr>
        <p:txBody>
          <a:bodyPr>
            <a:spAutoFit/>
          </a:bodyPr>
          <a:lstStyle/>
          <a:p>
            <a:pPr algn="just" eaLnBrk="1" hangingPunct="1">
              <a:spcBef>
                <a:spcPct val="50000"/>
              </a:spcBef>
            </a:pPr>
            <a:r>
              <a:rPr lang="es-ES" sz="2800" b="1" dirty="0"/>
              <a:t>SEGÚN EL PERIODO DE OCURRENCIA</a:t>
            </a:r>
            <a:endParaRPr lang="es-ES" sz="2800" dirty="0"/>
          </a:p>
        </p:txBody>
      </p:sp>
      <p:sp>
        <p:nvSpPr>
          <p:cNvPr id="47108" name="Text Box 21"/>
          <p:cNvSpPr txBox="1">
            <a:spLocks noChangeArrowheads="1"/>
          </p:cNvSpPr>
          <p:nvPr/>
        </p:nvSpPr>
        <p:spPr bwMode="auto">
          <a:xfrm>
            <a:off x="1185703" y="1986032"/>
            <a:ext cx="9820594" cy="4431983"/>
          </a:xfrm>
          <a:prstGeom prst="rect">
            <a:avLst/>
          </a:prstGeom>
          <a:noFill/>
          <a:ln w="9525">
            <a:noFill/>
            <a:miter lim="800000"/>
            <a:headEnd/>
            <a:tailEnd/>
          </a:ln>
        </p:spPr>
        <p:txBody>
          <a:bodyPr wrap="square">
            <a:spAutoFit/>
          </a:bodyPr>
          <a:lstStyle/>
          <a:p>
            <a:pPr algn="just" eaLnBrk="1" hangingPunct="1">
              <a:spcBef>
                <a:spcPct val="50000"/>
              </a:spcBef>
              <a:buFont typeface="Wingdings" pitchFamily="2" charset="2"/>
              <a:buChar char="ü"/>
            </a:pPr>
            <a:r>
              <a:rPr lang="es-MX" sz="2200" b="1" dirty="0"/>
              <a:t>Infantiles o prematuras:</a:t>
            </a:r>
            <a:r>
              <a:rPr lang="es-MX" sz="2200" dirty="0"/>
              <a:t> Se</a:t>
            </a:r>
            <a:r>
              <a:rPr lang="es-CO" sz="2200" dirty="0"/>
              <a:t> relacionan con diseño o instalación incorrectos o con defectos de fabricación relacionados con los materiales o los procesos.</a:t>
            </a:r>
          </a:p>
          <a:p>
            <a:pPr algn="just" eaLnBrk="1" hangingPunct="1">
              <a:spcBef>
                <a:spcPct val="50000"/>
              </a:spcBef>
              <a:buFont typeface="Wingdings" pitchFamily="2" charset="2"/>
              <a:buChar char="ü"/>
            </a:pPr>
            <a:r>
              <a:rPr lang="es-CO" sz="2200" b="1" dirty="0"/>
              <a:t>Aleatorias:</a:t>
            </a:r>
            <a:r>
              <a:rPr lang="es-CO" sz="2200" dirty="0"/>
              <a:t> Se relacionan con un mal funcionamiento debido a accidentes por procesos extraordinarios, abusos o a un diseño insuficiente.</a:t>
            </a:r>
          </a:p>
          <a:p>
            <a:pPr algn="just" eaLnBrk="1" hangingPunct="1">
              <a:spcBef>
                <a:spcPct val="50000"/>
              </a:spcBef>
              <a:buFont typeface="Wingdings" pitchFamily="2" charset="2"/>
              <a:buChar char="ü"/>
            </a:pPr>
            <a:r>
              <a:rPr lang="es-CO" sz="2200" b="1" dirty="0"/>
              <a:t>Por desgaste:</a:t>
            </a:r>
            <a:r>
              <a:rPr lang="es-CO" sz="2200" dirty="0"/>
              <a:t> Se relacionan con las diferentes formas de corrosión, desgaste y fatiga de sus elementos debido al envejecimiento.</a:t>
            </a:r>
          </a:p>
          <a:p>
            <a:pPr algn="just">
              <a:spcBef>
                <a:spcPct val="50000"/>
              </a:spcBef>
              <a:buFont typeface="Wingdings" pitchFamily="2" charset="2"/>
              <a:buChar char="ü"/>
            </a:pPr>
            <a:r>
              <a:rPr lang="es-MX" sz="2400" b="1" dirty="0"/>
              <a:t>Falla reiterativa:</a:t>
            </a:r>
            <a:r>
              <a:rPr lang="es-CO" sz="2400" dirty="0"/>
              <a:t> </a:t>
            </a:r>
            <a:r>
              <a:rPr lang="es-MX" sz="2200" dirty="0"/>
              <a:t>Es aquella que se presenta varias veces en intervalos de tiempos relativamente cortos y luego de realizarse determinadas acciones correctivas</a:t>
            </a:r>
            <a:r>
              <a:rPr lang="es-MX" sz="2400" dirty="0"/>
              <a:t>.</a:t>
            </a:r>
            <a:endParaRPr lang="es-ES" sz="2400" dirty="0"/>
          </a:p>
        </p:txBody>
      </p:sp>
    </p:spTree>
    <p:extLst>
      <p:ext uri="{BB962C8B-B14F-4D97-AF65-F5344CB8AC3E}">
        <p14:creationId xmlns:p14="http://schemas.microsoft.com/office/powerpoint/2010/main" val="4232305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1" name="Rectangle 2"/>
          <p:cNvSpPr>
            <a:spLocks noChangeArrowheads="1"/>
          </p:cNvSpPr>
          <p:nvPr/>
        </p:nvSpPr>
        <p:spPr bwMode="auto">
          <a:xfrm>
            <a:off x="2394962" y="190671"/>
            <a:ext cx="7402075" cy="499611"/>
          </a:xfrm>
          <a:prstGeom prst="rect">
            <a:avLst/>
          </a:prstGeom>
          <a:noFill/>
          <a:ln w="9525">
            <a:noFill/>
            <a:miter lim="800000"/>
            <a:headEnd/>
            <a:tailEnd/>
          </a:ln>
        </p:spPr>
        <p:txBody>
          <a:bodyPr anchor="ctr"/>
          <a:lstStyle/>
          <a:p>
            <a:pPr algn="ctr" eaLnBrk="1" hangingPunct="1"/>
            <a:r>
              <a:rPr lang="es-MX" sz="2800" b="1" dirty="0"/>
              <a:t>Curva de la bañera o curva de Davies</a:t>
            </a:r>
            <a:endParaRPr lang="es-ES" sz="2800" b="1" dirty="0"/>
          </a:p>
        </p:txBody>
      </p:sp>
      <p:pic>
        <p:nvPicPr>
          <p:cNvPr id="2" name="Imagen 1">
            <a:extLst>
              <a:ext uri="{FF2B5EF4-FFF2-40B4-BE49-F238E27FC236}">
                <a16:creationId xmlns:a16="http://schemas.microsoft.com/office/drawing/2014/main" id="{A320F48E-63B4-4E17-A42B-71CC00C4DD1A}"/>
              </a:ext>
            </a:extLst>
          </p:cNvPr>
          <p:cNvPicPr>
            <a:picLocks noChangeAspect="1"/>
          </p:cNvPicPr>
          <p:nvPr/>
        </p:nvPicPr>
        <p:blipFill>
          <a:blip r:embed="rId2"/>
          <a:stretch>
            <a:fillRect/>
          </a:stretch>
        </p:blipFill>
        <p:spPr>
          <a:xfrm>
            <a:off x="2054800" y="692571"/>
            <a:ext cx="8082398" cy="5638690"/>
          </a:xfrm>
          <a:prstGeom prst="rect">
            <a:avLst/>
          </a:prstGeom>
        </p:spPr>
      </p:pic>
      <p:sp>
        <p:nvSpPr>
          <p:cNvPr id="4" name="CuadroTexto 3">
            <a:extLst>
              <a:ext uri="{FF2B5EF4-FFF2-40B4-BE49-F238E27FC236}">
                <a16:creationId xmlns:a16="http://schemas.microsoft.com/office/drawing/2014/main" id="{A2781B61-F951-48E2-B67F-219DEFD3533C}"/>
              </a:ext>
            </a:extLst>
          </p:cNvPr>
          <p:cNvSpPr txBox="1"/>
          <p:nvPr/>
        </p:nvSpPr>
        <p:spPr>
          <a:xfrm>
            <a:off x="6543764" y="6421108"/>
            <a:ext cx="3693459" cy="246221"/>
          </a:xfrm>
          <a:prstGeom prst="rect">
            <a:avLst/>
          </a:prstGeom>
          <a:noFill/>
        </p:spPr>
        <p:txBody>
          <a:bodyPr wrap="square" rtlCol="0">
            <a:spAutoFit/>
          </a:bodyPr>
          <a:lstStyle/>
          <a:p>
            <a:r>
              <a:rPr lang="es-ES" sz="1000" dirty="0"/>
              <a:t>Mantenimiento industrial efectivo, Alberto Mora G, 2020</a:t>
            </a:r>
            <a:endParaRPr lang="es-CO" sz="1000" dirty="0"/>
          </a:p>
        </p:txBody>
      </p:sp>
    </p:spTree>
    <p:extLst>
      <p:ext uri="{BB962C8B-B14F-4D97-AF65-F5344CB8AC3E}">
        <p14:creationId xmlns:p14="http://schemas.microsoft.com/office/powerpoint/2010/main" val="42804347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0"/>
          <p:cNvSpPr>
            <a:spLocks noChangeArrowheads="1"/>
          </p:cNvSpPr>
          <p:nvPr/>
        </p:nvSpPr>
        <p:spPr bwMode="auto">
          <a:xfrm>
            <a:off x="2666976" y="1071546"/>
            <a:ext cx="6572296" cy="825500"/>
          </a:xfrm>
          <a:prstGeom prst="rect">
            <a:avLst/>
          </a:prstGeom>
          <a:noFill/>
          <a:ln w="9525">
            <a:noFill/>
            <a:miter lim="800000"/>
            <a:headEnd/>
            <a:tailEnd/>
          </a:ln>
        </p:spPr>
        <p:txBody>
          <a:bodyPr anchor="ctr"/>
          <a:lstStyle/>
          <a:p>
            <a:pPr algn="ctr" eaLnBrk="1" hangingPunct="1"/>
            <a:r>
              <a:rPr lang="es-MX" sz="3600" b="1" dirty="0"/>
              <a:t>Clasificación de las Fallas</a:t>
            </a:r>
            <a:endParaRPr lang="es-ES" sz="3600" b="1" dirty="0"/>
          </a:p>
        </p:txBody>
      </p:sp>
      <p:sp>
        <p:nvSpPr>
          <p:cNvPr id="50179" name="Text Box 21"/>
          <p:cNvSpPr txBox="1">
            <a:spLocks noChangeArrowheads="1"/>
          </p:cNvSpPr>
          <p:nvPr/>
        </p:nvSpPr>
        <p:spPr bwMode="auto">
          <a:xfrm>
            <a:off x="2238349" y="2071679"/>
            <a:ext cx="6500858" cy="1169987"/>
          </a:xfrm>
          <a:prstGeom prst="rect">
            <a:avLst/>
          </a:prstGeom>
          <a:noFill/>
          <a:ln w="9525">
            <a:noFill/>
            <a:miter lim="800000"/>
            <a:headEnd/>
            <a:tailEnd/>
          </a:ln>
        </p:spPr>
        <p:txBody>
          <a:bodyPr wrap="square">
            <a:spAutoFit/>
          </a:bodyPr>
          <a:lstStyle/>
          <a:p>
            <a:pPr algn="just" eaLnBrk="1" hangingPunct="1">
              <a:spcBef>
                <a:spcPct val="50000"/>
              </a:spcBef>
            </a:pPr>
            <a:r>
              <a:rPr lang="es-ES" sz="2800" b="1" dirty="0"/>
              <a:t>SEGÚN LA SEVERIDAD </a:t>
            </a:r>
          </a:p>
          <a:p>
            <a:pPr algn="just" eaLnBrk="1" hangingPunct="1">
              <a:spcBef>
                <a:spcPct val="50000"/>
              </a:spcBef>
            </a:pPr>
            <a:r>
              <a:rPr lang="es-ES" sz="2800" b="1" dirty="0"/>
              <a:t>(CLASIFICACIÓN INTERNACIONAL)</a:t>
            </a:r>
            <a:endParaRPr lang="es-ES" sz="2800" dirty="0"/>
          </a:p>
        </p:txBody>
      </p:sp>
      <p:sp>
        <p:nvSpPr>
          <p:cNvPr id="50180" name="Text Box 21"/>
          <p:cNvSpPr txBox="1">
            <a:spLocks noChangeArrowheads="1"/>
          </p:cNvSpPr>
          <p:nvPr/>
        </p:nvSpPr>
        <p:spPr bwMode="auto">
          <a:xfrm>
            <a:off x="2078958" y="3357562"/>
            <a:ext cx="6251310" cy="2292350"/>
          </a:xfrm>
          <a:prstGeom prst="rect">
            <a:avLst/>
          </a:prstGeom>
          <a:noFill/>
          <a:ln w="9525">
            <a:noFill/>
            <a:miter lim="800000"/>
            <a:headEnd/>
            <a:tailEnd/>
          </a:ln>
        </p:spPr>
        <p:txBody>
          <a:bodyPr wrap="square">
            <a:spAutoFit/>
          </a:bodyPr>
          <a:lstStyle/>
          <a:p>
            <a:pPr algn="just" eaLnBrk="1" hangingPunct="1">
              <a:spcBef>
                <a:spcPct val="50000"/>
              </a:spcBef>
              <a:buFont typeface="Wingdings" pitchFamily="2" charset="2"/>
              <a:buChar char="ü"/>
            </a:pPr>
            <a:r>
              <a:rPr lang="es-MX" sz="2600" b="1" dirty="0"/>
              <a:t>Crítica</a:t>
            </a:r>
            <a:r>
              <a:rPr lang="es-MX" sz="2600" dirty="0"/>
              <a:t> </a:t>
            </a:r>
            <a:r>
              <a:rPr lang="es-CO" sz="2600" dirty="0"/>
              <a:t>(</a:t>
            </a:r>
            <a:r>
              <a:rPr lang="en-US" sz="2600" dirty="0"/>
              <a:t>critical</a:t>
            </a:r>
            <a:r>
              <a:rPr lang="es-CO" sz="2600" dirty="0"/>
              <a:t>)</a:t>
            </a:r>
          </a:p>
          <a:p>
            <a:pPr algn="just" eaLnBrk="1" hangingPunct="1">
              <a:spcBef>
                <a:spcPct val="50000"/>
              </a:spcBef>
              <a:buFont typeface="Wingdings" pitchFamily="2" charset="2"/>
              <a:buChar char="ü"/>
            </a:pPr>
            <a:r>
              <a:rPr lang="es-CO" sz="2600" b="1" dirty="0"/>
              <a:t>Degradada</a:t>
            </a:r>
            <a:r>
              <a:rPr lang="es-CO" sz="2600" dirty="0"/>
              <a:t> (</a:t>
            </a:r>
            <a:r>
              <a:rPr lang="en-US" sz="2600" dirty="0"/>
              <a:t>degraded</a:t>
            </a:r>
            <a:r>
              <a:rPr lang="es-CO" sz="2600" dirty="0"/>
              <a:t>)</a:t>
            </a:r>
          </a:p>
          <a:p>
            <a:pPr algn="just" eaLnBrk="1" hangingPunct="1">
              <a:spcBef>
                <a:spcPct val="50000"/>
              </a:spcBef>
              <a:buFont typeface="Wingdings" pitchFamily="2" charset="2"/>
              <a:buChar char="ü"/>
            </a:pPr>
            <a:r>
              <a:rPr lang="es-CO" sz="2600" b="1" dirty="0"/>
              <a:t>Incipiente</a:t>
            </a:r>
            <a:r>
              <a:rPr lang="es-CO" sz="2600" dirty="0"/>
              <a:t> (</a:t>
            </a:r>
            <a:r>
              <a:rPr lang="en-US" sz="2600" dirty="0"/>
              <a:t>incipient</a:t>
            </a:r>
            <a:r>
              <a:rPr lang="es-CO" sz="2600" dirty="0"/>
              <a:t>)</a:t>
            </a:r>
          </a:p>
          <a:p>
            <a:pPr algn="just" eaLnBrk="1" hangingPunct="1">
              <a:spcBef>
                <a:spcPct val="50000"/>
              </a:spcBef>
              <a:buFont typeface="Wingdings" pitchFamily="2" charset="2"/>
              <a:buChar char="ü"/>
            </a:pPr>
            <a:r>
              <a:rPr lang="es-CO" sz="2600" b="1" dirty="0"/>
              <a:t>Desconocida</a:t>
            </a:r>
            <a:r>
              <a:rPr lang="es-CO" sz="2600" dirty="0"/>
              <a:t> (</a:t>
            </a:r>
            <a:r>
              <a:rPr lang="en-US" sz="2600" dirty="0"/>
              <a:t>unknown</a:t>
            </a:r>
            <a:r>
              <a:rPr lang="es-CO" sz="2600" dirty="0">
                <a:solidFill>
                  <a:srgbClr val="37829E"/>
                </a:solidFill>
              </a:rPr>
              <a:t>)</a:t>
            </a:r>
          </a:p>
        </p:txBody>
      </p:sp>
    </p:spTree>
    <p:extLst>
      <p:ext uri="{BB962C8B-B14F-4D97-AF65-F5344CB8AC3E}">
        <p14:creationId xmlns:p14="http://schemas.microsoft.com/office/powerpoint/2010/main" val="7739576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20"/>
          <p:cNvSpPr>
            <a:spLocks noChangeArrowheads="1"/>
          </p:cNvSpPr>
          <p:nvPr/>
        </p:nvSpPr>
        <p:spPr bwMode="auto">
          <a:xfrm>
            <a:off x="2666976" y="611386"/>
            <a:ext cx="6572296" cy="825500"/>
          </a:xfrm>
          <a:prstGeom prst="rect">
            <a:avLst/>
          </a:prstGeom>
          <a:noFill/>
          <a:ln w="9525">
            <a:noFill/>
            <a:miter lim="800000"/>
            <a:headEnd/>
            <a:tailEnd/>
          </a:ln>
        </p:spPr>
        <p:txBody>
          <a:bodyPr anchor="ctr"/>
          <a:lstStyle/>
          <a:p>
            <a:pPr algn="ctr" eaLnBrk="1" hangingPunct="1"/>
            <a:r>
              <a:rPr lang="es-MX" sz="3600" b="1" dirty="0"/>
              <a:t>Clasificación de las Fallas</a:t>
            </a:r>
            <a:endParaRPr lang="es-ES" sz="3600" b="1" dirty="0"/>
          </a:p>
        </p:txBody>
      </p:sp>
      <p:sp>
        <p:nvSpPr>
          <p:cNvPr id="50179" name="Text Box 21"/>
          <p:cNvSpPr txBox="1">
            <a:spLocks noChangeArrowheads="1"/>
          </p:cNvSpPr>
          <p:nvPr/>
        </p:nvSpPr>
        <p:spPr bwMode="auto">
          <a:xfrm>
            <a:off x="1189724" y="1714715"/>
            <a:ext cx="9413960" cy="523220"/>
          </a:xfrm>
          <a:prstGeom prst="rect">
            <a:avLst/>
          </a:prstGeom>
          <a:noFill/>
          <a:ln w="9525">
            <a:noFill/>
            <a:miter lim="800000"/>
            <a:headEnd/>
            <a:tailEnd/>
          </a:ln>
        </p:spPr>
        <p:txBody>
          <a:bodyPr wrap="square">
            <a:spAutoFit/>
          </a:bodyPr>
          <a:lstStyle/>
          <a:p>
            <a:pPr algn="ctr" eaLnBrk="1" hangingPunct="1">
              <a:spcBef>
                <a:spcPct val="50000"/>
              </a:spcBef>
            </a:pPr>
            <a:r>
              <a:rPr lang="es-ES" sz="2800" b="1" dirty="0"/>
              <a:t>CLASIFICACIÓN SEGÚN TIEMPO DE  APARICIÓN</a:t>
            </a:r>
            <a:endParaRPr lang="es-ES" sz="2800" dirty="0"/>
          </a:p>
        </p:txBody>
      </p:sp>
      <p:sp>
        <p:nvSpPr>
          <p:cNvPr id="50180" name="Text Box 21"/>
          <p:cNvSpPr txBox="1">
            <a:spLocks noChangeArrowheads="1"/>
          </p:cNvSpPr>
          <p:nvPr/>
        </p:nvSpPr>
        <p:spPr bwMode="auto">
          <a:xfrm>
            <a:off x="738874" y="2515764"/>
            <a:ext cx="10644988" cy="3416320"/>
          </a:xfrm>
          <a:prstGeom prst="rect">
            <a:avLst/>
          </a:prstGeom>
          <a:noFill/>
          <a:ln w="9525">
            <a:noFill/>
            <a:miter lim="800000"/>
            <a:headEnd/>
            <a:tailEnd/>
          </a:ln>
        </p:spPr>
        <p:txBody>
          <a:bodyPr wrap="square">
            <a:spAutoFit/>
          </a:bodyPr>
          <a:lstStyle/>
          <a:p>
            <a:pPr algn="just">
              <a:spcBef>
                <a:spcPct val="50000"/>
              </a:spcBef>
              <a:buFont typeface="Wingdings" pitchFamily="2" charset="2"/>
              <a:buChar char="ü"/>
            </a:pPr>
            <a:r>
              <a:rPr lang="es-MX" sz="2400" b="1" dirty="0"/>
              <a:t>Fallas tempranas: </a:t>
            </a:r>
            <a:r>
              <a:rPr lang="es-ES" sz="2400" dirty="0"/>
              <a:t>Ocurren al principio de la vida útil y constituyen un porcentaje pequeño del total de fallas.</a:t>
            </a:r>
            <a:r>
              <a:rPr lang="es-MX" sz="2400" b="1" dirty="0"/>
              <a:t> </a:t>
            </a:r>
            <a:r>
              <a:rPr lang="es-MX" sz="2400" dirty="0"/>
              <a:t> </a:t>
            </a:r>
          </a:p>
          <a:p>
            <a:pPr algn="just">
              <a:spcBef>
                <a:spcPct val="50000"/>
              </a:spcBef>
              <a:buFont typeface="Wingdings" pitchFamily="2" charset="2"/>
              <a:buChar char="ü"/>
            </a:pPr>
            <a:r>
              <a:rPr lang="es-CO" sz="2400" b="1" dirty="0"/>
              <a:t>Fallas adultas</a:t>
            </a:r>
            <a:r>
              <a:rPr lang="es-ES" sz="2400" b="1" dirty="0"/>
              <a:t>: </a:t>
            </a:r>
            <a:r>
              <a:rPr lang="es-ES" sz="2400" dirty="0"/>
              <a:t>Son las fallas que presentan mayor frecuencia durante la vida útil. Son derivadas de las condiciones de operación y se presentan más lentamente que las anteriores</a:t>
            </a:r>
            <a:endParaRPr lang="es-CO" sz="2400" dirty="0"/>
          </a:p>
          <a:p>
            <a:pPr algn="just">
              <a:spcBef>
                <a:spcPct val="50000"/>
              </a:spcBef>
              <a:buFont typeface="Wingdings" pitchFamily="2" charset="2"/>
              <a:buChar char="ü"/>
            </a:pPr>
            <a:r>
              <a:rPr lang="es-CO" sz="2400" b="1" dirty="0"/>
              <a:t>Fallas tardías: </a:t>
            </a:r>
            <a:r>
              <a:rPr lang="es-CO" sz="2400" dirty="0"/>
              <a:t> </a:t>
            </a:r>
            <a:r>
              <a:rPr lang="es-ES" sz="2400" dirty="0"/>
              <a:t>Representan una pequeña fracción de las fallas totales, aparecen en forma lenta y ocurren en la etapa final de la vida del bien</a:t>
            </a:r>
            <a:endParaRPr lang="es-CO" sz="2400" dirty="0">
              <a:solidFill>
                <a:srgbClr val="37829E"/>
              </a:solidFill>
            </a:endParaRPr>
          </a:p>
        </p:txBody>
      </p:sp>
    </p:spTree>
    <p:extLst>
      <p:ext uri="{BB962C8B-B14F-4D97-AF65-F5344CB8AC3E}">
        <p14:creationId xmlns:p14="http://schemas.microsoft.com/office/powerpoint/2010/main" val="19722405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3250" name="Rectangle 20"/>
          <p:cNvSpPr>
            <a:spLocks noChangeArrowheads="1"/>
          </p:cNvSpPr>
          <p:nvPr/>
        </p:nvSpPr>
        <p:spPr bwMode="auto">
          <a:xfrm>
            <a:off x="2154512" y="356489"/>
            <a:ext cx="8072437" cy="720725"/>
          </a:xfrm>
          <a:prstGeom prst="rect">
            <a:avLst/>
          </a:prstGeom>
          <a:noFill/>
          <a:ln w="9525">
            <a:noFill/>
            <a:miter lim="800000"/>
            <a:headEnd/>
            <a:tailEnd/>
          </a:ln>
        </p:spPr>
        <p:txBody>
          <a:bodyPr anchor="ctr"/>
          <a:lstStyle/>
          <a:p>
            <a:pPr algn="ctr" eaLnBrk="1" hangingPunct="1"/>
            <a:r>
              <a:rPr lang="es-MX" sz="3600" b="1" dirty="0"/>
              <a:t>Consecuencias de las fallas</a:t>
            </a:r>
            <a:endParaRPr lang="es-ES" sz="3600" b="1" dirty="0"/>
          </a:p>
        </p:txBody>
      </p:sp>
      <p:sp>
        <p:nvSpPr>
          <p:cNvPr id="43011" name="Text Box 21"/>
          <p:cNvSpPr txBox="1">
            <a:spLocks noChangeArrowheads="1"/>
          </p:cNvSpPr>
          <p:nvPr/>
        </p:nvSpPr>
        <p:spPr bwMode="auto">
          <a:xfrm>
            <a:off x="762152" y="1172105"/>
            <a:ext cx="10348671" cy="6124754"/>
          </a:xfrm>
          <a:prstGeom prst="rect">
            <a:avLst/>
          </a:prstGeom>
          <a:noFill/>
          <a:ln w="9525">
            <a:noFill/>
            <a:miter lim="800000"/>
            <a:headEnd/>
            <a:tailEnd/>
          </a:ln>
        </p:spPr>
        <p:txBody>
          <a:bodyPr wrap="square">
            <a:spAutoFit/>
          </a:bodyPr>
          <a:lstStyle/>
          <a:p>
            <a:pPr algn="just" eaLnBrk="1" hangingPunct="1">
              <a:spcBef>
                <a:spcPct val="50000"/>
              </a:spcBef>
            </a:pPr>
            <a:r>
              <a:rPr lang="es-MX" sz="2800" dirty="0"/>
              <a:t>Según su categoría se pueden organizar de la siguiente manera</a:t>
            </a:r>
          </a:p>
          <a:p>
            <a:pPr algn="just" eaLnBrk="1" hangingPunct="1">
              <a:spcBef>
                <a:spcPct val="50000"/>
              </a:spcBef>
              <a:buFont typeface="Arial" charset="0"/>
              <a:buChar char="•"/>
            </a:pPr>
            <a:r>
              <a:rPr lang="es-MX" sz="2800" b="1" dirty="0"/>
              <a:t> Operacionales: </a:t>
            </a:r>
          </a:p>
          <a:p>
            <a:pPr algn="just" eaLnBrk="1" hangingPunct="1">
              <a:spcBef>
                <a:spcPct val="50000"/>
              </a:spcBef>
            </a:pPr>
            <a:r>
              <a:rPr lang="es-MX" sz="2800" dirty="0"/>
              <a:t>   Afectan la función primaria</a:t>
            </a:r>
          </a:p>
          <a:p>
            <a:pPr algn="just" eaLnBrk="1" hangingPunct="1">
              <a:spcBef>
                <a:spcPct val="50000"/>
              </a:spcBef>
              <a:buFont typeface="Arial" charset="0"/>
              <a:buChar char="•"/>
            </a:pPr>
            <a:r>
              <a:rPr lang="es-MX" sz="2800" dirty="0"/>
              <a:t> </a:t>
            </a:r>
            <a:r>
              <a:rPr lang="es-MX" sz="2800" b="1" dirty="0"/>
              <a:t>No operacionales: </a:t>
            </a:r>
          </a:p>
          <a:p>
            <a:pPr algn="just" eaLnBrk="1" hangingPunct="1">
              <a:spcBef>
                <a:spcPct val="50000"/>
              </a:spcBef>
            </a:pPr>
            <a:r>
              <a:rPr lang="es-MX" sz="2800" dirty="0"/>
              <a:t>  Afectan las funciones secundarias </a:t>
            </a:r>
          </a:p>
          <a:p>
            <a:pPr algn="just" eaLnBrk="1" hangingPunct="1">
              <a:spcBef>
                <a:spcPct val="50000"/>
              </a:spcBef>
              <a:buFont typeface="Arial" charset="0"/>
              <a:buChar char="•"/>
            </a:pPr>
            <a:r>
              <a:rPr lang="es-MX" sz="2800" b="1" dirty="0"/>
              <a:t> En la seguridad y en el entorno: </a:t>
            </a:r>
          </a:p>
          <a:p>
            <a:pPr algn="just" eaLnBrk="1" hangingPunct="1">
              <a:spcBef>
                <a:spcPct val="50000"/>
              </a:spcBef>
            </a:pPr>
            <a:r>
              <a:rPr lang="es-MX" sz="2800" dirty="0"/>
              <a:t>  Afectan la seguridad o el medio ambiente.</a:t>
            </a:r>
          </a:p>
          <a:p>
            <a:pPr marL="457200" indent="-457200" algn="just" eaLnBrk="1" hangingPunct="1">
              <a:spcBef>
                <a:spcPct val="50000"/>
              </a:spcBef>
              <a:buFont typeface="Arial" panose="020B0604020202020204" pitchFamily="34" charset="0"/>
              <a:buChar char="•"/>
            </a:pPr>
            <a:r>
              <a:rPr lang="es-MX" sz="2800" b="1" dirty="0"/>
              <a:t>De fallas ocultas.</a:t>
            </a:r>
          </a:p>
          <a:p>
            <a:pPr algn="just" eaLnBrk="1" hangingPunct="1">
              <a:spcBef>
                <a:spcPct val="50000"/>
              </a:spcBef>
            </a:pPr>
            <a:endParaRPr lang="es-MX" sz="2800" dirty="0"/>
          </a:p>
        </p:txBody>
      </p:sp>
    </p:spTree>
    <p:extLst>
      <p:ext uri="{BB962C8B-B14F-4D97-AF65-F5344CB8AC3E}">
        <p14:creationId xmlns:p14="http://schemas.microsoft.com/office/powerpoint/2010/main" val="3918939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3011">
                                            <p:txEl>
                                              <p:pRg st="0" end="0"/>
                                            </p:txEl>
                                          </p:spTgt>
                                        </p:tgtEl>
                                        <p:attrNameLst>
                                          <p:attrName>style.visibility</p:attrName>
                                        </p:attrNameLst>
                                      </p:cBhvr>
                                      <p:to>
                                        <p:strVal val="visible"/>
                                      </p:to>
                                    </p:set>
                                    <p:anim calcmode="lin" valueType="num">
                                      <p:cBhvr additive="base">
                                        <p:cTn id="7" dur="500" fill="hold"/>
                                        <p:tgtEl>
                                          <p:spTgt spid="4301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3011">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3011">
                                            <p:txEl>
                                              <p:pRg st="1" end="1"/>
                                            </p:txEl>
                                          </p:spTgt>
                                        </p:tgtEl>
                                        <p:attrNameLst>
                                          <p:attrName>style.visibility</p:attrName>
                                        </p:attrNameLst>
                                      </p:cBhvr>
                                      <p:to>
                                        <p:strVal val="visible"/>
                                      </p:to>
                                    </p:set>
                                    <p:anim calcmode="lin" valueType="num">
                                      <p:cBhvr additive="base">
                                        <p:cTn id="11" dur="500" fill="hold"/>
                                        <p:tgtEl>
                                          <p:spTgt spid="43011">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301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43011">
                                            <p:txEl>
                                              <p:pRg st="2" end="2"/>
                                            </p:txEl>
                                          </p:spTgt>
                                        </p:tgtEl>
                                        <p:attrNameLst>
                                          <p:attrName>style.visibility</p:attrName>
                                        </p:attrNameLst>
                                      </p:cBhvr>
                                      <p:to>
                                        <p:strVal val="visible"/>
                                      </p:to>
                                    </p:set>
                                    <p:anim calcmode="lin" valueType="num">
                                      <p:cBhvr additive="base">
                                        <p:cTn id="17" dur="500" fill="hold"/>
                                        <p:tgtEl>
                                          <p:spTgt spid="43011">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43011">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43011">
                                            <p:txEl>
                                              <p:pRg st="3" end="3"/>
                                            </p:txEl>
                                          </p:spTgt>
                                        </p:tgtEl>
                                        <p:attrNameLst>
                                          <p:attrName>style.visibility</p:attrName>
                                        </p:attrNameLst>
                                      </p:cBhvr>
                                      <p:to>
                                        <p:strVal val="visible"/>
                                      </p:to>
                                    </p:set>
                                    <p:anim calcmode="lin" valueType="num">
                                      <p:cBhvr additive="base">
                                        <p:cTn id="21" dur="500" fill="hold"/>
                                        <p:tgtEl>
                                          <p:spTgt spid="43011">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43011">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43011">
                                            <p:txEl>
                                              <p:pRg st="4" end="4"/>
                                            </p:txEl>
                                          </p:spTgt>
                                        </p:tgtEl>
                                        <p:attrNameLst>
                                          <p:attrName>style.visibility</p:attrName>
                                        </p:attrNameLst>
                                      </p:cBhvr>
                                      <p:to>
                                        <p:strVal val="visible"/>
                                      </p:to>
                                    </p:set>
                                    <p:anim calcmode="lin" valueType="num">
                                      <p:cBhvr additive="base">
                                        <p:cTn id="25" dur="500" fill="hold"/>
                                        <p:tgtEl>
                                          <p:spTgt spid="4301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3011">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43011">
                                            <p:txEl>
                                              <p:pRg st="5" end="5"/>
                                            </p:txEl>
                                          </p:spTgt>
                                        </p:tgtEl>
                                        <p:attrNameLst>
                                          <p:attrName>style.visibility</p:attrName>
                                        </p:attrNameLst>
                                      </p:cBhvr>
                                      <p:to>
                                        <p:strVal val="visible"/>
                                      </p:to>
                                    </p:set>
                                    <p:anim calcmode="lin" valueType="num">
                                      <p:cBhvr additive="base">
                                        <p:cTn id="29" dur="500" fill="hold"/>
                                        <p:tgtEl>
                                          <p:spTgt spid="43011">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43011">
                                            <p:txEl>
                                              <p:pRg st="5" end="5"/>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43011">
                                            <p:txEl>
                                              <p:pRg st="6" end="6"/>
                                            </p:txEl>
                                          </p:spTgt>
                                        </p:tgtEl>
                                        <p:attrNameLst>
                                          <p:attrName>style.visibility</p:attrName>
                                        </p:attrNameLst>
                                      </p:cBhvr>
                                      <p:to>
                                        <p:strVal val="visible"/>
                                      </p:to>
                                    </p:set>
                                    <p:anim calcmode="lin" valueType="num">
                                      <p:cBhvr additive="base">
                                        <p:cTn id="33" dur="500" fill="hold"/>
                                        <p:tgtEl>
                                          <p:spTgt spid="43011">
                                            <p:txEl>
                                              <p:pRg st="6" end="6"/>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43011">
                                            <p:txEl>
                                              <p:pRg st="6" end="6"/>
                                            </p:tx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43011">
                                            <p:txEl>
                                              <p:pRg st="7" end="7"/>
                                            </p:txEl>
                                          </p:spTgt>
                                        </p:tgtEl>
                                        <p:attrNameLst>
                                          <p:attrName>style.visibility</p:attrName>
                                        </p:attrNameLst>
                                      </p:cBhvr>
                                      <p:to>
                                        <p:strVal val="visible"/>
                                      </p:to>
                                    </p:set>
                                    <p:anim calcmode="lin" valueType="num">
                                      <p:cBhvr additive="base">
                                        <p:cTn id="37" dur="500" fill="hold"/>
                                        <p:tgtEl>
                                          <p:spTgt spid="43011">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301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1" grpId="0" build="allAtOnce"/>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0"/>
          <p:cNvSpPr>
            <a:spLocks noChangeArrowheads="1"/>
          </p:cNvSpPr>
          <p:nvPr/>
        </p:nvSpPr>
        <p:spPr bwMode="auto">
          <a:xfrm>
            <a:off x="2154512" y="356489"/>
            <a:ext cx="8072437" cy="720725"/>
          </a:xfrm>
          <a:prstGeom prst="rect">
            <a:avLst/>
          </a:prstGeom>
          <a:noFill/>
          <a:ln w="9525">
            <a:noFill/>
            <a:miter lim="800000"/>
            <a:headEnd/>
            <a:tailEnd/>
          </a:ln>
        </p:spPr>
        <p:txBody>
          <a:bodyPr anchor="ctr"/>
          <a:lstStyle/>
          <a:p>
            <a:pPr algn="ctr" eaLnBrk="1" hangingPunct="1"/>
            <a:r>
              <a:rPr lang="es-MX" sz="3600" b="1" dirty="0"/>
              <a:t>Consecuencias de las fallas</a:t>
            </a:r>
            <a:endParaRPr lang="es-ES" sz="3600" b="1" dirty="0"/>
          </a:p>
        </p:txBody>
      </p:sp>
      <p:sp>
        <p:nvSpPr>
          <p:cNvPr id="3" name="Text Box 21"/>
          <p:cNvSpPr txBox="1">
            <a:spLocks noChangeArrowheads="1"/>
          </p:cNvSpPr>
          <p:nvPr/>
        </p:nvSpPr>
        <p:spPr bwMode="auto">
          <a:xfrm>
            <a:off x="1016394" y="1432082"/>
            <a:ext cx="10348671" cy="4832092"/>
          </a:xfrm>
          <a:prstGeom prst="rect">
            <a:avLst/>
          </a:prstGeom>
          <a:noFill/>
          <a:ln w="9525">
            <a:noFill/>
            <a:miter lim="800000"/>
            <a:headEnd/>
            <a:tailEnd/>
          </a:ln>
        </p:spPr>
        <p:txBody>
          <a:bodyPr wrap="square">
            <a:spAutoFit/>
          </a:bodyPr>
          <a:lstStyle/>
          <a:p>
            <a:pPr algn="just" eaLnBrk="1" hangingPunct="1">
              <a:spcBef>
                <a:spcPct val="50000"/>
              </a:spcBef>
            </a:pPr>
            <a:r>
              <a:rPr lang="es-MX" sz="2800" dirty="0"/>
              <a:t>Según su efecto se pueden clasificar de la siguiente manera</a:t>
            </a:r>
          </a:p>
          <a:p>
            <a:pPr algn="just" eaLnBrk="1" hangingPunct="1">
              <a:spcBef>
                <a:spcPct val="50000"/>
              </a:spcBef>
              <a:buFont typeface="Arial" charset="0"/>
              <a:buChar char="•"/>
            </a:pPr>
            <a:r>
              <a:rPr lang="es-MX" sz="2800" b="1" dirty="0"/>
              <a:t> Perdida de vidas humanas.</a:t>
            </a:r>
          </a:p>
          <a:p>
            <a:pPr algn="just" eaLnBrk="1" hangingPunct="1">
              <a:spcBef>
                <a:spcPct val="50000"/>
              </a:spcBef>
              <a:buFont typeface="Arial" charset="0"/>
              <a:buChar char="•"/>
            </a:pPr>
            <a:r>
              <a:rPr lang="es-MX" sz="2800" b="1" dirty="0"/>
              <a:t> Perdida de materiales mayores.</a:t>
            </a:r>
          </a:p>
          <a:p>
            <a:pPr algn="just" eaLnBrk="1" hangingPunct="1">
              <a:spcBef>
                <a:spcPct val="50000"/>
              </a:spcBef>
              <a:buFont typeface="Arial" charset="0"/>
              <a:buChar char="•"/>
            </a:pPr>
            <a:r>
              <a:rPr lang="es-MX" sz="2800" b="1" dirty="0"/>
              <a:t> Daños parciales o totales en equipos.</a:t>
            </a:r>
          </a:p>
          <a:p>
            <a:pPr algn="just" eaLnBrk="1" hangingPunct="1">
              <a:spcBef>
                <a:spcPct val="50000"/>
              </a:spcBef>
              <a:buFont typeface="Arial" charset="0"/>
              <a:buChar char="•"/>
            </a:pPr>
            <a:r>
              <a:rPr lang="es-MX" sz="2800" b="1" dirty="0"/>
              <a:t> Perdidas en producción o servicios.</a:t>
            </a:r>
          </a:p>
          <a:p>
            <a:pPr algn="just" eaLnBrk="1" hangingPunct="1">
              <a:spcBef>
                <a:spcPct val="50000"/>
              </a:spcBef>
              <a:buFont typeface="Arial" charset="0"/>
              <a:buChar char="•"/>
            </a:pPr>
            <a:r>
              <a:rPr lang="es-MX" sz="2800" b="1" dirty="0"/>
              <a:t> Daños parciales o permanentes al medio ambiente</a:t>
            </a:r>
          </a:p>
          <a:p>
            <a:pPr algn="just" eaLnBrk="1" hangingPunct="1">
              <a:spcBef>
                <a:spcPct val="50000"/>
              </a:spcBef>
            </a:pPr>
            <a:endParaRPr lang="es-MX" sz="2800" dirty="0"/>
          </a:p>
        </p:txBody>
      </p:sp>
    </p:spTree>
    <p:extLst>
      <p:ext uri="{BB962C8B-B14F-4D97-AF65-F5344CB8AC3E}">
        <p14:creationId xmlns:p14="http://schemas.microsoft.com/office/powerpoint/2010/main" val="37757217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 calcmode="lin" valueType="num">
                                      <p:cBhvr additive="base">
                                        <p:cTn id="2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 calcmode="lin" valueType="num">
                                      <p:cBhvr additive="base">
                                        <p:cTn id="2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allAtOnce"/>
    </p:bld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0"/>
          <p:cNvSpPr>
            <a:spLocks noChangeArrowheads="1"/>
          </p:cNvSpPr>
          <p:nvPr/>
        </p:nvSpPr>
        <p:spPr bwMode="auto">
          <a:xfrm>
            <a:off x="3707548" y="1102279"/>
            <a:ext cx="4429156" cy="663575"/>
          </a:xfrm>
          <a:prstGeom prst="rect">
            <a:avLst/>
          </a:prstGeom>
          <a:noFill/>
          <a:ln w="9525">
            <a:noFill/>
            <a:miter lim="800000"/>
            <a:headEnd/>
            <a:tailEnd/>
          </a:ln>
        </p:spPr>
        <p:txBody>
          <a:bodyPr anchor="ctr"/>
          <a:lstStyle/>
          <a:p>
            <a:pPr algn="ctr" eaLnBrk="1" hangingPunct="1"/>
            <a:r>
              <a:rPr lang="es-ES" sz="4800" b="1" dirty="0"/>
              <a:t>Daño</a:t>
            </a:r>
          </a:p>
        </p:txBody>
      </p:sp>
      <p:sp>
        <p:nvSpPr>
          <p:cNvPr id="37891" name="Text Box 21"/>
          <p:cNvSpPr txBox="1">
            <a:spLocks noChangeArrowheads="1"/>
          </p:cNvSpPr>
          <p:nvPr/>
        </p:nvSpPr>
        <p:spPr bwMode="auto">
          <a:xfrm>
            <a:off x="1630393" y="2136916"/>
            <a:ext cx="9307183" cy="3785652"/>
          </a:xfrm>
          <a:prstGeom prst="rect">
            <a:avLst/>
          </a:prstGeom>
          <a:noFill/>
          <a:ln w="9525">
            <a:noFill/>
            <a:miter lim="800000"/>
            <a:headEnd/>
            <a:tailEnd/>
          </a:ln>
        </p:spPr>
        <p:txBody>
          <a:bodyPr wrap="square">
            <a:spAutoFit/>
          </a:bodyPr>
          <a:lstStyle/>
          <a:p>
            <a:pPr algn="just" eaLnBrk="1" hangingPunct="1">
              <a:spcBef>
                <a:spcPct val="50000"/>
              </a:spcBef>
            </a:pPr>
            <a:r>
              <a:rPr lang="es-ES" sz="3000" dirty="0"/>
              <a:t>Alteración física de un elemento mecánico debido a los esfuerzos generados por diferentes cargas y con efectos asociados a resistencia, deformación, deflexión, torsión, pandeo y velocidad crítica o por la pérdida de material debido a fenómenos de corrosión y desgaste y lo cual  puede dar origen a una falla de la máquina o equipo.</a:t>
            </a:r>
          </a:p>
        </p:txBody>
      </p:sp>
    </p:spTree>
    <p:extLst>
      <p:ext uri="{BB962C8B-B14F-4D97-AF65-F5344CB8AC3E}">
        <p14:creationId xmlns:p14="http://schemas.microsoft.com/office/powerpoint/2010/main" val="25950960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allAtOnce"/>
    </p:bld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Rectangle 20"/>
          <p:cNvSpPr>
            <a:spLocks noChangeArrowheads="1"/>
          </p:cNvSpPr>
          <p:nvPr/>
        </p:nvSpPr>
        <p:spPr bwMode="auto">
          <a:xfrm>
            <a:off x="3772786" y="1059147"/>
            <a:ext cx="4032250" cy="736600"/>
          </a:xfrm>
          <a:prstGeom prst="rect">
            <a:avLst/>
          </a:prstGeom>
          <a:noFill/>
          <a:ln w="9525">
            <a:noFill/>
            <a:miter lim="800000"/>
            <a:headEnd/>
            <a:tailEnd/>
          </a:ln>
        </p:spPr>
        <p:txBody>
          <a:bodyPr anchor="ctr"/>
          <a:lstStyle/>
          <a:p>
            <a:pPr algn="ctr" eaLnBrk="1" hangingPunct="1"/>
            <a:r>
              <a:rPr lang="es-ES" sz="4800" b="1" dirty="0"/>
              <a:t>Daño</a:t>
            </a:r>
          </a:p>
        </p:txBody>
      </p:sp>
      <p:sp>
        <p:nvSpPr>
          <p:cNvPr id="37891" name="Text Box 21"/>
          <p:cNvSpPr txBox="1">
            <a:spLocks noChangeArrowheads="1"/>
          </p:cNvSpPr>
          <p:nvPr/>
        </p:nvSpPr>
        <p:spPr bwMode="auto">
          <a:xfrm>
            <a:off x="1492370" y="2285991"/>
            <a:ext cx="8824821" cy="3046988"/>
          </a:xfrm>
          <a:prstGeom prst="rect">
            <a:avLst/>
          </a:prstGeom>
          <a:noFill/>
          <a:ln w="9525">
            <a:noFill/>
            <a:miter lim="800000"/>
            <a:headEnd/>
            <a:tailEnd/>
          </a:ln>
        </p:spPr>
        <p:txBody>
          <a:bodyPr wrap="square">
            <a:spAutoFit/>
          </a:bodyPr>
          <a:lstStyle/>
          <a:p>
            <a:pPr algn="just" eaLnBrk="1" hangingPunct="1">
              <a:spcBef>
                <a:spcPct val="50000"/>
              </a:spcBef>
            </a:pPr>
            <a:r>
              <a:rPr lang="es-ES" sz="3200" dirty="0"/>
              <a:t>Comprende además alteraciones que se presentan en elementos o partes neumáticas, hidráulicas, eléctricas o electrónicas que conduzcan a desajustes o </a:t>
            </a:r>
            <a:r>
              <a:rPr lang="es-ES" sz="3200" dirty="0" err="1"/>
              <a:t>descalibraciones</a:t>
            </a:r>
            <a:r>
              <a:rPr lang="es-ES" sz="3200" dirty="0"/>
              <a:t> del sistema de tal forma que se afecten sus funciones. </a:t>
            </a:r>
          </a:p>
        </p:txBody>
      </p:sp>
    </p:spTree>
    <p:extLst>
      <p:ext uri="{BB962C8B-B14F-4D97-AF65-F5344CB8AC3E}">
        <p14:creationId xmlns:p14="http://schemas.microsoft.com/office/powerpoint/2010/main" val="336741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F2106EA-9702-F207-03BC-8C8727C849C7}"/>
              </a:ext>
            </a:extLst>
          </p:cNvPr>
          <p:cNvSpPr txBox="1"/>
          <p:nvPr/>
        </p:nvSpPr>
        <p:spPr>
          <a:xfrm>
            <a:off x="2523564" y="260736"/>
            <a:ext cx="7144871" cy="769441"/>
          </a:xfrm>
          <a:prstGeom prst="rect">
            <a:avLst/>
          </a:prstGeom>
          <a:noFill/>
        </p:spPr>
        <p:txBody>
          <a:bodyPr wrap="square" rtlCol="0">
            <a:spAutoFit/>
          </a:bodyPr>
          <a:lstStyle/>
          <a:p>
            <a:pPr algn="ctr"/>
            <a:r>
              <a:rPr lang="es-ES" sz="4400" dirty="0"/>
              <a:t>DISCUSIÓN</a:t>
            </a:r>
            <a:endParaRPr lang="es-CO" sz="4400" dirty="0"/>
          </a:p>
        </p:txBody>
      </p:sp>
      <p:sp>
        <p:nvSpPr>
          <p:cNvPr id="3" name="Elipse 2">
            <a:extLst>
              <a:ext uri="{FF2B5EF4-FFF2-40B4-BE49-F238E27FC236}">
                <a16:creationId xmlns:a16="http://schemas.microsoft.com/office/drawing/2014/main" id="{0C1A4544-296E-55CF-2C86-5A797E73A609}"/>
              </a:ext>
            </a:extLst>
          </p:cNvPr>
          <p:cNvSpPr/>
          <p:nvPr/>
        </p:nvSpPr>
        <p:spPr>
          <a:xfrm>
            <a:off x="2178425" y="2568767"/>
            <a:ext cx="1658471" cy="76944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a:t>FALLA</a:t>
            </a:r>
            <a:endParaRPr lang="es-CO" dirty="0"/>
          </a:p>
        </p:txBody>
      </p:sp>
      <p:sp>
        <p:nvSpPr>
          <p:cNvPr id="4" name="Elipse 3">
            <a:extLst>
              <a:ext uri="{FF2B5EF4-FFF2-40B4-BE49-F238E27FC236}">
                <a16:creationId xmlns:a16="http://schemas.microsoft.com/office/drawing/2014/main" id="{42C39876-F18C-5408-36BC-A61FD1D0B864}"/>
              </a:ext>
            </a:extLst>
          </p:cNvPr>
          <p:cNvSpPr/>
          <p:nvPr/>
        </p:nvSpPr>
        <p:spPr>
          <a:xfrm>
            <a:off x="2332452" y="5073969"/>
            <a:ext cx="1658471" cy="76944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a:t>DAÑO</a:t>
            </a:r>
            <a:endParaRPr lang="es-CO" dirty="0"/>
          </a:p>
        </p:txBody>
      </p:sp>
      <p:sp>
        <p:nvSpPr>
          <p:cNvPr id="5" name="Elipse 4">
            <a:extLst>
              <a:ext uri="{FF2B5EF4-FFF2-40B4-BE49-F238E27FC236}">
                <a16:creationId xmlns:a16="http://schemas.microsoft.com/office/drawing/2014/main" id="{8A0D77BC-BB86-AE37-4B12-4C5B6B7A594B}"/>
              </a:ext>
            </a:extLst>
          </p:cNvPr>
          <p:cNvSpPr/>
          <p:nvPr/>
        </p:nvSpPr>
        <p:spPr>
          <a:xfrm>
            <a:off x="7055221" y="2456327"/>
            <a:ext cx="2958354" cy="99432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a:t>CONSECUENCIA</a:t>
            </a:r>
            <a:endParaRPr lang="es-CO" dirty="0"/>
          </a:p>
        </p:txBody>
      </p:sp>
      <p:sp>
        <p:nvSpPr>
          <p:cNvPr id="6" name="Elipse 5">
            <a:extLst>
              <a:ext uri="{FF2B5EF4-FFF2-40B4-BE49-F238E27FC236}">
                <a16:creationId xmlns:a16="http://schemas.microsoft.com/office/drawing/2014/main" id="{D2133827-1928-B743-F75F-D311202051D4}"/>
              </a:ext>
            </a:extLst>
          </p:cNvPr>
          <p:cNvSpPr/>
          <p:nvPr/>
        </p:nvSpPr>
        <p:spPr>
          <a:xfrm>
            <a:off x="7705162" y="5073968"/>
            <a:ext cx="1658471" cy="76944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dirty="0"/>
              <a:t>CAUSA</a:t>
            </a:r>
            <a:endParaRPr lang="es-CO" dirty="0"/>
          </a:p>
        </p:txBody>
      </p:sp>
      <p:sp>
        <p:nvSpPr>
          <p:cNvPr id="7" name="CuadroTexto 6">
            <a:extLst>
              <a:ext uri="{FF2B5EF4-FFF2-40B4-BE49-F238E27FC236}">
                <a16:creationId xmlns:a16="http://schemas.microsoft.com/office/drawing/2014/main" id="{92701441-6092-0C67-2876-0BC5727FCB1C}"/>
              </a:ext>
            </a:extLst>
          </p:cNvPr>
          <p:cNvSpPr txBox="1"/>
          <p:nvPr/>
        </p:nvSpPr>
        <p:spPr>
          <a:xfrm>
            <a:off x="2631141" y="1166171"/>
            <a:ext cx="7144871" cy="954107"/>
          </a:xfrm>
          <a:prstGeom prst="rect">
            <a:avLst/>
          </a:prstGeom>
          <a:noFill/>
        </p:spPr>
        <p:txBody>
          <a:bodyPr wrap="square" rtlCol="0">
            <a:spAutoFit/>
          </a:bodyPr>
          <a:lstStyle/>
          <a:p>
            <a:pPr algn="ctr"/>
            <a:r>
              <a:rPr lang="es-ES" sz="2800" dirty="0"/>
              <a:t>En qué orden se presentan los siguientes conceptos (de un ejemplo): </a:t>
            </a:r>
            <a:endParaRPr lang="es-CO" sz="2800" dirty="0"/>
          </a:p>
        </p:txBody>
      </p:sp>
      <p:sp>
        <p:nvSpPr>
          <p:cNvPr id="8" name="Elipse 7">
            <a:extLst>
              <a:ext uri="{FF2B5EF4-FFF2-40B4-BE49-F238E27FC236}">
                <a16:creationId xmlns:a16="http://schemas.microsoft.com/office/drawing/2014/main" id="{AB9FB713-AE59-1869-7FA8-EBF7D4E75748}"/>
              </a:ext>
            </a:extLst>
          </p:cNvPr>
          <p:cNvSpPr/>
          <p:nvPr/>
        </p:nvSpPr>
        <p:spPr>
          <a:xfrm>
            <a:off x="4126611" y="3743401"/>
            <a:ext cx="2958354" cy="99432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s-ES"/>
              <a:t>SINTOMA</a:t>
            </a:r>
            <a:endParaRPr lang="es-CO" dirty="0"/>
          </a:p>
        </p:txBody>
      </p:sp>
    </p:spTree>
    <p:extLst>
      <p:ext uri="{BB962C8B-B14F-4D97-AF65-F5344CB8AC3E}">
        <p14:creationId xmlns:p14="http://schemas.microsoft.com/office/powerpoint/2010/main" val="890869243"/>
      </p:ext>
    </p:extLst>
  </p:cSld>
  <p:clrMapOvr>
    <a:masterClrMapping/>
  </p:clrMapOvr>
</p:sld>
</file>

<file path=ppt/theme/theme1.xml><?xml version="1.0" encoding="utf-8"?>
<a:theme xmlns:a="http://schemas.openxmlformats.org/drawingml/2006/main" name="Sector">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8E5026D2E0FE88488153A29B3DFF52EB" ma:contentTypeVersion="0" ma:contentTypeDescription="Crear nuevo documento." ma:contentTypeScope="" ma:versionID="2741dcfb37821b3aca211a9937fee4a1">
  <xsd:schema xmlns:xsd="http://www.w3.org/2001/XMLSchema" xmlns:xs="http://www.w3.org/2001/XMLSchema" xmlns:p="http://schemas.microsoft.com/office/2006/metadata/properties" targetNamespace="http://schemas.microsoft.com/office/2006/metadata/properties" ma:root="true" ma:fieldsID="b037ac2621b9b9c8cd06b50fac5857cb">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2944ED6-3FC2-4448-B12E-343F2F36D3AE}"/>
</file>

<file path=customXml/itemProps2.xml><?xml version="1.0" encoding="utf-8"?>
<ds:datastoreItem xmlns:ds="http://schemas.openxmlformats.org/officeDocument/2006/customXml" ds:itemID="{58BF42A7-62A4-4649-A98C-AFD96291B945}"/>
</file>

<file path=customXml/itemProps3.xml><?xml version="1.0" encoding="utf-8"?>
<ds:datastoreItem xmlns:ds="http://schemas.openxmlformats.org/officeDocument/2006/customXml" ds:itemID="{DAD8D5D7-4D5D-4673-B4B6-F7B4638CB844}"/>
</file>

<file path=docProps/app.xml><?xml version="1.0" encoding="utf-8"?>
<Properties xmlns="http://schemas.openxmlformats.org/officeDocument/2006/extended-properties" xmlns:vt="http://schemas.openxmlformats.org/officeDocument/2006/docPropsVTypes">
  <Template>Slice</Template>
  <TotalTime>4332</TotalTime>
  <Words>1225</Words>
  <Application>Microsoft Office PowerPoint</Application>
  <PresentationFormat>Panorámica</PresentationFormat>
  <Paragraphs>126</Paragraphs>
  <Slides>25</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25</vt:i4>
      </vt:variant>
    </vt:vector>
  </HeadingPairs>
  <TitlesOfParts>
    <vt:vector size="31" baseType="lpstr">
      <vt:lpstr>Arial</vt:lpstr>
      <vt:lpstr>Calibri</vt:lpstr>
      <vt:lpstr>Century Gothic</vt:lpstr>
      <vt:lpstr>Wingdings</vt:lpstr>
      <vt:lpstr>Wingdings 3</vt:lpstr>
      <vt:lpstr>Sector</vt:lpstr>
      <vt:lpstr>Presentación de PowerPoint</vt:lpstr>
      <vt:lpstr>Presentación de PowerPoint</vt:lpstr>
      <vt:lpstr>Presentación de PowerPoint</vt:lpstr>
      <vt:lpstr>Presentación de PowerPoint</vt:lpstr>
      <vt:lpstr>Dos fallas en 3 semanas, ¿Qué puede estar pasando con los aviones de Avianca?</vt:lpstr>
      <vt:lpstr>Accidente en una eólica marina: espectacular caída al agua de tres palas de 61 metros</vt:lpstr>
      <vt:lpstr>Presentación de PowerPoint</vt:lpstr>
      <vt:lpstr>Pasajeros denuncian que avión de Latam tenía fallas desde antes de despegar de Rionegro</vt:lpstr>
      <vt:lpstr>Emergencia en teleférico de Monserrate</vt:lpstr>
      <vt:lpstr>Presentación de PowerPoint</vt:lpstr>
      <vt:lpstr>Actividad</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ACCIONES CORRECTIVO MODIFICATIVAS 2019-2 ESPECIALIZACIÓN EN MANTENIMIENTO INDUSTRIAL</dc:title>
  <dc:creator>Jaime Leonardo Barbosa Perez</dc:creator>
  <cp:lastModifiedBy>Jaime Leonardo Barbosa Perez</cp:lastModifiedBy>
  <cp:revision>88</cp:revision>
  <cp:lastPrinted>2019-09-03T22:50:31Z</cp:lastPrinted>
  <dcterms:created xsi:type="dcterms:W3CDTF">2019-08-22T14:58:02Z</dcterms:created>
  <dcterms:modified xsi:type="dcterms:W3CDTF">2026-05-01T00:03:32Z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0x0101008E5026D2E0FE88488153A29B3DFF52EB</vt:lpwstr>
  </property>
</Properties>
</file>