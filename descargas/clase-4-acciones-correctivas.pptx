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3"/>
  </p:notesMasterIdLst>
  <p:sldIdLst>
    <p:sldId id="256" r:id="rId5"/>
    <p:sldId id="257" r:id="rId6"/>
    <p:sldId id="258" r:id="rId7"/>
    <p:sldId id="259" r:id="rId8"/>
    <p:sldId id="260" r:id="rId9"/>
    <p:sldId id="261" r:id="rId10"/>
    <p:sldId id="262" r:id="rId11"/>
    <p:sldId id="263" r:id="rId12"/>
    <p:sldId id="293" r:id="rId13"/>
    <p:sldId id="294" r:id="rId14"/>
    <p:sldId id="295" r:id="rId15"/>
    <p:sldId id="264" r:id="rId16"/>
    <p:sldId id="296" r:id="rId17"/>
    <p:sldId id="265" r:id="rId18"/>
    <p:sldId id="266" r:id="rId19"/>
    <p:sldId id="267" r:id="rId20"/>
    <p:sldId id="268" r:id="rId21"/>
    <p:sldId id="297" r:id="rId22"/>
    <p:sldId id="269" r:id="rId23"/>
    <p:sldId id="298" r:id="rId24"/>
    <p:sldId id="270" r:id="rId25"/>
    <p:sldId id="271" r:id="rId26"/>
    <p:sldId id="272" r:id="rId27"/>
    <p:sldId id="273" r:id="rId28"/>
    <p:sldId id="274" r:id="rId29"/>
    <p:sldId id="275" r:id="rId30"/>
    <p:sldId id="276" r:id="rId31"/>
    <p:sldId id="277" r:id="rId32"/>
    <p:sldId id="278" r:id="rId33"/>
    <p:sldId id="279" r:id="rId34"/>
    <p:sldId id="299" r:id="rId35"/>
    <p:sldId id="300" r:id="rId36"/>
    <p:sldId id="280" r:id="rId37"/>
    <p:sldId id="281" r:id="rId38"/>
    <p:sldId id="282" r:id="rId39"/>
    <p:sldId id="283" r:id="rId40"/>
    <p:sldId id="301" r:id="rId41"/>
    <p:sldId id="284" r:id="rId42"/>
    <p:sldId id="285" r:id="rId43"/>
    <p:sldId id="302" r:id="rId44"/>
    <p:sldId id="286" r:id="rId45"/>
    <p:sldId id="287" r:id="rId46"/>
    <p:sldId id="288" r:id="rId47"/>
    <p:sldId id="289" r:id="rId48"/>
    <p:sldId id="290" r:id="rId49"/>
    <p:sldId id="291" r:id="rId50"/>
    <p:sldId id="292" r:id="rId51"/>
    <p:sldId id="303"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2" dt="2026-10-02T04:23:20.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Zuluaga Henao" userId="S::dzuluagah@eafit.edu.co::3dbcfa96-5815-4b38-bf2b-401586af46e5" providerId="AD" clId="Web-{00000000-0000-0000-0000-000000000000}"/>
    <pc:docChg chg="modSld">
      <pc:chgData name="David Zuluaga Henao" userId="S::dzuluagah@eafit.edu.co::3dbcfa96-5815-4b38-bf2b-401586af46e5" providerId="AD" clId="Web-{00000000-0000-0000-0000-000000000000}" dt="2026-10-02T04:23:20.638" v="108"/>
      <pc:docMkLst>
        <pc:docMk/>
      </pc:docMkLst>
      <pc:sldChg chg="addSp delSp modSp">
        <pc:chgData name="David Zuluaga Henao" userId="S::dzuluagah@eafit.edu.co::3dbcfa96-5815-4b38-bf2b-401586af46e5" providerId="AD" clId="Web-{00000000-0000-0000-0000-000000000000}" dt="2026-10-02T04:17:03.844" v="98"/>
        <pc:sldMkLst>
          <pc:docMk/>
          <pc:sldMk cId="0" sldId="279"/>
        </pc:sldMkLst>
        <pc:spChg chg="del">
          <ac:chgData name="David Zuluaga Henao" userId="S::dzuluagah@eafit.edu.co::3dbcfa96-5815-4b38-bf2b-401586af46e5" providerId="AD" clId="Web-{00000000-0000-0000-0000-000000000000}" dt="2026-10-02T04:16:54.812" v="97"/>
          <ac:spMkLst>
            <pc:docMk/>
            <pc:sldMk cId="0" sldId="279"/>
            <ac:spMk id="2" creationId="{00000000-0000-0000-0000-000000000000}"/>
          </ac:spMkLst>
        </pc:spChg>
        <pc:spChg chg="del">
          <ac:chgData name="David Zuluaga Henao" userId="S::dzuluagah@eafit.edu.co::3dbcfa96-5815-4b38-bf2b-401586af46e5" providerId="AD" clId="Web-{00000000-0000-0000-0000-000000000000}" dt="2026-10-02T04:16:54.812" v="96"/>
          <ac:spMkLst>
            <pc:docMk/>
            <pc:sldMk cId="0" sldId="279"/>
            <ac:spMk id="3" creationId="{00000000-0000-0000-0000-000000000000}"/>
          </ac:spMkLst>
        </pc:spChg>
        <pc:spChg chg="del">
          <ac:chgData name="David Zuluaga Henao" userId="S::dzuluagah@eafit.edu.co::3dbcfa96-5815-4b38-bf2b-401586af46e5" providerId="AD" clId="Web-{00000000-0000-0000-0000-000000000000}" dt="2026-10-02T04:16:54.812" v="95"/>
          <ac:spMkLst>
            <pc:docMk/>
            <pc:sldMk cId="0" sldId="279"/>
            <ac:spMk id="4" creationId="{00000000-0000-0000-0000-000000000000}"/>
          </ac:spMkLst>
        </pc:spChg>
        <pc:spChg chg="del">
          <ac:chgData name="David Zuluaga Henao" userId="S::dzuluagah@eafit.edu.co::3dbcfa96-5815-4b38-bf2b-401586af46e5" providerId="AD" clId="Web-{00000000-0000-0000-0000-000000000000}" dt="2026-10-02T04:16:54.812" v="94"/>
          <ac:spMkLst>
            <pc:docMk/>
            <pc:sldMk cId="0" sldId="279"/>
            <ac:spMk id="10" creationId="{00000000-0000-0000-0000-000000000000}"/>
          </ac:spMkLst>
        </pc:spChg>
        <pc:spChg chg="del">
          <ac:chgData name="David Zuluaga Henao" userId="S::dzuluagah@eafit.edu.co::3dbcfa96-5815-4b38-bf2b-401586af46e5" providerId="AD" clId="Web-{00000000-0000-0000-0000-000000000000}" dt="2026-10-02T04:16:54.812" v="93"/>
          <ac:spMkLst>
            <pc:docMk/>
            <pc:sldMk cId="0" sldId="279"/>
            <ac:spMk id="25" creationId="{00000000-0000-0000-0000-000000000000}"/>
          </ac:spMkLst>
        </pc:spChg>
        <pc:spChg chg="del">
          <ac:chgData name="David Zuluaga Henao" userId="S::dzuluagah@eafit.edu.co::3dbcfa96-5815-4b38-bf2b-401586af46e5" providerId="AD" clId="Web-{00000000-0000-0000-0000-000000000000}" dt="2026-10-02T04:16:54.812" v="92"/>
          <ac:spMkLst>
            <pc:docMk/>
            <pc:sldMk cId="0" sldId="279"/>
            <ac:spMk id="26" creationId="{00000000-0000-0000-0000-000000000000}"/>
          </ac:spMkLst>
        </pc:spChg>
        <pc:picChg chg="add del mod">
          <ac:chgData name="David Zuluaga Henao" userId="S::dzuluagah@eafit.edu.co::3dbcfa96-5815-4b38-bf2b-401586af46e5" providerId="AD" clId="Web-{00000000-0000-0000-0000-000000000000}" dt="2026-10-02T04:16:54.812" v="91"/>
          <ac:picMkLst>
            <pc:docMk/>
            <pc:sldMk cId="0" sldId="279"/>
            <ac:picMk id="41" creationId="{D516D994-B952-8346-0993-0A60E0D14275}"/>
          </ac:picMkLst>
        </pc:picChg>
        <pc:picChg chg="add del mod">
          <ac:chgData name="David Zuluaga Henao" userId="S::dzuluagah@eafit.edu.co::3dbcfa96-5815-4b38-bf2b-401586af46e5" providerId="AD" clId="Web-{00000000-0000-0000-0000-000000000000}" dt="2026-10-02T04:16:54.812" v="90"/>
          <ac:picMkLst>
            <pc:docMk/>
            <pc:sldMk cId="0" sldId="279"/>
            <ac:picMk id="42" creationId="{19429016-BD08-FF63-DA80-9CA8D0DF8C26}"/>
          </ac:picMkLst>
        </pc:picChg>
        <pc:picChg chg="add del mod">
          <ac:chgData name="David Zuluaga Henao" userId="S::dzuluagah@eafit.edu.co::3dbcfa96-5815-4b38-bf2b-401586af46e5" providerId="AD" clId="Web-{00000000-0000-0000-0000-000000000000}" dt="2026-10-02T04:16:54.812" v="89"/>
          <ac:picMkLst>
            <pc:docMk/>
            <pc:sldMk cId="0" sldId="279"/>
            <ac:picMk id="43" creationId="{FA63FA84-2067-E112-E9D9-7AE3C355CA49}"/>
          </ac:picMkLst>
        </pc:picChg>
        <pc:picChg chg="add del mod">
          <ac:chgData name="David Zuluaga Henao" userId="S::dzuluagah@eafit.edu.co::3dbcfa96-5815-4b38-bf2b-401586af46e5" providerId="AD" clId="Web-{00000000-0000-0000-0000-000000000000}" dt="2026-10-02T04:16:54.812" v="88"/>
          <ac:picMkLst>
            <pc:docMk/>
            <pc:sldMk cId="0" sldId="279"/>
            <ac:picMk id="44" creationId="{2F915AE6-26DB-E253-05F4-91E7847E2C9E}"/>
          </ac:picMkLst>
        </pc:picChg>
        <pc:picChg chg="add del mod">
          <ac:chgData name="David Zuluaga Henao" userId="S::dzuluagah@eafit.edu.co::3dbcfa96-5815-4b38-bf2b-401586af46e5" providerId="AD" clId="Web-{00000000-0000-0000-0000-000000000000}" dt="2026-10-02T04:16:54.812" v="87"/>
          <ac:picMkLst>
            <pc:docMk/>
            <pc:sldMk cId="0" sldId="279"/>
            <ac:picMk id="45" creationId="{942EA948-5C08-E862-70DB-F02617FB7630}"/>
          </ac:picMkLst>
        </pc:picChg>
        <pc:picChg chg="add del mod">
          <ac:chgData name="David Zuluaga Henao" userId="S::dzuluagah@eafit.edu.co::3dbcfa96-5815-4b38-bf2b-401586af46e5" providerId="AD" clId="Web-{00000000-0000-0000-0000-000000000000}" dt="2026-10-02T04:16:54.812" v="86"/>
          <ac:picMkLst>
            <pc:docMk/>
            <pc:sldMk cId="0" sldId="279"/>
            <ac:picMk id="46" creationId="{AE2FD3EC-9371-76DF-6F6F-6920D4C0B575}"/>
          </ac:picMkLst>
        </pc:picChg>
        <pc:picChg chg="add del mod">
          <ac:chgData name="David Zuluaga Henao" userId="S::dzuluagah@eafit.edu.co::3dbcfa96-5815-4b38-bf2b-401586af46e5" providerId="AD" clId="Web-{00000000-0000-0000-0000-000000000000}" dt="2026-10-02T04:16:54.812" v="85"/>
          <ac:picMkLst>
            <pc:docMk/>
            <pc:sldMk cId="0" sldId="279"/>
            <ac:picMk id="47" creationId="{CB8EA4E9-B5D1-518A-A7BE-273E603EA7F1}"/>
          </ac:picMkLst>
        </pc:picChg>
        <pc:picChg chg="add del mod">
          <ac:chgData name="David Zuluaga Henao" userId="S::dzuluagah@eafit.edu.co::3dbcfa96-5815-4b38-bf2b-401586af46e5" providerId="AD" clId="Web-{00000000-0000-0000-0000-000000000000}" dt="2026-10-02T04:16:54.812" v="84"/>
          <ac:picMkLst>
            <pc:docMk/>
            <pc:sldMk cId="0" sldId="279"/>
            <ac:picMk id="48" creationId="{1FEC3F03-CAFC-9431-896A-4081957FA898}"/>
          </ac:picMkLst>
        </pc:picChg>
        <pc:picChg chg="add del mod">
          <ac:chgData name="David Zuluaga Henao" userId="S::dzuluagah@eafit.edu.co::3dbcfa96-5815-4b38-bf2b-401586af46e5" providerId="AD" clId="Web-{00000000-0000-0000-0000-000000000000}" dt="2026-10-02T04:16:54.812" v="83"/>
          <ac:picMkLst>
            <pc:docMk/>
            <pc:sldMk cId="0" sldId="279"/>
            <ac:picMk id="49" creationId="{302F2AA1-EFA0-7773-3369-1F0AFC25BCA1}"/>
          </ac:picMkLst>
        </pc:picChg>
        <pc:picChg chg="add del mod">
          <ac:chgData name="David Zuluaga Henao" userId="S::dzuluagah@eafit.edu.co::3dbcfa96-5815-4b38-bf2b-401586af46e5" providerId="AD" clId="Web-{00000000-0000-0000-0000-000000000000}" dt="2026-10-02T04:16:54.812" v="82"/>
          <ac:picMkLst>
            <pc:docMk/>
            <pc:sldMk cId="0" sldId="279"/>
            <ac:picMk id="50" creationId="{A6C1939B-0B01-C4BB-02CA-14EBCE33FBE4}"/>
          </ac:picMkLst>
        </pc:picChg>
        <pc:picChg chg="add del mod">
          <ac:chgData name="David Zuluaga Henao" userId="S::dzuluagah@eafit.edu.co::3dbcfa96-5815-4b38-bf2b-401586af46e5" providerId="AD" clId="Web-{00000000-0000-0000-0000-000000000000}" dt="2026-10-02T04:16:54.812" v="81"/>
          <ac:picMkLst>
            <pc:docMk/>
            <pc:sldMk cId="0" sldId="279"/>
            <ac:picMk id="51" creationId="{F447E7F0-B613-4816-D7B3-C4E2C07C60B4}"/>
          </ac:picMkLst>
        </pc:picChg>
        <pc:picChg chg="add del mod">
          <ac:chgData name="David Zuluaga Henao" userId="S::dzuluagah@eafit.edu.co::3dbcfa96-5815-4b38-bf2b-401586af46e5" providerId="AD" clId="Web-{00000000-0000-0000-0000-000000000000}" dt="2026-10-02T04:16:54.812" v="80"/>
          <ac:picMkLst>
            <pc:docMk/>
            <pc:sldMk cId="0" sldId="279"/>
            <ac:picMk id="52" creationId="{240417E5-9091-84CF-5141-86B314C9AFB8}"/>
          </ac:picMkLst>
        </pc:picChg>
        <pc:picChg chg="add del mod">
          <ac:chgData name="David Zuluaga Henao" userId="S::dzuluagah@eafit.edu.co::3dbcfa96-5815-4b38-bf2b-401586af46e5" providerId="AD" clId="Web-{00000000-0000-0000-0000-000000000000}" dt="2026-10-02T04:16:54.687" v="79"/>
          <ac:picMkLst>
            <pc:docMk/>
            <pc:sldMk cId="0" sldId="279"/>
            <ac:picMk id="53" creationId="{A8E14D28-FBD3-DD7B-B62E-A7CE72413ADD}"/>
          </ac:picMkLst>
        </pc:picChg>
        <pc:picChg chg="add del mod">
          <ac:chgData name="David Zuluaga Henao" userId="S::dzuluagah@eafit.edu.co::3dbcfa96-5815-4b38-bf2b-401586af46e5" providerId="AD" clId="Web-{00000000-0000-0000-0000-000000000000}" dt="2026-10-02T04:16:54.562" v="78"/>
          <ac:picMkLst>
            <pc:docMk/>
            <pc:sldMk cId="0" sldId="279"/>
            <ac:picMk id="54" creationId="{BFF49D81-135D-9E67-0C8E-6BF5E5EA7664}"/>
          </ac:picMkLst>
        </pc:picChg>
        <pc:picChg chg="add del mod">
          <ac:chgData name="David Zuluaga Henao" userId="S::dzuluagah@eafit.edu.co::3dbcfa96-5815-4b38-bf2b-401586af46e5" providerId="AD" clId="Web-{00000000-0000-0000-0000-000000000000}" dt="2026-10-02T04:16:54.312" v="77"/>
          <ac:picMkLst>
            <pc:docMk/>
            <pc:sldMk cId="0" sldId="279"/>
            <ac:picMk id="55" creationId="{DE089BBE-2255-270F-9C00-48CE8A0CAF8F}"/>
          </ac:picMkLst>
        </pc:picChg>
        <pc:picChg chg="add del mod">
          <ac:chgData name="David Zuluaga Henao" userId="S::dzuluagah@eafit.edu.co::3dbcfa96-5815-4b38-bf2b-401586af46e5" providerId="AD" clId="Web-{00000000-0000-0000-0000-000000000000}" dt="2026-10-02T04:16:53.202" v="71"/>
          <ac:picMkLst>
            <pc:docMk/>
            <pc:sldMk cId="0" sldId="279"/>
            <ac:picMk id="56" creationId="{A58739C2-46BE-DAF7-78D2-CDCDE38950DD}"/>
          </ac:picMkLst>
        </pc:picChg>
        <pc:picChg chg="add del mod">
          <ac:chgData name="David Zuluaga Henao" userId="S::dzuluagah@eafit.edu.co::3dbcfa96-5815-4b38-bf2b-401586af46e5" providerId="AD" clId="Web-{00000000-0000-0000-0000-000000000000}" dt="2026-10-02T04:16:51.515" v="65"/>
          <ac:picMkLst>
            <pc:docMk/>
            <pc:sldMk cId="0" sldId="279"/>
            <ac:picMk id="57" creationId="{D0EE9427-DD2F-6A09-9617-87135A0FC88D}"/>
          </ac:picMkLst>
        </pc:picChg>
        <pc:picChg chg="add del mod">
          <ac:chgData name="David Zuluaga Henao" userId="S::dzuluagah@eafit.edu.co::3dbcfa96-5815-4b38-bf2b-401586af46e5" providerId="AD" clId="Web-{00000000-0000-0000-0000-000000000000}" dt="2026-10-02T04:16:50.702" v="62"/>
          <ac:picMkLst>
            <pc:docMk/>
            <pc:sldMk cId="0" sldId="279"/>
            <ac:picMk id="58" creationId="{E07B5A63-9BD3-1B9E-D2CB-22BBA6D80746}"/>
          </ac:picMkLst>
        </pc:picChg>
        <pc:picChg chg="add del mod">
          <ac:chgData name="David Zuluaga Henao" userId="S::dzuluagah@eafit.edu.co::3dbcfa96-5815-4b38-bf2b-401586af46e5" providerId="AD" clId="Web-{00000000-0000-0000-0000-000000000000}" dt="2026-10-02T04:16:45.343" v="39"/>
          <ac:picMkLst>
            <pc:docMk/>
            <pc:sldMk cId="0" sldId="279"/>
            <ac:picMk id="59" creationId="{6804DA0A-2D92-1BE1-995A-2287E644BEF5}"/>
          </ac:picMkLst>
        </pc:picChg>
        <pc:picChg chg="add del mod">
          <ac:chgData name="David Zuluaga Henao" userId="S::dzuluagah@eafit.edu.co::3dbcfa96-5815-4b38-bf2b-401586af46e5" providerId="AD" clId="Web-{00000000-0000-0000-0000-000000000000}" dt="2026-10-02T04:16:45.343" v="38"/>
          <ac:picMkLst>
            <pc:docMk/>
            <pc:sldMk cId="0" sldId="279"/>
            <ac:picMk id="60" creationId="{C0D83BA8-882A-912A-6FF1-7052A44B90D1}"/>
          </ac:picMkLst>
        </pc:picChg>
        <pc:picChg chg="add del mod">
          <ac:chgData name="David Zuluaga Henao" userId="S::dzuluagah@eafit.edu.co::3dbcfa96-5815-4b38-bf2b-401586af46e5" providerId="AD" clId="Web-{00000000-0000-0000-0000-000000000000}" dt="2026-10-02T04:16:45.343" v="37"/>
          <ac:picMkLst>
            <pc:docMk/>
            <pc:sldMk cId="0" sldId="279"/>
            <ac:picMk id="61" creationId="{47E19309-5749-019D-5B30-8C1AD508FD05}"/>
          </ac:picMkLst>
        </pc:picChg>
        <pc:picChg chg="add del mod">
          <ac:chgData name="David Zuluaga Henao" userId="S::dzuluagah@eafit.edu.co::3dbcfa96-5815-4b38-bf2b-401586af46e5" providerId="AD" clId="Web-{00000000-0000-0000-0000-000000000000}" dt="2026-10-02T04:16:45.343" v="36"/>
          <ac:picMkLst>
            <pc:docMk/>
            <pc:sldMk cId="0" sldId="279"/>
            <ac:picMk id="62" creationId="{4999F54F-EE4C-2AEB-FD83-BC8BD7A2348E}"/>
          </ac:picMkLst>
        </pc:picChg>
        <pc:picChg chg="add del mod">
          <ac:chgData name="David Zuluaga Henao" userId="S::dzuluagah@eafit.edu.co::3dbcfa96-5815-4b38-bf2b-401586af46e5" providerId="AD" clId="Web-{00000000-0000-0000-0000-000000000000}" dt="2026-10-02T04:16:45.343" v="35"/>
          <ac:picMkLst>
            <pc:docMk/>
            <pc:sldMk cId="0" sldId="279"/>
            <ac:picMk id="63" creationId="{3ECA5994-71F7-5F3D-DADE-472DC715643A}"/>
          </ac:picMkLst>
        </pc:picChg>
        <pc:picChg chg="add del mod">
          <ac:chgData name="David Zuluaga Henao" userId="S::dzuluagah@eafit.edu.co::3dbcfa96-5815-4b38-bf2b-401586af46e5" providerId="AD" clId="Web-{00000000-0000-0000-0000-000000000000}" dt="2026-10-02T04:16:45.343" v="34"/>
          <ac:picMkLst>
            <pc:docMk/>
            <pc:sldMk cId="0" sldId="279"/>
            <ac:picMk id="64" creationId="{04025061-8C30-EBA1-3EB4-A3A5D1B0E3A8}"/>
          </ac:picMkLst>
        </pc:picChg>
        <pc:picChg chg="add del mod">
          <ac:chgData name="David Zuluaga Henao" userId="S::dzuluagah@eafit.edu.co::3dbcfa96-5815-4b38-bf2b-401586af46e5" providerId="AD" clId="Web-{00000000-0000-0000-0000-000000000000}" dt="2026-10-02T04:16:45.343" v="33"/>
          <ac:picMkLst>
            <pc:docMk/>
            <pc:sldMk cId="0" sldId="279"/>
            <ac:picMk id="65" creationId="{65818B05-03F2-F2EE-84CA-F20B5DD7CEFD}"/>
          </ac:picMkLst>
        </pc:picChg>
        <pc:picChg chg="add del mod">
          <ac:chgData name="David Zuluaga Henao" userId="S::dzuluagah@eafit.edu.co::3dbcfa96-5815-4b38-bf2b-401586af46e5" providerId="AD" clId="Web-{00000000-0000-0000-0000-000000000000}" dt="2026-10-02T04:16:45.343" v="32"/>
          <ac:picMkLst>
            <pc:docMk/>
            <pc:sldMk cId="0" sldId="279"/>
            <ac:picMk id="66" creationId="{F9894796-7FF8-CB78-3850-494555D62F0E}"/>
          </ac:picMkLst>
        </pc:picChg>
        <pc:picChg chg="add del mod">
          <ac:chgData name="David Zuluaga Henao" userId="S::dzuluagah@eafit.edu.co::3dbcfa96-5815-4b38-bf2b-401586af46e5" providerId="AD" clId="Web-{00000000-0000-0000-0000-000000000000}" dt="2026-10-02T04:16:45.343" v="31"/>
          <ac:picMkLst>
            <pc:docMk/>
            <pc:sldMk cId="0" sldId="279"/>
            <ac:picMk id="67" creationId="{618F91C3-8226-F429-7D9C-86A5AA6D9AE7}"/>
          </ac:picMkLst>
        </pc:picChg>
        <pc:picChg chg="add del mod">
          <ac:chgData name="David Zuluaga Henao" userId="S::dzuluagah@eafit.edu.co::3dbcfa96-5815-4b38-bf2b-401586af46e5" providerId="AD" clId="Web-{00000000-0000-0000-0000-000000000000}" dt="2026-10-02T04:16:45.343" v="30"/>
          <ac:picMkLst>
            <pc:docMk/>
            <pc:sldMk cId="0" sldId="279"/>
            <ac:picMk id="68" creationId="{044AA4F8-11CD-7A12-E471-B9A742140C9D}"/>
          </ac:picMkLst>
        </pc:picChg>
        <pc:picChg chg="add del mod">
          <ac:chgData name="David Zuluaga Henao" userId="S::dzuluagah@eafit.edu.co::3dbcfa96-5815-4b38-bf2b-401586af46e5" providerId="AD" clId="Web-{00000000-0000-0000-0000-000000000000}" dt="2026-10-02T04:16:45.343" v="29"/>
          <ac:picMkLst>
            <pc:docMk/>
            <pc:sldMk cId="0" sldId="279"/>
            <ac:picMk id="69" creationId="{177FB0C6-8040-3EDD-9278-76BE7AD28030}"/>
          </ac:picMkLst>
        </pc:picChg>
        <pc:picChg chg="add del mod">
          <ac:chgData name="David Zuluaga Henao" userId="S::dzuluagah@eafit.edu.co::3dbcfa96-5815-4b38-bf2b-401586af46e5" providerId="AD" clId="Web-{00000000-0000-0000-0000-000000000000}" dt="2026-10-02T04:16:45.812" v="41"/>
          <ac:picMkLst>
            <pc:docMk/>
            <pc:sldMk cId="0" sldId="279"/>
            <ac:picMk id="70" creationId="{55C43CD6-3B39-ABA0-CBA3-AC1757E780A8}"/>
          </ac:picMkLst>
        </pc:picChg>
        <pc:picChg chg="add del mod">
          <ac:chgData name="David Zuluaga Henao" userId="S::dzuluagah@eafit.edu.co::3dbcfa96-5815-4b38-bf2b-401586af46e5" providerId="AD" clId="Web-{00000000-0000-0000-0000-000000000000}" dt="2026-10-02T04:16:46.187" v="43"/>
          <ac:picMkLst>
            <pc:docMk/>
            <pc:sldMk cId="0" sldId="279"/>
            <ac:picMk id="71" creationId="{A8FF1D07-226C-6CF5-9729-E9C37CFDAD41}"/>
          </ac:picMkLst>
        </pc:picChg>
        <pc:picChg chg="add del mod">
          <ac:chgData name="David Zuluaga Henao" userId="S::dzuluagah@eafit.edu.co::3dbcfa96-5815-4b38-bf2b-401586af46e5" providerId="AD" clId="Web-{00000000-0000-0000-0000-000000000000}" dt="2026-10-02T04:16:46.796" v="45"/>
          <ac:picMkLst>
            <pc:docMk/>
            <pc:sldMk cId="0" sldId="279"/>
            <ac:picMk id="72" creationId="{5D48C485-FF5E-1337-2263-40E8FFE7FCD1}"/>
          </ac:picMkLst>
        </pc:picChg>
        <pc:picChg chg="add del mod">
          <ac:chgData name="David Zuluaga Henao" userId="S::dzuluagah@eafit.edu.co::3dbcfa96-5815-4b38-bf2b-401586af46e5" providerId="AD" clId="Web-{00000000-0000-0000-0000-000000000000}" dt="2026-10-02T04:16:47.359" v="47"/>
          <ac:picMkLst>
            <pc:docMk/>
            <pc:sldMk cId="0" sldId="279"/>
            <ac:picMk id="73" creationId="{CACA2314-67F6-FA7F-6955-3E5E68C98387}"/>
          </ac:picMkLst>
        </pc:picChg>
        <pc:picChg chg="add del mod">
          <ac:chgData name="David Zuluaga Henao" userId="S::dzuluagah@eafit.edu.co::3dbcfa96-5815-4b38-bf2b-401586af46e5" providerId="AD" clId="Web-{00000000-0000-0000-0000-000000000000}" dt="2026-10-02T04:16:48.202" v="49"/>
          <ac:picMkLst>
            <pc:docMk/>
            <pc:sldMk cId="0" sldId="279"/>
            <ac:picMk id="74" creationId="{43BF7C29-3E83-D9CA-A178-2E6C378088F7}"/>
          </ac:picMkLst>
        </pc:picChg>
        <pc:picChg chg="add del mod">
          <ac:chgData name="David Zuluaga Henao" userId="S::dzuluagah@eafit.edu.co::3dbcfa96-5815-4b38-bf2b-401586af46e5" providerId="AD" clId="Web-{00000000-0000-0000-0000-000000000000}" dt="2026-10-02T04:16:48.796" v="51"/>
          <ac:picMkLst>
            <pc:docMk/>
            <pc:sldMk cId="0" sldId="279"/>
            <ac:picMk id="75" creationId="{9E12CB39-B71E-6C6C-FAA4-ECC5A0A0FCDC}"/>
          </ac:picMkLst>
        </pc:picChg>
        <pc:picChg chg="add del mod">
          <ac:chgData name="David Zuluaga Henao" userId="S::dzuluagah@eafit.edu.co::3dbcfa96-5815-4b38-bf2b-401586af46e5" providerId="AD" clId="Web-{00000000-0000-0000-0000-000000000000}" dt="2026-10-02T04:16:49.265" v="53"/>
          <ac:picMkLst>
            <pc:docMk/>
            <pc:sldMk cId="0" sldId="279"/>
            <ac:picMk id="76" creationId="{4A4CA3F3-93E2-2DF7-CC4E-3B7F38A1197C}"/>
          </ac:picMkLst>
        </pc:picChg>
        <pc:picChg chg="add del mod">
          <ac:chgData name="David Zuluaga Henao" userId="S::dzuluagah@eafit.edu.co::3dbcfa96-5815-4b38-bf2b-401586af46e5" providerId="AD" clId="Web-{00000000-0000-0000-0000-000000000000}" dt="2026-10-02T04:16:49.952" v="57"/>
          <ac:picMkLst>
            <pc:docMk/>
            <pc:sldMk cId="0" sldId="279"/>
            <ac:picMk id="77" creationId="{2D5888C4-208C-1BA7-F7F2-0B929B76B604}"/>
          </ac:picMkLst>
        </pc:picChg>
        <pc:picChg chg="add del mod">
          <ac:chgData name="David Zuluaga Henao" userId="S::dzuluagah@eafit.edu.co::3dbcfa96-5815-4b38-bf2b-401586af46e5" providerId="AD" clId="Web-{00000000-0000-0000-0000-000000000000}" dt="2026-10-02T04:16:49.952" v="56"/>
          <ac:picMkLst>
            <pc:docMk/>
            <pc:sldMk cId="0" sldId="279"/>
            <ac:picMk id="78" creationId="{D9103B63-4DC9-007F-78F2-4CD1295FAC92}"/>
          </ac:picMkLst>
        </pc:picChg>
        <pc:picChg chg="add del mod">
          <ac:chgData name="David Zuluaga Henao" userId="S::dzuluagah@eafit.edu.co::3dbcfa96-5815-4b38-bf2b-401586af46e5" providerId="AD" clId="Web-{00000000-0000-0000-0000-000000000000}" dt="2026-10-02T04:16:50.687" v="61"/>
          <ac:picMkLst>
            <pc:docMk/>
            <pc:sldMk cId="0" sldId="279"/>
            <ac:picMk id="79" creationId="{FBCDC54B-127F-6D8E-A9C4-425AFE88BE56}"/>
          </ac:picMkLst>
        </pc:picChg>
        <pc:picChg chg="add del mod">
          <ac:chgData name="David Zuluaga Henao" userId="S::dzuluagah@eafit.edu.co::3dbcfa96-5815-4b38-bf2b-401586af46e5" providerId="AD" clId="Web-{00000000-0000-0000-0000-000000000000}" dt="2026-10-02T04:16:50.687" v="60"/>
          <ac:picMkLst>
            <pc:docMk/>
            <pc:sldMk cId="0" sldId="279"/>
            <ac:picMk id="80" creationId="{266066B9-53C7-74A5-2E64-CCBC799F7773}"/>
          </ac:picMkLst>
        </pc:picChg>
        <pc:picChg chg="add del mod">
          <ac:chgData name="David Zuluaga Henao" userId="S::dzuluagah@eafit.edu.co::3dbcfa96-5815-4b38-bf2b-401586af46e5" providerId="AD" clId="Web-{00000000-0000-0000-0000-000000000000}" dt="2026-10-02T04:16:51.359" v="64"/>
          <ac:picMkLst>
            <pc:docMk/>
            <pc:sldMk cId="0" sldId="279"/>
            <ac:picMk id="81" creationId="{CDB52B52-ED67-57B7-8A57-D6F1931E880E}"/>
          </ac:picMkLst>
        </pc:picChg>
        <pc:picChg chg="add del mod">
          <ac:chgData name="David Zuluaga Henao" userId="S::dzuluagah@eafit.edu.co::3dbcfa96-5815-4b38-bf2b-401586af46e5" providerId="AD" clId="Web-{00000000-0000-0000-0000-000000000000}" dt="2026-10-02T04:16:52.343" v="67"/>
          <ac:picMkLst>
            <pc:docMk/>
            <pc:sldMk cId="0" sldId="279"/>
            <ac:picMk id="82" creationId="{2AF3D387-AF49-D8B7-F2E6-21DE77A6C3E8}"/>
          </ac:picMkLst>
        </pc:picChg>
        <pc:picChg chg="add mod">
          <ac:chgData name="David Zuluaga Henao" userId="S::dzuluagah@eafit.edu.co::3dbcfa96-5815-4b38-bf2b-401586af46e5" providerId="AD" clId="Web-{00000000-0000-0000-0000-000000000000}" dt="2026-10-02T04:16:52.577" v="68"/>
          <ac:picMkLst>
            <pc:docMk/>
            <pc:sldMk cId="0" sldId="279"/>
            <ac:picMk id="83" creationId="{74532D88-906C-3083-3292-38A5E311864D}"/>
          </ac:picMkLst>
        </pc:picChg>
        <pc:picChg chg="add del mod">
          <ac:chgData name="David Zuluaga Henao" userId="S::dzuluagah@eafit.edu.co::3dbcfa96-5815-4b38-bf2b-401586af46e5" providerId="AD" clId="Web-{00000000-0000-0000-0000-000000000000}" dt="2026-10-02T04:16:53.202" v="70"/>
          <ac:picMkLst>
            <pc:docMk/>
            <pc:sldMk cId="0" sldId="279"/>
            <ac:picMk id="84" creationId="{263FCD2F-CD20-B7F1-80E7-AF8754FD1F9D}"/>
          </ac:picMkLst>
        </pc:picChg>
        <pc:picChg chg="add del mod">
          <ac:chgData name="David Zuluaga Henao" userId="S::dzuluagah@eafit.edu.co::3dbcfa96-5815-4b38-bf2b-401586af46e5" providerId="AD" clId="Web-{00000000-0000-0000-0000-000000000000}" dt="2026-10-02T04:16:53.578" v="73"/>
          <ac:picMkLst>
            <pc:docMk/>
            <pc:sldMk cId="0" sldId="279"/>
            <ac:picMk id="85" creationId="{018C4B05-7DDF-F409-D60E-8DF8A5E93867}"/>
          </ac:picMkLst>
        </pc:picChg>
        <pc:picChg chg="add del mod">
          <ac:chgData name="David Zuluaga Henao" userId="S::dzuluagah@eafit.edu.co::3dbcfa96-5815-4b38-bf2b-401586af46e5" providerId="AD" clId="Web-{00000000-0000-0000-0000-000000000000}" dt="2026-10-02T04:16:53.953" v="75"/>
          <ac:picMkLst>
            <pc:docMk/>
            <pc:sldMk cId="0" sldId="279"/>
            <ac:picMk id="86" creationId="{15B8AB0B-79AB-3137-8750-075480D7DD6D}"/>
          </ac:picMkLst>
        </pc:picChg>
        <pc:picChg chg="add mod">
          <ac:chgData name="David Zuluaga Henao" userId="S::dzuluagah@eafit.edu.co::3dbcfa96-5815-4b38-bf2b-401586af46e5" providerId="AD" clId="Web-{00000000-0000-0000-0000-000000000000}" dt="2026-10-02T04:16:54.140" v="76"/>
          <ac:picMkLst>
            <pc:docMk/>
            <pc:sldMk cId="0" sldId="279"/>
            <ac:picMk id="87" creationId="{79A1DEC0-D6F2-AAFB-BD3C-5C702A7AFCA6}"/>
          </ac:picMkLst>
        </pc:picChg>
        <pc:picChg chg="add mod">
          <ac:chgData name="David Zuluaga Henao" userId="S::dzuluagah@eafit.edu.co::3dbcfa96-5815-4b38-bf2b-401586af46e5" providerId="AD" clId="Web-{00000000-0000-0000-0000-000000000000}" dt="2026-10-02T04:17:03.844" v="98"/>
          <ac:picMkLst>
            <pc:docMk/>
            <pc:sldMk cId="0" sldId="279"/>
            <ac:picMk id="88" creationId="{7E4D8CE7-6560-5C58-4D28-0EA8CC2108E7}"/>
          </ac:picMkLst>
        </pc:picChg>
      </pc:sldChg>
      <pc:sldChg chg="addSp modSp">
        <pc:chgData name="David Zuluaga Henao" userId="S::dzuluagah@eafit.edu.co::3dbcfa96-5815-4b38-bf2b-401586af46e5" providerId="AD" clId="Web-{00000000-0000-0000-0000-000000000000}" dt="2026-10-02T04:18:48.300" v="99"/>
        <pc:sldMkLst>
          <pc:docMk/>
          <pc:sldMk cId="0" sldId="289"/>
        </pc:sldMkLst>
        <pc:picChg chg="add mod">
          <ac:chgData name="David Zuluaga Henao" userId="S::dzuluagah@eafit.edu.co::3dbcfa96-5815-4b38-bf2b-401586af46e5" providerId="AD" clId="Web-{00000000-0000-0000-0000-000000000000}" dt="2026-10-02T04:18:48.300" v="99"/>
          <ac:picMkLst>
            <pc:docMk/>
            <pc:sldMk cId="0" sldId="289"/>
            <ac:picMk id="40" creationId="{811E64F8-AFD7-A5C0-93AA-4F2E6BC7366D}"/>
          </ac:picMkLst>
        </pc:picChg>
      </pc:sldChg>
      <pc:sldChg chg="addSp modSp">
        <pc:chgData name="David Zuluaga Henao" userId="S::dzuluagah@eafit.edu.co::3dbcfa96-5815-4b38-bf2b-401586af46e5" providerId="AD" clId="Web-{00000000-0000-0000-0000-000000000000}" dt="2026-10-02T04:20:47.445" v="100"/>
        <pc:sldMkLst>
          <pc:docMk/>
          <pc:sldMk cId="0" sldId="290"/>
        </pc:sldMkLst>
        <pc:picChg chg="add mod">
          <ac:chgData name="David Zuluaga Henao" userId="S::dzuluagah@eafit.edu.co::3dbcfa96-5815-4b38-bf2b-401586af46e5" providerId="AD" clId="Web-{00000000-0000-0000-0000-000000000000}" dt="2026-10-02T04:20:47.445" v="100"/>
          <ac:picMkLst>
            <pc:docMk/>
            <pc:sldMk cId="0" sldId="290"/>
            <ac:picMk id="30" creationId="{C9C32E35-FA51-719F-521A-5EADD3E4171A}"/>
          </ac:picMkLst>
        </pc:picChg>
      </pc:sldChg>
      <pc:sldChg chg="addSp modSp">
        <pc:chgData name="David Zuluaga Henao" userId="S::dzuluagah@eafit.edu.co::3dbcfa96-5815-4b38-bf2b-401586af46e5" providerId="AD" clId="Web-{00000000-0000-0000-0000-000000000000}" dt="2026-10-02T04:21:32.728" v="101"/>
        <pc:sldMkLst>
          <pc:docMk/>
          <pc:sldMk cId="0" sldId="291"/>
        </pc:sldMkLst>
        <pc:picChg chg="add mod">
          <ac:chgData name="David Zuluaga Henao" userId="S::dzuluagah@eafit.edu.co::3dbcfa96-5815-4b38-bf2b-401586af46e5" providerId="AD" clId="Web-{00000000-0000-0000-0000-000000000000}" dt="2026-10-02T04:21:32.728" v="101"/>
          <ac:picMkLst>
            <pc:docMk/>
            <pc:sldMk cId="0" sldId="291"/>
            <ac:picMk id="30" creationId="{097CA954-4CC3-7BEF-947A-6AF438C98798}"/>
          </ac:picMkLst>
        </pc:picChg>
      </pc:sldChg>
      <pc:sldChg chg="addSp modSp">
        <pc:chgData name="David Zuluaga Henao" userId="S::dzuluagah@eafit.edu.co::3dbcfa96-5815-4b38-bf2b-401586af46e5" providerId="AD" clId="Web-{00000000-0000-0000-0000-000000000000}" dt="2026-10-02T04:23:20.638" v="108"/>
        <pc:sldMkLst>
          <pc:docMk/>
          <pc:sldMk cId="0" sldId="292"/>
        </pc:sldMkLst>
        <pc:picChg chg="add mod modCrop">
          <ac:chgData name="David Zuluaga Henao" userId="S::dzuluagah@eafit.edu.co::3dbcfa96-5815-4b38-bf2b-401586af46e5" providerId="AD" clId="Web-{00000000-0000-0000-0000-000000000000}" dt="2026-10-02T04:23:20.638" v="108"/>
          <ac:picMkLst>
            <pc:docMk/>
            <pc:sldMk cId="0" sldId="292"/>
            <ac:picMk id="25" creationId="{CA05D69B-C8EA-C87F-6ED3-4E10809A18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DC2E995-924B-4E44-B34D-03EE9A511AF1}" type="datetimeFigureOut">
              <a:t>01/10/2026</a:t>
            </a:fld>
            <a:endParaRPr lang="es-ES"/>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0E17ACA-581A-46E3-AF36-BB15A96ADB42}" type="slidenum">
              <a:t>‹Nº›</a:t>
            </a:fld>
            <a:endParaRPr lang="es-ES"/>
          </a:p>
        </p:txBody>
      </p:sp>
    </p:spTree>
    <p:extLst>
      <p:ext uri="{BB962C8B-B14F-4D97-AF65-F5344CB8AC3E}">
        <p14:creationId xmlns:p14="http://schemas.microsoft.com/office/powerpoint/2010/main" val="2387969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Ejemplos reales para la pregunta clave 1 (¿cuál es el tipo de falla?). Progresiva vs. repentina responde a la forma de aparecer; limitación parcial vs. total responde a la capacidad de trabajo. Pregunte al grupo: ¿qué decisión de reparación cambia entre una falla progresiva y una repentina? (la progresiva da tiempo de planear). Fuentes: trabajos de clasificación de fallas y de averías en rodamientos del curso anterior.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Falla oculta: no se manifiesta en operación normal; típica de dispositivos de protección. Su consecuencia aparece solo cuando ocurre otra falla (falla múltiple). Crónica: desviación difícil de apreciar, frecuente, aceptada como costo normal. Reiterativa: se repara y vuelve a ocurrir porque no se atacó la causa raíz. Crónicas y reiterativas son la puerta de entrada a las acciones modificativas (Clase 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para discutir: la misma falla (fuga creciente por el sello mecánico) lleva a decisiones distintas según la consecuencia y la disponibilidad de recursos. Caso A: hay bomba de respaldo y repuesto, se programa la reparación definitiva. Caso B: no hay respaldo ni repuesto; se aplica una solución provisional controlada y se planea la definitiva. Pida al grupo proponer un caso C.</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Recorra cada caso sobre el diagrama de la diapositiva anterior. Caso 1: inmediata sí, provisional sí → desvare, luego reparación correcta. Caso 2: no inmediata → análisis detallado → no reiterativa → reparación correcta. Caso 3: reiterativa → acción modificativa. Remarque que todas las rutas terminan en recopilar información y registrar lo realizado.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desvare es legítimo cuando reduce los efectos de la falla sin crear nuevos riesgos y queda registrado para su reparación definitiva. Los ejemplos de la derecha son desvares que trasladan el riesgo a las personas o a otros elementos. La foto de la derecha (manguera hidráulica con cinta) proviene de un trabajo del curso anterior. Pregunte: ¿qué otros desvares peligrosos han visto?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cada falla, compare lo que se hace para salir del paso con lo que devuelve el estándar. Note que algunas fallas no admiten desvare (manguera hidráulica, diente de engranaje): es la pregunta del diagrama ¿se requiere/admite solución provisional?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ilustrativo para recorrer el procedimiento 2.2.1 a 2.2.6. Los valores son representativos. La conclusión típica en ejes de transmisión: fatiga por flexión rotativa iniciada en un concentrador de esfuerzos (radio de acuerdo muy pequeño o chavetero). La causa se ubica en los procesos de diseño y maquinado, no en el material. Reparación definitiva: eje nuevo con radio especificado en el plano y verificación de la alineación.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Lectura de evidencias en rodamientos (imágenes del trabajo «Averías en rodamientos y cojinetes de fricción» del curso anterior, basado en catálogos de fabricantes). Cada huella apunta a una causa distinta y, por lo tanto, a una acción distinta: no basta con cambiar el rodamiento.</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 de guía de reparación con los siete elementos de la diapositiva anterior. Los valores (temperatura de calentamiento, tolerancia de alineación, límite de vibración) son representativos y deben tomarse del fabricante y de la norma aplicable en cada caso.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Casos reales de los trabajos de métodos de recuperación del curso anterior: molde de inyección con grieta recuperado con soldadura; metalización por proyección térmica; reparación de fuga con compuesto epóxico; y revestimiento de una canaleta con epóxico con relleno cerámico contra abrasión.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del trabajo de recuperación de partes del curso anterior (molde con grieta en la cavidad). Recorra las cinco actividades de recuperación con soldadura sobre el caso. Los rangos de precalentamiento son orientativos para aceros de moldes tipo P20; se confirman con el fabricante del material de aporte.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3.jp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jp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24.jpg"/><Relationship Id="rId4" Type="http://schemas.openxmlformats.org/officeDocument/2006/relationships/image" Target="../media/image23.jp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youtube.com/watch?v=BS10TaQK0ss"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hyperlink" Target="https://www.youtube.com/watch?v=WHnacg19-cQ" TargetMode="External"/><Relationship Id="rId5" Type="http://schemas.openxmlformats.org/officeDocument/2006/relationships/hyperlink" Target="https://www.youtube.com/watch?v=rbuHbmqWxds" TargetMode="Externa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7982712" y="0"/>
            <a:ext cx="4208983" cy="6858000"/>
          </a:xfrm>
          <a:prstGeom prst="rect">
            <a:avLst/>
          </a:prstGeom>
          <a:solidFill>
            <a:srgbClr val="00335C"/>
          </a:solidFill>
          <a:ln/>
        </p:spPr>
      </p:sp>
      <p:sp>
        <p:nvSpPr>
          <p:cNvPr id="4" name="Shape 2"/>
          <p:cNvSpPr/>
          <p:nvPr/>
        </p:nvSpPr>
        <p:spPr>
          <a:xfrm>
            <a:off x="7982712" y="0"/>
            <a:ext cx="36576" cy="6858000"/>
          </a:xfrm>
          <a:prstGeom prst="rect">
            <a:avLst/>
          </a:prstGeom>
          <a:solidFill>
            <a:srgbClr val="FFB903"/>
          </a:solidFill>
          <a:ln/>
        </p:spPr>
      </p:sp>
      <p:sp>
        <p:nvSpPr>
          <p:cNvPr id="5" name="Shape 3"/>
          <p:cNvSpPr/>
          <p:nvPr/>
        </p:nvSpPr>
        <p:spPr>
          <a:xfrm>
            <a:off x="0" y="0"/>
            <a:ext cx="274320" cy="6858000"/>
          </a:xfrm>
          <a:prstGeom prst="rect">
            <a:avLst/>
          </a:prstGeom>
          <a:solidFill>
            <a:srgbClr val="004B85"/>
          </a:solidFill>
          <a:ln/>
        </p:spPr>
      </p:sp>
      <p:pic>
        <p:nvPicPr>
          <p:cNvPr id="6"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7" name="Shape 4"/>
          <p:cNvSpPr/>
          <p:nvPr/>
        </p:nvSpPr>
        <p:spPr>
          <a:xfrm>
            <a:off x="868680" y="1572768"/>
            <a:ext cx="1371600" cy="54864"/>
          </a:xfrm>
          <a:prstGeom prst="rect">
            <a:avLst/>
          </a:prstGeom>
          <a:solidFill>
            <a:srgbClr val="FFB903"/>
          </a:solidFill>
          <a:ln/>
        </p:spPr>
      </p:sp>
      <p:sp>
        <p:nvSpPr>
          <p:cNvPr id="8" name="Text 5"/>
          <p:cNvSpPr txBox="1"/>
          <p:nvPr/>
        </p:nvSpPr>
        <p:spPr>
          <a:xfrm>
            <a:off x="868680" y="1847088"/>
            <a:ext cx="6766560" cy="301752"/>
          </a:xfrm>
          <a:prstGeom prst="rect">
            <a:avLst/>
          </a:prstGeom>
          <a:noFill/>
          <a:ln/>
        </p:spPr>
        <p:txBody>
          <a:bodyPr wrap="square" lIns="0" tIns="0" rIns="0" bIns="0" rtlCol="0" anchor="ctr"/>
          <a:lstStyle/>
          <a:p>
            <a:pPr marL="0" indent="0">
              <a:buNone/>
            </a:pPr>
            <a:r>
              <a:rPr lang="en-US" sz="1250" b="1" kern="0" spc="100" dirty="0">
                <a:solidFill>
                  <a:srgbClr val="FFB903"/>
                </a:solidFill>
                <a:latin typeface="Segoe UI" pitchFamily="34" charset="0"/>
                <a:ea typeface="Segoe UI" pitchFamily="34" charset="-122"/>
                <a:cs typeface="Segoe UI" pitchFamily="34" charset="-120"/>
              </a:rPr>
              <a:t>ESPECIALIZACIÓN EN MANTENIMIENTO INDUSTRIAL</a:t>
            </a:r>
            <a:endParaRPr lang="en-US" sz="1250" dirty="0"/>
          </a:p>
        </p:txBody>
      </p:sp>
      <p:sp>
        <p:nvSpPr>
          <p:cNvPr id="9" name="Text 6"/>
          <p:cNvSpPr txBox="1"/>
          <p:nvPr/>
        </p:nvSpPr>
        <p:spPr>
          <a:xfrm>
            <a:off x="868680" y="2286000"/>
            <a:ext cx="6675120" cy="1783080"/>
          </a:xfrm>
          <a:prstGeom prst="rect">
            <a:avLst/>
          </a:prstGeom>
          <a:noFill/>
          <a:ln/>
        </p:spPr>
        <p:txBody>
          <a:bodyPr wrap="square" lIns="0" tIns="0" rIns="0" bIns="0" rtlCol="0" anchor="ctr"/>
          <a:lstStyle/>
          <a:p>
            <a:pPr marL="0" indent="0">
              <a:lnSpc>
                <a:spcPts val="4000"/>
              </a:lnSpc>
              <a:buNone/>
            </a:pPr>
            <a:r>
              <a:rPr lang="en-US" sz="3100" b="1" dirty="0">
                <a:solidFill>
                  <a:srgbClr val="FFFFFF"/>
                </a:solidFill>
                <a:latin typeface="Segoe UI" pitchFamily="34" charset="0"/>
                <a:ea typeface="Segoe UI" pitchFamily="34" charset="-122"/>
                <a:cs typeface="Segoe UI" pitchFamily="34" charset="-120"/>
              </a:rPr>
              <a:t>Acciones correctivas</a:t>
            </a:r>
            <a:endParaRPr lang="en-US" sz="3100" dirty="0"/>
          </a:p>
          <a:p>
            <a:pPr marL="0" indent="0">
              <a:lnSpc>
                <a:spcPts val="4000"/>
              </a:lnSpc>
              <a:buNone/>
            </a:pPr>
            <a:r>
              <a:rPr lang="en-US" sz="3100" b="1" dirty="0">
                <a:solidFill>
                  <a:srgbClr val="FFFFFF"/>
                </a:solidFill>
                <a:latin typeface="Segoe UI" pitchFamily="34" charset="0"/>
                <a:ea typeface="Segoe UI" pitchFamily="34" charset="-122"/>
                <a:cs typeface="Segoe UI" pitchFamily="34" charset="-120"/>
              </a:rPr>
              <a:t>y técnicas de recuperación</a:t>
            </a:r>
            <a:endParaRPr lang="en-US" sz="3100" dirty="0"/>
          </a:p>
        </p:txBody>
      </p:sp>
      <p:sp>
        <p:nvSpPr>
          <p:cNvPr id="10" name="Text 7"/>
          <p:cNvSpPr txBox="1"/>
          <p:nvPr/>
        </p:nvSpPr>
        <p:spPr>
          <a:xfrm>
            <a:off x="868680" y="430682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CURSO</a:t>
            </a:r>
            <a:endParaRPr lang="en-US" sz="1050" dirty="0"/>
          </a:p>
        </p:txBody>
      </p:sp>
      <p:sp>
        <p:nvSpPr>
          <p:cNvPr id="11" name="Text 8"/>
          <p:cNvSpPr txBox="1"/>
          <p:nvPr/>
        </p:nvSpPr>
        <p:spPr>
          <a:xfrm>
            <a:off x="868680" y="453542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Acciones Correctivo-Modificativas · 2026-2</a:t>
            </a:r>
            <a:endParaRPr lang="en-US" sz="1450" dirty="0"/>
          </a:p>
        </p:txBody>
      </p:sp>
      <p:sp>
        <p:nvSpPr>
          <p:cNvPr id="12" name="Text 9"/>
          <p:cNvSpPr txBox="1"/>
          <p:nvPr/>
        </p:nvSpPr>
        <p:spPr>
          <a:xfrm>
            <a:off x="868680" y="494690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LÍNEA DE ÉNFASIS</a:t>
            </a:r>
            <a:endParaRPr lang="en-US" sz="1050" dirty="0"/>
          </a:p>
        </p:txBody>
      </p:sp>
      <p:sp>
        <p:nvSpPr>
          <p:cNvPr id="13" name="Text 10"/>
          <p:cNvSpPr txBox="1"/>
          <p:nvPr/>
        </p:nvSpPr>
        <p:spPr>
          <a:xfrm>
            <a:off x="868680" y="517550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Mantenimiento industrial</a:t>
            </a:r>
            <a:endParaRPr lang="en-US" sz="1450" dirty="0"/>
          </a:p>
        </p:txBody>
      </p:sp>
      <p:sp>
        <p:nvSpPr>
          <p:cNvPr id="14" name="Text 11"/>
          <p:cNvSpPr txBox="1"/>
          <p:nvPr/>
        </p:nvSpPr>
        <p:spPr>
          <a:xfrm>
            <a:off x="868680" y="5586984"/>
            <a:ext cx="6675120" cy="201168"/>
          </a:xfrm>
          <a:prstGeom prst="rect">
            <a:avLst/>
          </a:prstGeom>
          <a:noFill/>
          <a:ln/>
        </p:spPr>
        <p:txBody>
          <a:bodyPr wrap="square" lIns="0" tIns="0" rIns="0" bIns="0" rtlCol="0" anchor="ctr"/>
          <a:lstStyle/>
          <a:p>
            <a:pPr marL="0" indent="0">
              <a:buNone/>
            </a:pPr>
            <a:r>
              <a:rPr lang="en-US" sz="1050" b="1" kern="0" spc="100" dirty="0">
                <a:solidFill>
                  <a:srgbClr val="8A97A3"/>
                </a:solidFill>
                <a:latin typeface="Segoe UI" pitchFamily="34" charset="0"/>
                <a:ea typeface="Segoe UI" pitchFamily="34" charset="-122"/>
                <a:cs typeface="Segoe UI" pitchFamily="34" charset="-120"/>
              </a:rPr>
              <a:t>CLASE</a:t>
            </a:r>
            <a:endParaRPr lang="en-US" sz="1050" dirty="0"/>
          </a:p>
        </p:txBody>
      </p:sp>
      <p:sp>
        <p:nvSpPr>
          <p:cNvPr id="15" name="Text 12"/>
          <p:cNvSpPr txBox="1"/>
          <p:nvPr/>
        </p:nvSpPr>
        <p:spPr>
          <a:xfrm>
            <a:off x="868680" y="5815584"/>
            <a:ext cx="6675120" cy="27432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4 de 5</a:t>
            </a:r>
            <a:endParaRPr lang="en-US" sz="1450" dirty="0"/>
          </a:p>
        </p:txBody>
      </p:sp>
      <p:sp>
        <p:nvSpPr>
          <p:cNvPr id="16" name="Text 13"/>
          <p:cNvSpPr txBox="1"/>
          <p:nvPr/>
        </p:nvSpPr>
        <p:spPr>
          <a:xfrm>
            <a:off x="868680" y="6291072"/>
            <a:ext cx="6675120" cy="274320"/>
          </a:xfrm>
          <a:prstGeom prst="rect">
            <a:avLst/>
          </a:prstGeom>
          <a:noFill/>
          <a:ln/>
        </p:spPr>
        <p:txBody>
          <a:bodyPr wrap="square" lIns="0" tIns="0" rIns="0" bIns="0" rtlCol="0" anchor="ctr"/>
          <a:lstStyle/>
          <a:p>
            <a:pPr marL="0" indent="0">
              <a:buNone/>
            </a:pPr>
            <a:r>
              <a:rPr lang="en-US" sz="1100" dirty="0">
                <a:solidFill>
                  <a:srgbClr val="8A97A3"/>
                </a:solidFill>
                <a:latin typeface="Segoe UI" pitchFamily="34" charset="0"/>
                <a:ea typeface="Segoe UI" pitchFamily="34" charset="-122"/>
                <a:cs typeface="Segoe UI" pitchFamily="34" charset="-120"/>
              </a:rPr>
              <a:t>Escuela de Ciencias Aplicadas e Ingeniería</a:t>
            </a:r>
            <a:endParaRPr lang="en-US" sz="1100" dirty="0"/>
          </a:p>
        </p:txBody>
      </p:sp>
      <p:sp>
        <p:nvSpPr>
          <p:cNvPr id="17" name="Text 14"/>
          <p:cNvSpPr txBox="1"/>
          <p:nvPr/>
        </p:nvSpPr>
        <p:spPr>
          <a:xfrm>
            <a:off x="8595360" y="1536192"/>
            <a:ext cx="3108960" cy="338328"/>
          </a:xfrm>
          <a:prstGeom prst="rect">
            <a:avLst/>
          </a:prstGeom>
          <a:noFill/>
          <a:ln/>
        </p:spPr>
        <p:txBody>
          <a:bodyPr wrap="square" lIns="0" tIns="0" rIns="0" bIns="0" rtlCol="0" anchor="ctr"/>
          <a:lstStyle/>
          <a:p>
            <a:pPr marL="0" indent="0">
              <a:buNone/>
            </a:pPr>
            <a:r>
              <a:rPr lang="en-US" sz="2000" b="1" dirty="0">
                <a:solidFill>
                  <a:srgbClr val="FFB903"/>
                </a:solidFill>
                <a:latin typeface="Segoe UI" pitchFamily="34" charset="0"/>
                <a:ea typeface="Segoe UI" pitchFamily="34" charset="-122"/>
                <a:cs typeface="Segoe UI" pitchFamily="34" charset="-120"/>
              </a:rPr>
              <a:t>DOCENTE</a:t>
            </a:r>
            <a:endParaRPr lang="en-US" sz="2000" dirty="0"/>
          </a:p>
        </p:txBody>
      </p:sp>
      <p:sp>
        <p:nvSpPr>
          <p:cNvPr id="18" name="Text 15"/>
          <p:cNvSpPr txBox="1"/>
          <p:nvPr/>
        </p:nvSpPr>
        <p:spPr>
          <a:xfrm>
            <a:off x="8595360" y="1874520"/>
            <a:ext cx="3108960" cy="777240"/>
          </a:xfrm>
          <a:prstGeom prst="rect">
            <a:avLst/>
          </a:prstGeom>
          <a:noFill/>
          <a:ln/>
        </p:spPr>
        <p:txBody>
          <a:bodyPr wrap="square" lIns="0" tIns="0" rIns="0" bIns="0" rtlCol="0" anchor="ctr"/>
          <a:lstStyle/>
          <a:p>
            <a:pPr marL="0" indent="0">
              <a:lnSpc>
                <a:spcPts val="2600"/>
              </a:lnSpc>
              <a:buNone/>
            </a:pPr>
            <a:r>
              <a:rPr lang="en-US" sz="2000" b="1" dirty="0">
                <a:solidFill>
                  <a:srgbClr val="FFFFFF"/>
                </a:solidFill>
                <a:latin typeface="Segoe UI" pitchFamily="34" charset="0"/>
                <a:ea typeface="Segoe UI" pitchFamily="34" charset="-122"/>
                <a:cs typeface="Segoe UI" pitchFamily="34" charset="-120"/>
              </a:rPr>
              <a:t>Jaime Leonardo</a:t>
            </a:r>
            <a:endParaRPr lang="en-US" sz="2000" dirty="0"/>
          </a:p>
          <a:p>
            <a:pPr marL="0" indent="0">
              <a:lnSpc>
                <a:spcPts val="2600"/>
              </a:lnSpc>
              <a:buNone/>
            </a:pPr>
            <a:r>
              <a:rPr lang="en-US" sz="2000" b="1" dirty="0">
                <a:solidFill>
                  <a:srgbClr val="FFFFFF"/>
                </a:solidFill>
                <a:latin typeface="Segoe UI" pitchFamily="34" charset="0"/>
                <a:ea typeface="Segoe UI" pitchFamily="34" charset="-122"/>
                <a:cs typeface="Segoe UI" pitchFamily="34" charset="-120"/>
              </a:rPr>
              <a:t>Barbosa Pérez</a:t>
            </a:r>
            <a:endParaRPr lang="en-US" sz="2000" dirty="0"/>
          </a:p>
        </p:txBody>
      </p:sp>
      <p:sp>
        <p:nvSpPr>
          <p:cNvPr id="19" name="Shape 16"/>
          <p:cNvSpPr/>
          <p:nvPr/>
        </p:nvSpPr>
        <p:spPr>
          <a:xfrm>
            <a:off x="8531352" y="3026664"/>
            <a:ext cx="118872" cy="118872"/>
          </a:xfrm>
          <a:prstGeom prst="rect">
            <a:avLst/>
          </a:prstGeom>
          <a:solidFill>
            <a:srgbClr val="FFB903"/>
          </a:solidFill>
          <a:ln/>
        </p:spPr>
      </p:sp>
      <p:sp>
        <p:nvSpPr>
          <p:cNvPr id="20" name="Text 17"/>
          <p:cNvSpPr txBox="1"/>
          <p:nvPr/>
        </p:nvSpPr>
        <p:spPr>
          <a:xfrm>
            <a:off x="8741664" y="2907792"/>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Ingeniero Mecánico · Magíster en Ingeniería</a:t>
            </a:r>
            <a:endParaRPr lang="en-US" sz="1250" dirty="0"/>
          </a:p>
        </p:txBody>
      </p:sp>
      <p:sp>
        <p:nvSpPr>
          <p:cNvPr id="21" name="Shape 18"/>
          <p:cNvSpPr/>
          <p:nvPr/>
        </p:nvSpPr>
        <p:spPr>
          <a:xfrm>
            <a:off x="8531352" y="3849624"/>
            <a:ext cx="118872" cy="118872"/>
          </a:xfrm>
          <a:prstGeom prst="rect">
            <a:avLst/>
          </a:prstGeom>
          <a:solidFill>
            <a:srgbClr val="FFB903"/>
          </a:solidFill>
          <a:ln/>
        </p:spPr>
      </p:sp>
      <p:sp>
        <p:nvSpPr>
          <p:cNvPr id="22" name="Text 19"/>
          <p:cNvSpPr txBox="1"/>
          <p:nvPr/>
        </p:nvSpPr>
        <p:spPr>
          <a:xfrm>
            <a:off x="8741664" y="3730752"/>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Especialista en Diseño Mecánico</a:t>
            </a:r>
            <a:endParaRPr lang="en-US" sz="1250" dirty="0"/>
          </a:p>
        </p:txBody>
      </p:sp>
      <p:sp>
        <p:nvSpPr>
          <p:cNvPr id="23" name="Shape 20"/>
          <p:cNvSpPr/>
          <p:nvPr/>
        </p:nvSpPr>
        <p:spPr>
          <a:xfrm>
            <a:off x="8531352" y="4434840"/>
            <a:ext cx="118872" cy="118872"/>
          </a:xfrm>
          <a:prstGeom prst="rect">
            <a:avLst/>
          </a:prstGeom>
          <a:solidFill>
            <a:srgbClr val="FFB903"/>
          </a:solidFill>
          <a:ln/>
        </p:spPr>
      </p:sp>
      <p:sp>
        <p:nvSpPr>
          <p:cNvPr id="24" name="Text 21"/>
          <p:cNvSpPr txBox="1"/>
          <p:nvPr/>
        </p:nvSpPr>
        <p:spPr>
          <a:xfrm>
            <a:off x="8741664" y="4315968"/>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Profesor Titular, Escuela de Ciencias Aplicadas e Ingeniería</a:t>
            </a:r>
            <a:endParaRPr lang="en-US" sz="1250" dirty="0"/>
          </a:p>
        </p:txBody>
      </p:sp>
      <p:sp>
        <p:nvSpPr>
          <p:cNvPr id="25" name="Shape 22"/>
          <p:cNvSpPr/>
          <p:nvPr/>
        </p:nvSpPr>
        <p:spPr>
          <a:xfrm>
            <a:off x="8531352" y="5294376"/>
            <a:ext cx="118872" cy="118872"/>
          </a:xfrm>
          <a:prstGeom prst="rect">
            <a:avLst/>
          </a:prstGeom>
          <a:solidFill>
            <a:srgbClr val="FFB903"/>
          </a:solidFill>
          <a:ln/>
        </p:spPr>
      </p:sp>
      <p:sp>
        <p:nvSpPr>
          <p:cNvPr id="26" name="Text 23"/>
          <p:cNvSpPr txBox="1"/>
          <p:nvPr/>
        </p:nvSpPr>
        <p:spPr>
          <a:xfrm>
            <a:off x="8741664" y="5175504"/>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Jefe de Pregrado en Ingeniería Mecánica</a:t>
            </a:r>
            <a:endParaRPr lang="en-US" sz="1250" dirty="0"/>
          </a:p>
        </p:txBody>
      </p:sp>
      <p:sp>
        <p:nvSpPr>
          <p:cNvPr id="27" name="Shape 24"/>
          <p:cNvSpPr/>
          <p:nvPr/>
        </p:nvSpPr>
        <p:spPr>
          <a:xfrm>
            <a:off x="8531352" y="6099048"/>
            <a:ext cx="118872" cy="118872"/>
          </a:xfrm>
          <a:prstGeom prst="rect">
            <a:avLst/>
          </a:prstGeom>
          <a:solidFill>
            <a:srgbClr val="FFB903"/>
          </a:solidFill>
          <a:ln/>
        </p:spPr>
      </p:sp>
      <p:sp>
        <p:nvSpPr>
          <p:cNvPr id="28" name="Text 25"/>
          <p:cNvSpPr txBox="1"/>
          <p:nvPr/>
        </p:nvSpPr>
        <p:spPr>
          <a:xfrm>
            <a:off x="8741664" y="5980176"/>
            <a:ext cx="3200400" cy="630936"/>
          </a:xfrm>
          <a:prstGeom prst="rect">
            <a:avLst/>
          </a:prstGeom>
          <a:noFill/>
          <a:ln/>
        </p:spPr>
        <p:txBody>
          <a:bodyPr wrap="square" lIns="0" tIns="0" rIns="0" bIns="0" rtlCol="0" anchor="ctr"/>
          <a:lstStyle/>
          <a:p>
            <a:pPr marL="0" indent="0">
              <a:lnSpc>
                <a:spcPts val="1700"/>
              </a:lnSpc>
              <a:buNone/>
            </a:pPr>
            <a:r>
              <a:rPr lang="en-US" sz="1250" dirty="0">
                <a:solidFill>
                  <a:srgbClr val="C8D4E0"/>
                </a:solidFill>
                <a:latin typeface="Segoe UI" pitchFamily="34" charset="0"/>
                <a:ea typeface="Segoe UI" pitchFamily="34" charset="-122"/>
                <a:cs typeface="Segoe UI" pitchFamily="34" charset="-120"/>
              </a:rPr>
              <a:t>Director de Ingeniería Programa Kratos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1</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Reparaciones: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las acciones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después de la falla</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Qué acciones existen antes y después de la falla, cómo se clasifican las reparaciones y cómo se decide cuál aplicar.</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Acciones antes y después de la falla</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Clasificación de las reparaciones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Preguntas clave para decidir</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Diagrama de decisiones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0" y="0"/>
            <a:ext cx="12191695" cy="128016"/>
          </a:xfrm>
          <a:prstGeom prst="rect">
            <a:avLst/>
          </a:prstGeom>
          <a:solidFill>
            <a:srgbClr val="FFB903"/>
          </a:solidFill>
          <a:ln/>
        </p:spPr>
      </p:sp>
      <p:sp>
        <p:nvSpPr>
          <p:cNvPr id="4" name="Shape 2"/>
          <p:cNvSpPr/>
          <p:nvPr/>
        </p:nvSpPr>
        <p:spPr>
          <a:xfrm>
            <a:off x="0" y="6035040"/>
            <a:ext cx="12191695" cy="822960"/>
          </a:xfrm>
          <a:prstGeom prst="rect">
            <a:avLst/>
          </a:prstGeom>
          <a:solidFill>
            <a:srgbClr val="00335C"/>
          </a:solidFill>
          <a:ln/>
        </p:spPr>
      </p:sp>
      <p:pic>
        <p:nvPicPr>
          <p:cNvPr id="5" name="Image 0" descr="/home/claude/work/assets/logo_eafit_blanco.png"/>
          <p:cNvPicPr>
            <a:picLocks noChangeAspect="1"/>
          </p:cNvPicPr>
          <p:nvPr/>
        </p:nvPicPr>
        <p:blipFill>
          <a:blip r:embed="rId3"/>
          <a:stretch>
            <a:fillRect/>
          </a:stretch>
        </p:blipFill>
        <p:spPr>
          <a:xfrm>
            <a:off x="10680192" y="457200"/>
            <a:ext cx="1152144" cy="713232"/>
          </a:xfrm>
          <a:prstGeom prst="rect">
            <a:avLst/>
          </a:prstGeom>
        </p:spPr>
      </p:pic>
      <p:sp>
        <p:nvSpPr>
          <p:cNvPr id="6" name="Text 3"/>
          <p:cNvSpPr txBox="1"/>
          <p:nvPr/>
        </p:nvSpPr>
        <p:spPr>
          <a:xfrm>
            <a:off x="658368" y="566928"/>
            <a:ext cx="5486400" cy="310896"/>
          </a:xfrm>
          <a:prstGeom prst="rect">
            <a:avLst/>
          </a:prstGeom>
          <a:noFill/>
          <a:ln/>
        </p:spPr>
        <p:txBody>
          <a:bodyPr wrap="square" lIns="0" tIns="0" rIns="0" bIns="0" rtlCol="0" anchor="ctr"/>
          <a:lstStyle/>
          <a:p>
            <a:pPr marL="0" indent="0">
              <a:buNone/>
            </a:pPr>
            <a:r>
              <a:rPr lang="en-US" sz="1400" b="1" kern="0" spc="120" dirty="0">
                <a:solidFill>
                  <a:srgbClr val="FFB903"/>
                </a:solidFill>
                <a:latin typeface="Segoe UI" pitchFamily="34" charset="0"/>
                <a:ea typeface="Segoe UI" pitchFamily="34" charset="-122"/>
                <a:cs typeface="Segoe UI" pitchFamily="34" charset="-120"/>
              </a:rPr>
              <a:t>ACTIVIDAD 8</a:t>
            </a:r>
            <a:endParaRPr lang="en-US" sz="1400" dirty="0"/>
          </a:p>
        </p:txBody>
      </p:sp>
      <p:sp>
        <p:nvSpPr>
          <p:cNvPr id="7" name="Text 4"/>
          <p:cNvSpPr txBox="1"/>
          <p:nvPr/>
        </p:nvSpPr>
        <p:spPr>
          <a:xfrm>
            <a:off x="658368" y="932688"/>
            <a:ext cx="96012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Punto de partida</a:t>
            </a:r>
            <a:endParaRPr lang="en-US" sz="3400" dirty="0"/>
          </a:p>
        </p:txBody>
      </p:sp>
      <p:sp>
        <p:nvSpPr>
          <p:cNvPr id="8" name="Text 5"/>
          <p:cNvSpPr txBox="1"/>
          <p:nvPr/>
        </p:nvSpPr>
        <p:spPr>
          <a:xfrm>
            <a:off x="658368" y="2240280"/>
            <a:ext cx="548640" cy="548640"/>
          </a:xfrm>
          <a:prstGeom prst="rect">
            <a:avLst/>
          </a:prstGeom>
          <a:noFill/>
          <a:ln/>
        </p:spPr>
        <p:txBody>
          <a:bodyPr wrap="square" lIns="0" tIns="0" rIns="0" bIns="0" rtlCol="0" anchor="ctr"/>
          <a:lstStyle/>
          <a:p>
            <a:pPr marL="0" indent="0">
              <a:buNone/>
            </a:pPr>
            <a:r>
              <a:rPr lang="en-US" sz="3000" b="1" dirty="0">
                <a:solidFill>
                  <a:srgbClr val="FFB903"/>
                </a:solidFill>
                <a:latin typeface="Segoe UI" pitchFamily="34" charset="0"/>
                <a:ea typeface="Segoe UI" pitchFamily="34" charset="-122"/>
                <a:cs typeface="Segoe UI" pitchFamily="34" charset="-120"/>
              </a:rPr>
              <a:t>1.</a:t>
            </a:r>
            <a:endParaRPr lang="en-US" sz="3000" dirty="0"/>
          </a:p>
        </p:txBody>
      </p:sp>
      <p:sp>
        <p:nvSpPr>
          <p:cNvPr id="9" name="Text 6"/>
          <p:cNvSpPr txBox="1"/>
          <p:nvPr/>
        </p:nvSpPr>
        <p:spPr>
          <a:xfrm>
            <a:off x="1280160" y="2258568"/>
            <a:ext cx="10058400" cy="658368"/>
          </a:xfrm>
          <a:prstGeom prst="rect">
            <a:avLst/>
          </a:prstGeom>
          <a:noFill/>
          <a:ln/>
        </p:spPr>
        <p:txBody>
          <a:bodyPr wrap="square" lIns="0" tIns="0" rIns="0" bIns="0" rtlCol="0" anchor="ctr"/>
          <a:lstStyle/>
          <a:p>
            <a:pPr marL="0" indent="0">
              <a:lnSpc>
                <a:spcPts val="3900"/>
              </a:lnSpc>
              <a:buNone/>
            </a:pPr>
            <a:r>
              <a:rPr lang="en-US" sz="3000" dirty="0">
                <a:solidFill>
                  <a:srgbClr val="FFFFFF"/>
                </a:solidFill>
                <a:latin typeface="Segoe UI" pitchFamily="34" charset="0"/>
                <a:ea typeface="Segoe UI" pitchFamily="34" charset="-122"/>
                <a:cs typeface="Segoe UI" pitchFamily="34" charset="-120"/>
              </a:rPr>
              <a:t>¿Qué es una acción correctiva?</a:t>
            </a:r>
            <a:endParaRPr lang="en-US" sz="3000" dirty="0"/>
          </a:p>
        </p:txBody>
      </p:sp>
      <p:sp>
        <p:nvSpPr>
          <p:cNvPr id="10" name="Text 7"/>
          <p:cNvSpPr txBox="1"/>
          <p:nvPr/>
        </p:nvSpPr>
        <p:spPr>
          <a:xfrm>
            <a:off x="658368" y="3099816"/>
            <a:ext cx="548640" cy="548640"/>
          </a:xfrm>
          <a:prstGeom prst="rect">
            <a:avLst/>
          </a:prstGeom>
          <a:noFill/>
          <a:ln/>
        </p:spPr>
        <p:txBody>
          <a:bodyPr wrap="square" lIns="0" tIns="0" rIns="0" bIns="0" rtlCol="0" anchor="ctr"/>
          <a:lstStyle/>
          <a:p>
            <a:pPr marL="0" indent="0">
              <a:buNone/>
            </a:pPr>
            <a:r>
              <a:rPr lang="en-US" sz="3000" b="1" dirty="0">
                <a:solidFill>
                  <a:srgbClr val="FFB903"/>
                </a:solidFill>
                <a:latin typeface="Segoe UI" pitchFamily="34" charset="0"/>
                <a:ea typeface="Segoe UI" pitchFamily="34" charset="-122"/>
                <a:cs typeface="Segoe UI" pitchFamily="34" charset="-120"/>
              </a:rPr>
              <a:t>2.</a:t>
            </a:r>
            <a:endParaRPr lang="en-US" sz="3000" dirty="0"/>
          </a:p>
        </p:txBody>
      </p:sp>
      <p:sp>
        <p:nvSpPr>
          <p:cNvPr id="11" name="Text 8"/>
          <p:cNvSpPr txBox="1"/>
          <p:nvPr/>
        </p:nvSpPr>
        <p:spPr>
          <a:xfrm>
            <a:off x="1280160" y="3118104"/>
            <a:ext cx="10058400" cy="658368"/>
          </a:xfrm>
          <a:prstGeom prst="rect">
            <a:avLst/>
          </a:prstGeom>
          <a:noFill/>
          <a:ln/>
        </p:spPr>
        <p:txBody>
          <a:bodyPr wrap="square" lIns="0" tIns="0" rIns="0" bIns="0" rtlCol="0" anchor="ctr"/>
          <a:lstStyle/>
          <a:p>
            <a:pPr marL="0" indent="0">
              <a:lnSpc>
                <a:spcPts val="3900"/>
              </a:lnSpc>
              <a:buNone/>
            </a:pPr>
            <a:r>
              <a:rPr lang="en-US" sz="3000" dirty="0">
                <a:solidFill>
                  <a:srgbClr val="FFFFFF"/>
                </a:solidFill>
                <a:latin typeface="Segoe UI" pitchFamily="34" charset="0"/>
                <a:ea typeface="Segoe UI" pitchFamily="34" charset="-122"/>
                <a:cs typeface="Segoe UI" pitchFamily="34" charset="-120"/>
              </a:rPr>
              <a:t>¿Qué es una acción modificativa?</a:t>
            </a:r>
            <a:endParaRPr lang="en-US" sz="3000" dirty="0"/>
          </a:p>
        </p:txBody>
      </p:sp>
      <p:sp>
        <p:nvSpPr>
          <p:cNvPr id="12" name="Text 9"/>
          <p:cNvSpPr txBox="1"/>
          <p:nvPr/>
        </p:nvSpPr>
        <p:spPr>
          <a:xfrm>
            <a:off x="65836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MODALIDAD</a:t>
            </a:r>
            <a:endParaRPr lang="en-US" sz="950" dirty="0"/>
          </a:p>
        </p:txBody>
      </p:sp>
      <p:sp>
        <p:nvSpPr>
          <p:cNvPr id="13" name="Text 10"/>
          <p:cNvSpPr txBox="1"/>
          <p:nvPr/>
        </p:nvSpPr>
        <p:spPr>
          <a:xfrm>
            <a:off x="65836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Grupos de 3</a:t>
            </a:r>
            <a:endParaRPr lang="en-US" sz="1250" dirty="0"/>
          </a:p>
        </p:txBody>
      </p:sp>
      <p:sp>
        <p:nvSpPr>
          <p:cNvPr id="14" name="Text 11"/>
          <p:cNvSpPr txBox="1"/>
          <p:nvPr/>
        </p:nvSpPr>
        <p:spPr>
          <a:xfrm>
            <a:off x="427024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TIEMPO</a:t>
            </a:r>
            <a:endParaRPr lang="en-US" sz="950" dirty="0"/>
          </a:p>
        </p:txBody>
      </p:sp>
      <p:sp>
        <p:nvSpPr>
          <p:cNvPr id="15" name="Text 12"/>
          <p:cNvSpPr txBox="1"/>
          <p:nvPr/>
        </p:nvSpPr>
        <p:spPr>
          <a:xfrm>
            <a:off x="427024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10 minutos</a:t>
            </a:r>
            <a:endParaRPr lang="en-US" sz="1250" dirty="0"/>
          </a:p>
        </p:txBody>
      </p:sp>
      <p:sp>
        <p:nvSpPr>
          <p:cNvPr id="16" name="Text 13"/>
          <p:cNvSpPr txBox="1"/>
          <p:nvPr/>
        </p:nvSpPr>
        <p:spPr>
          <a:xfrm>
            <a:off x="788212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ENTREGABLE</a:t>
            </a:r>
            <a:endParaRPr lang="en-US" sz="950" dirty="0"/>
          </a:p>
        </p:txBody>
      </p:sp>
      <p:sp>
        <p:nvSpPr>
          <p:cNvPr id="17" name="Text 14"/>
          <p:cNvSpPr txBox="1"/>
          <p:nvPr/>
        </p:nvSpPr>
        <p:spPr>
          <a:xfrm>
            <a:off x="788212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Respuestas en el foro del curso</a:t>
            </a:r>
            <a:endParaRPr lang="en-US" sz="1250" dirty="0"/>
          </a:p>
        </p:txBody>
      </p:sp>
      <p:sp>
        <p:nvSpPr>
          <p:cNvPr id="18" name="Text 15"/>
          <p:cNvSpPr txBox="1"/>
          <p:nvPr/>
        </p:nvSpPr>
        <p:spPr>
          <a:xfrm>
            <a:off x="7882128" y="5669280"/>
            <a:ext cx="3648456" cy="256032"/>
          </a:xfrm>
          <a:prstGeom prst="rect">
            <a:avLst/>
          </a:prstGeom>
          <a:noFill/>
          <a:ln/>
        </p:spPr>
        <p:txBody>
          <a:bodyPr wrap="square" lIns="0" tIns="0" rIns="0" bIns="0" rtlCol="0" anchor="ctr"/>
          <a:lstStyle/>
          <a:p>
            <a:pPr marL="0" indent="0" algn="r">
              <a:buNone/>
            </a:pPr>
            <a:r>
              <a:rPr lang="en-US" sz="950" dirty="0">
                <a:solidFill>
                  <a:srgbClr val="8A97A3"/>
                </a:solidFill>
                <a:latin typeface="Segoe UI" pitchFamily="34" charset="0"/>
                <a:ea typeface="Segoe UI" pitchFamily="34" charset="-122"/>
                <a:cs typeface="Segoe UI" pitchFamily="34" charset="-120"/>
              </a:rPr>
              <a:t>Clase 4 · Acciones correctivas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NIVEL OPERACIONAL</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Acciones antes de la falla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a:t>
            </a:r>
            <a:endParaRPr lang="en-US" sz="1000" dirty="0"/>
          </a:p>
        </p:txBody>
      </p:sp>
      <p:sp>
        <p:nvSpPr>
          <p:cNvPr id="10" name="Text 7"/>
          <p:cNvSpPr txBox="1"/>
          <p:nvPr/>
        </p:nvSpPr>
        <p:spPr>
          <a:xfrm>
            <a:off x="658368" y="1737360"/>
            <a:ext cx="10241280" cy="548640"/>
          </a:xfrm>
          <a:prstGeom prst="rect">
            <a:avLst/>
          </a:prstGeom>
          <a:noFill/>
          <a:ln/>
        </p:spPr>
        <p:txBody>
          <a:bodyPr wrap="square" lIns="0" tIns="0" rIns="0" bIns="0" rtlCol="0" anchor="ctr"/>
          <a:lstStyle/>
          <a:p>
            <a:pPr marL="0" indent="0">
              <a:lnSpc>
                <a:spcPts val="2600"/>
              </a:lnSpc>
              <a:buNone/>
            </a:pPr>
            <a:r>
              <a:rPr lang="en-US" sz="1900" dirty="0">
                <a:solidFill>
                  <a:srgbClr val="1B2430"/>
                </a:solidFill>
                <a:latin typeface="Segoe UI" pitchFamily="34" charset="0"/>
                <a:ea typeface="Segoe UI" pitchFamily="34" charset="-122"/>
                <a:cs typeface="Segoe UI" pitchFamily="34" charset="-120"/>
              </a:rPr>
              <a:t>Antes de que la falla ocurra, el nivel operacional dispone de las acciones de mantenimiento propiamente dichas.</a:t>
            </a:r>
            <a:endParaRPr lang="en-US" sz="1900" dirty="0"/>
          </a:p>
        </p:txBody>
      </p:sp>
      <p:sp>
        <p:nvSpPr>
          <p:cNvPr id="11" name="Shape 8"/>
          <p:cNvSpPr/>
          <p:nvPr/>
        </p:nvSpPr>
        <p:spPr>
          <a:xfrm>
            <a:off x="4041648" y="2331720"/>
            <a:ext cx="4105656" cy="566928"/>
          </a:xfrm>
          <a:prstGeom prst="rect">
            <a:avLst/>
          </a:prstGeom>
          <a:solidFill>
            <a:srgbClr val="00335C"/>
          </a:solidFill>
          <a:ln/>
        </p:spPr>
      </p:sp>
      <p:sp>
        <p:nvSpPr>
          <p:cNvPr id="12" name="Text 9"/>
          <p:cNvSpPr txBox="1"/>
          <p:nvPr/>
        </p:nvSpPr>
        <p:spPr>
          <a:xfrm>
            <a:off x="4041648" y="2331720"/>
            <a:ext cx="4105656" cy="566928"/>
          </a:xfrm>
          <a:prstGeom prst="rect">
            <a:avLst/>
          </a:prstGeom>
          <a:noFill/>
          <a:ln/>
        </p:spPr>
        <p:txBody>
          <a:bodyPr wrap="square" lIns="0" tIns="0" rIns="0" bIns="0" rtlCol="0" anchor="ctr"/>
          <a:lstStyle/>
          <a:p>
            <a:pPr marL="0" indent="0" algn="ctr">
              <a:lnSpc>
                <a:spcPts val="2125"/>
              </a:lnSpc>
              <a:buNone/>
            </a:pPr>
            <a:r>
              <a:rPr lang="en-US" sz="1700" b="1" dirty="0">
                <a:solidFill>
                  <a:srgbClr val="FFFFFF"/>
                </a:solidFill>
                <a:latin typeface="Segoe UI" pitchFamily="34" charset="0"/>
                <a:ea typeface="Segoe UI" pitchFamily="34" charset="-122"/>
                <a:cs typeface="Segoe UI" pitchFamily="34" charset="-120"/>
              </a:rPr>
              <a:t>MANTENIMIENTO</a:t>
            </a:r>
            <a:endParaRPr lang="en-US" sz="1700" dirty="0"/>
          </a:p>
        </p:txBody>
      </p:sp>
      <p:sp>
        <p:nvSpPr>
          <p:cNvPr id="13" name="Shape 10"/>
          <p:cNvSpPr/>
          <p:nvPr/>
        </p:nvSpPr>
        <p:spPr>
          <a:xfrm>
            <a:off x="6071616" y="2898648"/>
            <a:ext cx="41148" cy="274320"/>
          </a:xfrm>
          <a:prstGeom prst="rect">
            <a:avLst/>
          </a:prstGeom>
          <a:solidFill>
            <a:srgbClr val="2E77B0"/>
          </a:solidFill>
          <a:ln/>
        </p:spPr>
      </p:sp>
      <p:sp>
        <p:nvSpPr>
          <p:cNvPr id="14" name="Shape 11"/>
          <p:cNvSpPr/>
          <p:nvPr/>
        </p:nvSpPr>
        <p:spPr>
          <a:xfrm>
            <a:off x="3008376" y="3172968"/>
            <a:ext cx="6181344" cy="41148"/>
          </a:xfrm>
          <a:prstGeom prst="rect">
            <a:avLst/>
          </a:prstGeom>
          <a:solidFill>
            <a:srgbClr val="2E77B0"/>
          </a:solidFill>
          <a:ln/>
        </p:spPr>
      </p:sp>
      <p:sp>
        <p:nvSpPr>
          <p:cNvPr id="15" name="Shape 12"/>
          <p:cNvSpPr/>
          <p:nvPr/>
        </p:nvSpPr>
        <p:spPr>
          <a:xfrm>
            <a:off x="3008376" y="3172968"/>
            <a:ext cx="41148" cy="283464"/>
          </a:xfrm>
          <a:prstGeom prst="rect">
            <a:avLst/>
          </a:prstGeom>
          <a:solidFill>
            <a:srgbClr val="2E77B0"/>
          </a:solidFill>
          <a:ln/>
        </p:spPr>
      </p:sp>
      <p:sp>
        <p:nvSpPr>
          <p:cNvPr id="16" name="Shape 13"/>
          <p:cNvSpPr/>
          <p:nvPr/>
        </p:nvSpPr>
        <p:spPr>
          <a:xfrm>
            <a:off x="9144000" y="3172968"/>
            <a:ext cx="41148" cy="283464"/>
          </a:xfrm>
          <a:prstGeom prst="rect">
            <a:avLst/>
          </a:prstGeom>
          <a:solidFill>
            <a:srgbClr val="2E77B0"/>
          </a:solidFill>
          <a:ln/>
        </p:spPr>
      </p:sp>
      <p:sp>
        <p:nvSpPr>
          <p:cNvPr id="17" name="Shape 14"/>
          <p:cNvSpPr/>
          <p:nvPr/>
        </p:nvSpPr>
        <p:spPr>
          <a:xfrm>
            <a:off x="1234440" y="3456432"/>
            <a:ext cx="3566160" cy="1920240"/>
          </a:xfrm>
          <a:prstGeom prst="rect">
            <a:avLst/>
          </a:prstGeom>
          <a:solidFill>
            <a:srgbClr val="F4F7FA"/>
          </a:solidFill>
          <a:ln w="9525">
            <a:solidFill>
              <a:srgbClr val="D5DDE5"/>
            </a:solidFill>
            <a:prstDash val="solid"/>
          </a:ln>
        </p:spPr>
      </p:sp>
      <p:sp>
        <p:nvSpPr>
          <p:cNvPr id="18" name="Shape 15"/>
          <p:cNvSpPr/>
          <p:nvPr/>
        </p:nvSpPr>
        <p:spPr>
          <a:xfrm>
            <a:off x="1234440" y="3456432"/>
            <a:ext cx="3566160" cy="64008"/>
          </a:xfrm>
          <a:prstGeom prst="rect">
            <a:avLst/>
          </a:prstGeom>
          <a:solidFill>
            <a:srgbClr val="004B85"/>
          </a:solidFill>
          <a:ln/>
        </p:spPr>
      </p:sp>
      <p:sp>
        <p:nvSpPr>
          <p:cNvPr id="19" name="Shape 16"/>
          <p:cNvSpPr/>
          <p:nvPr/>
        </p:nvSpPr>
        <p:spPr>
          <a:xfrm>
            <a:off x="1490472" y="3712464"/>
            <a:ext cx="384048" cy="384048"/>
          </a:xfrm>
          <a:prstGeom prst="rect">
            <a:avLst/>
          </a:prstGeom>
          <a:solidFill>
            <a:srgbClr val="004B85"/>
          </a:solidFill>
          <a:ln/>
        </p:spPr>
      </p:sp>
      <p:sp>
        <p:nvSpPr>
          <p:cNvPr id="20" name="Text 17"/>
          <p:cNvSpPr txBox="1"/>
          <p:nvPr/>
        </p:nvSpPr>
        <p:spPr>
          <a:xfrm>
            <a:off x="1490472" y="376732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21" name="Text 18"/>
          <p:cNvSpPr txBox="1"/>
          <p:nvPr/>
        </p:nvSpPr>
        <p:spPr>
          <a:xfrm>
            <a:off x="1490472" y="4261104"/>
            <a:ext cx="3054096"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Preventivas</a:t>
            </a:r>
            <a:endParaRPr lang="en-US" sz="1800" dirty="0"/>
          </a:p>
        </p:txBody>
      </p:sp>
      <p:sp>
        <p:nvSpPr>
          <p:cNvPr id="22" name="Text 19"/>
          <p:cNvSpPr txBox="1"/>
          <p:nvPr/>
        </p:nvSpPr>
        <p:spPr>
          <a:xfrm>
            <a:off x="1490472" y="4681728"/>
            <a:ext cx="3054096" cy="53035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Se programan con base en el tiempo o en el uso, antes de que el elemento pierda su función.</a:t>
            </a:r>
            <a:endParaRPr lang="en-US" sz="1350" dirty="0"/>
          </a:p>
        </p:txBody>
      </p:sp>
      <p:sp>
        <p:nvSpPr>
          <p:cNvPr id="23" name="Shape 20"/>
          <p:cNvSpPr/>
          <p:nvPr/>
        </p:nvSpPr>
        <p:spPr>
          <a:xfrm>
            <a:off x="7406640" y="3456432"/>
            <a:ext cx="3566160" cy="1920240"/>
          </a:xfrm>
          <a:prstGeom prst="rect">
            <a:avLst/>
          </a:prstGeom>
          <a:solidFill>
            <a:srgbClr val="F4F7FA"/>
          </a:solidFill>
          <a:ln w="9525">
            <a:solidFill>
              <a:srgbClr val="D5DDE5"/>
            </a:solidFill>
            <a:prstDash val="solid"/>
          </a:ln>
        </p:spPr>
      </p:sp>
      <p:sp>
        <p:nvSpPr>
          <p:cNvPr id="24" name="Shape 21"/>
          <p:cNvSpPr/>
          <p:nvPr/>
        </p:nvSpPr>
        <p:spPr>
          <a:xfrm>
            <a:off x="7406640" y="3456432"/>
            <a:ext cx="3566160" cy="64008"/>
          </a:xfrm>
          <a:prstGeom prst="rect">
            <a:avLst/>
          </a:prstGeom>
          <a:solidFill>
            <a:srgbClr val="004B85"/>
          </a:solidFill>
          <a:ln/>
        </p:spPr>
      </p:sp>
      <p:sp>
        <p:nvSpPr>
          <p:cNvPr id="25" name="Shape 22"/>
          <p:cNvSpPr/>
          <p:nvPr/>
        </p:nvSpPr>
        <p:spPr>
          <a:xfrm>
            <a:off x="7662672" y="3712464"/>
            <a:ext cx="384048" cy="384048"/>
          </a:xfrm>
          <a:prstGeom prst="rect">
            <a:avLst/>
          </a:prstGeom>
          <a:solidFill>
            <a:srgbClr val="004B85"/>
          </a:solidFill>
          <a:ln/>
        </p:spPr>
      </p:sp>
      <p:sp>
        <p:nvSpPr>
          <p:cNvPr id="26" name="Text 23"/>
          <p:cNvSpPr txBox="1"/>
          <p:nvPr/>
        </p:nvSpPr>
        <p:spPr>
          <a:xfrm>
            <a:off x="7662672" y="376732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7" name="Text 24"/>
          <p:cNvSpPr txBox="1"/>
          <p:nvPr/>
        </p:nvSpPr>
        <p:spPr>
          <a:xfrm>
            <a:off x="7662672" y="4261104"/>
            <a:ext cx="3054096"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Predictivas</a:t>
            </a:r>
            <a:endParaRPr lang="en-US" sz="1800" dirty="0"/>
          </a:p>
        </p:txBody>
      </p:sp>
      <p:sp>
        <p:nvSpPr>
          <p:cNvPr id="28" name="Text 25"/>
          <p:cNvSpPr txBox="1"/>
          <p:nvPr/>
        </p:nvSpPr>
        <p:spPr>
          <a:xfrm>
            <a:off x="7662672" y="4681728"/>
            <a:ext cx="3054096" cy="53035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Se ejecutan según la condición monitoreada del equipo, cuando los síntomas anticipan la falla.</a:t>
            </a:r>
            <a:endParaRPr lang="en-US" sz="1350" dirty="0"/>
          </a:p>
        </p:txBody>
      </p:sp>
      <p:sp>
        <p:nvSpPr>
          <p:cNvPr id="29" name="Shape 26"/>
          <p:cNvSpPr/>
          <p:nvPr/>
        </p:nvSpPr>
        <p:spPr>
          <a:xfrm>
            <a:off x="658368" y="5559552"/>
            <a:ext cx="10872216" cy="420624"/>
          </a:xfrm>
          <a:prstGeom prst="rect">
            <a:avLst/>
          </a:prstGeom>
          <a:solidFill>
            <a:srgbClr val="E8F0F7"/>
          </a:solidFill>
          <a:ln/>
        </p:spPr>
      </p:sp>
      <p:sp>
        <p:nvSpPr>
          <p:cNvPr id="30" name="Shape 27"/>
          <p:cNvSpPr/>
          <p:nvPr/>
        </p:nvSpPr>
        <p:spPr>
          <a:xfrm>
            <a:off x="658368" y="5559552"/>
            <a:ext cx="54864" cy="420624"/>
          </a:xfrm>
          <a:prstGeom prst="rect">
            <a:avLst/>
          </a:prstGeom>
          <a:solidFill>
            <a:srgbClr val="004B85"/>
          </a:solidFill>
          <a:ln/>
        </p:spPr>
      </p:sp>
      <p:sp>
        <p:nvSpPr>
          <p:cNvPr id="31" name="Text 28"/>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También se considera aquí el rediseño anticipado, cuando se modifica el elemento antes de que la falla se presente.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DESPUÉS DE LA FALLA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Reparaciones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a:t>
            </a:r>
            <a:endParaRPr lang="en-US" sz="1000" dirty="0"/>
          </a:p>
        </p:txBody>
      </p:sp>
      <p:sp>
        <p:nvSpPr>
          <p:cNvPr id="10" name="Shape 7"/>
          <p:cNvSpPr/>
          <p:nvPr/>
        </p:nvSpPr>
        <p:spPr>
          <a:xfrm>
            <a:off x="658368" y="1737360"/>
            <a:ext cx="10872216" cy="932688"/>
          </a:xfrm>
          <a:prstGeom prst="rect">
            <a:avLst/>
          </a:prstGeom>
          <a:solidFill>
            <a:srgbClr val="E8F0F7"/>
          </a:solidFill>
          <a:ln/>
        </p:spPr>
      </p:sp>
      <p:sp>
        <p:nvSpPr>
          <p:cNvPr id="11" name="Shape 8"/>
          <p:cNvSpPr/>
          <p:nvPr/>
        </p:nvSpPr>
        <p:spPr>
          <a:xfrm>
            <a:off x="658368" y="1737360"/>
            <a:ext cx="64008" cy="932688"/>
          </a:xfrm>
          <a:prstGeom prst="rect">
            <a:avLst/>
          </a:prstGeom>
          <a:solidFill>
            <a:srgbClr val="004B85"/>
          </a:solidFill>
          <a:ln/>
        </p:spPr>
      </p:sp>
      <p:sp>
        <p:nvSpPr>
          <p:cNvPr id="12" name="Text 9"/>
          <p:cNvSpPr txBox="1"/>
          <p:nvPr/>
        </p:nvSpPr>
        <p:spPr>
          <a:xfrm>
            <a:off x="1097280" y="1874520"/>
            <a:ext cx="10058400" cy="658368"/>
          </a:xfrm>
          <a:prstGeom prst="rect">
            <a:avLst/>
          </a:prstGeom>
          <a:noFill/>
          <a:ln/>
        </p:spPr>
        <p:txBody>
          <a:bodyPr wrap="square" lIns="0" tIns="0" rIns="0" bIns="0" rtlCol="0" anchor="ctr"/>
          <a:lstStyle/>
          <a:p>
            <a:pPr marL="0" indent="0">
              <a:buNone/>
            </a:pPr>
            <a:r>
              <a:rPr lang="en-US" sz="2300" b="1" dirty="0">
                <a:solidFill>
                  <a:srgbClr val="00335C"/>
                </a:solidFill>
                <a:latin typeface="Segoe UI" pitchFamily="34" charset="0"/>
                <a:ea typeface="Segoe UI" pitchFamily="34" charset="-122"/>
                <a:cs typeface="Segoe UI" pitchFamily="34" charset="-120"/>
              </a:rPr>
              <a:t>Son las tareas que se realizan después de que sucede la falla.</a:t>
            </a:r>
            <a:endParaRPr lang="en-US" sz="2300" dirty="0"/>
          </a:p>
        </p:txBody>
      </p:sp>
      <p:sp>
        <p:nvSpPr>
          <p:cNvPr id="13" name="Text 10"/>
          <p:cNvSpPr txBox="1"/>
          <p:nvPr/>
        </p:nvSpPr>
        <p:spPr>
          <a:xfrm>
            <a:off x="658368" y="2962656"/>
            <a:ext cx="5486400" cy="320040"/>
          </a:xfrm>
          <a:prstGeom prst="rect">
            <a:avLst/>
          </a:prstGeom>
          <a:noFill/>
          <a:ln/>
        </p:spPr>
        <p:txBody>
          <a:bodyPr wrap="square" lIns="0" tIns="0" rIns="0" bIns="0" rtlCol="0" anchor="ctr"/>
          <a:lstStyle/>
          <a:p>
            <a:pPr marL="0" indent="0">
              <a:buNone/>
            </a:pPr>
            <a:r>
              <a:rPr lang="en-US" sz="1500" b="1" kern="0" spc="60" dirty="0">
                <a:solidFill>
                  <a:srgbClr val="B88200"/>
                </a:solidFill>
                <a:latin typeface="Segoe UI" pitchFamily="34" charset="0"/>
                <a:ea typeface="Segoe UI" pitchFamily="34" charset="-122"/>
                <a:cs typeface="Segoe UI" pitchFamily="34" charset="-120"/>
              </a:rPr>
              <a:t>Se clasifican en:</a:t>
            </a:r>
            <a:endParaRPr lang="en-US" sz="1500" dirty="0"/>
          </a:p>
        </p:txBody>
      </p:sp>
      <p:sp>
        <p:nvSpPr>
          <p:cNvPr id="14" name="Shape 11"/>
          <p:cNvSpPr/>
          <p:nvPr/>
        </p:nvSpPr>
        <p:spPr>
          <a:xfrm>
            <a:off x="658368" y="3401568"/>
            <a:ext cx="5294376" cy="1975104"/>
          </a:xfrm>
          <a:prstGeom prst="rect">
            <a:avLst/>
          </a:prstGeom>
          <a:solidFill>
            <a:srgbClr val="F4F7FA"/>
          </a:solidFill>
          <a:ln w="9525">
            <a:solidFill>
              <a:srgbClr val="D5DDE5"/>
            </a:solidFill>
            <a:prstDash val="solid"/>
          </a:ln>
        </p:spPr>
      </p:sp>
      <p:sp>
        <p:nvSpPr>
          <p:cNvPr id="15" name="Shape 12"/>
          <p:cNvSpPr/>
          <p:nvPr/>
        </p:nvSpPr>
        <p:spPr>
          <a:xfrm>
            <a:off x="658368" y="3401568"/>
            <a:ext cx="5294376" cy="64008"/>
          </a:xfrm>
          <a:prstGeom prst="rect">
            <a:avLst/>
          </a:prstGeom>
          <a:solidFill>
            <a:srgbClr val="004B85"/>
          </a:solidFill>
          <a:ln/>
        </p:spPr>
      </p:sp>
      <p:sp>
        <p:nvSpPr>
          <p:cNvPr id="16" name="Shape 13"/>
          <p:cNvSpPr/>
          <p:nvPr/>
        </p:nvSpPr>
        <p:spPr>
          <a:xfrm>
            <a:off x="914400" y="3657600"/>
            <a:ext cx="384048" cy="384048"/>
          </a:xfrm>
          <a:prstGeom prst="rect">
            <a:avLst/>
          </a:prstGeom>
          <a:solidFill>
            <a:srgbClr val="004B85"/>
          </a:solidFill>
          <a:ln/>
        </p:spPr>
      </p:sp>
      <p:sp>
        <p:nvSpPr>
          <p:cNvPr id="17" name="Text 14"/>
          <p:cNvSpPr txBox="1"/>
          <p:nvPr/>
        </p:nvSpPr>
        <p:spPr>
          <a:xfrm>
            <a:off x="914400" y="371246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8" name="Text 15"/>
          <p:cNvSpPr txBox="1"/>
          <p:nvPr/>
        </p:nvSpPr>
        <p:spPr>
          <a:xfrm>
            <a:off x="914400" y="4206240"/>
            <a:ext cx="4782312"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Acciones correctivas</a:t>
            </a:r>
            <a:endParaRPr lang="en-US" sz="1900" dirty="0"/>
          </a:p>
        </p:txBody>
      </p:sp>
      <p:sp>
        <p:nvSpPr>
          <p:cNvPr id="19" name="Text 16"/>
          <p:cNvSpPr txBox="1"/>
          <p:nvPr/>
        </p:nvSpPr>
        <p:spPr>
          <a:xfrm>
            <a:off x="914400" y="4626864"/>
            <a:ext cx="4782312" cy="585216"/>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Buscan recuperar la funcionalidad perdida. Comprenden la reparación provisional (desvare) y la reparación correcta y definitiva.</a:t>
            </a:r>
            <a:endParaRPr lang="en-US" sz="1400" dirty="0"/>
          </a:p>
        </p:txBody>
      </p:sp>
      <p:sp>
        <p:nvSpPr>
          <p:cNvPr id="20" name="Shape 17"/>
          <p:cNvSpPr/>
          <p:nvPr/>
        </p:nvSpPr>
        <p:spPr>
          <a:xfrm>
            <a:off x="6236208" y="3401568"/>
            <a:ext cx="5294376" cy="1975104"/>
          </a:xfrm>
          <a:prstGeom prst="rect">
            <a:avLst/>
          </a:prstGeom>
          <a:solidFill>
            <a:srgbClr val="F4F7FA"/>
          </a:solidFill>
          <a:ln w="9525">
            <a:solidFill>
              <a:srgbClr val="D5DDE5"/>
            </a:solidFill>
            <a:prstDash val="solid"/>
          </a:ln>
        </p:spPr>
      </p:sp>
      <p:sp>
        <p:nvSpPr>
          <p:cNvPr id="21" name="Shape 18"/>
          <p:cNvSpPr/>
          <p:nvPr/>
        </p:nvSpPr>
        <p:spPr>
          <a:xfrm>
            <a:off x="6236208" y="3401568"/>
            <a:ext cx="5294376" cy="64008"/>
          </a:xfrm>
          <a:prstGeom prst="rect">
            <a:avLst/>
          </a:prstGeom>
          <a:solidFill>
            <a:srgbClr val="FFB903"/>
          </a:solidFill>
          <a:ln/>
        </p:spPr>
      </p:sp>
      <p:sp>
        <p:nvSpPr>
          <p:cNvPr id="22" name="Shape 19"/>
          <p:cNvSpPr/>
          <p:nvPr/>
        </p:nvSpPr>
        <p:spPr>
          <a:xfrm>
            <a:off x="6492240" y="3657600"/>
            <a:ext cx="384048" cy="384048"/>
          </a:xfrm>
          <a:prstGeom prst="rect">
            <a:avLst/>
          </a:prstGeom>
          <a:solidFill>
            <a:srgbClr val="FFB903"/>
          </a:solidFill>
          <a:ln/>
        </p:spPr>
      </p:sp>
      <p:sp>
        <p:nvSpPr>
          <p:cNvPr id="23" name="Text 20"/>
          <p:cNvSpPr txBox="1"/>
          <p:nvPr/>
        </p:nvSpPr>
        <p:spPr>
          <a:xfrm>
            <a:off x="6492240" y="371246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4" name="Text 21"/>
          <p:cNvSpPr txBox="1"/>
          <p:nvPr/>
        </p:nvSpPr>
        <p:spPr>
          <a:xfrm>
            <a:off x="6492240" y="4206240"/>
            <a:ext cx="4782312"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Acciones modificativas</a:t>
            </a:r>
            <a:endParaRPr lang="en-US" sz="1900" dirty="0"/>
          </a:p>
        </p:txBody>
      </p:sp>
      <p:sp>
        <p:nvSpPr>
          <p:cNvPr id="25" name="Text 22"/>
          <p:cNvSpPr txBox="1"/>
          <p:nvPr/>
        </p:nvSpPr>
        <p:spPr>
          <a:xfrm>
            <a:off x="6492240" y="4626864"/>
            <a:ext cx="4782312" cy="585216"/>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Cambian las condiciones originales del elemento o del sistema. Comprenden la mejora y el rediseño.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NIVEL OPERACIONAL</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Posibles acciones a ejecutar</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3</a:t>
            </a:r>
            <a:endParaRPr lang="en-US" sz="1000" dirty="0"/>
          </a:p>
        </p:txBody>
      </p:sp>
      <p:sp>
        <p:nvSpPr>
          <p:cNvPr id="10" name="Shape 7"/>
          <p:cNvSpPr/>
          <p:nvPr/>
        </p:nvSpPr>
        <p:spPr>
          <a:xfrm>
            <a:off x="4041648" y="1700784"/>
            <a:ext cx="4105656" cy="502920"/>
          </a:xfrm>
          <a:prstGeom prst="rect">
            <a:avLst/>
          </a:prstGeom>
          <a:solidFill>
            <a:srgbClr val="001E38"/>
          </a:solidFill>
          <a:ln/>
        </p:spPr>
      </p:sp>
      <p:sp>
        <p:nvSpPr>
          <p:cNvPr id="11" name="Text 8"/>
          <p:cNvSpPr txBox="1"/>
          <p:nvPr/>
        </p:nvSpPr>
        <p:spPr>
          <a:xfrm>
            <a:off x="4041648" y="1700784"/>
            <a:ext cx="4105656" cy="502920"/>
          </a:xfrm>
          <a:prstGeom prst="rect">
            <a:avLst/>
          </a:prstGeom>
          <a:noFill/>
          <a:ln/>
        </p:spPr>
        <p:txBody>
          <a:bodyPr wrap="square" lIns="0" tIns="0" rIns="0" bIns="0" rtlCol="0" anchor="ctr"/>
          <a:lstStyle/>
          <a:p>
            <a:pPr marL="0" indent="0" algn="ctr">
              <a:lnSpc>
                <a:spcPts val="1875"/>
              </a:lnSpc>
              <a:buNone/>
            </a:pPr>
            <a:r>
              <a:rPr lang="en-US" sz="1500" b="1" dirty="0">
                <a:solidFill>
                  <a:srgbClr val="FFFFFF"/>
                </a:solidFill>
                <a:latin typeface="Segoe UI" pitchFamily="34" charset="0"/>
                <a:ea typeface="Segoe UI" pitchFamily="34" charset="-122"/>
                <a:cs typeface="Segoe UI" pitchFamily="34" charset="-120"/>
              </a:rPr>
              <a:t>DESPUÉS DE LA FALLA</a:t>
            </a:r>
            <a:endParaRPr lang="en-US" sz="1500" dirty="0"/>
          </a:p>
        </p:txBody>
      </p:sp>
      <p:sp>
        <p:nvSpPr>
          <p:cNvPr id="12" name="Shape 9"/>
          <p:cNvSpPr/>
          <p:nvPr/>
        </p:nvSpPr>
        <p:spPr>
          <a:xfrm>
            <a:off x="6071616" y="2203704"/>
            <a:ext cx="41148" cy="274320"/>
          </a:xfrm>
          <a:prstGeom prst="rect">
            <a:avLst/>
          </a:prstGeom>
          <a:solidFill>
            <a:srgbClr val="2E77B0"/>
          </a:solidFill>
          <a:ln/>
        </p:spPr>
      </p:sp>
      <p:sp>
        <p:nvSpPr>
          <p:cNvPr id="13" name="Shape 10"/>
          <p:cNvSpPr/>
          <p:nvPr/>
        </p:nvSpPr>
        <p:spPr>
          <a:xfrm>
            <a:off x="4041648" y="2478024"/>
            <a:ext cx="4105656" cy="502920"/>
          </a:xfrm>
          <a:prstGeom prst="rect">
            <a:avLst/>
          </a:prstGeom>
          <a:solidFill>
            <a:srgbClr val="00335C"/>
          </a:solidFill>
          <a:ln/>
        </p:spPr>
      </p:sp>
      <p:sp>
        <p:nvSpPr>
          <p:cNvPr id="14" name="Text 11"/>
          <p:cNvSpPr txBox="1"/>
          <p:nvPr/>
        </p:nvSpPr>
        <p:spPr>
          <a:xfrm>
            <a:off x="4041648" y="2478024"/>
            <a:ext cx="4105656" cy="502920"/>
          </a:xfrm>
          <a:prstGeom prst="rect">
            <a:avLst/>
          </a:prstGeom>
          <a:noFill/>
          <a:ln/>
        </p:spPr>
        <p:txBody>
          <a:bodyPr wrap="square" lIns="0" tIns="0" rIns="0" bIns="0" rtlCol="0" anchor="ctr"/>
          <a:lstStyle/>
          <a:p>
            <a:pPr marL="0" indent="0" algn="ctr">
              <a:lnSpc>
                <a:spcPts val="1875"/>
              </a:lnSpc>
              <a:buNone/>
            </a:pPr>
            <a:r>
              <a:rPr lang="en-US" sz="1500" b="1" dirty="0">
                <a:solidFill>
                  <a:srgbClr val="FFFFFF"/>
                </a:solidFill>
                <a:latin typeface="Segoe UI" pitchFamily="34" charset="0"/>
                <a:ea typeface="Segoe UI" pitchFamily="34" charset="-122"/>
                <a:cs typeface="Segoe UI" pitchFamily="34" charset="-120"/>
              </a:rPr>
              <a:t>REPARACIONES</a:t>
            </a:r>
            <a:endParaRPr lang="en-US" sz="1500" dirty="0"/>
          </a:p>
        </p:txBody>
      </p:sp>
      <p:sp>
        <p:nvSpPr>
          <p:cNvPr id="15" name="Shape 12"/>
          <p:cNvSpPr/>
          <p:nvPr/>
        </p:nvSpPr>
        <p:spPr>
          <a:xfrm>
            <a:off x="6071616" y="2980944"/>
            <a:ext cx="41148" cy="310896"/>
          </a:xfrm>
          <a:prstGeom prst="rect">
            <a:avLst/>
          </a:prstGeom>
          <a:solidFill>
            <a:srgbClr val="2E77B0"/>
          </a:solidFill>
          <a:ln/>
        </p:spPr>
      </p:sp>
      <p:sp>
        <p:nvSpPr>
          <p:cNvPr id="16" name="Shape 13"/>
          <p:cNvSpPr/>
          <p:nvPr/>
        </p:nvSpPr>
        <p:spPr>
          <a:xfrm>
            <a:off x="3017520" y="3291840"/>
            <a:ext cx="6144768" cy="41148"/>
          </a:xfrm>
          <a:prstGeom prst="rect">
            <a:avLst/>
          </a:prstGeom>
          <a:solidFill>
            <a:srgbClr val="2E77B0"/>
          </a:solidFill>
          <a:ln/>
        </p:spPr>
      </p:sp>
      <p:sp>
        <p:nvSpPr>
          <p:cNvPr id="17" name="Shape 14"/>
          <p:cNvSpPr/>
          <p:nvPr/>
        </p:nvSpPr>
        <p:spPr>
          <a:xfrm>
            <a:off x="3017520" y="3291840"/>
            <a:ext cx="41148" cy="292608"/>
          </a:xfrm>
          <a:prstGeom prst="rect">
            <a:avLst/>
          </a:prstGeom>
          <a:solidFill>
            <a:srgbClr val="2E77B0"/>
          </a:solidFill>
          <a:ln/>
        </p:spPr>
      </p:sp>
      <p:sp>
        <p:nvSpPr>
          <p:cNvPr id="18" name="Shape 15"/>
          <p:cNvSpPr/>
          <p:nvPr/>
        </p:nvSpPr>
        <p:spPr>
          <a:xfrm>
            <a:off x="9125712" y="3291840"/>
            <a:ext cx="41148" cy="292608"/>
          </a:xfrm>
          <a:prstGeom prst="rect">
            <a:avLst/>
          </a:prstGeom>
          <a:solidFill>
            <a:srgbClr val="2E77B0"/>
          </a:solidFill>
          <a:ln/>
        </p:spPr>
      </p:sp>
      <p:sp>
        <p:nvSpPr>
          <p:cNvPr id="19" name="Shape 16"/>
          <p:cNvSpPr/>
          <p:nvPr/>
        </p:nvSpPr>
        <p:spPr>
          <a:xfrm>
            <a:off x="658368" y="3584448"/>
            <a:ext cx="4718304" cy="502920"/>
          </a:xfrm>
          <a:prstGeom prst="rect">
            <a:avLst/>
          </a:prstGeom>
          <a:solidFill>
            <a:srgbClr val="004B85"/>
          </a:solidFill>
          <a:ln/>
        </p:spPr>
      </p:sp>
      <p:sp>
        <p:nvSpPr>
          <p:cNvPr id="20" name="Text 17"/>
          <p:cNvSpPr txBox="1"/>
          <p:nvPr/>
        </p:nvSpPr>
        <p:spPr>
          <a:xfrm>
            <a:off x="658368" y="3584448"/>
            <a:ext cx="4718304" cy="502920"/>
          </a:xfrm>
          <a:prstGeom prst="rect">
            <a:avLst/>
          </a:prstGeom>
          <a:noFill/>
          <a:ln/>
        </p:spPr>
        <p:txBody>
          <a:bodyPr wrap="square" lIns="0" tIns="0" rIns="0" bIns="0" rtlCol="0" anchor="ctr"/>
          <a:lstStyle/>
          <a:p>
            <a:pPr marL="0" indent="0" algn="ctr">
              <a:lnSpc>
                <a:spcPts val="1750"/>
              </a:lnSpc>
              <a:buNone/>
            </a:pPr>
            <a:r>
              <a:rPr lang="en-US" sz="1400" b="1" dirty="0">
                <a:solidFill>
                  <a:srgbClr val="FFFFFF"/>
                </a:solidFill>
                <a:latin typeface="Segoe UI" pitchFamily="34" charset="0"/>
                <a:ea typeface="Segoe UI" pitchFamily="34" charset="-122"/>
                <a:cs typeface="Segoe UI" pitchFamily="34" charset="-120"/>
              </a:rPr>
              <a:t>ACCIONES CORRECTIVAS</a:t>
            </a:r>
            <a:endParaRPr lang="en-US" sz="1400" dirty="0"/>
          </a:p>
        </p:txBody>
      </p:sp>
      <p:sp>
        <p:nvSpPr>
          <p:cNvPr id="21" name="Shape 18"/>
          <p:cNvSpPr/>
          <p:nvPr/>
        </p:nvSpPr>
        <p:spPr>
          <a:xfrm>
            <a:off x="6812280" y="3584448"/>
            <a:ext cx="4718304" cy="502920"/>
          </a:xfrm>
          <a:prstGeom prst="rect">
            <a:avLst/>
          </a:prstGeom>
          <a:solidFill>
            <a:srgbClr val="B88200"/>
          </a:solidFill>
          <a:ln/>
        </p:spPr>
      </p:sp>
      <p:sp>
        <p:nvSpPr>
          <p:cNvPr id="22" name="Text 19"/>
          <p:cNvSpPr txBox="1"/>
          <p:nvPr/>
        </p:nvSpPr>
        <p:spPr>
          <a:xfrm>
            <a:off x="6812280" y="3584448"/>
            <a:ext cx="4718304" cy="502920"/>
          </a:xfrm>
          <a:prstGeom prst="rect">
            <a:avLst/>
          </a:prstGeom>
          <a:noFill/>
          <a:ln/>
        </p:spPr>
        <p:txBody>
          <a:bodyPr wrap="square" lIns="0" tIns="0" rIns="0" bIns="0" rtlCol="0" anchor="ctr"/>
          <a:lstStyle/>
          <a:p>
            <a:pPr marL="0" indent="0" algn="ctr">
              <a:lnSpc>
                <a:spcPts val="1750"/>
              </a:lnSpc>
              <a:buNone/>
            </a:pPr>
            <a:r>
              <a:rPr lang="en-US" sz="1400" b="1" dirty="0">
                <a:solidFill>
                  <a:srgbClr val="FFFFFF"/>
                </a:solidFill>
                <a:latin typeface="Segoe UI" pitchFamily="34" charset="0"/>
                <a:ea typeface="Segoe UI" pitchFamily="34" charset="-122"/>
                <a:cs typeface="Segoe UI" pitchFamily="34" charset="-120"/>
              </a:rPr>
              <a:t>ACCIONES MODIFICATIVAS</a:t>
            </a:r>
            <a:endParaRPr lang="en-US" sz="1400" dirty="0"/>
          </a:p>
        </p:txBody>
      </p:sp>
      <p:sp>
        <p:nvSpPr>
          <p:cNvPr id="23" name="Shape 20"/>
          <p:cNvSpPr/>
          <p:nvPr/>
        </p:nvSpPr>
        <p:spPr>
          <a:xfrm>
            <a:off x="3017520" y="4087368"/>
            <a:ext cx="41148" cy="237744"/>
          </a:xfrm>
          <a:prstGeom prst="rect">
            <a:avLst/>
          </a:prstGeom>
          <a:solidFill>
            <a:srgbClr val="2E77B0"/>
          </a:solidFill>
          <a:ln/>
        </p:spPr>
      </p:sp>
      <p:sp>
        <p:nvSpPr>
          <p:cNvPr id="24" name="Shape 21"/>
          <p:cNvSpPr/>
          <p:nvPr/>
        </p:nvSpPr>
        <p:spPr>
          <a:xfrm>
            <a:off x="1463040" y="4325112"/>
            <a:ext cx="3429000" cy="41148"/>
          </a:xfrm>
          <a:prstGeom prst="rect">
            <a:avLst/>
          </a:prstGeom>
          <a:solidFill>
            <a:srgbClr val="2E77B0"/>
          </a:solidFill>
          <a:ln/>
        </p:spPr>
      </p:sp>
      <p:sp>
        <p:nvSpPr>
          <p:cNvPr id="25" name="Shape 22"/>
          <p:cNvSpPr/>
          <p:nvPr/>
        </p:nvSpPr>
        <p:spPr>
          <a:xfrm>
            <a:off x="1463040" y="4325112"/>
            <a:ext cx="41148" cy="219456"/>
          </a:xfrm>
          <a:prstGeom prst="rect">
            <a:avLst/>
          </a:prstGeom>
          <a:solidFill>
            <a:srgbClr val="2E77B0"/>
          </a:solidFill>
          <a:ln/>
        </p:spPr>
      </p:sp>
      <p:sp>
        <p:nvSpPr>
          <p:cNvPr id="26" name="Shape 23"/>
          <p:cNvSpPr/>
          <p:nvPr/>
        </p:nvSpPr>
        <p:spPr>
          <a:xfrm>
            <a:off x="4855464" y="4325112"/>
            <a:ext cx="41148" cy="219456"/>
          </a:xfrm>
          <a:prstGeom prst="rect">
            <a:avLst/>
          </a:prstGeom>
          <a:solidFill>
            <a:srgbClr val="2E77B0"/>
          </a:solidFill>
          <a:ln/>
        </p:spPr>
      </p:sp>
      <p:sp>
        <p:nvSpPr>
          <p:cNvPr id="27" name="Shape 24"/>
          <p:cNvSpPr/>
          <p:nvPr/>
        </p:nvSpPr>
        <p:spPr>
          <a:xfrm>
            <a:off x="694944" y="4544568"/>
            <a:ext cx="1572768" cy="841248"/>
          </a:xfrm>
          <a:prstGeom prst="rect">
            <a:avLst/>
          </a:prstGeom>
          <a:solidFill>
            <a:srgbClr val="FFFFFF"/>
          </a:solidFill>
          <a:ln w="12700">
            <a:solidFill>
              <a:srgbClr val="2E77B0"/>
            </a:solidFill>
            <a:prstDash val="solid"/>
          </a:ln>
        </p:spPr>
      </p:sp>
      <p:sp>
        <p:nvSpPr>
          <p:cNvPr id="28" name="Text 25"/>
          <p:cNvSpPr txBox="1"/>
          <p:nvPr/>
        </p:nvSpPr>
        <p:spPr>
          <a:xfrm>
            <a:off x="694944" y="4544568"/>
            <a:ext cx="1572768" cy="841248"/>
          </a:xfrm>
          <a:prstGeom prst="rect">
            <a:avLst/>
          </a:prstGeom>
          <a:noFill/>
          <a:ln/>
        </p:spPr>
        <p:txBody>
          <a:bodyPr wrap="square" lIns="0" tIns="0" rIns="0" bIns="0" rtlCol="0" anchor="ctr"/>
          <a:lstStyle/>
          <a:p>
            <a:pPr marL="0" indent="0" algn="ctr">
              <a:lnSpc>
                <a:spcPts val="1438"/>
              </a:lnSpc>
              <a:buNone/>
            </a:pPr>
            <a:r>
              <a:rPr lang="en-US" sz="1150" b="1" dirty="0">
                <a:solidFill>
                  <a:srgbClr val="00335C"/>
                </a:solidFill>
                <a:latin typeface="Segoe UI" pitchFamily="34" charset="0"/>
                <a:ea typeface="Segoe UI" pitchFamily="34" charset="-122"/>
                <a:cs typeface="Segoe UI" pitchFamily="34" charset="-120"/>
              </a:rPr>
              <a:t>REPARACIÓN PROVISIONAL (DESVARE)</a:t>
            </a:r>
            <a:endParaRPr lang="en-US" sz="1150" dirty="0"/>
          </a:p>
        </p:txBody>
      </p:sp>
      <p:sp>
        <p:nvSpPr>
          <p:cNvPr id="29" name="Shape 26"/>
          <p:cNvSpPr/>
          <p:nvPr/>
        </p:nvSpPr>
        <p:spPr>
          <a:xfrm>
            <a:off x="4087368" y="4544568"/>
            <a:ext cx="1572768" cy="841248"/>
          </a:xfrm>
          <a:prstGeom prst="rect">
            <a:avLst/>
          </a:prstGeom>
          <a:solidFill>
            <a:srgbClr val="FFFFFF"/>
          </a:solidFill>
          <a:ln w="12700">
            <a:solidFill>
              <a:srgbClr val="2E77B0"/>
            </a:solidFill>
            <a:prstDash val="solid"/>
          </a:ln>
        </p:spPr>
      </p:sp>
      <p:sp>
        <p:nvSpPr>
          <p:cNvPr id="30" name="Text 27"/>
          <p:cNvSpPr txBox="1"/>
          <p:nvPr/>
        </p:nvSpPr>
        <p:spPr>
          <a:xfrm>
            <a:off x="4087368" y="4544568"/>
            <a:ext cx="1572768" cy="841248"/>
          </a:xfrm>
          <a:prstGeom prst="rect">
            <a:avLst/>
          </a:prstGeom>
          <a:noFill/>
          <a:ln/>
        </p:spPr>
        <p:txBody>
          <a:bodyPr wrap="square" lIns="0" tIns="0" rIns="0" bIns="0" rtlCol="0" anchor="ctr"/>
          <a:lstStyle/>
          <a:p>
            <a:pPr marL="0" indent="0" algn="ctr">
              <a:lnSpc>
                <a:spcPts val="1438"/>
              </a:lnSpc>
              <a:buNone/>
            </a:pPr>
            <a:r>
              <a:rPr lang="en-US" sz="1150" b="1" dirty="0">
                <a:solidFill>
                  <a:srgbClr val="00335C"/>
                </a:solidFill>
                <a:latin typeface="Segoe UI" pitchFamily="34" charset="0"/>
                <a:ea typeface="Segoe UI" pitchFamily="34" charset="-122"/>
                <a:cs typeface="Segoe UI" pitchFamily="34" charset="-120"/>
              </a:rPr>
              <a:t>REPARACIÓN CORRECTA Y DEFINITIVA</a:t>
            </a:r>
            <a:endParaRPr lang="en-US" sz="1150" dirty="0"/>
          </a:p>
        </p:txBody>
      </p:sp>
      <p:sp>
        <p:nvSpPr>
          <p:cNvPr id="31" name="Shape 28"/>
          <p:cNvSpPr/>
          <p:nvPr/>
        </p:nvSpPr>
        <p:spPr>
          <a:xfrm>
            <a:off x="9125712" y="4087368"/>
            <a:ext cx="41148" cy="237744"/>
          </a:xfrm>
          <a:prstGeom prst="rect">
            <a:avLst/>
          </a:prstGeom>
          <a:solidFill>
            <a:srgbClr val="B88200"/>
          </a:solidFill>
          <a:ln/>
        </p:spPr>
      </p:sp>
      <p:sp>
        <p:nvSpPr>
          <p:cNvPr id="32" name="Shape 29"/>
          <p:cNvSpPr/>
          <p:nvPr/>
        </p:nvSpPr>
        <p:spPr>
          <a:xfrm>
            <a:off x="7863840" y="4325112"/>
            <a:ext cx="2587752" cy="41148"/>
          </a:xfrm>
          <a:prstGeom prst="rect">
            <a:avLst/>
          </a:prstGeom>
          <a:solidFill>
            <a:srgbClr val="B88200"/>
          </a:solidFill>
          <a:ln/>
        </p:spPr>
      </p:sp>
      <p:sp>
        <p:nvSpPr>
          <p:cNvPr id="33" name="Shape 30"/>
          <p:cNvSpPr/>
          <p:nvPr/>
        </p:nvSpPr>
        <p:spPr>
          <a:xfrm>
            <a:off x="7863840" y="4325112"/>
            <a:ext cx="41148" cy="219456"/>
          </a:xfrm>
          <a:prstGeom prst="rect">
            <a:avLst/>
          </a:prstGeom>
          <a:solidFill>
            <a:srgbClr val="B88200"/>
          </a:solidFill>
          <a:ln/>
        </p:spPr>
      </p:sp>
      <p:sp>
        <p:nvSpPr>
          <p:cNvPr id="34" name="Shape 31"/>
          <p:cNvSpPr/>
          <p:nvPr/>
        </p:nvSpPr>
        <p:spPr>
          <a:xfrm>
            <a:off x="10415016" y="4325112"/>
            <a:ext cx="41148" cy="219456"/>
          </a:xfrm>
          <a:prstGeom prst="rect">
            <a:avLst/>
          </a:prstGeom>
          <a:solidFill>
            <a:srgbClr val="B88200"/>
          </a:solidFill>
          <a:ln/>
        </p:spPr>
      </p:sp>
      <p:sp>
        <p:nvSpPr>
          <p:cNvPr id="35" name="Shape 32"/>
          <p:cNvSpPr/>
          <p:nvPr/>
        </p:nvSpPr>
        <p:spPr>
          <a:xfrm>
            <a:off x="7095744" y="4544568"/>
            <a:ext cx="1572768" cy="841248"/>
          </a:xfrm>
          <a:prstGeom prst="rect">
            <a:avLst/>
          </a:prstGeom>
          <a:solidFill>
            <a:srgbClr val="FFFFFF"/>
          </a:solidFill>
          <a:ln w="12700">
            <a:solidFill>
              <a:srgbClr val="FFB903"/>
            </a:solidFill>
            <a:prstDash val="solid"/>
          </a:ln>
        </p:spPr>
      </p:sp>
      <p:sp>
        <p:nvSpPr>
          <p:cNvPr id="36" name="Text 33"/>
          <p:cNvSpPr txBox="1"/>
          <p:nvPr/>
        </p:nvSpPr>
        <p:spPr>
          <a:xfrm>
            <a:off x="7095744" y="4544568"/>
            <a:ext cx="1572768" cy="841248"/>
          </a:xfrm>
          <a:prstGeom prst="rect">
            <a:avLst/>
          </a:prstGeom>
          <a:noFill/>
          <a:ln/>
        </p:spPr>
        <p:txBody>
          <a:bodyPr wrap="square" lIns="0" tIns="0" rIns="0" bIns="0" rtlCol="0" anchor="ctr"/>
          <a:lstStyle/>
          <a:p>
            <a:pPr marL="0" indent="0" algn="ctr">
              <a:lnSpc>
                <a:spcPts val="1438"/>
              </a:lnSpc>
              <a:buNone/>
            </a:pPr>
            <a:r>
              <a:rPr lang="en-US" sz="1150" b="1" dirty="0">
                <a:solidFill>
                  <a:srgbClr val="00335C"/>
                </a:solidFill>
                <a:latin typeface="Segoe UI" pitchFamily="34" charset="0"/>
                <a:ea typeface="Segoe UI" pitchFamily="34" charset="-122"/>
                <a:cs typeface="Segoe UI" pitchFamily="34" charset="-120"/>
              </a:rPr>
              <a:t>MEJORA</a:t>
            </a:r>
            <a:endParaRPr lang="en-US" sz="1150" dirty="0"/>
          </a:p>
        </p:txBody>
      </p:sp>
      <p:sp>
        <p:nvSpPr>
          <p:cNvPr id="37" name="Shape 34"/>
          <p:cNvSpPr/>
          <p:nvPr/>
        </p:nvSpPr>
        <p:spPr>
          <a:xfrm>
            <a:off x="9646920" y="4544568"/>
            <a:ext cx="1572768" cy="841248"/>
          </a:xfrm>
          <a:prstGeom prst="rect">
            <a:avLst/>
          </a:prstGeom>
          <a:solidFill>
            <a:srgbClr val="FFFFFF"/>
          </a:solidFill>
          <a:ln w="12700">
            <a:solidFill>
              <a:srgbClr val="FFB903"/>
            </a:solidFill>
            <a:prstDash val="solid"/>
          </a:ln>
        </p:spPr>
      </p:sp>
      <p:sp>
        <p:nvSpPr>
          <p:cNvPr id="38" name="Text 35"/>
          <p:cNvSpPr txBox="1"/>
          <p:nvPr/>
        </p:nvSpPr>
        <p:spPr>
          <a:xfrm>
            <a:off x="9646920" y="4544568"/>
            <a:ext cx="1572768" cy="841248"/>
          </a:xfrm>
          <a:prstGeom prst="rect">
            <a:avLst/>
          </a:prstGeom>
          <a:noFill/>
          <a:ln/>
        </p:spPr>
        <p:txBody>
          <a:bodyPr wrap="square" lIns="0" tIns="0" rIns="0" bIns="0" rtlCol="0" anchor="ctr"/>
          <a:lstStyle/>
          <a:p>
            <a:pPr marL="0" indent="0" algn="ctr">
              <a:lnSpc>
                <a:spcPts val="1438"/>
              </a:lnSpc>
              <a:buNone/>
            </a:pPr>
            <a:r>
              <a:rPr lang="en-US" sz="1150" b="1" dirty="0">
                <a:solidFill>
                  <a:srgbClr val="00335C"/>
                </a:solidFill>
                <a:latin typeface="Segoe UI" pitchFamily="34" charset="0"/>
                <a:ea typeface="Segoe UI" pitchFamily="34" charset="-122"/>
                <a:cs typeface="Segoe UI" pitchFamily="34" charset="-120"/>
              </a:rPr>
              <a:t>REDISEÑO</a:t>
            </a:r>
            <a:endParaRPr lang="en-US" sz="1150" dirty="0"/>
          </a:p>
        </p:txBody>
      </p:sp>
      <p:sp>
        <p:nvSpPr>
          <p:cNvPr id="39" name="Shape 36"/>
          <p:cNvSpPr/>
          <p:nvPr/>
        </p:nvSpPr>
        <p:spPr>
          <a:xfrm>
            <a:off x="658368" y="5559552"/>
            <a:ext cx="10872216" cy="420624"/>
          </a:xfrm>
          <a:prstGeom prst="rect">
            <a:avLst/>
          </a:prstGeom>
          <a:solidFill>
            <a:srgbClr val="E8F0F7"/>
          </a:solidFill>
          <a:ln/>
        </p:spPr>
      </p:sp>
      <p:sp>
        <p:nvSpPr>
          <p:cNvPr id="40" name="Shape 37"/>
          <p:cNvSpPr/>
          <p:nvPr/>
        </p:nvSpPr>
        <p:spPr>
          <a:xfrm>
            <a:off x="658368" y="5559552"/>
            <a:ext cx="54864" cy="420624"/>
          </a:xfrm>
          <a:prstGeom prst="rect">
            <a:avLst/>
          </a:prstGeom>
          <a:solidFill>
            <a:srgbClr val="004B85"/>
          </a:solidFill>
          <a:ln/>
        </p:spPr>
      </p:sp>
      <p:sp>
        <p:nvSpPr>
          <p:cNvPr id="41" name="Text 38"/>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Este mapa es el eje de la clase: toda decisión posterior a la falla termina en una de estas cuatro casillas.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0" y="0"/>
            <a:ext cx="12191695" cy="128016"/>
          </a:xfrm>
          <a:prstGeom prst="rect">
            <a:avLst/>
          </a:prstGeom>
          <a:solidFill>
            <a:srgbClr val="FFB903"/>
          </a:solidFill>
          <a:ln/>
        </p:spPr>
      </p:sp>
      <p:sp>
        <p:nvSpPr>
          <p:cNvPr id="4" name="Shape 2"/>
          <p:cNvSpPr/>
          <p:nvPr/>
        </p:nvSpPr>
        <p:spPr>
          <a:xfrm>
            <a:off x="0" y="6035040"/>
            <a:ext cx="12191695" cy="822960"/>
          </a:xfrm>
          <a:prstGeom prst="rect">
            <a:avLst/>
          </a:prstGeom>
          <a:solidFill>
            <a:srgbClr val="00335C"/>
          </a:solidFill>
          <a:ln/>
        </p:spPr>
      </p:sp>
      <p:pic>
        <p:nvPicPr>
          <p:cNvPr id="5" name="Image 0" descr="/home/claude/work/assets/logo_eafit_blanco.png"/>
          <p:cNvPicPr>
            <a:picLocks noChangeAspect="1"/>
          </p:cNvPicPr>
          <p:nvPr/>
        </p:nvPicPr>
        <p:blipFill>
          <a:blip r:embed="rId3"/>
          <a:stretch>
            <a:fillRect/>
          </a:stretch>
        </p:blipFill>
        <p:spPr>
          <a:xfrm>
            <a:off x="10680192" y="457200"/>
            <a:ext cx="1152144" cy="713232"/>
          </a:xfrm>
          <a:prstGeom prst="rect">
            <a:avLst/>
          </a:prstGeom>
        </p:spPr>
      </p:pic>
      <p:sp>
        <p:nvSpPr>
          <p:cNvPr id="6" name="Text 3"/>
          <p:cNvSpPr txBox="1"/>
          <p:nvPr/>
        </p:nvSpPr>
        <p:spPr>
          <a:xfrm>
            <a:off x="658368" y="566928"/>
            <a:ext cx="5486400" cy="310896"/>
          </a:xfrm>
          <a:prstGeom prst="rect">
            <a:avLst/>
          </a:prstGeom>
          <a:noFill/>
          <a:ln/>
        </p:spPr>
        <p:txBody>
          <a:bodyPr wrap="square" lIns="0" tIns="0" rIns="0" bIns="0" rtlCol="0" anchor="ctr"/>
          <a:lstStyle/>
          <a:p>
            <a:pPr marL="0" indent="0">
              <a:buNone/>
            </a:pPr>
            <a:r>
              <a:rPr lang="en-US" sz="1400" b="1" kern="0" spc="120" dirty="0">
                <a:solidFill>
                  <a:srgbClr val="FFB903"/>
                </a:solidFill>
                <a:latin typeface="Segoe UI" pitchFamily="34" charset="0"/>
                <a:ea typeface="Segoe UI" pitchFamily="34" charset="-122"/>
                <a:cs typeface="Segoe UI" pitchFamily="34" charset="-120"/>
              </a:rPr>
              <a:t>ACTIVIDAD GRUPAL</a:t>
            </a:r>
            <a:endParaRPr lang="en-US" sz="1400" dirty="0"/>
          </a:p>
        </p:txBody>
      </p:sp>
      <p:sp>
        <p:nvSpPr>
          <p:cNvPr id="7" name="Text 4"/>
          <p:cNvSpPr txBox="1"/>
          <p:nvPr/>
        </p:nvSpPr>
        <p:spPr>
          <a:xfrm>
            <a:off x="658368" y="932688"/>
            <a:ext cx="96012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Decidir el tipo de reparación</a:t>
            </a:r>
            <a:endParaRPr lang="en-US" sz="3400" dirty="0"/>
          </a:p>
        </p:txBody>
      </p:sp>
      <p:sp>
        <p:nvSpPr>
          <p:cNvPr id="8" name="Text 5"/>
          <p:cNvSpPr txBox="1"/>
          <p:nvPr/>
        </p:nvSpPr>
        <p:spPr>
          <a:xfrm>
            <a:off x="658368" y="2240280"/>
            <a:ext cx="548640" cy="548640"/>
          </a:xfrm>
          <a:prstGeom prst="rect">
            <a:avLst/>
          </a:prstGeom>
          <a:noFill/>
          <a:ln/>
        </p:spPr>
        <p:txBody>
          <a:bodyPr wrap="square" lIns="0" tIns="0" rIns="0" bIns="0" rtlCol="0" anchor="ctr"/>
          <a:lstStyle/>
          <a:p>
            <a:pPr marL="0" indent="0">
              <a:buNone/>
            </a:pPr>
            <a:r>
              <a:rPr lang="en-US" sz="2300" b="1" dirty="0">
                <a:solidFill>
                  <a:srgbClr val="FFB903"/>
                </a:solidFill>
                <a:latin typeface="Segoe UI" pitchFamily="34" charset="0"/>
                <a:ea typeface="Segoe UI" pitchFamily="34" charset="-122"/>
                <a:cs typeface="Segoe UI" pitchFamily="34" charset="-120"/>
              </a:rPr>
              <a:t>1.</a:t>
            </a:r>
            <a:endParaRPr lang="en-US" sz="2300" dirty="0"/>
          </a:p>
        </p:txBody>
      </p:sp>
      <p:sp>
        <p:nvSpPr>
          <p:cNvPr id="9" name="Text 6"/>
          <p:cNvSpPr txBox="1"/>
          <p:nvPr/>
        </p:nvSpPr>
        <p:spPr>
          <a:xfrm>
            <a:off x="1280160" y="2258568"/>
            <a:ext cx="10058400" cy="1188720"/>
          </a:xfrm>
          <a:prstGeom prst="rect">
            <a:avLst/>
          </a:prstGeom>
          <a:noFill/>
          <a:ln/>
        </p:spPr>
        <p:txBody>
          <a:bodyPr wrap="square" lIns="0" tIns="0" rIns="0" bIns="0" rtlCol="0" anchor="ctr"/>
          <a:lstStyle/>
          <a:p>
            <a:pPr marL="0" indent="0">
              <a:lnSpc>
                <a:spcPts val="2990"/>
              </a:lnSpc>
              <a:buNone/>
            </a:pPr>
            <a:r>
              <a:rPr lang="en-US" sz="2300" dirty="0">
                <a:solidFill>
                  <a:srgbClr val="FFFFFF"/>
                </a:solidFill>
                <a:latin typeface="Segoe UI" pitchFamily="34" charset="0"/>
                <a:ea typeface="Segoe UI" pitchFamily="34" charset="-122"/>
                <a:cs typeface="Segoe UI" pitchFamily="34" charset="-120"/>
              </a:rPr>
              <a:t>Establezca algunas consideraciones que permitan decidir el tipo de reparación a realizar al presentarse determinada falla.</a:t>
            </a:r>
            <a:endParaRPr lang="en-US" sz="2300" dirty="0"/>
          </a:p>
        </p:txBody>
      </p:sp>
      <p:sp>
        <p:nvSpPr>
          <p:cNvPr id="10" name="Text 7"/>
          <p:cNvSpPr txBox="1"/>
          <p:nvPr/>
        </p:nvSpPr>
        <p:spPr>
          <a:xfrm>
            <a:off x="658368" y="3630168"/>
            <a:ext cx="548640" cy="548640"/>
          </a:xfrm>
          <a:prstGeom prst="rect">
            <a:avLst/>
          </a:prstGeom>
          <a:noFill/>
          <a:ln/>
        </p:spPr>
        <p:txBody>
          <a:bodyPr wrap="square" lIns="0" tIns="0" rIns="0" bIns="0" rtlCol="0" anchor="ctr"/>
          <a:lstStyle/>
          <a:p>
            <a:pPr marL="0" indent="0">
              <a:buNone/>
            </a:pPr>
            <a:r>
              <a:rPr lang="en-US" sz="2300" b="1" dirty="0">
                <a:solidFill>
                  <a:srgbClr val="FFB903"/>
                </a:solidFill>
                <a:latin typeface="Segoe UI" pitchFamily="34" charset="0"/>
                <a:ea typeface="Segoe UI" pitchFamily="34" charset="-122"/>
                <a:cs typeface="Segoe UI" pitchFamily="34" charset="-120"/>
              </a:rPr>
              <a:t>2.</a:t>
            </a:r>
            <a:endParaRPr lang="en-US" sz="2300" dirty="0"/>
          </a:p>
        </p:txBody>
      </p:sp>
      <p:sp>
        <p:nvSpPr>
          <p:cNvPr id="11" name="Text 8"/>
          <p:cNvSpPr txBox="1"/>
          <p:nvPr/>
        </p:nvSpPr>
        <p:spPr>
          <a:xfrm>
            <a:off x="1280160" y="3648456"/>
            <a:ext cx="10058400" cy="1188720"/>
          </a:xfrm>
          <a:prstGeom prst="rect">
            <a:avLst/>
          </a:prstGeom>
          <a:noFill/>
          <a:ln/>
        </p:spPr>
        <p:txBody>
          <a:bodyPr wrap="square" lIns="0" tIns="0" rIns="0" bIns="0" rtlCol="0" anchor="ctr"/>
          <a:lstStyle/>
          <a:p>
            <a:pPr marL="0" indent="0">
              <a:lnSpc>
                <a:spcPts val="2990"/>
              </a:lnSpc>
              <a:buNone/>
            </a:pPr>
            <a:r>
              <a:rPr lang="en-US" sz="2300" dirty="0">
                <a:solidFill>
                  <a:srgbClr val="FFFFFF"/>
                </a:solidFill>
                <a:latin typeface="Segoe UI" pitchFamily="34" charset="0"/>
                <a:ea typeface="Segoe UI" pitchFamily="34" charset="-122"/>
                <a:cs typeface="Segoe UI" pitchFamily="34" charset="-120"/>
              </a:rPr>
              <a:t>Elabore un diagrama de flujo (rutina) en el cual se indiquen los pasos a seguir luego de presentarse una falla.</a:t>
            </a:r>
            <a:endParaRPr lang="en-US" sz="2300" dirty="0"/>
          </a:p>
        </p:txBody>
      </p:sp>
      <p:sp>
        <p:nvSpPr>
          <p:cNvPr id="12" name="Text 9"/>
          <p:cNvSpPr txBox="1"/>
          <p:nvPr/>
        </p:nvSpPr>
        <p:spPr>
          <a:xfrm>
            <a:off x="65836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MODALIDAD</a:t>
            </a:r>
            <a:endParaRPr lang="en-US" sz="950" dirty="0"/>
          </a:p>
        </p:txBody>
      </p:sp>
      <p:sp>
        <p:nvSpPr>
          <p:cNvPr id="13" name="Text 10"/>
          <p:cNvSpPr txBox="1"/>
          <p:nvPr/>
        </p:nvSpPr>
        <p:spPr>
          <a:xfrm>
            <a:off x="65836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Grupos de 3</a:t>
            </a:r>
            <a:endParaRPr lang="en-US" sz="1250" dirty="0"/>
          </a:p>
        </p:txBody>
      </p:sp>
      <p:sp>
        <p:nvSpPr>
          <p:cNvPr id="14" name="Text 11"/>
          <p:cNvSpPr txBox="1"/>
          <p:nvPr/>
        </p:nvSpPr>
        <p:spPr>
          <a:xfrm>
            <a:off x="427024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TIEMPO</a:t>
            </a:r>
            <a:endParaRPr lang="en-US" sz="950" dirty="0"/>
          </a:p>
        </p:txBody>
      </p:sp>
      <p:sp>
        <p:nvSpPr>
          <p:cNvPr id="15" name="Text 12"/>
          <p:cNvSpPr txBox="1"/>
          <p:nvPr/>
        </p:nvSpPr>
        <p:spPr>
          <a:xfrm>
            <a:off x="427024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20 minutos</a:t>
            </a:r>
            <a:endParaRPr lang="en-US" sz="1250" dirty="0"/>
          </a:p>
        </p:txBody>
      </p:sp>
      <p:sp>
        <p:nvSpPr>
          <p:cNvPr id="16" name="Text 13"/>
          <p:cNvSpPr txBox="1"/>
          <p:nvPr/>
        </p:nvSpPr>
        <p:spPr>
          <a:xfrm>
            <a:off x="788212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ENTREGABLE</a:t>
            </a:r>
            <a:endParaRPr lang="en-US" sz="950" dirty="0"/>
          </a:p>
        </p:txBody>
      </p:sp>
      <p:sp>
        <p:nvSpPr>
          <p:cNvPr id="17" name="Text 14"/>
          <p:cNvSpPr txBox="1"/>
          <p:nvPr/>
        </p:nvSpPr>
        <p:spPr>
          <a:xfrm>
            <a:off x="788212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Diagrama de una página</a:t>
            </a:r>
            <a:endParaRPr lang="en-US" sz="1250" dirty="0"/>
          </a:p>
        </p:txBody>
      </p:sp>
      <p:sp>
        <p:nvSpPr>
          <p:cNvPr id="18" name="Text 15"/>
          <p:cNvSpPr txBox="1"/>
          <p:nvPr/>
        </p:nvSpPr>
        <p:spPr>
          <a:xfrm>
            <a:off x="7882128" y="5669280"/>
            <a:ext cx="3648456" cy="256032"/>
          </a:xfrm>
          <a:prstGeom prst="rect">
            <a:avLst/>
          </a:prstGeom>
          <a:noFill/>
          <a:ln/>
        </p:spPr>
        <p:txBody>
          <a:bodyPr wrap="square" lIns="0" tIns="0" rIns="0" bIns="0" rtlCol="0" anchor="ctr"/>
          <a:lstStyle/>
          <a:p>
            <a:pPr marL="0" indent="0" algn="r">
              <a:buNone/>
            </a:pPr>
            <a:r>
              <a:rPr lang="en-US" sz="950" dirty="0">
                <a:solidFill>
                  <a:srgbClr val="8A97A3"/>
                </a:solidFill>
                <a:latin typeface="Segoe UI" pitchFamily="34" charset="0"/>
                <a:ea typeface="Segoe UI" pitchFamily="34" charset="-122"/>
                <a:cs typeface="Segoe UI" pitchFamily="34" charset="-120"/>
              </a:rPr>
              <a:t>Clase 4 · Acciones correctivas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CRITERIOS DE DECISIÓN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Preguntas claves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4</a:t>
            </a:r>
            <a:endParaRPr lang="en-US" sz="1000" dirty="0"/>
          </a:p>
        </p:txBody>
      </p:sp>
      <p:sp>
        <p:nvSpPr>
          <p:cNvPr id="10" name="Shape 7"/>
          <p:cNvSpPr/>
          <p:nvPr/>
        </p:nvSpPr>
        <p:spPr>
          <a:xfrm>
            <a:off x="658368" y="1664208"/>
            <a:ext cx="10872216" cy="786384"/>
          </a:xfrm>
          <a:prstGeom prst="rect">
            <a:avLst/>
          </a:prstGeom>
          <a:solidFill>
            <a:srgbClr val="F4F7FA"/>
          </a:solidFill>
          <a:ln w="9525">
            <a:solidFill>
              <a:srgbClr val="D5DDE5"/>
            </a:solidFill>
            <a:prstDash val="solid"/>
          </a:ln>
        </p:spPr>
      </p:sp>
      <p:sp>
        <p:nvSpPr>
          <p:cNvPr id="11" name="Shape 8"/>
          <p:cNvSpPr/>
          <p:nvPr/>
        </p:nvSpPr>
        <p:spPr>
          <a:xfrm>
            <a:off x="658368" y="1664208"/>
            <a:ext cx="64008" cy="786384"/>
          </a:xfrm>
          <a:prstGeom prst="rect">
            <a:avLst/>
          </a:prstGeom>
          <a:solidFill>
            <a:srgbClr val="004B85"/>
          </a:solidFill>
          <a:ln/>
        </p:spPr>
      </p:sp>
      <p:sp>
        <p:nvSpPr>
          <p:cNvPr id="12" name="Shape 9"/>
          <p:cNvSpPr/>
          <p:nvPr/>
        </p:nvSpPr>
        <p:spPr>
          <a:xfrm>
            <a:off x="932688" y="1865376"/>
            <a:ext cx="347472" cy="347472"/>
          </a:xfrm>
          <a:prstGeom prst="rect">
            <a:avLst/>
          </a:prstGeom>
          <a:solidFill>
            <a:srgbClr val="004B85"/>
          </a:solidFill>
          <a:ln/>
        </p:spPr>
      </p:sp>
      <p:sp>
        <p:nvSpPr>
          <p:cNvPr id="13" name="Text 10"/>
          <p:cNvSpPr txBox="1"/>
          <p:nvPr/>
        </p:nvSpPr>
        <p:spPr>
          <a:xfrm>
            <a:off x="932688" y="191109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426464" y="1847088"/>
            <a:ext cx="3840480" cy="384048"/>
          </a:xfrm>
          <a:prstGeom prst="rect">
            <a:avLst/>
          </a:prstGeom>
          <a:noFill/>
          <a:ln/>
        </p:spPr>
        <p:txBody>
          <a:bodyPr wrap="square" lIns="0" tIns="0" rIns="0" bIns="0" rtlCol="0" anchor="ctr"/>
          <a:lstStyle/>
          <a:p>
            <a:pPr marL="0" indent="0">
              <a:buNone/>
            </a:pPr>
            <a:r>
              <a:rPr lang="en-US" sz="1600" b="1" dirty="0">
                <a:solidFill>
                  <a:srgbClr val="00335C"/>
                </a:solidFill>
                <a:latin typeface="Segoe UI" pitchFamily="34" charset="0"/>
                <a:ea typeface="Segoe UI" pitchFamily="34" charset="-122"/>
                <a:cs typeface="Segoe UI" pitchFamily="34" charset="-120"/>
              </a:rPr>
              <a:t>¿Cuál es el tipo de falla?</a:t>
            </a:r>
            <a:endParaRPr lang="en-US" sz="1600" dirty="0"/>
          </a:p>
        </p:txBody>
      </p:sp>
      <p:sp>
        <p:nvSpPr>
          <p:cNvPr id="15" name="Text 12"/>
          <p:cNvSpPr txBox="1"/>
          <p:nvPr/>
        </p:nvSpPr>
        <p:spPr>
          <a:xfrm>
            <a:off x="5504688" y="1901952"/>
            <a:ext cx="5760720" cy="548640"/>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Progresiva, repentina, limitación parcial, limitación total, oculta, crónica o reiterativa.</a:t>
            </a:r>
            <a:endParaRPr lang="en-US" sz="1300" dirty="0"/>
          </a:p>
        </p:txBody>
      </p:sp>
      <p:sp>
        <p:nvSpPr>
          <p:cNvPr id="16" name="Shape 13"/>
          <p:cNvSpPr/>
          <p:nvPr/>
        </p:nvSpPr>
        <p:spPr>
          <a:xfrm>
            <a:off x="658368" y="2615184"/>
            <a:ext cx="10872216" cy="1572768"/>
          </a:xfrm>
          <a:prstGeom prst="rect">
            <a:avLst/>
          </a:prstGeom>
          <a:solidFill>
            <a:srgbClr val="F4F7FA"/>
          </a:solidFill>
          <a:ln w="9525">
            <a:solidFill>
              <a:srgbClr val="D5DDE5"/>
            </a:solidFill>
            <a:prstDash val="solid"/>
          </a:ln>
        </p:spPr>
      </p:sp>
      <p:sp>
        <p:nvSpPr>
          <p:cNvPr id="17" name="Shape 14"/>
          <p:cNvSpPr/>
          <p:nvPr/>
        </p:nvSpPr>
        <p:spPr>
          <a:xfrm>
            <a:off x="658368" y="2615184"/>
            <a:ext cx="64008" cy="1572768"/>
          </a:xfrm>
          <a:prstGeom prst="rect">
            <a:avLst/>
          </a:prstGeom>
          <a:solidFill>
            <a:srgbClr val="004B85"/>
          </a:solidFill>
          <a:ln/>
        </p:spPr>
      </p:sp>
      <p:sp>
        <p:nvSpPr>
          <p:cNvPr id="18" name="Shape 15"/>
          <p:cNvSpPr/>
          <p:nvPr/>
        </p:nvSpPr>
        <p:spPr>
          <a:xfrm>
            <a:off x="932688" y="2816352"/>
            <a:ext cx="347472" cy="347472"/>
          </a:xfrm>
          <a:prstGeom prst="rect">
            <a:avLst/>
          </a:prstGeom>
          <a:solidFill>
            <a:srgbClr val="004B85"/>
          </a:solidFill>
          <a:ln/>
        </p:spPr>
      </p:sp>
      <p:sp>
        <p:nvSpPr>
          <p:cNvPr id="19" name="Text 16"/>
          <p:cNvSpPr txBox="1"/>
          <p:nvPr/>
        </p:nvSpPr>
        <p:spPr>
          <a:xfrm>
            <a:off x="932688" y="2862072"/>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0" name="Text 17"/>
          <p:cNvSpPr txBox="1"/>
          <p:nvPr/>
        </p:nvSpPr>
        <p:spPr>
          <a:xfrm>
            <a:off x="1426464" y="2798064"/>
            <a:ext cx="4023360" cy="384048"/>
          </a:xfrm>
          <a:prstGeom prst="rect">
            <a:avLst/>
          </a:prstGeom>
          <a:noFill/>
          <a:ln/>
        </p:spPr>
        <p:txBody>
          <a:bodyPr wrap="square" lIns="0" tIns="0" rIns="0" bIns="0" rtlCol="0" anchor="ctr"/>
          <a:lstStyle/>
          <a:p>
            <a:pPr marL="0" indent="0">
              <a:buNone/>
            </a:pPr>
            <a:r>
              <a:rPr lang="en-US" sz="1600" b="1" dirty="0">
                <a:solidFill>
                  <a:srgbClr val="00335C"/>
                </a:solidFill>
                <a:latin typeface="Segoe UI" pitchFamily="34" charset="0"/>
                <a:ea typeface="Segoe UI" pitchFamily="34" charset="-122"/>
                <a:cs typeface="Segoe UI" pitchFamily="34" charset="-120"/>
              </a:rPr>
              <a:t>¿Cuál es la consecuencia de la falla?</a:t>
            </a:r>
            <a:endParaRPr lang="en-US" sz="1600" dirty="0"/>
          </a:p>
        </p:txBody>
      </p:sp>
      <p:sp>
        <p:nvSpPr>
          <p:cNvPr id="21" name="Shape 18"/>
          <p:cNvSpPr/>
          <p:nvPr/>
        </p:nvSpPr>
        <p:spPr>
          <a:xfrm>
            <a:off x="5760720" y="2935224"/>
            <a:ext cx="109728" cy="109728"/>
          </a:xfrm>
          <a:prstGeom prst="rect">
            <a:avLst/>
          </a:prstGeom>
          <a:solidFill>
            <a:srgbClr val="FFB903"/>
          </a:solidFill>
          <a:ln/>
        </p:spPr>
      </p:sp>
      <p:sp>
        <p:nvSpPr>
          <p:cNvPr id="22" name="Text 19"/>
          <p:cNvSpPr txBox="1"/>
          <p:nvPr/>
        </p:nvSpPr>
        <p:spPr>
          <a:xfrm>
            <a:off x="6053328" y="2834640"/>
            <a:ext cx="5285232" cy="310896"/>
          </a:xfrm>
          <a:prstGeom prst="rect">
            <a:avLst/>
          </a:prstGeom>
          <a:noFill/>
          <a:ln/>
        </p:spPr>
        <p:txBody>
          <a:bodyPr wrap="square" lIns="0" tIns="0" rIns="0" bIns="0" rtlCol="0" anchor="ctr"/>
          <a:lstStyle/>
          <a:p>
            <a:pPr marL="0" indent="0">
              <a:lnSpc>
                <a:spcPts val="1823"/>
              </a:lnSpc>
              <a:buNone/>
            </a:pPr>
            <a:r>
              <a:rPr lang="en-US" sz="1350" dirty="0">
                <a:solidFill>
                  <a:srgbClr val="5C6B7A"/>
                </a:solidFill>
                <a:latin typeface="Segoe UI" pitchFamily="34" charset="0"/>
                <a:ea typeface="Segoe UI" pitchFamily="34" charset="-122"/>
                <a:cs typeface="Segoe UI" pitchFamily="34" charset="-120"/>
              </a:rPr>
              <a:t>¿Se afecta la función primaria?</a:t>
            </a:r>
            <a:endParaRPr lang="en-US" sz="1350" dirty="0"/>
          </a:p>
        </p:txBody>
      </p:sp>
      <p:sp>
        <p:nvSpPr>
          <p:cNvPr id="23" name="Shape 20"/>
          <p:cNvSpPr/>
          <p:nvPr/>
        </p:nvSpPr>
        <p:spPr>
          <a:xfrm>
            <a:off x="5760720" y="3319272"/>
            <a:ext cx="109728" cy="109728"/>
          </a:xfrm>
          <a:prstGeom prst="rect">
            <a:avLst/>
          </a:prstGeom>
          <a:solidFill>
            <a:srgbClr val="FFB903"/>
          </a:solidFill>
          <a:ln/>
        </p:spPr>
      </p:sp>
      <p:sp>
        <p:nvSpPr>
          <p:cNvPr id="24" name="Text 21"/>
          <p:cNvSpPr txBox="1"/>
          <p:nvPr/>
        </p:nvSpPr>
        <p:spPr>
          <a:xfrm>
            <a:off x="6053328" y="3218688"/>
            <a:ext cx="5285232" cy="310896"/>
          </a:xfrm>
          <a:prstGeom prst="rect">
            <a:avLst/>
          </a:prstGeom>
          <a:noFill/>
          <a:ln/>
        </p:spPr>
        <p:txBody>
          <a:bodyPr wrap="square" lIns="0" tIns="0" rIns="0" bIns="0" rtlCol="0" anchor="ctr"/>
          <a:lstStyle/>
          <a:p>
            <a:pPr marL="0" indent="0">
              <a:lnSpc>
                <a:spcPts val="1823"/>
              </a:lnSpc>
              <a:buNone/>
            </a:pPr>
            <a:r>
              <a:rPr lang="en-US" sz="1350" dirty="0">
                <a:solidFill>
                  <a:srgbClr val="5C6B7A"/>
                </a:solidFill>
                <a:latin typeface="Segoe UI" pitchFamily="34" charset="0"/>
                <a:ea typeface="Segoe UI" pitchFamily="34" charset="-122"/>
                <a:cs typeface="Segoe UI" pitchFamily="34" charset="-120"/>
              </a:rPr>
              <a:t>¿Se afecta la seguridad de las personas?</a:t>
            </a:r>
            <a:endParaRPr lang="en-US" sz="1350" dirty="0"/>
          </a:p>
        </p:txBody>
      </p:sp>
      <p:sp>
        <p:nvSpPr>
          <p:cNvPr id="25" name="Shape 22"/>
          <p:cNvSpPr/>
          <p:nvPr/>
        </p:nvSpPr>
        <p:spPr>
          <a:xfrm>
            <a:off x="5760720" y="3703320"/>
            <a:ext cx="109728" cy="109728"/>
          </a:xfrm>
          <a:prstGeom prst="rect">
            <a:avLst/>
          </a:prstGeom>
          <a:solidFill>
            <a:srgbClr val="FFB903"/>
          </a:solidFill>
          <a:ln/>
        </p:spPr>
      </p:sp>
      <p:sp>
        <p:nvSpPr>
          <p:cNvPr id="26" name="Text 23"/>
          <p:cNvSpPr txBox="1"/>
          <p:nvPr/>
        </p:nvSpPr>
        <p:spPr>
          <a:xfrm>
            <a:off x="6053328" y="3602736"/>
            <a:ext cx="5285232" cy="310896"/>
          </a:xfrm>
          <a:prstGeom prst="rect">
            <a:avLst/>
          </a:prstGeom>
          <a:noFill/>
          <a:ln/>
        </p:spPr>
        <p:txBody>
          <a:bodyPr wrap="square" lIns="0" tIns="0" rIns="0" bIns="0" rtlCol="0" anchor="ctr"/>
          <a:lstStyle/>
          <a:p>
            <a:pPr marL="0" indent="0">
              <a:lnSpc>
                <a:spcPts val="1823"/>
              </a:lnSpc>
              <a:buNone/>
            </a:pPr>
            <a:r>
              <a:rPr lang="en-US" sz="1350" dirty="0">
                <a:solidFill>
                  <a:srgbClr val="5C6B7A"/>
                </a:solidFill>
                <a:latin typeface="Segoe UI" pitchFamily="34" charset="0"/>
                <a:ea typeface="Segoe UI" pitchFamily="34" charset="-122"/>
                <a:cs typeface="Segoe UI" pitchFamily="34" charset="-120"/>
              </a:rPr>
              <a:t>¿Se afecta el medio ambiente?</a:t>
            </a:r>
            <a:endParaRPr lang="en-US" sz="1350" dirty="0"/>
          </a:p>
        </p:txBody>
      </p:sp>
      <p:sp>
        <p:nvSpPr>
          <p:cNvPr id="27" name="Shape 24"/>
          <p:cNvSpPr/>
          <p:nvPr/>
        </p:nvSpPr>
        <p:spPr>
          <a:xfrm>
            <a:off x="658368" y="4352544"/>
            <a:ext cx="10872216" cy="786384"/>
          </a:xfrm>
          <a:prstGeom prst="rect">
            <a:avLst/>
          </a:prstGeom>
          <a:solidFill>
            <a:srgbClr val="F4F7FA"/>
          </a:solidFill>
          <a:ln w="9525">
            <a:solidFill>
              <a:srgbClr val="D5DDE5"/>
            </a:solidFill>
            <a:prstDash val="solid"/>
          </a:ln>
        </p:spPr>
      </p:sp>
      <p:sp>
        <p:nvSpPr>
          <p:cNvPr id="28" name="Shape 25"/>
          <p:cNvSpPr/>
          <p:nvPr/>
        </p:nvSpPr>
        <p:spPr>
          <a:xfrm>
            <a:off x="658368" y="4352544"/>
            <a:ext cx="64008" cy="786384"/>
          </a:xfrm>
          <a:prstGeom prst="rect">
            <a:avLst/>
          </a:prstGeom>
          <a:solidFill>
            <a:srgbClr val="B88200"/>
          </a:solidFill>
          <a:ln/>
        </p:spPr>
      </p:sp>
      <p:sp>
        <p:nvSpPr>
          <p:cNvPr id="29" name="Shape 26"/>
          <p:cNvSpPr/>
          <p:nvPr/>
        </p:nvSpPr>
        <p:spPr>
          <a:xfrm>
            <a:off x="932688" y="4553712"/>
            <a:ext cx="347472" cy="347472"/>
          </a:xfrm>
          <a:prstGeom prst="rect">
            <a:avLst/>
          </a:prstGeom>
          <a:solidFill>
            <a:srgbClr val="B88200"/>
          </a:solidFill>
          <a:ln/>
        </p:spPr>
      </p:sp>
      <p:sp>
        <p:nvSpPr>
          <p:cNvPr id="30" name="Text 27"/>
          <p:cNvSpPr txBox="1"/>
          <p:nvPr/>
        </p:nvSpPr>
        <p:spPr>
          <a:xfrm>
            <a:off x="932688" y="4599432"/>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31" name="Text 28"/>
          <p:cNvSpPr txBox="1"/>
          <p:nvPr/>
        </p:nvSpPr>
        <p:spPr>
          <a:xfrm>
            <a:off x="1426464" y="4535424"/>
            <a:ext cx="10058400" cy="384048"/>
          </a:xfrm>
          <a:prstGeom prst="rect">
            <a:avLst/>
          </a:prstGeom>
          <a:noFill/>
          <a:ln/>
        </p:spPr>
        <p:txBody>
          <a:bodyPr wrap="square" lIns="0" tIns="0" rIns="0" bIns="0" rtlCol="0" anchor="ctr"/>
          <a:lstStyle/>
          <a:p>
            <a:pPr marL="0" indent="0">
              <a:buNone/>
            </a:pPr>
            <a:r>
              <a:rPr lang="en-US" sz="1600" b="1" dirty="0">
                <a:solidFill>
                  <a:srgbClr val="00335C"/>
                </a:solidFill>
                <a:latin typeface="Segoe UI" pitchFamily="34" charset="0"/>
                <a:ea typeface="Segoe UI" pitchFamily="34" charset="-122"/>
                <a:cs typeface="Segoe UI" pitchFamily="34" charset="-120"/>
              </a:rPr>
              <a:t>¿Se requiere iniciar la reparación inmediatamente?</a:t>
            </a:r>
            <a:endParaRPr lang="en-US" sz="1600" dirty="0"/>
          </a:p>
        </p:txBody>
      </p:sp>
      <p:sp>
        <p:nvSpPr>
          <p:cNvPr id="32" name="Shape 29"/>
          <p:cNvSpPr/>
          <p:nvPr/>
        </p:nvSpPr>
        <p:spPr>
          <a:xfrm>
            <a:off x="658368" y="5303520"/>
            <a:ext cx="10872216" cy="786384"/>
          </a:xfrm>
          <a:prstGeom prst="rect">
            <a:avLst/>
          </a:prstGeom>
          <a:solidFill>
            <a:srgbClr val="F4F7FA"/>
          </a:solidFill>
          <a:ln w="9525">
            <a:solidFill>
              <a:srgbClr val="D5DDE5"/>
            </a:solidFill>
            <a:prstDash val="solid"/>
          </a:ln>
        </p:spPr>
      </p:sp>
      <p:sp>
        <p:nvSpPr>
          <p:cNvPr id="33" name="Shape 30"/>
          <p:cNvSpPr/>
          <p:nvPr/>
        </p:nvSpPr>
        <p:spPr>
          <a:xfrm>
            <a:off x="658368" y="5303520"/>
            <a:ext cx="64008" cy="786384"/>
          </a:xfrm>
          <a:prstGeom prst="rect">
            <a:avLst/>
          </a:prstGeom>
          <a:solidFill>
            <a:srgbClr val="B88200"/>
          </a:solidFill>
          <a:ln/>
        </p:spPr>
      </p:sp>
      <p:sp>
        <p:nvSpPr>
          <p:cNvPr id="34" name="Shape 31"/>
          <p:cNvSpPr/>
          <p:nvPr/>
        </p:nvSpPr>
        <p:spPr>
          <a:xfrm>
            <a:off x="932688" y="5504688"/>
            <a:ext cx="347472" cy="347472"/>
          </a:xfrm>
          <a:prstGeom prst="rect">
            <a:avLst/>
          </a:prstGeom>
          <a:solidFill>
            <a:srgbClr val="B88200"/>
          </a:solidFill>
          <a:ln/>
        </p:spPr>
      </p:sp>
      <p:sp>
        <p:nvSpPr>
          <p:cNvPr id="35" name="Text 32"/>
          <p:cNvSpPr txBox="1"/>
          <p:nvPr/>
        </p:nvSpPr>
        <p:spPr>
          <a:xfrm>
            <a:off x="932688" y="555040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6" name="Text 33"/>
          <p:cNvSpPr txBox="1"/>
          <p:nvPr/>
        </p:nvSpPr>
        <p:spPr>
          <a:xfrm>
            <a:off x="1426464" y="5486400"/>
            <a:ext cx="10058400" cy="384048"/>
          </a:xfrm>
          <a:prstGeom prst="rect">
            <a:avLst/>
          </a:prstGeom>
          <a:noFill/>
          <a:ln/>
        </p:spPr>
        <p:txBody>
          <a:bodyPr wrap="square" lIns="0" tIns="0" rIns="0" bIns="0" rtlCol="0" anchor="ctr"/>
          <a:lstStyle/>
          <a:p>
            <a:pPr marL="0" indent="0">
              <a:buNone/>
            </a:pPr>
            <a:r>
              <a:rPr lang="en-US" sz="1600" b="1" dirty="0">
                <a:solidFill>
                  <a:srgbClr val="00335C"/>
                </a:solidFill>
                <a:latin typeface="Segoe UI" pitchFamily="34" charset="0"/>
                <a:ea typeface="Segoe UI" pitchFamily="34" charset="-122"/>
                <a:cs typeface="Segoe UI" pitchFamily="34" charset="-120"/>
              </a:rPr>
              <a:t>¿Se dispone de todos los elementos necesarios para la reparación?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PREGUNTA CLAVE 1</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Tipos de falla en planta (1 de 2)</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4a</a:t>
            </a:r>
          </a:p>
        </p:txBody>
      </p:sp>
      <p:sp>
        <p:nvSpPr>
          <p:cNvPr id="12" name="Rectangle 11"/>
          <p:cNvSpPr/>
          <p:nvPr/>
        </p:nvSpPr>
        <p:spPr>
          <a:xfrm>
            <a:off x="658368"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rod_desconchado.jpg"/>
          <p:cNvPicPr>
            <a:picLocks noChangeAspect="1"/>
          </p:cNvPicPr>
          <p:nvPr/>
        </p:nvPicPr>
        <p:blipFill>
          <a:blip r:embed="rId4"/>
          <a:srcRect t="3228" b="3228"/>
          <a:stretch>
            <a:fillRect/>
          </a:stretch>
        </p:blipFill>
        <p:spPr>
          <a:xfrm>
            <a:off x="658368" y="1728216"/>
            <a:ext cx="2567178" cy="1572768"/>
          </a:xfrm>
          <a:prstGeom prst="rect">
            <a:avLst/>
          </a:prstGeom>
        </p:spPr>
      </p:pic>
      <p:sp>
        <p:nvSpPr>
          <p:cNvPr id="15" name="TextBox 14"/>
          <p:cNvSpPr txBox="1"/>
          <p:nvPr/>
        </p:nvSpPr>
        <p:spPr>
          <a:xfrm>
            <a:off x="859536" y="3465576"/>
            <a:ext cx="216484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FORMA DE APARECER</a:t>
            </a:r>
          </a:p>
        </p:txBody>
      </p:sp>
      <p:sp>
        <p:nvSpPr>
          <p:cNvPr id="16" name="TextBox 15"/>
          <p:cNvSpPr txBox="1"/>
          <p:nvPr/>
        </p:nvSpPr>
        <p:spPr>
          <a:xfrm>
            <a:off x="859536" y="3712464"/>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Progresiva</a:t>
            </a:r>
          </a:p>
        </p:txBody>
      </p:sp>
      <p:sp>
        <p:nvSpPr>
          <p:cNvPr id="17" name="TextBox 16"/>
          <p:cNvSpPr txBox="1"/>
          <p:nvPr/>
        </p:nvSpPr>
        <p:spPr>
          <a:xfrm>
            <a:off x="859536" y="4114800"/>
            <a:ext cx="2164842"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Desconchado por fatiga en un rodamiento: la vibración sube durante semanas antes del paro. Hay tiempo para planear.</a:t>
            </a:r>
          </a:p>
        </p:txBody>
      </p:sp>
      <p:sp>
        <p:nvSpPr>
          <p:cNvPr id="18" name="Rectangle 17"/>
          <p:cNvSpPr/>
          <p:nvPr/>
        </p:nvSpPr>
        <p:spPr>
          <a:xfrm>
            <a:off x="3426714"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26714" y="1664208"/>
            <a:ext cx="2567178" cy="64008"/>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ello_fracturado.jpg"/>
          <p:cNvPicPr>
            <a:picLocks noChangeAspect="1"/>
          </p:cNvPicPr>
          <p:nvPr/>
        </p:nvPicPr>
        <p:blipFill>
          <a:blip r:embed="rId5"/>
          <a:srcRect t="10276" b="10276"/>
          <a:stretch>
            <a:fillRect/>
          </a:stretch>
        </p:blipFill>
        <p:spPr>
          <a:xfrm>
            <a:off x="3426714" y="1728216"/>
            <a:ext cx="2567178" cy="1572768"/>
          </a:xfrm>
          <a:prstGeom prst="rect">
            <a:avLst/>
          </a:prstGeom>
        </p:spPr>
      </p:pic>
      <p:sp>
        <p:nvSpPr>
          <p:cNvPr id="21" name="TextBox 20"/>
          <p:cNvSpPr txBox="1"/>
          <p:nvPr/>
        </p:nvSpPr>
        <p:spPr>
          <a:xfrm>
            <a:off x="3627882" y="3465576"/>
            <a:ext cx="216484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FORMA DE APARECER</a:t>
            </a:r>
          </a:p>
        </p:txBody>
      </p:sp>
      <p:sp>
        <p:nvSpPr>
          <p:cNvPr id="22" name="TextBox 21"/>
          <p:cNvSpPr txBox="1"/>
          <p:nvPr/>
        </p:nvSpPr>
        <p:spPr>
          <a:xfrm>
            <a:off x="3627882" y="3712464"/>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Repentina</a:t>
            </a:r>
          </a:p>
        </p:txBody>
      </p:sp>
      <p:sp>
        <p:nvSpPr>
          <p:cNvPr id="23" name="TextBox 22"/>
          <p:cNvSpPr txBox="1"/>
          <p:nvPr/>
        </p:nvSpPr>
        <p:spPr>
          <a:xfrm>
            <a:off x="3627882" y="4114800"/>
            <a:ext cx="2164842"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Rotura del sello mecánico de una bomba por golpe de ariete o marcha en seco. Fuga masiva en segundos, sin aviso previo.</a:t>
            </a:r>
          </a:p>
        </p:txBody>
      </p:sp>
      <p:sp>
        <p:nvSpPr>
          <p:cNvPr id="24" name="Rectangle 23"/>
          <p:cNvSpPr/>
          <p:nvPr/>
        </p:nvSpPr>
        <p:spPr>
          <a:xfrm>
            <a:off x="6195060"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95060"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ntercambiador.jpg"/>
          <p:cNvPicPr>
            <a:picLocks noChangeAspect="1"/>
          </p:cNvPicPr>
          <p:nvPr/>
        </p:nvPicPr>
        <p:blipFill>
          <a:blip r:embed="rId6"/>
          <a:srcRect t="8733" b="8733"/>
          <a:stretch>
            <a:fillRect/>
          </a:stretch>
        </p:blipFill>
        <p:spPr>
          <a:xfrm>
            <a:off x="6195060" y="1728216"/>
            <a:ext cx="2567178" cy="1572768"/>
          </a:xfrm>
          <a:prstGeom prst="rect">
            <a:avLst/>
          </a:prstGeom>
        </p:spPr>
      </p:pic>
      <p:sp>
        <p:nvSpPr>
          <p:cNvPr id="27" name="TextBox 26"/>
          <p:cNvSpPr txBox="1"/>
          <p:nvPr/>
        </p:nvSpPr>
        <p:spPr>
          <a:xfrm>
            <a:off x="6396228" y="3465576"/>
            <a:ext cx="216484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CAPACIDAD DE TRABAJO</a:t>
            </a:r>
          </a:p>
        </p:txBody>
      </p:sp>
      <p:sp>
        <p:nvSpPr>
          <p:cNvPr id="28" name="TextBox 27"/>
          <p:cNvSpPr txBox="1"/>
          <p:nvPr/>
        </p:nvSpPr>
        <p:spPr>
          <a:xfrm>
            <a:off x="6396228" y="3712464"/>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Limitación parcial</a:t>
            </a:r>
          </a:p>
        </p:txBody>
      </p:sp>
      <p:sp>
        <p:nvSpPr>
          <p:cNvPr id="29" name="TextBox 28"/>
          <p:cNvSpPr txBox="1"/>
          <p:nvPr/>
        </p:nvSpPr>
        <p:spPr>
          <a:xfrm>
            <a:off x="6396228" y="4114800"/>
            <a:ext cx="2164842"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Intercambiador con incrustaciones: sigue operando, pero con ≈15 % menos capacidad y mayor consumo de energía.</a:t>
            </a:r>
          </a:p>
        </p:txBody>
      </p:sp>
      <p:sp>
        <p:nvSpPr>
          <p:cNvPr id="30" name="Rectangle 29"/>
          <p:cNvSpPr/>
          <p:nvPr/>
        </p:nvSpPr>
        <p:spPr>
          <a:xfrm>
            <a:off x="8963406"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63406" y="1664208"/>
            <a:ext cx="2567178" cy="64008"/>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je_fracturado.jpg"/>
          <p:cNvPicPr>
            <a:picLocks noChangeAspect="1"/>
          </p:cNvPicPr>
          <p:nvPr/>
        </p:nvPicPr>
        <p:blipFill>
          <a:blip r:embed="rId7"/>
          <a:srcRect l="9765" r="9765"/>
          <a:stretch>
            <a:fillRect/>
          </a:stretch>
        </p:blipFill>
        <p:spPr>
          <a:xfrm>
            <a:off x="8963406" y="1728216"/>
            <a:ext cx="2567178" cy="1572768"/>
          </a:xfrm>
          <a:prstGeom prst="rect">
            <a:avLst/>
          </a:prstGeom>
        </p:spPr>
      </p:pic>
      <p:sp>
        <p:nvSpPr>
          <p:cNvPr id="33" name="TextBox 32"/>
          <p:cNvSpPr txBox="1"/>
          <p:nvPr/>
        </p:nvSpPr>
        <p:spPr>
          <a:xfrm>
            <a:off x="9164574" y="3465576"/>
            <a:ext cx="216484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CAPACIDAD DE TRABAJO</a:t>
            </a:r>
          </a:p>
        </p:txBody>
      </p:sp>
      <p:sp>
        <p:nvSpPr>
          <p:cNvPr id="34" name="TextBox 33"/>
          <p:cNvSpPr txBox="1"/>
          <p:nvPr/>
        </p:nvSpPr>
        <p:spPr>
          <a:xfrm>
            <a:off x="9164574" y="3712464"/>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Limitación total</a:t>
            </a:r>
          </a:p>
        </p:txBody>
      </p:sp>
      <p:sp>
        <p:nvSpPr>
          <p:cNvPr id="35" name="TextBox 34"/>
          <p:cNvSpPr txBox="1"/>
          <p:nvPr/>
        </p:nvSpPr>
        <p:spPr>
          <a:xfrm>
            <a:off x="9164574" y="4114800"/>
            <a:ext cx="2164842"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Eje fracturado en una transmisión: el elemento deja de girar y la función se pierde por completo. Paro inmediato.</a:t>
            </a:r>
          </a:p>
        </p:txBody>
      </p:sp>
      <p:sp>
        <p:nvSpPr>
          <p:cNvPr id="36" name="Rectangle 35"/>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Una misma falla se clasifica con varios criterios a la vez: el sello roto es repentino y, además, una limitación total.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PREGUNTA CLAVE 1</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Tipos de falla en planta (2 de 2)</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4b</a:t>
            </a:r>
          </a:p>
        </p:txBody>
      </p:sp>
      <p:sp>
        <p:nvSpPr>
          <p:cNvPr id="12" name="Rectangle 11"/>
          <p:cNvSpPr/>
          <p:nvPr/>
        </p:nvSpPr>
        <p:spPr>
          <a:xfrm>
            <a:off x="658368"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3441192"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1728216"/>
            <a:ext cx="3441192" cy="1572768"/>
          </a:xfrm>
          <a:prstGeom prst="rect">
            <a:avLst/>
          </a:prstGeom>
          <a:solidFill>
            <a:srgbClr val="00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 y="2048256"/>
            <a:ext cx="994664" cy="932688"/>
          </a:xfrm>
          <a:prstGeom prst="rect">
            <a:avLst/>
          </a:prstGeom>
          <a:solidFill>
            <a:srgbClr val="2E7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2139696"/>
            <a:ext cx="884936" cy="365760"/>
          </a:xfrm>
          <a:prstGeom prst="rect">
            <a:avLst/>
          </a:prstGeom>
          <a:noFill/>
        </p:spPr>
        <p:txBody>
          <a:bodyPr wrap="square" lIns="0" tIns="0" rIns="0" bIns="0" anchor="t">
            <a:spAutoFit/>
          </a:bodyPr>
          <a:lstStyle/>
          <a:p>
            <a:pPr algn="ctr">
              <a:lnSpc>
                <a:spcPct val="105000"/>
              </a:lnSpc>
              <a:spcAft>
                <a:spcPts val="0"/>
              </a:spcAft>
            </a:pPr>
            <a:r>
              <a:rPr sz="1050" b="1" i="0">
                <a:solidFill>
                  <a:srgbClr val="FFFFFF"/>
                </a:solidFill>
                <a:latin typeface="Segoe UI"/>
              </a:rPr>
              <a:t>Compresor</a:t>
            </a:r>
          </a:p>
        </p:txBody>
      </p:sp>
      <p:sp>
        <p:nvSpPr>
          <p:cNvPr id="17" name="TextBox 16"/>
          <p:cNvSpPr txBox="1"/>
          <p:nvPr/>
        </p:nvSpPr>
        <p:spPr>
          <a:xfrm>
            <a:off x="859536" y="2560320"/>
            <a:ext cx="884936" cy="365760"/>
          </a:xfrm>
          <a:prstGeom prst="rect">
            <a:avLst/>
          </a:prstGeom>
          <a:noFill/>
        </p:spPr>
        <p:txBody>
          <a:bodyPr wrap="square" lIns="0" tIns="0" rIns="0" bIns="0" anchor="t">
            <a:spAutoFit/>
          </a:bodyPr>
          <a:lstStyle/>
          <a:p>
            <a:pPr algn="ctr">
              <a:lnSpc>
                <a:spcPct val="105000"/>
              </a:lnSpc>
              <a:spcAft>
                <a:spcPts val="0"/>
              </a:spcAft>
            </a:pPr>
            <a:r>
              <a:rPr sz="950" b="0" i="0">
                <a:solidFill>
                  <a:srgbClr val="FFFFFF"/>
                </a:solidFill>
                <a:latin typeface="Segoe UI"/>
              </a:rPr>
              <a:t>opera normal</a:t>
            </a:r>
          </a:p>
        </p:txBody>
      </p:sp>
      <p:sp>
        <p:nvSpPr>
          <p:cNvPr id="18" name="Rectangle 17"/>
          <p:cNvSpPr/>
          <p:nvPr/>
        </p:nvSpPr>
        <p:spPr>
          <a:xfrm>
            <a:off x="1881632" y="2048256"/>
            <a:ext cx="994664" cy="932688"/>
          </a:xfrm>
          <a:prstGeom prst="rect">
            <a:avLst/>
          </a:prstGeom>
          <a:solidFill>
            <a:srgbClr val="B88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36496" y="2139696"/>
            <a:ext cx="884936" cy="365760"/>
          </a:xfrm>
          <a:prstGeom prst="rect">
            <a:avLst/>
          </a:prstGeom>
          <a:noFill/>
        </p:spPr>
        <p:txBody>
          <a:bodyPr wrap="square" lIns="0" tIns="0" rIns="0" bIns="0" anchor="t">
            <a:spAutoFit/>
          </a:bodyPr>
          <a:lstStyle/>
          <a:p>
            <a:pPr algn="ctr">
              <a:lnSpc>
                <a:spcPct val="105000"/>
              </a:lnSpc>
              <a:spcAft>
                <a:spcPts val="0"/>
              </a:spcAft>
            </a:pPr>
            <a:r>
              <a:rPr sz="1050" b="1" i="0">
                <a:solidFill>
                  <a:srgbClr val="FFFFFF"/>
                </a:solidFill>
                <a:latin typeface="Segoe UI"/>
              </a:rPr>
              <a:t>Presostato</a:t>
            </a:r>
          </a:p>
        </p:txBody>
      </p:sp>
      <p:sp>
        <p:nvSpPr>
          <p:cNvPr id="20" name="TextBox 19"/>
          <p:cNvSpPr txBox="1"/>
          <p:nvPr/>
        </p:nvSpPr>
        <p:spPr>
          <a:xfrm>
            <a:off x="1936496" y="2560320"/>
            <a:ext cx="884936" cy="365760"/>
          </a:xfrm>
          <a:prstGeom prst="rect">
            <a:avLst/>
          </a:prstGeom>
          <a:noFill/>
        </p:spPr>
        <p:txBody>
          <a:bodyPr wrap="square" lIns="0" tIns="0" rIns="0" bIns="0" anchor="t">
            <a:spAutoFit/>
          </a:bodyPr>
          <a:lstStyle/>
          <a:p>
            <a:pPr algn="ctr">
              <a:lnSpc>
                <a:spcPct val="105000"/>
              </a:lnSpc>
              <a:spcAft>
                <a:spcPts val="0"/>
              </a:spcAft>
            </a:pPr>
            <a:r>
              <a:rPr sz="950" b="0" i="0">
                <a:solidFill>
                  <a:srgbClr val="FFFFFF"/>
                </a:solidFill>
                <a:latin typeface="Segoe UI"/>
              </a:rPr>
              <a:t>pegado · sin síntoma</a:t>
            </a:r>
          </a:p>
        </p:txBody>
      </p:sp>
      <p:sp>
        <p:nvSpPr>
          <p:cNvPr id="21" name="Rectangle 20"/>
          <p:cNvSpPr/>
          <p:nvPr/>
        </p:nvSpPr>
        <p:spPr>
          <a:xfrm>
            <a:off x="2958592" y="2048256"/>
            <a:ext cx="994664" cy="932688"/>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013456" y="2139696"/>
            <a:ext cx="884936" cy="365760"/>
          </a:xfrm>
          <a:prstGeom prst="rect">
            <a:avLst/>
          </a:prstGeom>
          <a:noFill/>
        </p:spPr>
        <p:txBody>
          <a:bodyPr wrap="square" lIns="0" tIns="0" rIns="0" bIns="0" anchor="t">
            <a:spAutoFit/>
          </a:bodyPr>
          <a:lstStyle/>
          <a:p>
            <a:pPr algn="ctr">
              <a:lnSpc>
                <a:spcPct val="105000"/>
              </a:lnSpc>
              <a:spcAft>
                <a:spcPts val="0"/>
              </a:spcAft>
            </a:pPr>
            <a:r>
              <a:rPr sz="1050" b="1" i="0">
                <a:solidFill>
                  <a:srgbClr val="FFFFFF"/>
                </a:solidFill>
                <a:latin typeface="Segoe UI"/>
              </a:rPr>
              <a:t>Falla la lubricación</a:t>
            </a:r>
          </a:p>
        </p:txBody>
      </p:sp>
      <p:sp>
        <p:nvSpPr>
          <p:cNvPr id="23" name="TextBox 22"/>
          <p:cNvSpPr txBox="1"/>
          <p:nvPr/>
        </p:nvSpPr>
        <p:spPr>
          <a:xfrm>
            <a:off x="3013456" y="2560320"/>
            <a:ext cx="884936" cy="365760"/>
          </a:xfrm>
          <a:prstGeom prst="rect">
            <a:avLst/>
          </a:prstGeom>
          <a:noFill/>
        </p:spPr>
        <p:txBody>
          <a:bodyPr wrap="square" lIns="0" tIns="0" rIns="0" bIns="0" anchor="t">
            <a:spAutoFit/>
          </a:bodyPr>
          <a:lstStyle/>
          <a:p>
            <a:pPr algn="ctr">
              <a:lnSpc>
                <a:spcPct val="105000"/>
              </a:lnSpc>
              <a:spcAft>
                <a:spcPts val="0"/>
              </a:spcAft>
            </a:pPr>
            <a:r>
              <a:rPr sz="950" b="0" i="0">
                <a:solidFill>
                  <a:srgbClr val="FFFFFF"/>
                </a:solidFill>
                <a:latin typeface="Segoe UI"/>
              </a:rPr>
              <a:t>no dispara → daño mayor</a:t>
            </a:r>
          </a:p>
        </p:txBody>
      </p:sp>
      <p:sp>
        <p:nvSpPr>
          <p:cNvPr id="24" name="TextBox 23"/>
          <p:cNvSpPr txBox="1"/>
          <p:nvPr/>
        </p:nvSpPr>
        <p:spPr>
          <a:xfrm>
            <a:off x="804672" y="3054096"/>
            <a:ext cx="3148584" cy="201168"/>
          </a:xfrm>
          <a:prstGeom prst="rect">
            <a:avLst/>
          </a:prstGeom>
          <a:noFill/>
        </p:spPr>
        <p:txBody>
          <a:bodyPr wrap="square" lIns="0" tIns="0" rIns="0" bIns="0" anchor="t">
            <a:spAutoFit/>
          </a:bodyPr>
          <a:lstStyle/>
          <a:p>
            <a:pPr algn="ctr">
              <a:lnSpc>
                <a:spcPct val="122000"/>
              </a:lnSpc>
              <a:spcAft>
                <a:spcPts val="0"/>
              </a:spcAft>
            </a:pPr>
            <a:r>
              <a:rPr sz="950" b="1" i="0">
                <a:solidFill>
                  <a:srgbClr val="FFB903"/>
                </a:solidFill>
                <a:latin typeface="Segoe UI"/>
              </a:rPr>
              <a:t>FALLA MÚLTIPLE</a:t>
            </a:r>
          </a:p>
        </p:txBody>
      </p:sp>
      <p:sp>
        <p:nvSpPr>
          <p:cNvPr id="25" name="TextBox 24"/>
          <p:cNvSpPr txBox="1"/>
          <p:nvPr/>
        </p:nvSpPr>
        <p:spPr>
          <a:xfrm>
            <a:off x="859536" y="3465576"/>
            <a:ext cx="303885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FACILIDAD DE DETECCIÓN</a:t>
            </a:r>
          </a:p>
        </p:txBody>
      </p:sp>
      <p:sp>
        <p:nvSpPr>
          <p:cNvPr id="26" name="TextBox 25"/>
          <p:cNvSpPr txBox="1"/>
          <p:nvPr/>
        </p:nvSpPr>
        <p:spPr>
          <a:xfrm>
            <a:off x="859536" y="3712464"/>
            <a:ext cx="3038856"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Oculta</a:t>
            </a:r>
          </a:p>
        </p:txBody>
      </p:sp>
      <p:sp>
        <p:nvSpPr>
          <p:cNvPr id="27" name="TextBox 26"/>
          <p:cNvSpPr txBox="1"/>
          <p:nvPr/>
        </p:nvSpPr>
        <p:spPr>
          <a:xfrm>
            <a:off x="859536" y="4114800"/>
            <a:ext cx="3038856" cy="1188720"/>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El presostato de baja presión de aceite de un compresor está pegado. Nadie lo nota; se descubre solo cuando falla la lubricación y la protección no actúa.</a:t>
            </a:r>
          </a:p>
        </p:txBody>
      </p:sp>
      <p:sp>
        <p:nvSpPr>
          <p:cNvPr id="28" name="Rectangle 27"/>
          <p:cNvSpPr/>
          <p:nvPr/>
        </p:nvSpPr>
        <p:spPr>
          <a:xfrm>
            <a:off x="4373880"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373880" y="1664208"/>
            <a:ext cx="3441192" cy="64008"/>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impulsor_cavitado.jpg"/>
          <p:cNvPicPr>
            <a:picLocks noChangeAspect="1"/>
          </p:cNvPicPr>
          <p:nvPr/>
        </p:nvPicPr>
        <p:blipFill>
          <a:blip r:embed="rId4"/>
          <a:srcRect t="13204" b="13204"/>
          <a:stretch>
            <a:fillRect/>
          </a:stretch>
        </p:blipFill>
        <p:spPr>
          <a:xfrm>
            <a:off x="4373880" y="1728216"/>
            <a:ext cx="3441192" cy="1572768"/>
          </a:xfrm>
          <a:prstGeom prst="rect">
            <a:avLst/>
          </a:prstGeom>
        </p:spPr>
      </p:pic>
      <p:sp>
        <p:nvSpPr>
          <p:cNvPr id="31" name="TextBox 30"/>
          <p:cNvSpPr txBox="1"/>
          <p:nvPr/>
        </p:nvSpPr>
        <p:spPr>
          <a:xfrm>
            <a:off x="4575048" y="3465576"/>
            <a:ext cx="303885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FRECUENCIA</a:t>
            </a:r>
          </a:p>
        </p:txBody>
      </p:sp>
      <p:sp>
        <p:nvSpPr>
          <p:cNvPr id="32" name="TextBox 31"/>
          <p:cNvSpPr txBox="1"/>
          <p:nvPr/>
        </p:nvSpPr>
        <p:spPr>
          <a:xfrm>
            <a:off x="4575048" y="3712464"/>
            <a:ext cx="3038856"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Crónica</a:t>
            </a:r>
          </a:p>
        </p:txBody>
      </p:sp>
      <p:sp>
        <p:nvSpPr>
          <p:cNvPr id="33" name="TextBox 32"/>
          <p:cNvSpPr txBox="1"/>
          <p:nvPr/>
        </p:nvSpPr>
        <p:spPr>
          <a:xfrm>
            <a:off x="4575048" y="4114800"/>
            <a:ext cx="3038856"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Cavitación leve y permanente en una bomba: pierde caudal poco a poco y el impulsor se cambia cada año «como algo normal». Se acepta como parte del costo.</a:t>
            </a:r>
          </a:p>
        </p:txBody>
      </p:sp>
      <p:sp>
        <p:nvSpPr>
          <p:cNvPr id="34" name="Rectangle 33"/>
          <p:cNvSpPr/>
          <p:nvPr/>
        </p:nvSpPr>
        <p:spPr>
          <a:xfrm>
            <a:off x="8089392"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89392" y="1664208"/>
            <a:ext cx="3441192"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rod_estrias.jpg"/>
          <p:cNvPicPr>
            <a:picLocks noChangeAspect="1"/>
          </p:cNvPicPr>
          <p:nvPr/>
        </p:nvPicPr>
        <p:blipFill>
          <a:blip r:embed="rId5"/>
          <a:srcRect t="14945" b="14945"/>
          <a:stretch>
            <a:fillRect/>
          </a:stretch>
        </p:blipFill>
        <p:spPr>
          <a:xfrm>
            <a:off x="8089392" y="1728216"/>
            <a:ext cx="3441192" cy="1572768"/>
          </a:xfrm>
          <a:prstGeom prst="rect">
            <a:avLst/>
          </a:prstGeom>
        </p:spPr>
      </p:pic>
      <p:sp>
        <p:nvSpPr>
          <p:cNvPr id="37" name="TextBox 36"/>
          <p:cNvSpPr txBox="1"/>
          <p:nvPr/>
        </p:nvSpPr>
        <p:spPr>
          <a:xfrm>
            <a:off x="8290560" y="3465576"/>
            <a:ext cx="3038856"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REPETICIÓN</a:t>
            </a:r>
          </a:p>
        </p:txBody>
      </p:sp>
      <p:sp>
        <p:nvSpPr>
          <p:cNvPr id="38" name="TextBox 37"/>
          <p:cNvSpPr txBox="1"/>
          <p:nvPr/>
        </p:nvSpPr>
        <p:spPr>
          <a:xfrm>
            <a:off x="8290560" y="3712464"/>
            <a:ext cx="3038856"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Reiterativa</a:t>
            </a:r>
          </a:p>
        </p:txBody>
      </p:sp>
      <p:sp>
        <p:nvSpPr>
          <p:cNvPr id="39" name="TextBox 38"/>
          <p:cNvSpPr txBox="1"/>
          <p:nvPr/>
        </p:nvSpPr>
        <p:spPr>
          <a:xfrm>
            <a:off x="8290560" y="4114800"/>
            <a:ext cx="3038856" cy="1152143"/>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Rodamientos de un motor con variador que se cambian tres veces en un año. Se repara, pero la causa (paso de corriente por el eje, estrías en la pista) sigue ahí.</a:t>
            </a:r>
          </a:p>
        </p:txBody>
      </p:sp>
      <p:sp>
        <p:nvSpPr>
          <p:cNvPr id="40" name="Rectangle 39"/>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Crónicas y reiterativas son la señal para pasar de la acción correctiva a la acción modificativa (Clase 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PREGUNTAS CLAVES</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Misma falla, dos decisiones distintas</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4c</a:t>
            </a:r>
          </a:p>
        </p:txBody>
      </p:sp>
      <p:sp>
        <p:nvSpPr>
          <p:cNvPr id="12" name="TextBox 11"/>
          <p:cNvSpPr txBox="1"/>
          <p:nvPr/>
        </p:nvSpPr>
        <p:spPr>
          <a:xfrm>
            <a:off x="658368" y="1664208"/>
            <a:ext cx="10872216" cy="292608"/>
          </a:xfrm>
          <a:prstGeom prst="rect">
            <a:avLst/>
          </a:prstGeom>
          <a:noFill/>
        </p:spPr>
        <p:txBody>
          <a:bodyPr wrap="square" lIns="0" tIns="0" rIns="0" bIns="0" anchor="t">
            <a:spAutoFit/>
          </a:bodyPr>
          <a:lstStyle/>
          <a:p>
            <a:pPr algn="l">
              <a:lnSpc>
                <a:spcPct val="122000"/>
              </a:lnSpc>
              <a:spcAft>
                <a:spcPts val="0"/>
              </a:spcAft>
            </a:pPr>
            <a:r>
              <a:rPr sz="1500" b="0" i="0">
                <a:solidFill>
                  <a:srgbClr val="1B2430"/>
                </a:solidFill>
                <a:latin typeface="Segoe UI"/>
              </a:rPr>
              <a:t>Falla: fuga creciente por el sello mecánico de la bomba de agua de alimentación de una caldera.</a:t>
            </a:r>
          </a:p>
        </p:txBody>
      </p:sp>
      <p:graphicFrame>
        <p:nvGraphicFramePr>
          <p:cNvPr id="13" name="Table 12"/>
          <p:cNvGraphicFramePr>
            <a:graphicFrameLocks noGrp="1"/>
          </p:cNvGraphicFramePr>
          <p:nvPr/>
        </p:nvGraphicFramePr>
        <p:xfrm>
          <a:off x="658368" y="2139696"/>
          <a:ext cx="10872214" cy="3310126"/>
        </p:xfrm>
        <a:graphic>
          <a:graphicData uri="http://schemas.openxmlformats.org/drawingml/2006/table">
            <a:tbl>
              <a:tblPr>
                <a:tableStyleId>{5C22544A-7EE6-4342-B048-85BDC9FD1C3A}</a:tableStyleId>
              </a:tblPr>
              <a:tblGrid>
                <a:gridCol w="2103119">
                  <a:extLst>
                    <a:ext uri="{9D8B030D-6E8A-4147-A177-3AD203B41FA5}">
                      <a16:colId xmlns:a16="http://schemas.microsoft.com/office/drawing/2014/main" val="20000"/>
                    </a:ext>
                  </a:extLst>
                </a:gridCol>
                <a:gridCol w="4206239">
                  <a:extLst>
                    <a:ext uri="{9D8B030D-6E8A-4147-A177-3AD203B41FA5}">
                      <a16:colId xmlns:a16="http://schemas.microsoft.com/office/drawing/2014/main" val="20001"/>
                    </a:ext>
                  </a:extLst>
                </a:gridCol>
                <a:gridCol w="4562856">
                  <a:extLst>
                    <a:ext uri="{9D8B030D-6E8A-4147-A177-3AD203B41FA5}">
                      <a16:colId xmlns:a16="http://schemas.microsoft.com/office/drawing/2014/main" val="20002"/>
                    </a:ext>
                  </a:extLst>
                </a:gridCol>
              </a:tblGrid>
              <a:tr h="402336">
                <a:tc>
                  <a:txBody>
                    <a:bodyPr/>
                    <a:lstStyle/>
                    <a:p>
                      <a:r>
                        <a:rPr sz="1300" b="1">
                          <a:solidFill>
                            <a:srgbClr val="FFFFFF"/>
                          </a:solidFill>
                          <a:latin typeface="Segoe UI"/>
                        </a:rPr>
                        <a:t>Pregunta clave</a:t>
                      </a:r>
                    </a:p>
                  </a:txBody>
                  <a:tcPr marL="109728" marR="109728" anchor="ctr">
                    <a:solidFill>
                      <a:srgbClr val="004B85"/>
                    </a:solidFill>
                  </a:tcPr>
                </a:tc>
                <a:tc>
                  <a:txBody>
                    <a:bodyPr/>
                    <a:lstStyle/>
                    <a:p>
                      <a:r>
                        <a:rPr sz="1300" b="1">
                          <a:solidFill>
                            <a:srgbClr val="FFFFFF"/>
                          </a:solidFill>
                          <a:latin typeface="Segoe UI"/>
                        </a:rPr>
                        <a:t>Caso A · bomba con respaldo</a:t>
                      </a:r>
                    </a:p>
                  </a:txBody>
                  <a:tcPr marL="109728" marR="109728" anchor="ctr">
                    <a:solidFill>
                      <a:srgbClr val="004B85"/>
                    </a:solidFill>
                  </a:tcPr>
                </a:tc>
                <a:tc>
                  <a:txBody>
                    <a:bodyPr/>
                    <a:lstStyle/>
                    <a:p>
                      <a:r>
                        <a:rPr sz="1300" b="1">
                          <a:solidFill>
                            <a:srgbClr val="FFFFFF"/>
                          </a:solidFill>
                          <a:latin typeface="Segoe UI"/>
                        </a:rPr>
                        <a:t>Caso B · bomba única</a:t>
                      </a:r>
                    </a:p>
                  </a:txBody>
                  <a:tcPr marL="109728" marR="109728" anchor="ctr">
                    <a:solidFill>
                      <a:srgbClr val="B88200"/>
                    </a:solidFill>
                  </a:tcPr>
                </a:tc>
                <a:extLst>
                  <a:ext uri="{0D108BD9-81ED-4DB2-BD59-A6C34878D82A}">
                    <a16:rowId xmlns:a16="http://schemas.microsoft.com/office/drawing/2014/main" val="10000"/>
                  </a:ext>
                </a:extLst>
              </a:tr>
              <a:tr h="581558">
                <a:tc>
                  <a:txBody>
                    <a:bodyPr/>
                    <a:lstStyle/>
                    <a:p>
                      <a:pPr>
                        <a:lnSpc>
                          <a:spcPct val="112000"/>
                        </a:lnSpc>
                      </a:pPr>
                      <a:r>
                        <a:rPr sz="1250" b="1" i="0">
                          <a:solidFill>
                            <a:srgbClr val="00335C"/>
                          </a:solidFill>
                          <a:latin typeface="Segoe UI"/>
                        </a:rPr>
                        <a:t>1. ¿Tipo de falla?</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Progresiva · limitación parcial: la fuga crece, la bomba aún entrega.</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Progresiva · limitación parcial: la fuga crece, la bomba aún entrega.</a:t>
                      </a:r>
                    </a:p>
                  </a:txBody>
                  <a:tcPr marL="109728" marR="109728" marT="36576" marB="36576" anchor="ctr">
                    <a:solidFill>
                      <a:srgbClr val="FFFFFF"/>
                    </a:solidFill>
                  </a:tcPr>
                </a:tc>
                <a:extLst>
                  <a:ext uri="{0D108BD9-81ED-4DB2-BD59-A6C34878D82A}">
                    <a16:rowId xmlns:a16="http://schemas.microsoft.com/office/drawing/2014/main" val="10001"/>
                  </a:ext>
                </a:extLst>
              </a:tr>
              <a:tr h="581558">
                <a:tc>
                  <a:txBody>
                    <a:bodyPr/>
                    <a:lstStyle/>
                    <a:p>
                      <a:pPr>
                        <a:lnSpc>
                          <a:spcPct val="112000"/>
                        </a:lnSpc>
                      </a:pPr>
                      <a:r>
                        <a:rPr sz="1250" b="1" i="0">
                          <a:solidFill>
                            <a:srgbClr val="00335C"/>
                          </a:solidFill>
                          <a:latin typeface="Segoe UI"/>
                        </a:rPr>
                        <a:t>2. ¿Consecuencia?</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La bomba B asegura la función primaria. Riesgo bajo: agua caliente en piso.</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Si la bomba para, la caldera queda sin agua: se afectan la seguridad y la producción.</a:t>
                      </a:r>
                    </a:p>
                  </a:txBody>
                  <a:tcPr marL="109728" marR="109728" marT="36576" marB="36576" anchor="ctr">
                    <a:solidFill>
                      <a:srgbClr val="F4F7FA"/>
                    </a:solidFill>
                  </a:tcPr>
                </a:tc>
                <a:extLst>
                  <a:ext uri="{0D108BD9-81ED-4DB2-BD59-A6C34878D82A}">
                    <a16:rowId xmlns:a16="http://schemas.microsoft.com/office/drawing/2014/main" val="10002"/>
                  </a:ext>
                </a:extLst>
              </a:tr>
              <a:tr h="581558">
                <a:tc>
                  <a:txBody>
                    <a:bodyPr/>
                    <a:lstStyle/>
                    <a:p>
                      <a:pPr>
                        <a:lnSpc>
                          <a:spcPct val="112000"/>
                        </a:lnSpc>
                      </a:pPr>
                      <a:r>
                        <a:rPr sz="1250" b="1" i="0">
                          <a:solidFill>
                            <a:srgbClr val="00335C"/>
                          </a:solidFill>
                          <a:latin typeface="Segoe UI"/>
                        </a:rPr>
                        <a:t>3. ¿Reparación inmediata?</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No: se pasa a la bomba de respaldo y se programa en el turno.</a:t>
                      </a:r>
                    </a:p>
                  </a:txBody>
                  <a:tcPr marL="109728" marR="109728" marT="36576" marB="36576" anchor="ctr">
                    <a:solidFill>
                      <a:srgbClr val="FFFFFF"/>
                    </a:solidFill>
                  </a:tcPr>
                </a:tc>
                <a:tc>
                  <a:txBody>
                    <a:bodyPr/>
                    <a:lstStyle/>
                    <a:p>
                      <a:pPr>
                        <a:lnSpc>
                          <a:spcPct val="112000"/>
                        </a:lnSpc>
                      </a:pPr>
                      <a:r>
                        <a:rPr sz="1250" b="0" i="0">
                          <a:solidFill>
                            <a:srgbClr val="1B2430"/>
                          </a:solidFill>
                          <a:latin typeface="Segoe UI"/>
                        </a:rPr>
                        <a:t>Sí, pero no se puede detener la bomba sin apagar la caldera.</a:t>
                      </a:r>
                    </a:p>
                  </a:txBody>
                  <a:tcPr marL="109728" marR="109728" marT="36576" marB="36576" anchor="ctr">
                    <a:solidFill>
                      <a:srgbClr val="FFFFFF"/>
                    </a:solidFill>
                  </a:tcPr>
                </a:tc>
                <a:extLst>
                  <a:ext uri="{0D108BD9-81ED-4DB2-BD59-A6C34878D82A}">
                    <a16:rowId xmlns:a16="http://schemas.microsoft.com/office/drawing/2014/main" val="10003"/>
                  </a:ext>
                </a:extLst>
              </a:tr>
              <a:tr h="581558">
                <a:tc>
                  <a:txBody>
                    <a:bodyPr/>
                    <a:lstStyle/>
                    <a:p>
                      <a:pPr>
                        <a:lnSpc>
                          <a:spcPct val="112000"/>
                        </a:lnSpc>
                      </a:pPr>
                      <a:r>
                        <a:rPr sz="1250" b="1" i="0">
                          <a:solidFill>
                            <a:srgbClr val="00335C"/>
                          </a:solidFill>
                          <a:latin typeface="Segoe UI"/>
                        </a:rPr>
                        <a:t>4. ¿Elementos disponibles?</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Sí: sello en almacén, personal y herramientas listos.</a:t>
                      </a:r>
                    </a:p>
                  </a:txBody>
                  <a:tcPr marL="109728" marR="109728" marT="36576" marB="36576" anchor="ctr">
                    <a:solidFill>
                      <a:srgbClr val="F4F7FA"/>
                    </a:solidFill>
                  </a:tcPr>
                </a:tc>
                <a:tc>
                  <a:txBody>
                    <a:bodyPr/>
                    <a:lstStyle/>
                    <a:p>
                      <a:pPr>
                        <a:lnSpc>
                          <a:spcPct val="112000"/>
                        </a:lnSpc>
                      </a:pPr>
                      <a:r>
                        <a:rPr sz="1250" b="0" i="0">
                          <a:solidFill>
                            <a:srgbClr val="1B2430"/>
                          </a:solidFill>
                          <a:latin typeface="Segoe UI"/>
                        </a:rPr>
                        <a:t>No: el sello llega en 5 días.</a:t>
                      </a:r>
                    </a:p>
                  </a:txBody>
                  <a:tcPr marL="109728" marR="109728" marT="36576" marB="36576" anchor="ctr">
                    <a:solidFill>
                      <a:srgbClr val="F4F7FA"/>
                    </a:solidFill>
                  </a:tcPr>
                </a:tc>
                <a:extLst>
                  <a:ext uri="{0D108BD9-81ED-4DB2-BD59-A6C34878D82A}">
                    <a16:rowId xmlns:a16="http://schemas.microsoft.com/office/drawing/2014/main" val="10004"/>
                  </a:ext>
                </a:extLst>
              </a:tr>
              <a:tr h="581558">
                <a:tc>
                  <a:txBody>
                    <a:bodyPr/>
                    <a:lstStyle/>
                    <a:p>
                      <a:pPr>
                        <a:lnSpc>
                          <a:spcPct val="112000"/>
                        </a:lnSpc>
                      </a:pPr>
                      <a:r>
                        <a:rPr sz="1250" b="1" i="0">
                          <a:solidFill>
                            <a:srgbClr val="00335C"/>
                          </a:solidFill>
                          <a:latin typeface="Segoe UI"/>
                        </a:rPr>
                        <a:t>Decisión</a:t>
                      </a:r>
                    </a:p>
                  </a:txBody>
                  <a:tcPr marL="109728" marR="109728" marT="36576" marB="36576" anchor="ctr">
                    <a:solidFill>
                      <a:srgbClr val="FFFFFF"/>
                    </a:solidFill>
                  </a:tcPr>
                </a:tc>
                <a:tc>
                  <a:txBody>
                    <a:bodyPr/>
                    <a:lstStyle/>
                    <a:p>
                      <a:pPr>
                        <a:lnSpc>
                          <a:spcPct val="112000"/>
                        </a:lnSpc>
                      </a:pPr>
                      <a:r>
                        <a:rPr sz="1250" b="1" i="0">
                          <a:solidFill>
                            <a:srgbClr val="1B2430"/>
                          </a:solidFill>
                          <a:latin typeface="Segoe UI"/>
                        </a:rPr>
                        <a:t>Reparación correcta y definitiva</a:t>
                      </a:r>
                      <a:r>
                        <a:rPr sz="1250" b="0" i="0">
                          <a:solidFill>
                            <a:srgbClr val="1B2430"/>
                          </a:solidFill>
                          <a:latin typeface="Segoe UI"/>
                        </a:rPr>
                        <a:t> programada.</a:t>
                      </a:r>
                    </a:p>
                  </a:txBody>
                  <a:tcPr marL="109728" marR="109728" marT="36576" marB="36576" anchor="ctr">
                    <a:solidFill>
                      <a:srgbClr val="FFFFFF"/>
                    </a:solidFill>
                  </a:tcPr>
                </a:tc>
                <a:tc>
                  <a:txBody>
                    <a:bodyPr/>
                    <a:lstStyle/>
                    <a:p>
                      <a:pPr>
                        <a:lnSpc>
                          <a:spcPct val="112000"/>
                        </a:lnSpc>
                      </a:pPr>
                      <a:r>
                        <a:rPr sz="1250" b="1" i="0">
                          <a:solidFill>
                            <a:srgbClr val="1B2430"/>
                          </a:solidFill>
                          <a:latin typeface="Segoe UI"/>
                        </a:rPr>
                        <a:t>Desvare controlado</a:t>
                      </a:r>
                      <a:r>
                        <a:rPr sz="1250" b="0" i="0">
                          <a:solidFill>
                            <a:srgbClr val="1B2430"/>
                          </a:solidFill>
                          <a:latin typeface="Segoe UI"/>
                        </a:rPr>
                        <a:t>: aislar zona, recolectar la fuga y vigilarla; parada programada al llegar el sello.</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4" name="Rectangle 13"/>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Las respuestas a las preguntas 2 a 4 cambian la ruta; el tipo de falla por sí solo no decide la reparación.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RUTINA DE DECISIÓN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Diagrama de decisiones para reparaciones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5</a:t>
            </a:r>
            <a:endParaRPr lang="en-US" sz="1000" dirty="0"/>
          </a:p>
        </p:txBody>
      </p:sp>
      <p:pic>
        <p:nvPicPr>
          <p:cNvPr id="10" name="Image 1" descr="/home/claude/work/assets/image1.png"/>
          <p:cNvPicPr>
            <a:picLocks noChangeAspect="1"/>
          </p:cNvPicPr>
          <p:nvPr/>
        </p:nvPicPr>
        <p:blipFill>
          <a:blip r:embed="rId4"/>
          <a:stretch>
            <a:fillRect/>
          </a:stretch>
        </p:blipFill>
        <p:spPr>
          <a:xfrm>
            <a:off x="3072384" y="1609344"/>
            <a:ext cx="6053328" cy="3840480"/>
          </a:xfrm>
          <a:prstGeom prst="rect">
            <a:avLst/>
          </a:prstGeom>
        </p:spPr>
      </p:pic>
      <p:sp>
        <p:nvSpPr>
          <p:cNvPr id="11" name="Shape 7"/>
          <p:cNvSpPr/>
          <p:nvPr/>
        </p:nvSpPr>
        <p:spPr>
          <a:xfrm>
            <a:off x="658368" y="5559552"/>
            <a:ext cx="10872216" cy="420624"/>
          </a:xfrm>
          <a:prstGeom prst="rect">
            <a:avLst/>
          </a:prstGeom>
          <a:solidFill>
            <a:srgbClr val="E8F0F7"/>
          </a:solidFill>
          <a:ln/>
        </p:spPr>
      </p:sp>
      <p:sp>
        <p:nvSpPr>
          <p:cNvPr id="12" name="Shape 8"/>
          <p:cNvSpPr/>
          <p:nvPr/>
        </p:nvSpPr>
        <p:spPr>
          <a:xfrm>
            <a:off x="658368" y="5559552"/>
            <a:ext cx="54864" cy="420624"/>
          </a:xfrm>
          <a:prstGeom prst="rect">
            <a:avLst/>
          </a:prstGeom>
          <a:solidFill>
            <a:srgbClr val="004B85"/>
          </a:solidFill>
          <a:ln/>
        </p:spPr>
      </p:sp>
      <p:sp>
        <p:nvSpPr>
          <p:cNvPr id="13" name="Text 9"/>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ruta cambia según tres preguntas: si se requiere reparación inmediata, si se admite una solución provisional y si la falla es reiterativa.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RUTINA DE DECISIÓN</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Recorriendo el diagrama: tres casos</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5a</a:t>
            </a:r>
          </a:p>
        </p:txBody>
      </p:sp>
      <p:sp>
        <p:nvSpPr>
          <p:cNvPr id="12" name="Rectangle 11"/>
          <p:cNvSpPr/>
          <p:nvPr/>
        </p:nvSpPr>
        <p:spPr>
          <a:xfrm>
            <a:off x="658368"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3441192"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6968" y="1892808"/>
            <a:ext cx="384048" cy="384048"/>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1946574"/>
            <a:ext cx="384048" cy="276514"/>
          </a:xfrm>
          <a:prstGeom prst="rect">
            <a:avLst/>
          </a:prstGeom>
          <a:noFill/>
        </p:spPr>
        <p:txBody>
          <a:bodyPr wrap="square" lIns="0" tIns="0" rIns="0" bIns="0" anchor="t">
            <a:spAutoFit/>
          </a:bodyPr>
          <a:lstStyle/>
          <a:p>
            <a:pPr algn="ctr">
              <a:lnSpc>
                <a:spcPct val="122000"/>
              </a:lnSpc>
              <a:spcAft>
                <a:spcPts val="0"/>
              </a:spcAft>
            </a:pPr>
            <a:r>
              <a:rPr sz="1500" b="1" i="0">
                <a:solidFill>
                  <a:srgbClr val="FFFFFF"/>
                </a:solidFill>
                <a:latin typeface="Segoe UI"/>
              </a:rPr>
              <a:t>1</a:t>
            </a:r>
          </a:p>
        </p:txBody>
      </p:sp>
      <p:sp>
        <p:nvSpPr>
          <p:cNvPr id="16" name="TextBox 15"/>
          <p:cNvSpPr txBox="1"/>
          <p:nvPr/>
        </p:nvSpPr>
        <p:spPr>
          <a:xfrm>
            <a:off x="886968" y="2395728"/>
            <a:ext cx="2983992" cy="566928"/>
          </a:xfrm>
          <a:prstGeom prst="rect">
            <a:avLst/>
          </a:prstGeom>
          <a:noFill/>
        </p:spPr>
        <p:txBody>
          <a:bodyPr wrap="square" lIns="0" tIns="0" rIns="0" bIns="0" anchor="t">
            <a:spAutoFit/>
          </a:bodyPr>
          <a:lstStyle/>
          <a:p>
            <a:pPr algn="l">
              <a:lnSpc>
                <a:spcPct val="112000"/>
              </a:lnSpc>
              <a:spcAft>
                <a:spcPts val="0"/>
              </a:spcAft>
            </a:pPr>
            <a:r>
              <a:rPr sz="1600" b="1" i="0">
                <a:solidFill>
                  <a:srgbClr val="00335C"/>
                </a:solidFill>
                <a:latin typeface="Segoe UI"/>
              </a:rPr>
              <a:t>Banda transportadora rota</a:t>
            </a:r>
          </a:p>
        </p:txBody>
      </p:sp>
      <p:sp>
        <p:nvSpPr>
          <p:cNvPr id="17" name="TextBox 16"/>
          <p:cNvSpPr txBox="1"/>
          <p:nvPr/>
        </p:nvSpPr>
        <p:spPr>
          <a:xfrm>
            <a:off x="886968" y="2990088"/>
            <a:ext cx="2983992" cy="731520"/>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Se rompe la banda de un transportador a mitad de turno; la línea completa está detenida.</a:t>
            </a:r>
          </a:p>
        </p:txBody>
      </p:sp>
      <p:sp>
        <p:nvSpPr>
          <p:cNvPr id="18" name="TextBox 17"/>
          <p:cNvSpPr txBox="1"/>
          <p:nvPr/>
        </p:nvSpPr>
        <p:spPr>
          <a:xfrm>
            <a:off x="886968" y="3749039"/>
            <a:ext cx="298399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RUTA EN EL DIAGRAMA</a:t>
            </a:r>
          </a:p>
        </p:txBody>
      </p:sp>
      <p:sp>
        <p:nvSpPr>
          <p:cNvPr id="19" name="Rectangle 18"/>
          <p:cNvSpPr/>
          <p:nvPr/>
        </p:nvSpPr>
        <p:spPr>
          <a:xfrm>
            <a:off x="886968" y="399592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7" y="405993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¿Inmediata? </a:t>
            </a:r>
            <a:r>
              <a:rPr sz="1050" b="1" i="0">
                <a:solidFill>
                  <a:srgbClr val="1B2430"/>
                </a:solidFill>
                <a:latin typeface="Segoe UI"/>
              </a:rPr>
              <a:t>Sí</a:t>
            </a:r>
          </a:p>
        </p:txBody>
      </p:sp>
      <p:sp>
        <p:nvSpPr>
          <p:cNvPr id="21" name="Rectangle 20"/>
          <p:cNvSpPr/>
          <p:nvPr/>
        </p:nvSpPr>
        <p:spPr>
          <a:xfrm>
            <a:off x="886968" y="436168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7" y="442569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¿Solución provisional? </a:t>
            </a:r>
            <a:r>
              <a:rPr sz="1050" b="1" i="0">
                <a:solidFill>
                  <a:srgbClr val="1B2430"/>
                </a:solidFill>
                <a:latin typeface="Segoe UI"/>
              </a:rPr>
              <a:t>Sí</a:t>
            </a:r>
          </a:p>
        </p:txBody>
      </p:sp>
      <p:sp>
        <p:nvSpPr>
          <p:cNvPr id="23" name="Rectangle 22"/>
          <p:cNvSpPr/>
          <p:nvPr/>
        </p:nvSpPr>
        <p:spPr>
          <a:xfrm>
            <a:off x="886968" y="4745736"/>
            <a:ext cx="2983992" cy="566928"/>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7" y="4791456"/>
            <a:ext cx="2801112" cy="493776"/>
          </a:xfrm>
          <a:prstGeom prst="rect">
            <a:avLst/>
          </a:prstGeom>
          <a:noFill/>
        </p:spPr>
        <p:txBody>
          <a:bodyPr wrap="square" lIns="0" tIns="0" rIns="0" bIns="0" anchor="ctr">
            <a:spAutoFit/>
          </a:bodyPr>
          <a:lstStyle/>
          <a:p>
            <a:pPr algn="l">
              <a:lnSpc>
                <a:spcPct val="112000"/>
              </a:lnSpc>
              <a:spcAft>
                <a:spcPts val="0"/>
              </a:spcAft>
            </a:pPr>
            <a:r>
              <a:rPr sz="1050" b="1" i="0">
                <a:solidFill>
                  <a:srgbClr val="1B2430"/>
                </a:solidFill>
                <a:latin typeface="Segoe UI"/>
              </a:rPr>
              <a:t>Desvare con grapas mecánicas; empalme vulcanizado en la parada programada.</a:t>
            </a:r>
          </a:p>
        </p:txBody>
      </p:sp>
      <p:sp>
        <p:nvSpPr>
          <p:cNvPr id="25" name="Rectangle 24"/>
          <p:cNvSpPr/>
          <p:nvPr/>
        </p:nvSpPr>
        <p:spPr>
          <a:xfrm>
            <a:off x="4373880"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73880" y="1664208"/>
            <a:ext cx="3441192"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602480" y="1892808"/>
            <a:ext cx="384048" cy="384048"/>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02480" y="1946574"/>
            <a:ext cx="384048" cy="276514"/>
          </a:xfrm>
          <a:prstGeom prst="rect">
            <a:avLst/>
          </a:prstGeom>
          <a:noFill/>
        </p:spPr>
        <p:txBody>
          <a:bodyPr wrap="square" lIns="0" tIns="0" rIns="0" bIns="0" anchor="t">
            <a:spAutoFit/>
          </a:bodyPr>
          <a:lstStyle/>
          <a:p>
            <a:pPr algn="ctr">
              <a:lnSpc>
                <a:spcPct val="122000"/>
              </a:lnSpc>
              <a:spcAft>
                <a:spcPts val="0"/>
              </a:spcAft>
            </a:pPr>
            <a:r>
              <a:rPr sz="1500" b="1" i="0">
                <a:solidFill>
                  <a:srgbClr val="FFFFFF"/>
                </a:solidFill>
                <a:latin typeface="Segoe UI"/>
              </a:rPr>
              <a:t>2</a:t>
            </a:r>
          </a:p>
        </p:txBody>
      </p:sp>
      <p:sp>
        <p:nvSpPr>
          <p:cNvPr id="29" name="TextBox 28"/>
          <p:cNvSpPr txBox="1"/>
          <p:nvPr/>
        </p:nvSpPr>
        <p:spPr>
          <a:xfrm>
            <a:off x="4602480" y="2395728"/>
            <a:ext cx="2983992" cy="566928"/>
          </a:xfrm>
          <a:prstGeom prst="rect">
            <a:avLst/>
          </a:prstGeom>
          <a:noFill/>
        </p:spPr>
        <p:txBody>
          <a:bodyPr wrap="square" lIns="0" tIns="0" rIns="0" bIns="0" anchor="t">
            <a:spAutoFit/>
          </a:bodyPr>
          <a:lstStyle/>
          <a:p>
            <a:pPr algn="l">
              <a:lnSpc>
                <a:spcPct val="112000"/>
              </a:lnSpc>
              <a:spcAft>
                <a:spcPts val="0"/>
              </a:spcAft>
            </a:pPr>
            <a:r>
              <a:rPr sz="1600" b="1" i="0">
                <a:solidFill>
                  <a:srgbClr val="00335C"/>
                </a:solidFill>
                <a:latin typeface="Segoe UI"/>
              </a:rPr>
              <a:t>Rodamiento con vibración creciente</a:t>
            </a:r>
          </a:p>
        </p:txBody>
      </p:sp>
      <p:sp>
        <p:nvSpPr>
          <p:cNvPr id="30" name="TextBox 29"/>
          <p:cNvSpPr txBox="1"/>
          <p:nvPr/>
        </p:nvSpPr>
        <p:spPr>
          <a:xfrm>
            <a:off x="4602480" y="2990088"/>
            <a:ext cx="2983992" cy="731520"/>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El monitoreo predictivo de un ventilador muestra que la vibración pasa de 4,5 a 7 mm/s en un mes.</a:t>
            </a:r>
          </a:p>
        </p:txBody>
      </p:sp>
      <p:sp>
        <p:nvSpPr>
          <p:cNvPr id="31" name="TextBox 30"/>
          <p:cNvSpPr txBox="1"/>
          <p:nvPr/>
        </p:nvSpPr>
        <p:spPr>
          <a:xfrm>
            <a:off x="4602480" y="3749039"/>
            <a:ext cx="298399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RUTA EN EL DIAGRAMA</a:t>
            </a:r>
          </a:p>
        </p:txBody>
      </p:sp>
      <p:sp>
        <p:nvSpPr>
          <p:cNvPr id="32" name="Rectangle 31"/>
          <p:cNvSpPr/>
          <p:nvPr/>
        </p:nvSpPr>
        <p:spPr>
          <a:xfrm>
            <a:off x="4602480" y="399592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93920" y="405993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¿Inmediata? </a:t>
            </a:r>
            <a:r>
              <a:rPr sz="1050" b="1" i="0">
                <a:solidFill>
                  <a:srgbClr val="1B2430"/>
                </a:solidFill>
                <a:latin typeface="Segoe UI"/>
              </a:rPr>
              <a:t>No</a:t>
            </a:r>
          </a:p>
        </p:txBody>
      </p:sp>
      <p:sp>
        <p:nvSpPr>
          <p:cNvPr id="34" name="Rectangle 33"/>
          <p:cNvSpPr/>
          <p:nvPr/>
        </p:nvSpPr>
        <p:spPr>
          <a:xfrm>
            <a:off x="4602480" y="436168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93920" y="442569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Análisis detallado → ¿reiterativa? </a:t>
            </a:r>
            <a:r>
              <a:rPr sz="1050" b="1" i="0">
                <a:solidFill>
                  <a:srgbClr val="1B2430"/>
                </a:solidFill>
                <a:latin typeface="Segoe UI"/>
              </a:rPr>
              <a:t>No</a:t>
            </a:r>
          </a:p>
        </p:txBody>
      </p:sp>
      <p:sp>
        <p:nvSpPr>
          <p:cNvPr id="36" name="Rectangle 35"/>
          <p:cNvSpPr/>
          <p:nvPr/>
        </p:nvSpPr>
        <p:spPr>
          <a:xfrm>
            <a:off x="4602480" y="4745736"/>
            <a:ext cx="2983992"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93920" y="4791456"/>
            <a:ext cx="2801112" cy="493776"/>
          </a:xfrm>
          <a:prstGeom prst="rect">
            <a:avLst/>
          </a:prstGeom>
          <a:noFill/>
        </p:spPr>
        <p:txBody>
          <a:bodyPr wrap="square" lIns="0" tIns="0" rIns="0" bIns="0" anchor="ctr">
            <a:spAutoFit/>
          </a:bodyPr>
          <a:lstStyle/>
          <a:p>
            <a:pPr algn="l">
              <a:lnSpc>
                <a:spcPct val="112000"/>
              </a:lnSpc>
              <a:spcAft>
                <a:spcPts val="0"/>
              </a:spcAft>
            </a:pPr>
            <a:r>
              <a:rPr sz="1050" b="1" i="0">
                <a:solidFill>
                  <a:srgbClr val="FFFFFF"/>
                </a:solidFill>
                <a:latin typeface="Segoe UI"/>
              </a:rPr>
              <a:t>Reparación correcta y definitiva, programada antes de la falla funcional.</a:t>
            </a:r>
          </a:p>
        </p:txBody>
      </p:sp>
      <p:sp>
        <p:nvSpPr>
          <p:cNvPr id="38" name="Rectangle 37"/>
          <p:cNvSpPr/>
          <p:nvPr/>
        </p:nvSpPr>
        <p:spPr>
          <a:xfrm>
            <a:off x="8089392" y="1664208"/>
            <a:ext cx="3441192"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89392" y="1664208"/>
            <a:ext cx="3441192"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317992" y="1892808"/>
            <a:ext cx="384048" cy="384048"/>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17992" y="1946574"/>
            <a:ext cx="384048" cy="276514"/>
          </a:xfrm>
          <a:prstGeom prst="rect">
            <a:avLst/>
          </a:prstGeom>
          <a:noFill/>
        </p:spPr>
        <p:txBody>
          <a:bodyPr wrap="square" lIns="0" tIns="0" rIns="0" bIns="0" anchor="t">
            <a:spAutoFit/>
          </a:bodyPr>
          <a:lstStyle/>
          <a:p>
            <a:pPr algn="ctr">
              <a:lnSpc>
                <a:spcPct val="122000"/>
              </a:lnSpc>
              <a:spcAft>
                <a:spcPts val="0"/>
              </a:spcAft>
            </a:pPr>
            <a:r>
              <a:rPr sz="1500" b="1" i="0">
                <a:solidFill>
                  <a:srgbClr val="FFFFFF"/>
                </a:solidFill>
                <a:latin typeface="Segoe UI"/>
              </a:rPr>
              <a:t>3</a:t>
            </a:r>
          </a:p>
        </p:txBody>
      </p:sp>
      <p:sp>
        <p:nvSpPr>
          <p:cNvPr id="42" name="TextBox 41"/>
          <p:cNvSpPr txBox="1"/>
          <p:nvPr/>
        </p:nvSpPr>
        <p:spPr>
          <a:xfrm>
            <a:off x="8317992" y="2395728"/>
            <a:ext cx="2983992" cy="566928"/>
          </a:xfrm>
          <a:prstGeom prst="rect">
            <a:avLst/>
          </a:prstGeom>
          <a:noFill/>
        </p:spPr>
        <p:txBody>
          <a:bodyPr wrap="square" lIns="0" tIns="0" rIns="0" bIns="0" anchor="t">
            <a:spAutoFit/>
          </a:bodyPr>
          <a:lstStyle/>
          <a:p>
            <a:pPr algn="l">
              <a:lnSpc>
                <a:spcPct val="112000"/>
              </a:lnSpc>
              <a:spcAft>
                <a:spcPts val="0"/>
              </a:spcAft>
            </a:pPr>
            <a:r>
              <a:rPr sz="1600" b="1" i="0">
                <a:solidFill>
                  <a:srgbClr val="00335C"/>
                </a:solidFill>
                <a:latin typeface="Segoe UI"/>
              </a:rPr>
              <a:t>Pasador de acople roto por tercera vez</a:t>
            </a:r>
          </a:p>
        </p:txBody>
      </p:sp>
      <p:sp>
        <p:nvSpPr>
          <p:cNvPr id="43" name="TextBox 42"/>
          <p:cNvSpPr txBox="1"/>
          <p:nvPr/>
        </p:nvSpPr>
        <p:spPr>
          <a:xfrm>
            <a:off x="8317992" y="2990088"/>
            <a:ext cx="2983992" cy="731520"/>
          </a:xfrm>
          <a:prstGeom prst="rect">
            <a:avLst/>
          </a:prstGeom>
          <a:noFill/>
        </p:spPr>
        <p:txBody>
          <a:bodyPr wrap="square" lIns="0" tIns="0" rIns="0" bIns="0" anchor="t">
            <a:spAutoFit/>
          </a:bodyPr>
          <a:lstStyle/>
          <a:p>
            <a:pPr algn="l">
              <a:lnSpc>
                <a:spcPct val="125000"/>
              </a:lnSpc>
              <a:spcAft>
                <a:spcPts val="0"/>
              </a:spcAft>
            </a:pPr>
            <a:r>
              <a:rPr sz="1150" b="0" i="0">
                <a:solidFill>
                  <a:srgbClr val="5C6B7A"/>
                </a:solidFill>
                <a:latin typeface="Segoe UI"/>
              </a:rPr>
              <a:t>El pasador de seguridad del acople de un molino se rompe por tercera vez en seis meses.</a:t>
            </a:r>
          </a:p>
        </p:txBody>
      </p:sp>
      <p:sp>
        <p:nvSpPr>
          <p:cNvPr id="44" name="TextBox 43"/>
          <p:cNvSpPr txBox="1"/>
          <p:nvPr/>
        </p:nvSpPr>
        <p:spPr>
          <a:xfrm>
            <a:off x="8317992" y="3749039"/>
            <a:ext cx="2983992"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RUTA EN EL DIAGRAMA</a:t>
            </a:r>
          </a:p>
        </p:txBody>
      </p:sp>
      <p:sp>
        <p:nvSpPr>
          <p:cNvPr id="45" name="Rectangle 44"/>
          <p:cNvSpPr/>
          <p:nvPr/>
        </p:nvSpPr>
        <p:spPr>
          <a:xfrm>
            <a:off x="8317992" y="399592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09432" y="405993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¿Inmediata? </a:t>
            </a:r>
            <a:r>
              <a:rPr sz="1050" b="1" i="0">
                <a:solidFill>
                  <a:srgbClr val="1B2430"/>
                </a:solidFill>
                <a:latin typeface="Segoe UI"/>
              </a:rPr>
              <a:t>Sí</a:t>
            </a:r>
            <a:r>
              <a:rPr sz="1050" b="0" i="0">
                <a:solidFill>
                  <a:srgbClr val="1B2430"/>
                </a:solidFill>
                <a:latin typeface="Segoe UI"/>
              </a:rPr>
              <a:t> · provisional </a:t>
            </a:r>
            <a:r>
              <a:rPr sz="1050" b="1" i="0">
                <a:solidFill>
                  <a:srgbClr val="1B2430"/>
                </a:solidFill>
                <a:latin typeface="Segoe UI"/>
              </a:rPr>
              <a:t>No</a:t>
            </a:r>
          </a:p>
        </p:txBody>
      </p:sp>
      <p:sp>
        <p:nvSpPr>
          <p:cNvPr id="47" name="Rectangle 46"/>
          <p:cNvSpPr/>
          <p:nvPr/>
        </p:nvSpPr>
        <p:spPr>
          <a:xfrm>
            <a:off x="8317992" y="4361688"/>
            <a:ext cx="2983992" cy="31089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09432" y="4425696"/>
            <a:ext cx="2801112" cy="219456"/>
          </a:xfrm>
          <a:prstGeom prst="rect">
            <a:avLst/>
          </a:prstGeom>
          <a:noFill/>
        </p:spPr>
        <p:txBody>
          <a:bodyPr wrap="square" lIns="0" tIns="0" rIns="0" bIns="0" anchor="t">
            <a:spAutoFit/>
          </a:bodyPr>
          <a:lstStyle/>
          <a:p>
            <a:pPr algn="l">
              <a:lnSpc>
                <a:spcPct val="122000"/>
              </a:lnSpc>
              <a:spcAft>
                <a:spcPts val="0"/>
              </a:spcAft>
            </a:pPr>
            <a:r>
              <a:rPr sz="1050" b="0" i="0">
                <a:solidFill>
                  <a:srgbClr val="1B2430"/>
                </a:solidFill>
                <a:latin typeface="Segoe UI"/>
              </a:rPr>
              <a:t>Análisis de causa raíz → ¿reiterativa? </a:t>
            </a:r>
            <a:r>
              <a:rPr sz="1050" b="1" i="0">
                <a:solidFill>
                  <a:srgbClr val="1B2430"/>
                </a:solidFill>
                <a:latin typeface="Segoe UI"/>
              </a:rPr>
              <a:t>Sí</a:t>
            </a:r>
          </a:p>
        </p:txBody>
      </p:sp>
      <p:sp>
        <p:nvSpPr>
          <p:cNvPr id="49" name="Rectangle 48"/>
          <p:cNvSpPr/>
          <p:nvPr/>
        </p:nvSpPr>
        <p:spPr>
          <a:xfrm>
            <a:off x="8317992" y="4745736"/>
            <a:ext cx="2983992" cy="566928"/>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09432" y="4791456"/>
            <a:ext cx="2801112" cy="493776"/>
          </a:xfrm>
          <a:prstGeom prst="rect">
            <a:avLst/>
          </a:prstGeom>
          <a:noFill/>
        </p:spPr>
        <p:txBody>
          <a:bodyPr wrap="square" lIns="0" tIns="0" rIns="0" bIns="0" anchor="ctr">
            <a:spAutoFit/>
          </a:bodyPr>
          <a:lstStyle/>
          <a:p>
            <a:pPr algn="l">
              <a:lnSpc>
                <a:spcPct val="112000"/>
              </a:lnSpc>
              <a:spcAft>
                <a:spcPts val="0"/>
              </a:spcAft>
            </a:pPr>
            <a:r>
              <a:rPr sz="1050" b="1" i="0">
                <a:solidFill>
                  <a:srgbClr val="FFFFFF"/>
                </a:solidFill>
                <a:latin typeface="Segoe UI"/>
              </a:rPr>
              <a:t>Acción modificativa: p. ej., limitador de torque en lugar del fusible mecánico.</a:t>
            </a:r>
          </a:p>
        </p:txBody>
      </p:sp>
      <p:sp>
        <p:nvSpPr>
          <p:cNvPr id="51" name="Rectangle 50"/>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Las tres rutas terminan igual: recopilar información y registrar lo realizado en la historia del equipo.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SÍNTESIS DEL BLOQUE</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Acciones después de la falla: reparaciones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6</a:t>
            </a:r>
            <a:endParaRPr lang="en-US" sz="1000" dirty="0"/>
          </a:p>
        </p:txBody>
      </p:sp>
      <p:sp>
        <p:nvSpPr>
          <p:cNvPr id="10" name="Shape 7"/>
          <p:cNvSpPr/>
          <p:nvPr/>
        </p:nvSpPr>
        <p:spPr>
          <a:xfrm>
            <a:off x="658368" y="1682496"/>
            <a:ext cx="5294376" cy="3566160"/>
          </a:xfrm>
          <a:prstGeom prst="rect">
            <a:avLst/>
          </a:prstGeom>
          <a:solidFill>
            <a:srgbClr val="F4F7FA"/>
          </a:solidFill>
          <a:ln w="9525">
            <a:solidFill>
              <a:srgbClr val="D5DDE5"/>
            </a:solidFill>
            <a:prstDash val="solid"/>
          </a:ln>
        </p:spPr>
      </p:sp>
      <p:sp>
        <p:nvSpPr>
          <p:cNvPr id="11" name="Shape 8"/>
          <p:cNvSpPr/>
          <p:nvPr/>
        </p:nvSpPr>
        <p:spPr>
          <a:xfrm>
            <a:off x="658368" y="1682496"/>
            <a:ext cx="5294376" cy="64008"/>
          </a:xfrm>
          <a:prstGeom prst="rect">
            <a:avLst/>
          </a:prstGeom>
          <a:solidFill>
            <a:srgbClr val="004B85"/>
          </a:solidFill>
          <a:ln/>
        </p:spPr>
      </p:sp>
      <p:sp>
        <p:nvSpPr>
          <p:cNvPr id="12" name="Shape 9"/>
          <p:cNvSpPr/>
          <p:nvPr/>
        </p:nvSpPr>
        <p:spPr>
          <a:xfrm>
            <a:off x="914400" y="1938528"/>
            <a:ext cx="384048" cy="384048"/>
          </a:xfrm>
          <a:prstGeom prst="rect">
            <a:avLst/>
          </a:prstGeom>
          <a:solidFill>
            <a:srgbClr val="004B85"/>
          </a:solidFill>
          <a:ln/>
        </p:spPr>
      </p:sp>
      <p:sp>
        <p:nvSpPr>
          <p:cNvPr id="13" name="Text 10"/>
          <p:cNvSpPr txBox="1"/>
          <p:nvPr/>
        </p:nvSpPr>
        <p:spPr>
          <a:xfrm>
            <a:off x="914400" y="1993392"/>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487168"/>
            <a:ext cx="4782312" cy="32918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Acciones correctivas</a:t>
            </a:r>
            <a:endParaRPr lang="en-US" sz="2000" dirty="0"/>
          </a:p>
        </p:txBody>
      </p:sp>
      <p:sp>
        <p:nvSpPr>
          <p:cNvPr id="15" name="Text 12"/>
          <p:cNvSpPr txBox="1"/>
          <p:nvPr/>
        </p:nvSpPr>
        <p:spPr>
          <a:xfrm>
            <a:off x="914400" y="2907792"/>
            <a:ext cx="4782312" cy="603504"/>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Recuperan la funcionalidad perdida del elemento o del sistema.</a:t>
            </a:r>
            <a:endParaRPr lang="en-US" sz="1400" dirty="0"/>
          </a:p>
        </p:txBody>
      </p:sp>
      <p:sp>
        <p:nvSpPr>
          <p:cNvPr id="16" name="Shape 13"/>
          <p:cNvSpPr/>
          <p:nvPr/>
        </p:nvSpPr>
        <p:spPr>
          <a:xfrm>
            <a:off x="914400" y="3849624"/>
            <a:ext cx="109728" cy="109728"/>
          </a:xfrm>
          <a:prstGeom prst="rect">
            <a:avLst/>
          </a:prstGeom>
          <a:solidFill>
            <a:srgbClr val="FFB903"/>
          </a:solidFill>
          <a:ln/>
        </p:spPr>
      </p:sp>
      <p:sp>
        <p:nvSpPr>
          <p:cNvPr id="17" name="Text 14"/>
          <p:cNvSpPr txBox="1"/>
          <p:nvPr/>
        </p:nvSpPr>
        <p:spPr>
          <a:xfrm>
            <a:off x="1207008" y="3749040"/>
            <a:ext cx="4462272" cy="310896"/>
          </a:xfrm>
          <a:prstGeom prst="rect">
            <a:avLst/>
          </a:prstGeom>
          <a:noFill/>
          <a:ln/>
        </p:spPr>
        <p:txBody>
          <a:bodyPr wrap="square" lIns="0" tIns="0" rIns="0" bIns="0" rtlCol="0" anchor="ctr"/>
          <a:lstStyle/>
          <a:p>
            <a:pPr marL="0" indent="0">
              <a:lnSpc>
                <a:spcPts val="1958"/>
              </a:lnSpc>
              <a:buNone/>
            </a:pPr>
            <a:r>
              <a:rPr lang="en-US" sz="1450" dirty="0">
                <a:solidFill>
                  <a:srgbClr val="00335C"/>
                </a:solidFill>
                <a:latin typeface="Segoe UI" pitchFamily="34" charset="0"/>
                <a:ea typeface="Segoe UI" pitchFamily="34" charset="-122"/>
                <a:cs typeface="Segoe UI" pitchFamily="34" charset="-120"/>
              </a:rPr>
              <a:t>Reparación provisional (desvare)</a:t>
            </a:r>
            <a:endParaRPr lang="en-US" sz="1450" dirty="0"/>
          </a:p>
        </p:txBody>
      </p:sp>
      <p:sp>
        <p:nvSpPr>
          <p:cNvPr id="18" name="Shape 15"/>
          <p:cNvSpPr/>
          <p:nvPr/>
        </p:nvSpPr>
        <p:spPr>
          <a:xfrm>
            <a:off x="914400" y="4416552"/>
            <a:ext cx="109728" cy="109728"/>
          </a:xfrm>
          <a:prstGeom prst="rect">
            <a:avLst/>
          </a:prstGeom>
          <a:solidFill>
            <a:srgbClr val="FFB903"/>
          </a:solidFill>
          <a:ln/>
        </p:spPr>
      </p:sp>
      <p:sp>
        <p:nvSpPr>
          <p:cNvPr id="19" name="Text 16"/>
          <p:cNvSpPr txBox="1"/>
          <p:nvPr/>
        </p:nvSpPr>
        <p:spPr>
          <a:xfrm>
            <a:off x="1207008" y="4315968"/>
            <a:ext cx="4462272" cy="310896"/>
          </a:xfrm>
          <a:prstGeom prst="rect">
            <a:avLst/>
          </a:prstGeom>
          <a:noFill/>
          <a:ln/>
        </p:spPr>
        <p:txBody>
          <a:bodyPr wrap="square" lIns="0" tIns="0" rIns="0" bIns="0" rtlCol="0" anchor="ctr"/>
          <a:lstStyle/>
          <a:p>
            <a:pPr marL="0" indent="0">
              <a:lnSpc>
                <a:spcPts val="1958"/>
              </a:lnSpc>
              <a:buNone/>
            </a:pPr>
            <a:r>
              <a:rPr lang="en-US" sz="1450" dirty="0">
                <a:solidFill>
                  <a:srgbClr val="00335C"/>
                </a:solidFill>
                <a:latin typeface="Segoe UI" pitchFamily="34" charset="0"/>
                <a:ea typeface="Segoe UI" pitchFamily="34" charset="-122"/>
                <a:cs typeface="Segoe UI" pitchFamily="34" charset="-120"/>
              </a:rPr>
              <a:t>Reparación correcta y definitiva</a:t>
            </a:r>
            <a:endParaRPr lang="en-US" sz="1450" dirty="0"/>
          </a:p>
        </p:txBody>
      </p:sp>
      <p:sp>
        <p:nvSpPr>
          <p:cNvPr id="20" name="Shape 17"/>
          <p:cNvSpPr/>
          <p:nvPr/>
        </p:nvSpPr>
        <p:spPr>
          <a:xfrm>
            <a:off x="6236208" y="1682496"/>
            <a:ext cx="5294376" cy="3566160"/>
          </a:xfrm>
          <a:prstGeom prst="rect">
            <a:avLst/>
          </a:prstGeom>
          <a:solidFill>
            <a:srgbClr val="F4F7FA"/>
          </a:solidFill>
          <a:ln w="9525">
            <a:solidFill>
              <a:srgbClr val="D5DDE5"/>
            </a:solidFill>
            <a:prstDash val="solid"/>
          </a:ln>
        </p:spPr>
      </p:sp>
      <p:sp>
        <p:nvSpPr>
          <p:cNvPr id="21" name="Shape 18"/>
          <p:cNvSpPr/>
          <p:nvPr/>
        </p:nvSpPr>
        <p:spPr>
          <a:xfrm>
            <a:off x="6236208" y="1682496"/>
            <a:ext cx="5294376" cy="64008"/>
          </a:xfrm>
          <a:prstGeom prst="rect">
            <a:avLst/>
          </a:prstGeom>
          <a:solidFill>
            <a:srgbClr val="FFB903"/>
          </a:solidFill>
          <a:ln/>
        </p:spPr>
      </p:sp>
      <p:sp>
        <p:nvSpPr>
          <p:cNvPr id="22" name="Shape 19"/>
          <p:cNvSpPr/>
          <p:nvPr/>
        </p:nvSpPr>
        <p:spPr>
          <a:xfrm>
            <a:off x="6492240" y="1938528"/>
            <a:ext cx="384048" cy="384048"/>
          </a:xfrm>
          <a:prstGeom prst="rect">
            <a:avLst/>
          </a:prstGeom>
          <a:solidFill>
            <a:srgbClr val="FFB903"/>
          </a:solidFill>
          <a:ln/>
        </p:spPr>
      </p:sp>
      <p:sp>
        <p:nvSpPr>
          <p:cNvPr id="23" name="Text 20"/>
          <p:cNvSpPr txBox="1"/>
          <p:nvPr/>
        </p:nvSpPr>
        <p:spPr>
          <a:xfrm>
            <a:off x="6492240" y="1993392"/>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4" name="Text 21"/>
          <p:cNvSpPr txBox="1"/>
          <p:nvPr/>
        </p:nvSpPr>
        <p:spPr>
          <a:xfrm>
            <a:off x="6492240" y="2487168"/>
            <a:ext cx="4782312" cy="32918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Acciones modificativas</a:t>
            </a:r>
            <a:endParaRPr lang="en-US" sz="2000" dirty="0"/>
          </a:p>
        </p:txBody>
      </p:sp>
      <p:sp>
        <p:nvSpPr>
          <p:cNvPr id="25" name="Text 22"/>
          <p:cNvSpPr txBox="1"/>
          <p:nvPr/>
        </p:nvSpPr>
        <p:spPr>
          <a:xfrm>
            <a:off x="6492240" y="2907792"/>
            <a:ext cx="4782312" cy="603504"/>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Modifican las condiciones originales del elemento o del sistema.</a:t>
            </a:r>
            <a:endParaRPr lang="en-US" sz="1400" dirty="0"/>
          </a:p>
        </p:txBody>
      </p:sp>
      <p:sp>
        <p:nvSpPr>
          <p:cNvPr id="26" name="Shape 23"/>
          <p:cNvSpPr/>
          <p:nvPr/>
        </p:nvSpPr>
        <p:spPr>
          <a:xfrm>
            <a:off x="6492240" y="3849624"/>
            <a:ext cx="109728" cy="109728"/>
          </a:xfrm>
          <a:prstGeom prst="rect">
            <a:avLst/>
          </a:prstGeom>
          <a:solidFill>
            <a:srgbClr val="FFB903"/>
          </a:solidFill>
          <a:ln/>
        </p:spPr>
      </p:sp>
      <p:sp>
        <p:nvSpPr>
          <p:cNvPr id="27" name="Text 24"/>
          <p:cNvSpPr txBox="1"/>
          <p:nvPr/>
        </p:nvSpPr>
        <p:spPr>
          <a:xfrm>
            <a:off x="6784848" y="3749040"/>
            <a:ext cx="4462272" cy="310896"/>
          </a:xfrm>
          <a:prstGeom prst="rect">
            <a:avLst/>
          </a:prstGeom>
          <a:noFill/>
          <a:ln/>
        </p:spPr>
        <p:txBody>
          <a:bodyPr wrap="square" lIns="0" tIns="0" rIns="0" bIns="0" rtlCol="0" anchor="ctr"/>
          <a:lstStyle/>
          <a:p>
            <a:pPr marL="0" indent="0">
              <a:lnSpc>
                <a:spcPts val="1958"/>
              </a:lnSpc>
              <a:buNone/>
            </a:pPr>
            <a:r>
              <a:rPr lang="en-US" sz="1450" dirty="0">
                <a:solidFill>
                  <a:srgbClr val="00335C"/>
                </a:solidFill>
                <a:latin typeface="Segoe UI" pitchFamily="34" charset="0"/>
                <a:ea typeface="Segoe UI" pitchFamily="34" charset="-122"/>
                <a:cs typeface="Segoe UI" pitchFamily="34" charset="-120"/>
              </a:rPr>
              <a:t>Mejora</a:t>
            </a:r>
            <a:endParaRPr lang="en-US" sz="1450" dirty="0"/>
          </a:p>
        </p:txBody>
      </p:sp>
      <p:sp>
        <p:nvSpPr>
          <p:cNvPr id="28" name="Shape 25"/>
          <p:cNvSpPr/>
          <p:nvPr/>
        </p:nvSpPr>
        <p:spPr>
          <a:xfrm>
            <a:off x="6492240" y="4416552"/>
            <a:ext cx="109728" cy="109728"/>
          </a:xfrm>
          <a:prstGeom prst="rect">
            <a:avLst/>
          </a:prstGeom>
          <a:solidFill>
            <a:srgbClr val="FFB903"/>
          </a:solidFill>
          <a:ln/>
        </p:spPr>
      </p:sp>
      <p:sp>
        <p:nvSpPr>
          <p:cNvPr id="29" name="Text 26"/>
          <p:cNvSpPr txBox="1"/>
          <p:nvPr/>
        </p:nvSpPr>
        <p:spPr>
          <a:xfrm>
            <a:off x="6784848" y="4315968"/>
            <a:ext cx="4462272" cy="310896"/>
          </a:xfrm>
          <a:prstGeom prst="rect">
            <a:avLst/>
          </a:prstGeom>
          <a:noFill/>
          <a:ln/>
        </p:spPr>
        <p:txBody>
          <a:bodyPr wrap="square" lIns="0" tIns="0" rIns="0" bIns="0" rtlCol="0" anchor="ctr"/>
          <a:lstStyle/>
          <a:p>
            <a:pPr marL="0" indent="0">
              <a:lnSpc>
                <a:spcPts val="1958"/>
              </a:lnSpc>
              <a:buNone/>
            </a:pPr>
            <a:r>
              <a:rPr lang="en-US" sz="1450" dirty="0">
                <a:solidFill>
                  <a:srgbClr val="00335C"/>
                </a:solidFill>
                <a:latin typeface="Segoe UI" pitchFamily="34" charset="0"/>
                <a:ea typeface="Segoe UI" pitchFamily="34" charset="-122"/>
                <a:cs typeface="Segoe UI" pitchFamily="34" charset="-120"/>
              </a:rPr>
              <a:t>Rediseño</a:t>
            </a:r>
            <a:endParaRPr lang="en-US" sz="1450" dirty="0"/>
          </a:p>
        </p:txBody>
      </p:sp>
      <p:sp>
        <p:nvSpPr>
          <p:cNvPr id="30" name="Shape 27"/>
          <p:cNvSpPr/>
          <p:nvPr/>
        </p:nvSpPr>
        <p:spPr>
          <a:xfrm>
            <a:off x="658368" y="5559552"/>
            <a:ext cx="10872216" cy="420624"/>
          </a:xfrm>
          <a:prstGeom prst="rect">
            <a:avLst/>
          </a:prstGeom>
          <a:solidFill>
            <a:srgbClr val="E8F0F7"/>
          </a:solidFill>
          <a:ln/>
        </p:spPr>
      </p:sp>
      <p:sp>
        <p:nvSpPr>
          <p:cNvPr id="31" name="Shape 28"/>
          <p:cNvSpPr/>
          <p:nvPr/>
        </p:nvSpPr>
        <p:spPr>
          <a:xfrm>
            <a:off x="658368" y="5559552"/>
            <a:ext cx="54864" cy="420624"/>
          </a:xfrm>
          <a:prstGeom prst="rect">
            <a:avLst/>
          </a:prstGeom>
          <a:solidFill>
            <a:srgbClr val="004B85"/>
          </a:solidFill>
          <a:ln/>
        </p:spPr>
      </p:sp>
      <p:sp>
        <p:nvSpPr>
          <p:cNvPr id="32" name="Text 29"/>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El resto de la clase desarrolla la rama correctiva; las acciones modificativas se estudian en la clase siguiente.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2</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Acciones</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correctivas</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Qué son, para qué se hacen y en qué se diferencian el desvare y la reparación correcta y definitiva.</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Concepto de acción correctiva</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Reparación provisional o desvare</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Reparación correcta y definitiva</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CONCEPTO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Acciones correctivas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7</a:t>
            </a:r>
            <a:endParaRPr lang="en-US" sz="1000" dirty="0"/>
          </a:p>
        </p:txBody>
      </p:sp>
      <p:sp>
        <p:nvSpPr>
          <p:cNvPr id="10" name="Shape 7"/>
          <p:cNvSpPr/>
          <p:nvPr/>
        </p:nvSpPr>
        <p:spPr>
          <a:xfrm>
            <a:off x="658368" y="1719072"/>
            <a:ext cx="10872216" cy="1664208"/>
          </a:xfrm>
          <a:prstGeom prst="rect">
            <a:avLst/>
          </a:prstGeom>
          <a:solidFill>
            <a:srgbClr val="E8F0F7"/>
          </a:solidFill>
          <a:ln/>
        </p:spPr>
      </p:sp>
      <p:sp>
        <p:nvSpPr>
          <p:cNvPr id="11" name="Shape 8"/>
          <p:cNvSpPr/>
          <p:nvPr/>
        </p:nvSpPr>
        <p:spPr>
          <a:xfrm>
            <a:off x="658368" y="1719072"/>
            <a:ext cx="64008" cy="1664208"/>
          </a:xfrm>
          <a:prstGeom prst="rect">
            <a:avLst/>
          </a:prstGeom>
          <a:solidFill>
            <a:srgbClr val="004B85"/>
          </a:solidFill>
          <a:ln/>
        </p:spPr>
      </p:sp>
      <p:sp>
        <p:nvSpPr>
          <p:cNvPr id="12" name="Text 9"/>
          <p:cNvSpPr txBox="1"/>
          <p:nvPr/>
        </p:nvSpPr>
        <p:spPr>
          <a:xfrm>
            <a:off x="1097280" y="1874520"/>
            <a:ext cx="9875520" cy="274320"/>
          </a:xfrm>
          <a:prstGeom prst="rect">
            <a:avLst/>
          </a:prstGeom>
          <a:noFill/>
          <a:ln/>
        </p:spPr>
        <p:txBody>
          <a:bodyPr wrap="square" lIns="0" tIns="0" rIns="0" bIns="0" rtlCol="0" anchor="ctr"/>
          <a:lstStyle/>
          <a:p>
            <a:pPr marL="0" indent="0">
              <a:buNone/>
            </a:pPr>
            <a:r>
              <a:rPr lang="en-US" sz="1200" b="1" kern="0" spc="100" dirty="0">
                <a:solidFill>
                  <a:srgbClr val="004B85"/>
                </a:solidFill>
                <a:latin typeface="Segoe UI" pitchFamily="34" charset="0"/>
                <a:ea typeface="Segoe UI" pitchFamily="34" charset="-122"/>
                <a:cs typeface="Segoe UI" pitchFamily="34" charset="-120"/>
              </a:rPr>
              <a:t>DEFINICIÓN</a:t>
            </a:r>
            <a:endParaRPr lang="en-US" sz="1200" dirty="0"/>
          </a:p>
        </p:txBody>
      </p:sp>
      <p:sp>
        <p:nvSpPr>
          <p:cNvPr id="13" name="Text 10"/>
          <p:cNvSpPr txBox="1"/>
          <p:nvPr/>
        </p:nvSpPr>
        <p:spPr>
          <a:xfrm>
            <a:off x="1097280" y="2194560"/>
            <a:ext cx="9966960" cy="1097280"/>
          </a:xfrm>
          <a:prstGeom prst="rect">
            <a:avLst/>
          </a:prstGeom>
          <a:noFill/>
          <a:ln/>
        </p:spPr>
        <p:txBody>
          <a:bodyPr wrap="square" lIns="0" tIns="0" rIns="0" bIns="0" rtlCol="0" anchor="ctr"/>
          <a:lstStyle/>
          <a:p>
            <a:pPr marL="0" indent="0">
              <a:lnSpc>
                <a:spcPts val="2500"/>
              </a:lnSpc>
              <a:buNone/>
            </a:pPr>
            <a:r>
              <a:rPr lang="en-US" sz="1800" dirty="0">
                <a:solidFill>
                  <a:srgbClr val="00335C"/>
                </a:solidFill>
                <a:latin typeface="Segoe UI" pitchFamily="34" charset="0"/>
                <a:ea typeface="Segoe UI" pitchFamily="34" charset="-122"/>
                <a:cs typeface="Segoe UI" pitchFamily="34" charset="-120"/>
              </a:rPr>
              <a:t>A la reparación de una falla se le denomina acción correctiva y se realiza con la intención de recuperar la funcionalidad del elemento o sistema, luego de la pérdida de su capacidad para realizar la función o las prestaciones que se requieren.</a:t>
            </a:r>
            <a:endParaRPr lang="en-US" sz="1800" dirty="0"/>
          </a:p>
        </p:txBody>
      </p:sp>
      <p:sp>
        <p:nvSpPr>
          <p:cNvPr id="14" name="Text 11"/>
          <p:cNvSpPr txBox="1"/>
          <p:nvPr/>
        </p:nvSpPr>
        <p:spPr>
          <a:xfrm>
            <a:off x="658368" y="3621024"/>
            <a:ext cx="5486400" cy="292608"/>
          </a:xfrm>
          <a:prstGeom prst="rect">
            <a:avLst/>
          </a:prstGeom>
          <a:noFill/>
          <a:ln/>
        </p:spPr>
        <p:txBody>
          <a:bodyPr wrap="square" lIns="0" tIns="0" rIns="0" bIns="0" rtlCol="0" anchor="ctr"/>
          <a:lstStyle/>
          <a:p>
            <a:pPr marL="0" indent="0">
              <a:buNone/>
            </a:pPr>
            <a:r>
              <a:rPr lang="en-US" sz="1500" b="1" kern="0" spc="60" dirty="0">
                <a:solidFill>
                  <a:srgbClr val="B88200"/>
                </a:solidFill>
                <a:latin typeface="Segoe UI" pitchFamily="34" charset="0"/>
                <a:ea typeface="Segoe UI" pitchFamily="34" charset="-122"/>
                <a:cs typeface="Segoe UI" pitchFamily="34" charset="-120"/>
              </a:rPr>
              <a:t>Se clasifican en:</a:t>
            </a:r>
            <a:endParaRPr lang="en-US" sz="1500" dirty="0"/>
          </a:p>
        </p:txBody>
      </p:sp>
      <p:sp>
        <p:nvSpPr>
          <p:cNvPr id="15" name="Shape 12"/>
          <p:cNvSpPr/>
          <p:nvPr/>
        </p:nvSpPr>
        <p:spPr>
          <a:xfrm>
            <a:off x="658368" y="4023360"/>
            <a:ext cx="5294376" cy="1353312"/>
          </a:xfrm>
          <a:prstGeom prst="rect">
            <a:avLst/>
          </a:prstGeom>
          <a:solidFill>
            <a:srgbClr val="F4F7FA"/>
          </a:solidFill>
          <a:ln w="9525">
            <a:solidFill>
              <a:srgbClr val="D5DDE5"/>
            </a:solidFill>
            <a:prstDash val="solid"/>
          </a:ln>
        </p:spPr>
      </p:sp>
      <p:sp>
        <p:nvSpPr>
          <p:cNvPr id="16" name="Shape 13"/>
          <p:cNvSpPr/>
          <p:nvPr/>
        </p:nvSpPr>
        <p:spPr>
          <a:xfrm>
            <a:off x="658368" y="4023360"/>
            <a:ext cx="5294376" cy="64008"/>
          </a:xfrm>
          <a:prstGeom prst="rect">
            <a:avLst/>
          </a:prstGeom>
          <a:solidFill>
            <a:srgbClr val="004B85"/>
          </a:solidFill>
          <a:ln/>
        </p:spPr>
      </p:sp>
      <p:sp>
        <p:nvSpPr>
          <p:cNvPr id="17" name="Shape 14"/>
          <p:cNvSpPr/>
          <p:nvPr/>
        </p:nvSpPr>
        <p:spPr>
          <a:xfrm>
            <a:off x="914400" y="4279392"/>
            <a:ext cx="384048" cy="384048"/>
          </a:xfrm>
          <a:prstGeom prst="rect">
            <a:avLst/>
          </a:prstGeom>
          <a:solidFill>
            <a:srgbClr val="004B85"/>
          </a:solidFill>
          <a:ln/>
        </p:spPr>
      </p:sp>
      <p:sp>
        <p:nvSpPr>
          <p:cNvPr id="18" name="Text 15"/>
          <p:cNvSpPr txBox="1"/>
          <p:nvPr/>
        </p:nvSpPr>
        <p:spPr>
          <a:xfrm>
            <a:off x="914400" y="4334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9" name="Text 16"/>
          <p:cNvSpPr txBox="1"/>
          <p:nvPr/>
        </p:nvSpPr>
        <p:spPr>
          <a:xfrm>
            <a:off x="914400" y="4828032"/>
            <a:ext cx="4782312"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Reparación provisional (desvare)</a:t>
            </a:r>
            <a:endParaRPr lang="en-US" sz="1800" dirty="0"/>
          </a:p>
        </p:txBody>
      </p:sp>
      <p:sp>
        <p:nvSpPr>
          <p:cNvPr id="20" name="Shape 17"/>
          <p:cNvSpPr/>
          <p:nvPr/>
        </p:nvSpPr>
        <p:spPr>
          <a:xfrm>
            <a:off x="6236208" y="4023360"/>
            <a:ext cx="5294376" cy="1353312"/>
          </a:xfrm>
          <a:prstGeom prst="rect">
            <a:avLst/>
          </a:prstGeom>
          <a:solidFill>
            <a:srgbClr val="F4F7FA"/>
          </a:solidFill>
          <a:ln w="9525">
            <a:solidFill>
              <a:srgbClr val="D5DDE5"/>
            </a:solidFill>
            <a:prstDash val="solid"/>
          </a:ln>
        </p:spPr>
      </p:sp>
      <p:sp>
        <p:nvSpPr>
          <p:cNvPr id="21" name="Shape 18"/>
          <p:cNvSpPr/>
          <p:nvPr/>
        </p:nvSpPr>
        <p:spPr>
          <a:xfrm>
            <a:off x="6236208" y="4023360"/>
            <a:ext cx="5294376" cy="64008"/>
          </a:xfrm>
          <a:prstGeom prst="rect">
            <a:avLst/>
          </a:prstGeom>
          <a:solidFill>
            <a:srgbClr val="004B85"/>
          </a:solidFill>
          <a:ln/>
        </p:spPr>
      </p:sp>
      <p:sp>
        <p:nvSpPr>
          <p:cNvPr id="22" name="Shape 19"/>
          <p:cNvSpPr/>
          <p:nvPr/>
        </p:nvSpPr>
        <p:spPr>
          <a:xfrm>
            <a:off x="6492240" y="4279392"/>
            <a:ext cx="384048" cy="384048"/>
          </a:xfrm>
          <a:prstGeom prst="rect">
            <a:avLst/>
          </a:prstGeom>
          <a:solidFill>
            <a:srgbClr val="004B85"/>
          </a:solidFill>
          <a:ln/>
        </p:spPr>
      </p:sp>
      <p:sp>
        <p:nvSpPr>
          <p:cNvPr id="23" name="Text 20"/>
          <p:cNvSpPr txBox="1"/>
          <p:nvPr/>
        </p:nvSpPr>
        <p:spPr>
          <a:xfrm>
            <a:off x="6492240" y="4334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4" name="Text 21"/>
          <p:cNvSpPr txBox="1"/>
          <p:nvPr/>
        </p:nvSpPr>
        <p:spPr>
          <a:xfrm>
            <a:off x="6492240" y="4828032"/>
            <a:ext cx="4782312"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Reparación correcta y definitiva</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ACCIÓN CORRECTIVA · TIPO 1</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Desvare</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8</a:t>
            </a:r>
            <a:endParaRPr lang="en-US" sz="1000" dirty="0"/>
          </a:p>
        </p:txBody>
      </p:sp>
      <p:sp>
        <p:nvSpPr>
          <p:cNvPr id="10" name="Shape 7"/>
          <p:cNvSpPr/>
          <p:nvPr/>
        </p:nvSpPr>
        <p:spPr>
          <a:xfrm>
            <a:off x="658368" y="1664208"/>
            <a:ext cx="3493008" cy="3566160"/>
          </a:xfrm>
          <a:prstGeom prst="rect">
            <a:avLst/>
          </a:prstGeom>
          <a:solidFill>
            <a:srgbClr val="F4F7FA"/>
          </a:solidFill>
          <a:ln w="9525">
            <a:solidFill>
              <a:srgbClr val="D5DDE5"/>
            </a:solidFill>
            <a:prstDash val="solid"/>
          </a:ln>
        </p:spPr>
      </p:sp>
      <p:sp>
        <p:nvSpPr>
          <p:cNvPr id="11" name="Shape 8"/>
          <p:cNvSpPr/>
          <p:nvPr/>
        </p:nvSpPr>
        <p:spPr>
          <a:xfrm>
            <a:off x="658368" y="1664208"/>
            <a:ext cx="3493008" cy="64008"/>
          </a:xfrm>
          <a:prstGeom prst="rect">
            <a:avLst/>
          </a:prstGeom>
          <a:solidFill>
            <a:srgbClr val="004B85"/>
          </a:solidFill>
          <a:ln/>
        </p:spPr>
      </p:sp>
      <p:sp>
        <p:nvSpPr>
          <p:cNvPr id="12" name="Shape 9"/>
          <p:cNvSpPr/>
          <p:nvPr/>
        </p:nvSpPr>
        <p:spPr>
          <a:xfrm>
            <a:off x="914400" y="1920240"/>
            <a:ext cx="384048" cy="384048"/>
          </a:xfrm>
          <a:prstGeom prst="rect">
            <a:avLst/>
          </a:prstGeom>
          <a:solidFill>
            <a:srgbClr val="004B85"/>
          </a:solidFill>
          <a:ln/>
        </p:spPr>
      </p:sp>
      <p:sp>
        <p:nvSpPr>
          <p:cNvPr id="13" name="Text 10"/>
          <p:cNvSpPr txBox="1"/>
          <p:nvPr/>
        </p:nvSpPr>
        <p:spPr>
          <a:xfrm>
            <a:off x="914400" y="197510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468880"/>
            <a:ext cx="2980944"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Qué es</a:t>
            </a:r>
            <a:endParaRPr lang="en-US" sz="1800" dirty="0"/>
          </a:p>
        </p:txBody>
      </p:sp>
      <p:sp>
        <p:nvSpPr>
          <p:cNvPr id="15" name="Text 12"/>
          <p:cNvSpPr txBox="1"/>
          <p:nvPr/>
        </p:nvSpPr>
        <p:spPr>
          <a:xfrm>
            <a:off x="914400" y="2889504"/>
            <a:ext cx="2980944" cy="217627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Consiste en aplicar una reparación inmediata a determinado equipo para devolverlo a la condición de trabajo u operación, pero no necesariamente a sus condiciones estándares.</a:t>
            </a:r>
            <a:endParaRPr lang="en-US" sz="1400" dirty="0"/>
          </a:p>
        </p:txBody>
      </p:sp>
      <p:sp>
        <p:nvSpPr>
          <p:cNvPr id="16" name="Shape 13"/>
          <p:cNvSpPr/>
          <p:nvPr/>
        </p:nvSpPr>
        <p:spPr>
          <a:xfrm>
            <a:off x="4352544" y="1664208"/>
            <a:ext cx="3493008" cy="3566160"/>
          </a:xfrm>
          <a:prstGeom prst="rect">
            <a:avLst/>
          </a:prstGeom>
          <a:solidFill>
            <a:srgbClr val="F4F7FA"/>
          </a:solidFill>
          <a:ln w="9525">
            <a:solidFill>
              <a:srgbClr val="D5DDE5"/>
            </a:solidFill>
            <a:prstDash val="solid"/>
          </a:ln>
        </p:spPr>
      </p:sp>
      <p:sp>
        <p:nvSpPr>
          <p:cNvPr id="17" name="Shape 14"/>
          <p:cNvSpPr/>
          <p:nvPr/>
        </p:nvSpPr>
        <p:spPr>
          <a:xfrm>
            <a:off x="4352544" y="1664208"/>
            <a:ext cx="3493008" cy="64008"/>
          </a:xfrm>
          <a:prstGeom prst="rect">
            <a:avLst/>
          </a:prstGeom>
          <a:solidFill>
            <a:srgbClr val="004B85"/>
          </a:solidFill>
          <a:ln/>
        </p:spPr>
      </p:sp>
      <p:sp>
        <p:nvSpPr>
          <p:cNvPr id="18" name="Shape 15"/>
          <p:cNvSpPr/>
          <p:nvPr/>
        </p:nvSpPr>
        <p:spPr>
          <a:xfrm>
            <a:off x="4608576" y="1920240"/>
            <a:ext cx="384048" cy="384048"/>
          </a:xfrm>
          <a:prstGeom prst="rect">
            <a:avLst/>
          </a:prstGeom>
          <a:solidFill>
            <a:srgbClr val="004B85"/>
          </a:solidFill>
          <a:ln/>
        </p:spPr>
      </p:sp>
      <p:sp>
        <p:nvSpPr>
          <p:cNvPr id="19" name="Text 16"/>
          <p:cNvSpPr txBox="1"/>
          <p:nvPr/>
        </p:nvSpPr>
        <p:spPr>
          <a:xfrm>
            <a:off x="4608576" y="197510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4608576" y="2468880"/>
            <a:ext cx="2980944"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Qué busca</a:t>
            </a:r>
            <a:endParaRPr lang="en-US" sz="1800" dirty="0"/>
          </a:p>
        </p:txBody>
      </p:sp>
      <p:sp>
        <p:nvSpPr>
          <p:cNvPr id="21" name="Text 18"/>
          <p:cNvSpPr txBox="1"/>
          <p:nvPr/>
        </p:nvSpPr>
        <p:spPr>
          <a:xfrm>
            <a:off x="4608576" y="2889504"/>
            <a:ext cx="2980944" cy="217627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Reducir o eliminar los efectos inmediatos de una falla con relación a la producción, las personas y el medio ambiente.</a:t>
            </a:r>
            <a:endParaRPr lang="en-US" sz="1400" dirty="0"/>
          </a:p>
        </p:txBody>
      </p:sp>
      <p:sp>
        <p:nvSpPr>
          <p:cNvPr id="22" name="Shape 19"/>
          <p:cNvSpPr/>
          <p:nvPr/>
        </p:nvSpPr>
        <p:spPr>
          <a:xfrm>
            <a:off x="8046720" y="1664208"/>
            <a:ext cx="3493008" cy="3566160"/>
          </a:xfrm>
          <a:prstGeom prst="rect">
            <a:avLst/>
          </a:prstGeom>
          <a:solidFill>
            <a:srgbClr val="F4F7FA"/>
          </a:solidFill>
          <a:ln w="9525">
            <a:solidFill>
              <a:srgbClr val="D5DDE5"/>
            </a:solidFill>
            <a:prstDash val="solid"/>
          </a:ln>
        </p:spPr>
      </p:sp>
      <p:sp>
        <p:nvSpPr>
          <p:cNvPr id="23" name="Shape 20"/>
          <p:cNvSpPr/>
          <p:nvPr/>
        </p:nvSpPr>
        <p:spPr>
          <a:xfrm>
            <a:off x="8046720" y="1664208"/>
            <a:ext cx="3493008" cy="64008"/>
          </a:xfrm>
          <a:prstGeom prst="rect">
            <a:avLst/>
          </a:prstGeom>
          <a:solidFill>
            <a:srgbClr val="FFB903"/>
          </a:solidFill>
          <a:ln/>
        </p:spPr>
      </p:sp>
      <p:sp>
        <p:nvSpPr>
          <p:cNvPr id="24" name="Shape 21"/>
          <p:cNvSpPr/>
          <p:nvPr/>
        </p:nvSpPr>
        <p:spPr>
          <a:xfrm>
            <a:off x="8302752" y="1920240"/>
            <a:ext cx="384048" cy="384048"/>
          </a:xfrm>
          <a:prstGeom prst="rect">
            <a:avLst/>
          </a:prstGeom>
          <a:solidFill>
            <a:srgbClr val="FFB903"/>
          </a:solidFill>
          <a:ln/>
        </p:spPr>
      </p:sp>
      <p:sp>
        <p:nvSpPr>
          <p:cNvPr id="25" name="Text 22"/>
          <p:cNvSpPr txBox="1"/>
          <p:nvPr/>
        </p:nvSpPr>
        <p:spPr>
          <a:xfrm>
            <a:off x="8302752" y="197510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8302752" y="2468880"/>
            <a:ext cx="2980944"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Qué precaución exige</a:t>
            </a:r>
            <a:endParaRPr lang="en-US" sz="1800" dirty="0"/>
          </a:p>
        </p:txBody>
      </p:sp>
      <p:sp>
        <p:nvSpPr>
          <p:cNvPr id="27" name="Text 24"/>
          <p:cNvSpPr txBox="1"/>
          <p:nvPr/>
        </p:nvSpPr>
        <p:spPr>
          <a:xfrm>
            <a:off x="8302752" y="2889504"/>
            <a:ext cx="2980944" cy="2176272"/>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Se debe tener precaución para no crear con los desvares condiciones que propicien otras fallas.</a:t>
            </a:r>
            <a:endParaRPr lang="en-US" sz="1400" dirty="0"/>
          </a:p>
        </p:txBody>
      </p:sp>
      <p:sp>
        <p:nvSpPr>
          <p:cNvPr id="28" name="Shape 25"/>
          <p:cNvSpPr/>
          <p:nvPr/>
        </p:nvSpPr>
        <p:spPr>
          <a:xfrm>
            <a:off x="658368" y="5559552"/>
            <a:ext cx="10872216" cy="420624"/>
          </a:xfrm>
          <a:prstGeom prst="rect">
            <a:avLst/>
          </a:prstGeom>
          <a:solidFill>
            <a:srgbClr val="E8F0F7"/>
          </a:solidFill>
          <a:ln/>
        </p:spPr>
      </p:sp>
      <p:sp>
        <p:nvSpPr>
          <p:cNvPr id="29" name="Shape 26"/>
          <p:cNvSpPr/>
          <p:nvPr/>
        </p:nvSpPr>
        <p:spPr>
          <a:xfrm>
            <a:off x="658368" y="5559552"/>
            <a:ext cx="54864" cy="420624"/>
          </a:xfrm>
          <a:prstGeom prst="rect">
            <a:avLst/>
          </a:prstGeom>
          <a:solidFill>
            <a:srgbClr val="004B85"/>
          </a:solidFill>
          <a:ln/>
        </p:spPr>
      </p:sp>
      <p:sp>
        <p:nvSpPr>
          <p:cNvPr id="30" name="Text 27"/>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El desvare devuelve la operación, no el estándar. Por eso siempre queda pendiente una reparación correcta y definitiva.</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DESVARE</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Desvares que sirven y desvares que dañan</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8a</a:t>
            </a:r>
          </a:p>
        </p:txBody>
      </p:sp>
      <p:sp>
        <p:nvSpPr>
          <p:cNvPr id="12" name="Rectangle 11"/>
          <p:cNvSpPr/>
          <p:nvPr/>
        </p:nvSpPr>
        <p:spPr>
          <a:xfrm>
            <a:off x="658368" y="1664208"/>
            <a:ext cx="5244084"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5244084" cy="65836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1755648"/>
            <a:ext cx="4732020" cy="310896"/>
          </a:xfrm>
          <a:prstGeom prst="rect">
            <a:avLst/>
          </a:prstGeom>
          <a:noFill/>
        </p:spPr>
        <p:txBody>
          <a:bodyPr wrap="square" lIns="0" tIns="0" rIns="0" bIns="0" anchor="t">
            <a:spAutoFit/>
          </a:bodyPr>
          <a:lstStyle/>
          <a:p>
            <a:pPr algn="l">
              <a:lnSpc>
                <a:spcPct val="122000"/>
              </a:lnSpc>
              <a:spcAft>
                <a:spcPts val="0"/>
              </a:spcAft>
            </a:pPr>
            <a:r>
              <a:rPr sz="1700" b="1" i="0">
                <a:solidFill>
                  <a:srgbClr val="FFFFFF"/>
                </a:solidFill>
                <a:latin typeface="Segoe UI"/>
              </a:rPr>
              <a:t>Desvare aceptable</a:t>
            </a:r>
          </a:p>
        </p:txBody>
      </p:sp>
      <p:sp>
        <p:nvSpPr>
          <p:cNvPr id="15" name="TextBox 14"/>
          <p:cNvSpPr txBox="1"/>
          <p:nvPr/>
        </p:nvSpPr>
        <p:spPr>
          <a:xfrm>
            <a:off x="914400" y="2057400"/>
            <a:ext cx="4732020" cy="219456"/>
          </a:xfrm>
          <a:prstGeom prst="rect">
            <a:avLst/>
          </a:prstGeom>
          <a:noFill/>
        </p:spPr>
        <p:txBody>
          <a:bodyPr wrap="square" lIns="0" tIns="0" rIns="0" bIns="0" anchor="t">
            <a:spAutoFit/>
          </a:bodyPr>
          <a:lstStyle/>
          <a:p>
            <a:pPr algn="l">
              <a:lnSpc>
                <a:spcPct val="122000"/>
              </a:lnSpc>
              <a:spcAft>
                <a:spcPts val="0"/>
              </a:spcAft>
            </a:pPr>
            <a:r>
              <a:rPr sz="1050" b="0" i="0">
                <a:solidFill>
                  <a:srgbClr val="E6ECF2"/>
                </a:solidFill>
                <a:latin typeface="Segoe UI"/>
              </a:rPr>
              <a:t>Devuelve la operación sin crear riesgos nuevos</a:t>
            </a:r>
          </a:p>
        </p:txBody>
      </p:sp>
      <p:pic>
        <p:nvPicPr>
          <p:cNvPr id="16" name="Picture 15" descr="epoxico_tuberia.jpg"/>
          <p:cNvPicPr>
            <a:picLocks noChangeAspect="1"/>
          </p:cNvPicPr>
          <p:nvPr/>
        </p:nvPicPr>
        <p:blipFill>
          <a:blip r:embed="rId4"/>
          <a:srcRect l="11683" r="11683"/>
          <a:stretch>
            <a:fillRect/>
          </a:stretch>
        </p:blipFill>
        <p:spPr>
          <a:xfrm>
            <a:off x="886968" y="2532888"/>
            <a:ext cx="2194560" cy="2651760"/>
          </a:xfrm>
          <a:prstGeom prst="rect">
            <a:avLst/>
          </a:prstGeom>
          <a:ln w="9525">
            <a:solidFill>
              <a:srgbClr val="D5DDE5"/>
            </a:solidFill>
          </a:ln>
        </p:spPr>
      </p:pic>
      <p:sp>
        <p:nvSpPr>
          <p:cNvPr id="17" name="Oval 16"/>
          <p:cNvSpPr/>
          <p:nvPr/>
        </p:nvSpPr>
        <p:spPr>
          <a:xfrm>
            <a:off x="3218688" y="2654808"/>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56432" y="2578608"/>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Masilla epóxica sobre una fuga de agua de baja presión en tubería.</a:t>
            </a:r>
          </a:p>
        </p:txBody>
      </p:sp>
      <p:sp>
        <p:nvSpPr>
          <p:cNvPr id="19" name="Oval 18"/>
          <p:cNvSpPr/>
          <p:nvPr/>
        </p:nvSpPr>
        <p:spPr>
          <a:xfrm>
            <a:off x="3218688" y="3382137"/>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56432" y="3305937"/>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Grapas mecánicas para unir una banda transportadora rota.</a:t>
            </a:r>
          </a:p>
        </p:txBody>
      </p:sp>
      <p:sp>
        <p:nvSpPr>
          <p:cNvPr id="21" name="Oval 20"/>
          <p:cNvSpPr/>
          <p:nvPr/>
        </p:nvSpPr>
        <p:spPr>
          <a:xfrm>
            <a:off x="3218688" y="4109466"/>
            <a:ext cx="91440" cy="91440"/>
          </a:xfrm>
          <a:prstGeom prst="ellipse">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6432" y="4033266"/>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Abrazadera de reparación en una tubería de servicio.</a:t>
            </a:r>
          </a:p>
        </p:txBody>
      </p:sp>
      <p:sp>
        <p:nvSpPr>
          <p:cNvPr id="23" name="Rectangle 22"/>
          <p:cNvSpPr/>
          <p:nvPr/>
        </p:nvSpPr>
        <p:spPr>
          <a:xfrm>
            <a:off x="6286500" y="1664208"/>
            <a:ext cx="5244084"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86500" y="1664208"/>
            <a:ext cx="5244084" cy="658368"/>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42532" y="1755648"/>
            <a:ext cx="4732020" cy="310896"/>
          </a:xfrm>
          <a:prstGeom prst="rect">
            <a:avLst/>
          </a:prstGeom>
          <a:noFill/>
        </p:spPr>
        <p:txBody>
          <a:bodyPr wrap="square" lIns="0" tIns="0" rIns="0" bIns="0" anchor="t">
            <a:spAutoFit/>
          </a:bodyPr>
          <a:lstStyle/>
          <a:p>
            <a:pPr algn="l">
              <a:lnSpc>
                <a:spcPct val="122000"/>
              </a:lnSpc>
              <a:spcAft>
                <a:spcPts val="0"/>
              </a:spcAft>
            </a:pPr>
            <a:r>
              <a:rPr sz="1700" b="1" i="0">
                <a:solidFill>
                  <a:srgbClr val="FFFFFF"/>
                </a:solidFill>
                <a:latin typeface="Segoe UI"/>
              </a:rPr>
              <a:t>Desvare que propicia otras fallas</a:t>
            </a:r>
          </a:p>
        </p:txBody>
      </p:sp>
      <p:sp>
        <p:nvSpPr>
          <p:cNvPr id="26" name="TextBox 25"/>
          <p:cNvSpPr txBox="1"/>
          <p:nvPr/>
        </p:nvSpPr>
        <p:spPr>
          <a:xfrm>
            <a:off x="6542532" y="2057400"/>
            <a:ext cx="4732020" cy="219456"/>
          </a:xfrm>
          <a:prstGeom prst="rect">
            <a:avLst/>
          </a:prstGeom>
          <a:noFill/>
        </p:spPr>
        <p:txBody>
          <a:bodyPr wrap="square" lIns="0" tIns="0" rIns="0" bIns="0" anchor="t">
            <a:spAutoFit/>
          </a:bodyPr>
          <a:lstStyle/>
          <a:p>
            <a:pPr algn="l">
              <a:lnSpc>
                <a:spcPct val="122000"/>
              </a:lnSpc>
              <a:spcAft>
                <a:spcPts val="0"/>
              </a:spcAft>
            </a:pPr>
            <a:r>
              <a:rPr sz="1050" b="0" i="0">
                <a:solidFill>
                  <a:srgbClr val="E6ECF2"/>
                </a:solidFill>
                <a:latin typeface="Segoe UI"/>
              </a:rPr>
              <a:t>Traslada el riesgo a personas o equipos</a:t>
            </a:r>
          </a:p>
        </p:txBody>
      </p:sp>
      <p:pic>
        <p:nvPicPr>
          <p:cNvPr id="27" name="Picture 26" descr="manguera_cinta.jpg"/>
          <p:cNvPicPr>
            <a:picLocks noChangeAspect="1"/>
          </p:cNvPicPr>
          <p:nvPr/>
        </p:nvPicPr>
        <p:blipFill>
          <a:blip r:embed="rId5"/>
          <a:srcRect l="26626" r="26626"/>
          <a:stretch>
            <a:fillRect/>
          </a:stretch>
        </p:blipFill>
        <p:spPr>
          <a:xfrm>
            <a:off x="6515100" y="2532888"/>
            <a:ext cx="2194560" cy="2651760"/>
          </a:xfrm>
          <a:prstGeom prst="rect">
            <a:avLst/>
          </a:prstGeom>
          <a:ln w="9525">
            <a:solidFill>
              <a:srgbClr val="D5DDE5"/>
            </a:solidFill>
          </a:ln>
        </p:spPr>
      </p:pic>
      <p:sp>
        <p:nvSpPr>
          <p:cNvPr id="28" name="Oval 27"/>
          <p:cNvSpPr/>
          <p:nvPr/>
        </p:nvSpPr>
        <p:spPr>
          <a:xfrm>
            <a:off x="8846819" y="2654808"/>
            <a:ext cx="91440" cy="91440"/>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84563" y="2578608"/>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Cinta sobre una manguera hidráulica de alta presión.</a:t>
            </a:r>
          </a:p>
        </p:txBody>
      </p:sp>
      <p:sp>
        <p:nvSpPr>
          <p:cNvPr id="30" name="Oval 29"/>
          <p:cNvSpPr/>
          <p:nvPr/>
        </p:nvSpPr>
        <p:spPr>
          <a:xfrm>
            <a:off x="8846819" y="3382137"/>
            <a:ext cx="91440" cy="91440"/>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84563" y="3305937"/>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Fusible o protección de mayor capacidad que la nominal.</a:t>
            </a:r>
          </a:p>
        </p:txBody>
      </p:sp>
      <p:sp>
        <p:nvSpPr>
          <p:cNvPr id="32" name="Oval 31"/>
          <p:cNvSpPr/>
          <p:nvPr/>
        </p:nvSpPr>
        <p:spPr>
          <a:xfrm>
            <a:off x="8846819" y="4109466"/>
            <a:ext cx="91440" cy="91440"/>
          </a:xfrm>
          <a:prstGeom prst="ellipse">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84563" y="4033266"/>
            <a:ext cx="2244852" cy="626745"/>
          </a:xfrm>
          <a:prstGeom prst="rect">
            <a:avLst/>
          </a:prstGeom>
          <a:noFill/>
        </p:spPr>
        <p:txBody>
          <a:bodyPr wrap="square" lIns="0" tIns="0" rIns="0" bIns="0" anchor="t">
            <a:spAutoFit/>
          </a:bodyPr>
          <a:lstStyle/>
          <a:p>
            <a:pPr algn="l">
              <a:lnSpc>
                <a:spcPct val="122000"/>
              </a:lnSpc>
              <a:spcAft>
                <a:spcPts val="0"/>
              </a:spcAft>
            </a:pPr>
            <a:r>
              <a:rPr sz="1250" b="0" i="0">
                <a:solidFill>
                  <a:srgbClr val="1B2430"/>
                </a:solidFill>
                <a:latin typeface="Segoe UI"/>
              </a:rPr>
              <a:t>Puentear un presostato o un enclavamiento de seguridad.</a:t>
            </a:r>
          </a:p>
        </p:txBody>
      </p:sp>
      <p:sp>
        <p:nvSpPr>
          <p:cNvPr id="34" name="Rectangle 33"/>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Todo desvare debe quedar registrado con fecha límite para la reparación correcta y definitiva.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ACCIÓN CORRECTIVA · TIPO 2</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Reparación correcta y definitiva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9</a:t>
            </a:r>
            <a:endParaRPr lang="en-US" sz="1000" dirty="0"/>
          </a:p>
        </p:txBody>
      </p:sp>
      <p:sp>
        <p:nvSpPr>
          <p:cNvPr id="10" name="Shape 7"/>
          <p:cNvSpPr/>
          <p:nvPr/>
        </p:nvSpPr>
        <p:spPr>
          <a:xfrm>
            <a:off x="658368" y="1920240"/>
            <a:ext cx="10872216" cy="1755648"/>
          </a:xfrm>
          <a:prstGeom prst="rect">
            <a:avLst/>
          </a:prstGeom>
          <a:solidFill>
            <a:srgbClr val="E8F0F7"/>
          </a:solidFill>
          <a:ln/>
        </p:spPr>
      </p:sp>
      <p:sp>
        <p:nvSpPr>
          <p:cNvPr id="11" name="Shape 8"/>
          <p:cNvSpPr/>
          <p:nvPr/>
        </p:nvSpPr>
        <p:spPr>
          <a:xfrm>
            <a:off x="658368" y="1920240"/>
            <a:ext cx="64008" cy="1755648"/>
          </a:xfrm>
          <a:prstGeom prst="rect">
            <a:avLst/>
          </a:prstGeom>
          <a:solidFill>
            <a:srgbClr val="004B85"/>
          </a:solidFill>
          <a:ln/>
        </p:spPr>
      </p:sp>
      <p:sp>
        <p:nvSpPr>
          <p:cNvPr id="12" name="Text 9"/>
          <p:cNvSpPr txBox="1"/>
          <p:nvPr/>
        </p:nvSpPr>
        <p:spPr>
          <a:xfrm>
            <a:off x="1097280" y="2139696"/>
            <a:ext cx="9966960" cy="457200"/>
          </a:xfrm>
          <a:prstGeom prst="rect">
            <a:avLst/>
          </a:prstGeom>
          <a:noFill/>
          <a:ln/>
        </p:spPr>
        <p:txBody>
          <a:bodyPr wrap="square" lIns="0" tIns="0" rIns="0" bIns="0" rtlCol="0" anchor="ctr"/>
          <a:lstStyle/>
          <a:p>
            <a:pPr marL="0" indent="0">
              <a:buNone/>
            </a:pPr>
            <a:r>
              <a:rPr lang="en-US" sz="2400" b="1" dirty="0">
                <a:solidFill>
                  <a:srgbClr val="00335C"/>
                </a:solidFill>
                <a:latin typeface="Segoe UI" pitchFamily="34" charset="0"/>
                <a:ea typeface="Segoe UI" pitchFamily="34" charset="-122"/>
                <a:cs typeface="Segoe UI" pitchFamily="34" charset="-120"/>
              </a:rPr>
              <a:t>Devuelve el equipo a sus condiciones estándares.</a:t>
            </a:r>
            <a:endParaRPr lang="en-US" sz="2400" dirty="0"/>
          </a:p>
        </p:txBody>
      </p:sp>
      <p:sp>
        <p:nvSpPr>
          <p:cNvPr id="13" name="Text 10"/>
          <p:cNvSpPr txBox="1"/>
          <p:nvPr/>
        </p:nvSpPr>
        <p:spPr>
          <a:xfrm>
            <a:off x="1097280" y="2688336"/>
            <a:ext cx="9966960" cy="822960"/>
          </a:xfrm>
          <a:prstGeom prst="rect">
            <a:avLst/>
          </a:prstGeom>
          <a:noFill/>
          <a:ln/>
        </p:spPr>
        <p:txBody>
          <a:bodyPr wrap="square" lIns="0" tIns="0" rIns="0" bIns="0" rtlCol="0" anchor="ctr"/>
          <a:lstStyle/>
          <a:p>
            <a:pPr marL="0" indent="0">
              <a:lnSpc>
                <a:spcPts val="2500"/>
              </a:lnSpc>
              <a:buNone/>
            </a:pPr>
            <a:r>
              <a:rPr lang="en-US" sz="1800" dirty="0">
                <a:solidFill>
                  <a:srgbClr val="00335C"/>
                </a:solidFill>
                <a:latin typeface="Segoe UI" pitchFamily="34" charset="0"/>
                <a:ea typeface="Segoe UI" pitchFamily="34" charset="-122"/>
                <a:cs typeface="Segoe UI" pitchFamily="34" charset="-120"/>
              </a:rPr>
              <a:t>Generalmente para este tipo de reparación se tienen experiencias previas similares y se conoce la causa de la falla.</a:t>
            </a:r>
            <a:endParaRPr lang="en-US" sz="1800" dirty="0"/>
          </a:p>
        </p:txBody>
      </p:sp>
      <p:sp>
        <p:nvSpPr>
          <p:cNvPr id="14" name="Shape 11"/>
          <p:cNvSpPr/>
          <p:nvPr/>
        </p:nvSpPr>
        <p:spPr>
          <a:xfrm>
            <a:off x="658368" y="4169664"/>
            <a:ext cx="109728" cy="109728"/>
          </a:xfrm>
          <a:prstGeom prst="rect">
            <a:avLst/>
          </a:prstGeom>
          <a:solidFill>
            <a:srgbClr val="FFB903"/>
          </a:solidFill>
          <a:ln/>
        </p:spPr>
      </p:sp>
      <p:sp>
        <p:nvSpPr>
          <p:cNvPr id="15" name="Text 12"/>
          <p:cNvSpPr txBox="1"/>
          <p:nvPr/>
        </p:nvSpPr>
        <p:spPr>
          <a:xfrm>
            <a:off x="950976" y="4069080"/>
            <a:ext cx="10222992" cy="310896"/>
          </a:xfrm>
          <a:prstGeom prst="rect">
            <a:avLst/>
          </a:prstGeom>
          <a:noFill/>
          <a:ln/>
        </p:spPr>
        <p:txBody>
          <a:bodyPr wrap="square" lIns="0" tIns="0" rIns="0" bIns="0" rtlCol="0" anchor="ctr"/>
          <a:lstStyle/>
          <a:p>
            <a:pPr marL="0" indent="0">
              <a:lnSpc>
                <a:spcPts val="2025"/>
              </a:lnSpc>
              <a:buNone/>
            </a:pPr>
            <a:r>
              <a:rPr lang="en-US" sz="1500" dirty="0">
                <a:solidFill>
                  <a:srgbClr val="1B2430"/>
                </a:solidFill>
                <a:latin typeface="Segoe UI" pitchFamily="34" charset="0"/>
                <a:ea typeface="Segoe UI" pitchFamily="34" charset="-122"/>
                <a:cs typeface="Segoe UI" pitchFamily="34" charset="-120"/>
              </a:rPr>
              <a:t>Se conoce la causa de la falla y existe experiencia previa comparable.</a:t>
            </a:r>
            <a:endParaRPr lang="en-US" sz="1500" dirty="0"/>
          </a:p>
        </p:txBody>
      </p:sp>
      <p:sp>
        <p:nvSpPr>
          <p:cNvPr id="16" name="Shape 13"/>
          <p:cNvSpPr/>
          <p:nvPr/>
        </p:nvSpPr>
        <p:spPr>
          <a:xfrm>
            <a:off x="658368" y="4645152"/>
            <a:ext cx="109728" cy="109728"/>
          </a:xfrm>
          <a:prstGeom prst="rect">
            <a:avLst/>
          </a:prstGeom>
          <a:solidFill>
            <a:srgbClr val="FFB903"/>
          </a:solidFill>
          <a:ln/>
        </p:spPr>
      </p:sp>
      <p:sp>
        <p:nvSpPr>
          <p:cNvPr id="17" name="Text 14"/>
          <p:cNvSpPr txBox="1"/>
          <p:nvPr/>
        </p:nvSpPr>
        <p:spPr>
          <a:xfrm>
            <a:off x="950976" y="4544568"/>
            <a:ext cx="10222992" cy="310896"/>
          </a:xfrm>
          <a:prstGeom prst="rect">
            <a:avLst/>
          </a:prstGeom>
          <a:noFill/>
          <a:ln/>
        </p:spPr>
        <p:txBody>
          <a:bodyPr wrap="square" lIns="0" tIns="0" rIns="0" bIns="0" rtlCol="0" anchor="ctr"/>
          <a:lstStyle/>
          <a:p>
            <a:pPr marL="0" indent="0">
              <a:lnSpc>
                <a:spcPts val="2025"/>
              </a:lnSpc>
              <a:buNone/>
            </a:pPr>
            <a:r>
              <a:rPr lang="en-US" sz="1500" dirty="0">
                <a:solidFill>
                  <a:srgbClr val="1B2430"/>
                </a:solidFill>
                <a:latin typeface="Segoe UI" pitchFamily="34" charset="0"/>
                <a:ea typeface="Segoe UI" pitchFamily="34" charset="-122"/>
                <a:cs typeface="Segoe UI" pitchFamily="34" charset="-120"/>
              </a:rPr>
              <a:t>Se restituyen las condiciones estándares de funcionalidad del elemento.</a:t>
            </a:r>
            <a:endParaRPr lang="en-US" sz="1500" dirty="0"/>
          </a:p>
        </p:txBody>
      </p:sp>
      <p:sp>
        <p:nvSpPr>
          <p:cNvPr id="18" name="Shape 15"/>
          <p:cNvSpPr/>
          <p:nvPr/>
        </p:nvSpPr>
        <p:spPr>
          <a:xfrm>
            <a:off x="658368" y="5120640"/>
            <a:ext cx="109728" cy="109728"/>
          </a:xfrm>
          <a:prstGeom prst="rect">
            <a:avLst/>
          </a:prstGeom>
          <a:solidFill>
            <a:srgbClr val="FFB903"/>
          </a:solidFill>
          <a:ln/>
        </p:spPr>
      </p:sp>
      <p:sp>
        <p:nvSpPr>
          <p:cNvPr id="19" name="Text 16"/>
          <p:cNvSpPr txBox="1"/>
          <p:nvPr/>
        </p:nvSpPr>
        <p:spPr>
          <a:xfrm>
            <a:off x="950976" y="5020056"/>
            <a:ext cx="10222992" cy="310896"/>
          </a:xfrm>
          <a:prstGeom prst="rect">
            <a:avLst/>
          </a:prstGeom>
          <a:noFill/>
          <a:ln/>
        </p:spPr>
        <p:txBody>
          <a:bodyPr wrap="square" lIns="0" tIns="0" rIns="0" bIns="0" rtlCol="0" anchor="ctr"/>
          <a:lstStyle/>
          <a:p>
            <a:pPr marL="0" indent="0">
              <a:lnSpc>
                <a:spcPts val="2025"/>
              </a:lnSpc>
              <a:buNone/>
            </a:pPr>
            <a:r>
              <a:rPr lang="en-US" sz="1500" dirty="0">
                <a:solidFill>
                  <a:srgbClr val="1B2430"/>
                </a:solidFill>
                <a:latin typeface="Segoe UI" pitchFamily="34" charset="0"/>
                <a:ea typeface="Segoe UI" pitchFamily="34" charset="-122"/>
                <a:cs typeface="Segoe UI" pitchFamily="34" charset="-120"/>
              </a:rPr>
              <a:t>Requiere procedimiento, materiales, herramientas y personal definidos.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CORRECTIVAS</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Desvare frente a reparación definitiva</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9a</a:t>
            </a:r>
          </a:p>
        </p:txBody>
      </p:sp>
      <p:graphicFrame>
        <p:nvGraphicFramePr>
          <p:cNvPr id="12" name="Table 11"/>
          <p:cNvGraphicFramePr>
            <a:graphicFrameLocks noGrp="1"/>
          </p:cNvGraphicFramePr>
          <p:nvPr/>
        </p:nvGraphicFramePr>
        <p:xfrm>
          <a:off x="658368" y="1664208"/>
          <a:ext cx="10872215" cy="3712461"/>
        </p:xfrm>
        <a:graphic>
          <a:graphicData uri="http://schemas.openxmlformats.org/drawingml/2006/table">
            <a:tbl>
              <a:tblPr>
                <a:tableStyleId>{5C22544A-7EE6-4342-B048-85BDC9FD1C3A}</a:tableStyleId>
              </a:tblPr>
              <a:tblGrid>
                <a:gridCol w="2651759">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62856">
                  <a:extLst>
                    <a:ext uri="{9D8B030D-6E8A-4147-A177-3AD203B41FA5}">
                      <a16:colId xmlns:a16="http://schemas.microsoft.com/office/drawing/2014/main" val="20002"/>
                    </a:ext>
                  </a:extLst>
                </a:gridCol>
              </a:tblGrid>
              <a:tr h="402336">
                <a:tc>
                  <a:txBody>
                    <a:bodyPr/>
                    <a:lstStyle/>
                    <a:p>
                      <a:r>
                        <a:rPr sz="1250" b="1">
                          <a:solidFill>
                            <a:srgbClr val="FFFFFF"/>
                          </a:solidFill>
                          <a:latin typeface="Segoe UI"/>
                        </a:rPr>
                        <a:t>Falla</a:t>
                      </a:r>
                    </a:p>
                  </a:txBody>
                  <a:tcPr marL="109728" marR="109728" anchor="ctr">
                    <a:solidFill>
                      <a:srgbClr val="004B85"/>
                    </a:solidFill>
                  </a:tcPr>
                </a:tc>
                <a:tc>
                  <a:txBody>
                    <a:bodyPr/>
                    <a:lstStyle/>
                    <a:p>
                      <a:r>
                        <a:rPr sz="1250" b="1">
                          <a:solidFill>
                            <a:srgbClr val="FFFFFF"/>
                          </a:solidFill>
                          <a:latin typeface="Segoe UI"/>
                        </a:rPr>
                        <a:t>Reparación provisional (desvare)</a:t>
                      </a:r>
                    </a:p>
                  </a:txBody>
                  <a:tcPr marL="109728" marR="109728" anchor="ctr">
                    <a:solidFill>
                      <a:srgbClr val="B88200"/>
                    </a:solidFill>
                  </a:tcPr>
                </a:tc>
                <a:tc>
                  <a:txBody>
                    <a:bodyPr/>
                    <a:lstStyle/>
                    <a:p>
                      <a:r>
                        <a:rPr sz="1250" b="1">
                          <a:solidFill>
                            <a:srgbClr val="FFFFFF"/>
                          </a:solidFill>
                          <a:latin typeface="Segoe UI"/>
                        </a:rPr>
                        <a:t>Reparación correcta y definitiva</a:t>
                      </a:r>
                    </a:p>
                  </a:txBody>
                  <a:tcPr marL="109728" marR="109728" anchor="ctr">
                    <a:solidFill>
                      <a:srgbClr val="004B85"/>
                    </a:solidFill>
                  </a:tcPr>
                </a:tc>
                <a:extLst>
                  <a:ext uri="{0D108BD9-81ED-4DB2-BD59-A6C34878D82A}">
                    <a16:rowId xmlns:a16="http://schemas.microsoft.com/office/drawing/2014/main" val="10000"/>
                  </a:ext>
                </a:extLst>
              </a:tr>
              <a:tr h="662025">
                <a:tc>
                  <a:txBody>
                    <a:bodyPr/>
                    <a:lstStyle/>
                    <a:p>
                      <a:pPr>
                        <a:lnSpc>
                          <a:spcPct val="112000"/>
                        </a:lnSpc>
                      </a:pPr>
                      <a:r>
                        <a:rPr sz="1200" b="1" i="0">
                          <a:solidFill>
                            <a:srgbClr val="00335C"/>
                          </a:solidFill>
                          <a:latin typeface="Segoe UI"/>
                        </a:rPr>
                        <a:t>Asiento de rodamiento desgastado en el eje</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Adhesivo retenedor de alta resistencia para fijar el aro interior.</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Recargue por metalización o soldadura y rectificado a la cota y tolerancia del plano.</a:t>
                      </a:r>
                    </a:p>
                  </a:txBody>
                  <a:tcPr marL="109728" marR="109728" marT="36576" marB="36576" anchor="ctr">
                    <a:solidFill>
                      <a:srgbClr val="FFFFFF"/>
                    </a:solidFill>
                  </a:tcPr>
                </a:tc>
                <a:extLst>
                  <a:ext uri="{0D108BD9-81ED-4DB2-BD59-A6C34878D82A}">
                    <a16:rowId xmlns:a16="http://schemas.microsoft.com/office/drawing/2014/main" val="10001"/>
                  </a:ext>
                </a:extLst>
              </a:tr>
              <a:tr h="662025">
                <a:tc>
                  <a:txBody>
                    <a:bodyPr/>
                    <a:lstStyle/>
                    <a:p>
                      <a:pPr>
                        <a:lnSpc>
                          <a:spcPct val="112000"/>
                        </a:lnSpc>
                      </a:pPr>
                      <a:r>
                        <a:rPr sz="1200" b="1" i="0">
                          <a:solidFill>
                            <a:srgbClr val="00335C"/>
                          </a:solidFill>
                          <a:latin typeface="Segoe UI"/>
                        </a:rPr>
                        <a:t>Fuga por sello mecánico</a:t>
                      </a:r>
                    </a:p>
                  </a:txBody>
                  <a:tcPr marL="109728" marR="109728" marT="36576" marB="36576" anchor="ctr">
                    <a:solidFill>
                      <a:srgbClr val="F4F7FA"/>
                    </a:solidFill>
                  </a:tcPr>
                </a:tc>
                <a:tc>
                  <a:txBody>
                    <a:bodyPr/>
                    <a:lstStyle/>
                    <a:p>
                      <a:pPr>
                        <a:lnSpc>
                          <a:spcPct val="112000"/>
                        </a:lnSpc>
                      </a:pPr>
                      <a:r>
                        <a:rPr sz="1200" b="0" i="0">
                          <a:solidFill>
                            <a:srgbClr val="1B2430"/>
                          </a:solidFill>
                          <a:latin typeface="Segoe UI"/>
                        </a:rPr>
                        <a:t>Contener y recolectar la fuga; vigilar la tasa de fuga y la temperatura.</a:t>
                      </a:r>
                    </a:p>
                  </a:txBody>
                  <a:tcPr marL="109728" marR="109728" marT="36576" marB="36576" anchor="ctr">
                    <a:solidFill>
                      <a:srgbClr val="F4F7FA"/>
                    </a:solidFill>
                  </a:tcPr>
                </a:tc>
                <a:tc>
                  <a:txBody>
                    <a:bodyPr/>
                    <a:lstStyle/>
                    <a:p>
                      <a:pPr>
                        <a:lnSpc>
                          <a:spcPct val="112000"/>
                        </a:lnSpc>
                      </a:pPr>
                      <a:r>
                        <a:rPr sz="1200" b="0" i="0">
                          <a:solidFill>
                            <a:srgbClr val="1B2430"/>
                          </a:solidFill>
                          <a:latin typeface="Segoe UI"/>
                        </a:rPr>
                        <a:t>Cambio del sello; verificar desviación radial del eje, alineación y plan de lubricación del sello.</a:t>
                      </a:r>
                    </a:p>
                  </a:txBody>
                  <a:tcPr marL="109728" marR="109728" marT="36576" marB="36576" anchor="ctr">
                    <a:solidFill>
                      <a:srgbClr val="F4F7FA"/>
                    </a:solidFill>
                  </a:tcPr>
                </a:tc>
                <a:extLst>
                  <a:ext uri="{0D108BD9-81ED-4DB2-BD59-A6C34878D82A}">
                    <a16:rowId xmlns:a16="http://schemas.microsoft.com/office/drawing/2014/main" val="10002"/>
                  </a:ext>
                </a:extLst>
              </a:tr>
              <a:tr h="662025">
                <a:tc>
                  <a:txBody>
                    <a:bodyPr/>
                    <a:lstStyle/>
                    <a:p>
                      <a:pPr>
                        <a:lnSpc>
                          <a:spcPct val="112000"/>
                        </a:lnSpc>
                      </a:pPr>
                      <a:r>
                        <a:rPr sz="1200" b="1" i="0">
                          <a:solidFill>
                            <a:srgbClr val="00335C"/>
                          </a:solidFill>
                          <a:latin typeface="Segoe UI"/>
                        </a:rPr>
                        <a:t>Banda transportadora rota</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Grapas mecánicas.</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Empalme vulcanizado en caliente; revisar alineación y tensión.</a:t>
                      </a:r>
                    </a:p>
                  </a:txBody>
                  <a:tcPr marL="109728" marR="109728" marT="36576" marB="36576" anchor="ctr">
                    <a:solidFill>
                      <a:srgbClr val="FFFFFF"/>
                    </a:solidFill>
                  </a:tcPr>
                </a:tc>
                <a:extLst>
                  <a:ext uri="{0D108BD9-81ED-4DB2-BD59-A6C34878D82A}">
                    <a16:rowId xmlns:a16="http://schemas.microsoft.com/office/drawing/2014/main" val="10003"/>
                  </a:ext>
                </a:extLst>
              </a:tr>
              <a:tr h="662025">
                <a:tc>
                  <a:txBody>
                    <a:bodyPr/>
                    <a:lstStyle/>
                    <a:p>
                      <a:pPr>
                        <a:lnSpc>
                          <a:spcPct val="112000"/>
                        </a:lnSpc>
                      </a:pPr>
                      <a:r>
                        <a:rPr sz="1200" b="1" i="0">
                          <a:solidFill>
                            <a:srgbClr val="00335C"/>
                          </a:solidFill>
                          <a:latin typeface="Segoe UI"/>
                        </a:rPr>
                        <a:t>Manguera hidráulica rota</a:t>
                      </a:r>
                    </a:p>
                  </a:txBody>
                  <a:tcPr marL="109728" marR="109728" marT="36576" marB="36576" anchor="ctr">
                    <a:solidFill>
                      <a:srgbClr val="F4F7FA"/>
                    </a:solidFill>
                  </a:tcPr>
                </a:tc>
                <a:tc>
                  <a:txBody>
                    <a:bodyPr/>
                    <a:lstStyle/>
                    <a:p>
                      <a:pPr>
                        <a:lnSpc>
                          <a:spcPct val="112000"/>
                        </a:lnSpc>
                      </a:pPr>
                      <a:r>
                        <a:rPr sz="1200" b="0" i="0">
                          <a:solidFill>
                            <a:srgbClr val="1B2430"/>
                          </a:solidFill>
                          <a:latin typeface="Segoe UI"/>
                        </a:rPr>
                        <a:t>No admite desvare: riesgo de inyección de fluido a alta presión.</a:t>
                      </a:r>
                    </a:p>
                  </a:txBody>
                  <a:tcPr marL="109728" marR="109728" marT="36576" marB="36576" anchor="ctr">
                    <a:solidFill>
                      <a:srgbClr val="F4F7FA"/>
                    </a:solidFill>
                  </a:tcPr>
                </a:tc>
                <a:tc>
                  <a:txBody>
                    <a:bodyPr/>
                    <a:lstStyle/>
                    <a:p>
                      <a:pPr>
                        <a:lnSpc>
                          <a:spcPct val="112000"/>
                        </a:lnSpc>
                      </a:pPr>
                      <a:r>
                        <a:rPr sz="1200" b="0" i="0">
                          <a:solidFill>
                            <a:srgbClr val="1B2430"/>
                          </a:solidFill>
                          <a:latin typeface="Segoe UI"/>
                        </a:rPr>
                        <a:t>Reemplazo por manguera y terminales certificados para la presión de trabajo.</a:t>
                      </a:r>
                    </a:p>
                  </a:txBody>
                  <a:tcPr marL="109728" marR="109728" marT="36576" marB="36576" anchor="ctr">
                    <a:solidFill>
                      <a:srgbClr val="F4F7FA"/>
                    </a:solidFill>
                  </a:tcPr>
                </a:tc>
                <a:extLst>
                  <a:ext uri="{0D108BD9-81ED-4DB2-BD59-A6C34878D82A}">
                    <a16:rowId xmlns:a16="http://schemas.microsoft.com/office/drawing/2014/main" val="10004"/>
                  </a:ext>
                </a:extLst>
              </a:tr>
              <a:tr h="662025">
                <a:tc>
                  <a:txBody>
                    <a:bodyPr/>
                    <a:lstStyle/>
                    <a:p>
                      <a:pPr>
                        <a:lnSpc>
                          <a:spcPct val="112000"/>
                        </a:lnSpc>
                      </a:pPr>
                      <a:r>
                        <a:rPr sz="1200" b="1" i="0">
                          <a:solidFill>
                            <a:srgbClr val="00335C"/>
                          </a:solidFill>
                          <a:latin typeface="Segoe UI"/>
                        </a:rPr>
                        <a:t>Diente de piñón fracturado</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No admite desvare seguro.</a:t>
                      </a:r>
                    </a:p>
                  </a:txBody>
                  <a:tcPr marL="109728" marR="109728" marT="36576" marB="36576" anchor="ctr">
                    <a:solidFill>
                      <a:srgbClr val="FFFFFF"/>
                    </a:solidFill>
                  </a:tcPr>
                </a:tc>
                <a:tc>
                  <a:txBody>
                    <a:bodyPr/>
                    <a:lstStyle/>
                    <a:p>
                      <a:pPr>
                        <a:lnSpc>
                          <a:spcPct val="112000"/>
                        </a:lnSpc>
                      </a:pPr>
                      <a:r>
                        <a:rPr sz="1200" b="0" i="0">
                          <a:solidFill>
                            <a:srgbClr val="1B2430"/>
                          </a:solidFill>
                          <a:latin typeface="Segoe UI"/>
                        </a:rPr>
                        <a:t>Reemplazo del piñón, o recuperación con soldadura y mecanizado del perfil si se califica el procedimiento.</a:t>
                      </a:r>
                    </a:p>
                  </a:txBody>
                  <a:tcPr marL="109728" marR="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No toda falla admite desvare: cuando está en juego la seguridad, la única opción es la reparación definitiva.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1E38"/>
          </a:solidFill>
          <a:ln/>
        </p:spPr>
      </p:sp>
      <p:sp>
        <p:nvSpPr>
          <p:cNvPr id="3" name="Shape 1"/>
          <p:cNvSpPr/>
          <p:nvPr/>
        </p:nvSpPr>
        <p:spPr>
          <a:xfrm>
            <a:off x="0" y="0"/>
            <a:ext cx="12191695" cy="128016"/>
          </a:xfrm>
          <a:prstGeom prst="rect">
            <a:avLst/>
          </a:prstGeom>
          <a:solidFill>
            <a:srgbClr val="FFB903"/>
          </a:solidFill>
          <a:ln/>
        </p:spPr>
      </p:sp>
      <p:sp>
        <p:nvSpPr>
          <p:cNvPr id="4" name="Shape 2"/>
          <p:cNvSpPr/>
          <p:nvPr/>
        </p:nvSpPr>
        <p:spPr>
          <a:xfrm>
            <a:off x="0" y="6035040"/>
            <a:ext cx="12191695" cy="822960"/>
          </a:xfrm>
          <a:prstGeom prst="rect">
            <a:avLst/>
          </a:prstGeom>
          <a:solidFill>
            <a:srgbClr val="00335C"/>
          </a:solidFill>
          <a:ln/>
        </p:spPr>
      </p:sp>
      <p:pic>
        <p:nvPicPr>
          <p:cNvPr id="5" name="Image 0" descr="/home/claude/work/assets/logo_eafit_blanco.png"/>
          <p:cNvPicPr>
            <a:picLocks noChangeAspect="1"/>
          </p:cNvPicPr>
          <p:nvPr/>
        </p:nvPicPr>
        <p:blipFill>
          <a:blip r:embed="rId3"/>
          <a:stretch>
            <a:fillRect/>
          </a:stretch>
        </p:blipFill>
        <p:spPr>
          <a:xfrm>
            <a:off x="10680192" y="457200"/>
            <a:ext cx="1152144" cy="713232"/>
          </a:xfrm>
          <a:prstGeom prst="rect">
            <a:avLst/>
          </a:prstGeom>
        </p:spPr>
      </p:pic>
      <p:sp>
        <p:nvSpPr>
          <p:cNvPr id="6" name="Text 3"/>
          <p:cNvSpPr txBox="1"/>
          <p:nvPr/>
        </p:nvSpPr>
        <p:spPr>
          <a:xfrm>
            <a:off x="658368" y="566928"/>
            <a:ext cx="5486400" cy="310896"/>
          </a:xfrm>
          <a:prstGeom prst="rect">
            <a:avLst/>
          </a:prstGeom>
          <a:noFill/>
          <a:ln/>
        </p:spPr>
        <p:txBody>
          <a:bodyPr wrap="square" lIns="0" tIns="0" rIns="0" bIns="0" rtlCol="0" anchor="ctr"/>
          <a:lstStyle/>
          <a:p>
            <a:pPr marL="0" indent="0">
              <a:buNone/>
            </a:pPr>
            <a:r>
              <a:rPr lang="en-US" sz="1400" b="1" kern="0" spc="120" dirty="0">
                <a:solidFill>
                  <a:srgbClr val="FFB903"/>
                </a:solidFill>
                <a:latin typeface="Segoe UI" pitchFamily="34" charset="0"/>
                <a:ea typeface="Segoe UI" pitchFamily="34" charset="-122"/>
                <a:cs typeface="Segoe UI" pitchFamily="34" charset="-120"/>
              </a:rPr>
              <a:t>ACTIVIDAD 9</a:t>
            </a:r>
            <a:endParaRPr lang="en-US" sz="1400" dirty="0"/>
          </a:p>
        </p:txBody>
      </p:sp>
      <p:sp>
        <p:nvSpPr>
          <p:cNvPr id="7" name="Text 4"/>
          <p:cNvSpPr txBox="1"/>
          <p:nvPr/>
        </p:nvSpPr>
        <p:spPr>
          <a:xfrm>
            <a:off x="658368" y="932688"/>
            <a:ext cx="96012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Correctiva frente a modificativa</a:t>
            </a:r>
            <a:endParaRPr lang="en-US" sz="3400" dirty="0"/>
          </a:p>
        </p:txBody>
      </p:sp>
      <p:sp>
        <p:nvSpPr>
          <p:cNvPr id="8" name="Text 5"/>
          <p:cNvSpPr txBox="1"/>
          <p:nvPr/>
        </p:nvSpPr>
        <p:spPr>
          <a:xfrm>
            <a:off x="658368" y="2240280"/>
            <a:ext cx="548640" cy="548640"/>
          </a:xfrm>
          <a:prstGeom prst="rect">
            <a:avLst/>
          </a:prstGeom>
          <a:noFill/>
          <a:ln/>
        </p:spPr>
        <p:txBody>
          <a:bodyPr wrap="square" lIns="0" tIns="0" rIns="0" bIns="0" rtlCol="0" anchor="ctr"/>
          <a:lstStyle/>
          <a:p>
            <a:pPr marL="0" indent="0">
              <a:buNone/>
            </a:pPr>
            <a:r>
              <a:rPr lang="en-US" sz="2600" b="1" dirty="0">
                <a:solidFill>
                  <a:srgbClr val="FFB903"/>
                </a:solidFill>
                <a:latin typeface="Segoe UI" pitchFamily="34" charset="0"/>
                <a:ea typeface="Segoe UI" pitchFamily="34" charset="-122"/>
                <a:cs typeface="Segoe UI" pitchFamily="34" charset="-120"/>
              </a:rPr>
              <a:t>1.</a:t>
            </a:r>
            <a:endParaRPr lang="en-US" sz="2600" dirty="0"/>
          </a:p>
        </p:txBody>
      </p:sp>
      <p:sp>
        <p:nvSpPr>
          <p:cNvPr id="9" name="Text 6"/>
          <p:cNvSpPr txBox="1"/>
          <p:nvPr/>
        </p:nvSpPr>
        <p:spPr>
          <a:xfrm>
            <a:off x="1280160" y="2258568"/>
            <a:ext cx="10058400" cy="868680"/>
          </a:xfrm>
          <a:prstGeom prst="rect">
            <a:avLst/>
          </a:prstGeom>
          <a:noFill/>
          <a:ln/>
        </p:spPr>
        <p:txBody>
          <a:bodyPr wrap="square" lIns="0" tIns="0" rIns="0" bIns="0" rtlCol="0" anchor="ctr"/>
          <a:lstStyle/>
          <a:p>
            <a:pPr marL="0" indent="0">
              <a:lnSpc>
                <a:spcPts val="3380"/>
              </a:lnSpc>
              <a:buNone/>
            </a:pPr>
            <a:r>
              <a:rPr lang="en-US" sz="2600" dirty="0">
                <a:solidFill>
                  <a:srgbClr val="FFFFFF"/>
                </a:solidFill>
                <a:latin typeface="Segoe UI" pitchFamily="34" charset="0"/>
                <a:ea typeface="Segoe UI" pitchFamily="34" charset="-122"/>
                <a:cs typeface="Segoe UI" pitchFamily="34" charset="-120"/>
              </a:rPr>
              <a:t>¿Qué actividades debe comprender una reparación correcta y definitiva?</a:t>
            </a:r>
            <a:endParaRPr lang="en-US" sz="2600" dirty="0"/>
          </a:p>
        </p:txBody>
      </p:sp>
      <p:sp>
        <p:nvSpPr>
          <p:cNvPr id="10" name="Text 7"/>
          <p:cNvSpPr txBox="1"/>
          <p:nvPr/>
        </p:nvSpPr>
        <p:spPr>
          <a:xfrm>
            <a:off x="658368" y="3310128"/>
            <a:ext cx="548640" cy="548640"/>
          </a:xfrm>
          <a:prstGeom prst="rect">
            <a:avLst/>
          </a:prstGeom>
          <a:noFill/>
          <a:ln/>
        </p:spPr>
        <p:txBody>
          <a:bodyPr wrap="square" lIns="0" tIns="0" rIns="0" bIns="0" rtlCol="0" anchor="ctr"/>
          <a:lstStyle/>
          <a:p>
            <a:pPr marL="0" indent="0">
              <a:buNone/>
            </a:pPr>
            <a:r>
              <a:rPr lang="en-US" sz="2600" b="1" dirty="0">
                <a:solidFill>
                  <a:srgbClr val="FFB903"/>
                </a:solidFill>
                <a:latin typeface="Segoe UI" pitchFamily="34" charset="0"/>
                <a:ea typeface="Segoe UI" pitchFamily="34" charset="-122"/>
                <a:cs typeface="Segoe UI" pitchFamily="34" charset="-120"/>
              </a:rPr>
              <a:t>2.</a:t>
            </a:r>
            <a:endParaRPr lang="en-US" sz="2600" dirty="0"/>
          </a:p>
        </p:txBody>
      </p:sp>
      <p:sp>
        <p:nvSpPr>
          <p:cNvPr id="11" name="Text 8"/>
          <p:cNvSpPr txBox="1"/>
          <p:nvPr/>
        </p:nvSpPr>
        <p:spPr>
          <a:xfrm>
            <a:off x="1280160" y="3328416"/>
            <a:ext cx="10058400" cy="1143000"/>
          </a:xfrm>
          <a:prstGeom prst="rect">
            <a:avLst/>
          </a:prstGeom>
          <a:noFill/>
          <a:ln/>
        </p:spPr>
        <p:txBody>
          <a:bodyPr wrap="square" lIns="0" tIns="0" rIns="0" bIns="0" rtlCol="0" anchor="ctr"/>
          <a:lstStyle/>
          <a:p>
            <a:pPr marL="0" indent="0">
              <a:lnSpc>
                <a:spcPts val="3380"/>
              </a:lnSpc>
              <a:buNone/>
            </a:pPr>
            <a:r>
              <a:rPr lang="en-US" sz="2600" dirty="0">
                <a:solidFill>
                  <a:srgbClr val="FFFFFF"/>
                </a:solidFill>
                <a:latin typeface="Segoe UI" pitchFamily="34" charset="0"/>
                <a:ea typeface="Segoe UI" pitchFamily="34" charset="-122"/>
                <a:cs typeface="Segoe UI" pitchFamily="34" charset="-120"/>
              </a:rPr>
              <a:t>Establezca algunas diferencias (al menos 5) entre acción correctiva y acción modificativa.</a:t>
            </a:r>
            <a:endParaRPr lang="en-US" sz="2600" dirty="0"/>
          </a:p>
        </p:txBody>
      </p:sp>
      <p:sp>
        <p:nvSpPr>
          <p:cNvPr id="12" name="Text 9"/>
          <p:cNvSpPr txBox="1"/>
          <p:nvPr/>
        </p:nvSpPr>
        <p:spPr>
          <a:xfrm>
            <a:off x="65836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MODALIDAD</a:t>
            </a:r>
            <a:endParaRPr lang="en-US" sz="950" dirty="0"/>
          </a:p>
        </p:txBody>
      </p:sp>
      <p:sp>
        <p:nvSpPr>
          <p:cNvPr id="13" name="Text 10"/>
          <p:cNvSpPr txBox="1"/>
          <p:nvPr/>
        </p:nvSpPr>
        <p:spPr>
          <a:xfrm>
            <a:off x="65836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Grupos de 3</a:t>
            </a:r>
            <a:endParaRPr lang="en-US" sz="1250" dirty="0"/>
          </a:p>
        </p:txBody>
      </p:sp>
      <p:sp>
        <p:nvSpPr>
          <p:cNvPr id="14" name="Text 11"/>
          <p:cNvSpPr txBox="1"/>
          <p:nvPr/>
        </p:nvSpPr>
        <p:spPr>
          <a:xfrm>
            <a:off x="427024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TIEMPO</a:t>
            </a:r>
            <a:endParaRPr lang="en-US" sz="950" dirty="0"/>
          </a:p>
        </p:txBody>
      </p:sp>
      <p:sp>
        <p:nvSpPr>
          <p:cNvPr id="15" name="Text 12"/>
          <p:cNvSpPr txBox="1"/>
          <p:nvPr/>
        </p:nvSpPr>
        <p:spPr>
          <a:xfrm>
            <a:off x="427024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20 minutos</a:t>
            </a:r>
            <a:endParaRPr lang="en-US" sz="1250" dirty="0"/>
          </a:p>
        </p:txBody>
      </p:sp>
      <p:sp>
        <p:nvSpPr>
          <p:cNvPr id="16" name="Text 13"/>
          <p:cNvSpPr txBox="1"/>
          <p:nvPr/>
        </p:nvSpPr>
        <p:spPr>
          <a:xfrm>
            <a:off x="7882128" y="6199632"/>
            <a:ext cx="3108960" cy="201168"/>
          </a:xfrm>
          <a:prstGeom prst="rect">
            <a:avLst/>
          </a:prstGeom>
          <a:noFill/>
          <a:ln/>
        </p:spPr>
        <p:txBody>
          <a:bodyPr wrap="square" lIns="0" tIns="0" rIns="0" bIns="0" rtlCol="0" anchor="ctr"/>
          <a:lstStyle/>
          <a:p>
            <a:pPr marL="0" indent="0">
              <a:buNone/>
            </a:pPr>
            <a:r>
              <a:rPr lang="en-US" sz="950" b="1" kern="0" spc="100" dirty="0">
                <a:solidFill>
                  <a:srgbClr val="8A97A3"/>
                </a:solidFill>
                <a:latin typeface="Segoe UI" pitchFamily="34" charset="0"/>
                <a:ea typeface="Segoe UI" pitchFamily="34" charset="-122"/>
                <a:cs typeface="Segoe UI" pitchFamily="34" charset="-120"/>
              </a:rPr>
              <a:t>ENTREGABLE</a:t>
            </a:r>
            <a:endParaRPr lang="en-US" sz="950" dirty="0"/>
          </a:p>
        </p:txBody>
      </p:sp>
      <p:sp>
        <p:nvSpPr>
          <p:cNvPr id="17" name="Text 14"/>
          <p:cNvSpPr txBox="1"/>
          <p:nvPr/>
        </p:nvSpPr>
        <p:spPr>
          <a:xfrm>
            <a:off x="7882128" y="6419088"/>
            <a:ext cx="3383280" cy="274320"/>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Cuadro comparativo</a:t>
            </a:r>
            <a:endParaRPr lang="en-US" sz="1250" dirty="0"/>
          </a:p>
        </p:txBody>
      </p:sp>
      <p:sp>
        <p:nvSpPr>
          <p:cNvPr id="18" name="Text 15"/>
          <p:cNvSpPr txBox="1"/>
          <p:nvPr/>
        </p:nvSpPr>
        <p:spPr>
          <a:xfrm>
            <a:off x="7882128" y="5669280"/>
            <a:ext cx="3648456" cy="256032"/>
          </a:xfrm>
          <a:prstGeom prst="rect">
            <a:avLst/>
          </a:prstGeom>
          <a:noFill/>
          <a:ln/>
        </p:spPr>
        <p:txBody>
          <a:bodyPr wrap="square" lIns="0" tIns="0" rIns="0" bIns="0" rtlCol="0" anchor="ctr"/>
          <a:lstStyle/>
          <a:p>
            <a:pPr marL="0" indent="0" algn="r">
              <a:buNone/>
            </a:pPr>
            <a:r>
              <a:rPr lang="en-US" sz="950" dirty="0">
                <a:solidFill>
                  <a:srgbClr val="8A97A3"/>
                </a:solidFill>
                <a:latin typeface="Segoe UI" pitchFamily="34" charset="0"/>
                <a:ea typeface="Segoe UI" pitchFamily="34" charset="-122"/>
                <a:cs typeface="Segoe UI" pitchFamily="34" charset="-120"/>
              </a:rPr>
              <a:t>Clase 4 · Acciones correctivas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3</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La reparación</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correcta y definitiva</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paso a paso</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Las actividades que comprende una reparación definitiva, desde la detección de la falla hasta la guía de reparación.</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Detección y localización de la falla</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Análisis de causas y ensayos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Consecución o recuperación de partes</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Ejecución y guía de reparación</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ACTIVIDADES QUE COMPRENDE</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Detección y localización de la falla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10</a:t>
            </a:r>
            <a:endParaRPr lang="en-US" sz="1000" dirty="0"/>
          </a:p>
        </p:txBody>
      </p:sp>
      <p:sp>
        <p:nvSpPr>
          <p:cNvPr id="10" name="Shape 7"/>
          <p:cNvSpPr/>
          <p:nvPr/>
        </p:nvSpPr>
        <p:spPr>
          <a:xfrm>
            <a:off x="658368" y="1700784"/>
            <a:ext cx="4754880" cy="1874520"/>
          </a:xfrm>
          <a:prstGeom prst="rect">
            <a:avLst/>
          </a:prstGeom>
          <a:solidFill>
            <a:srgbClr val="F4F7FA"/>
          </a:solidFill>
          <a:ln w="9525">
            <a:solidFill>
              <a:srgbClr val="D5DDE5"/>
            </a:solidFill>
            <a:prstDash val="solid"/>
          </a:ln>
        </p:spPr>
      </p:sp>
      <p:sp>
        <p:nvSpPr>
          <p:cNvPr id="11" name="Shape 8"/>
          <p:cNvSpPr/>
          <p:nvPr/>
        </p:nvSpPr>
        <p:spPr>
          <a:xfrm>
            <a:off x="658368" y="1700784"/>
            <a:ext cx="4754880" cy="64008"/>
          </a:xfrm>
          <a:prstGeom prst="rect">
            <a:avLst/>
          </a:prstGeom>
          <a:solidFill>
            <a:srgbClr val="004B85"/>
          </a:solidFill>
          <a:ln/>
        </p:spPr>
      </p:sp>
      <p:sp>
        <p:nvSpPr>
          <p:cNvPr id="12" name="Shape 9"/>
          <p:cNvSpPr/>
          <p:nvPr/>
        </p:nvSpPr>
        <p:spPr>
          <a:xfrm>
            <a:off x="914400" y="1956816"/>
            <a:ext cx="384048" cy="384048"/>
          </a:xfrm>
          <a:prstGeom prst="rect">
            <a:avLst/>
          </a:prstGeom>
          <a:solidFill>
            <a:srgbClr val="004B85"/>
          </a:solidFill>
          <a:ln/>
        </p:spPr>
      </p:sp>
      <p:sp>
        <p:nvSpPr>
          <p:cNvPr id="13" name="Text 10"/>
          <p:cNvSpPr txBox="1"/>
          <p:nvPr/>
        </p:nvSpPr>
        <p:spPr>
          <a:xfrm>
            <a:off x="914400" y="2011680"/>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505456"/>
            <a:ext cx="4242816" cy="329184"/>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Detección de la falla</a:t>
            </a:r>
            <a:endParaRPr lang="en-US" sz="1800" dirty="0"/>
          </a:p>
        </p:txBody>
      </p:sp>
      <p:sp>
        <p:nvSpPr>
          <p:cNvPr id="15" name="Text 12"/>
          <p:cNvSpPr txBox="1"/>
          <p:nvPr/>
        </p:nvSpPr>
        <p:spPr>
          <a:xfrm>
            <a:off x="914400" y="2926080"/>
            <a:ext cx="4242816" cy="48463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Reconocimiento de la pérdida de la función requerida.</a:t>
            </a:r>
            <a:endParaRPr lang="en-US" sz="1350" dirty="0"/>
          </a:p>
        </p:txBody>
      </p:sp>
      <p:sp>
        <p:nvSpPr>
          <p:cNvPr id="16" name="Shape 13"/>
          <p:cNvSpPr/>
          <p:nvPr/>
        </p:nvSpPr>
        <p:spPr>
          <a:xfrm>
            <a:off x="658368" y="3767328"/>
            <a:ext cx="4754880" cy="2066544"/>
          </a:xfrm>
          <a:prstGeom prst="rect">
            <a:avLst/>
          </a:prstGeom>
          <a:solidFill>
            <a:srgbClr val="F4F7FA"/>
          </a:solidFill>
          <a:ln w="9525">
            <a:solidFill>
              <a:srgbClr val="D5DDE5"/>
            </a:solidFill>
            <a:prstDash val="solid"/>
          </a:ln>
        </p:spPr>
      </p:sp>
      <p:sp>
        <p:nvSpPr>
          <p:cNvPr id="17" name="Shape 14"/>
          <p:cNvSpPr/>
          <p:nvPr/>
        </p:nvSpPr>
        <p:spPr>
          <a:xfrm>
            <a:off x="658368" y="3767328"/>
            <a:ext cx="4754880" cy="64008"/>
          </a:xfrm>
          <a:prstGeom prst="rect">
            <a:avLst/>
          </a:prstGeom>
          <a:solidFill>
            <a:srgbClr val="004B85"/>
          </a:solidFill>
          <a:ln/>
        </p:spPr>
      </p:sp>
      <p:sp>
        <p:nvSpPr>
          <p:cNvPr id="18" name="Shape 15"/>
          <p:cNvSpPr/>
          <p:nvPr/>
        </p:nvSpPr>
        <p:spPr>
          <a:xfrm>
            <a:off x="914400" y="4023360"/>
            <a:ext cx="384048" cy="384048"/>
          </a:xfrm>
          <a:prstGeom prst="rect">
            <a:avLst/>
          </a:prstGeom>
          <a:solidFill>
            <a:srgbClr val="004B85"/>
          </a:solidFill>
          <a:ln/>
        </p:spPr>
      </p:sp>
      <p:sp>
        <p:nvSpPr>
          <p:cNvPr id="19" name="Text 16"/>
          <p:cNvSpPr txBox="1"/>
          <p:nvPr/>
        </p:nvSpPr>
        <p:spPr>
          <a:xfrm>
            <a:off x="914400" y="4078224"/>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914400" y="4572000"/>
            <a:ext cx="4242816" cy="566928"/>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Localización e identificación de las partes afectadas</a:t>
            </a:r>
            <a:endParaRPr lang="en-US" sz="1800" dirty="0"/>
          </a:p>
        </p:txBody>
      </p:sp>
      <p:sp>
        <p:nvSpPr>
          <p:cNvPr id="21" name="Text 18"/>
          <p:cNvSpPr txBox="1"/>
          <p:nvPr/>
        </p:nvSpPr>
        <p:spPr>
          <a:xfrm>
            <a:off x="914400" y="5230368"/>
            <a:ext cx="4242816" cy="438912"/>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Determinación de los elementos comprometidos por la falla.</a:t>
            </a:r>
            <a:endParaRPr lang="en-US" sz="1350" dirty="0"/>
          </a:p>
        </p:txBody>
      </p:sp>
      <p:pic>
        <p:nvPicPr>
          <p:cNvPr id="22" name="Image 1" descr="/home/claude/work/assets/image2.png"/>
          <p:cNvPicPr>
            <a:picLocks noChangeAspect="1"/>
          </p:cNvPicPr>
          <p:nvPr/>
        </p:nvPicPr>
        <p:blipFill>
          <a:blip r:embed="rId4"/>
          <a:stretch>
            <a:fillRect/>
          </a:stretch>
        </p:blipFill>
        <p:spPr>
          <a:xfrm>
            <a:off x="5989320" y="1965960"/>
            <a:ext cx="5541264" cy="31089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2.1</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Análisis de las posibles causas de la falla</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11</a:t>
            </a:r>
            <a:endParaRPr lang="en-US" sz="1000" dirty="0"/>
          </a:p>
        </p:txBody>
      </p:sp>
      <p:sp>
        <p:nvSpPr>
          <p:cNvPr id="10" name="Shape 7"/>
          <p:cNvSpPr/>
          <p:nvPr/>
        </p:nvSpPr>
        <p:spPr>
          <a:xfrm>
            <a:off x="658368" y="1664208"/>
            <a:ext cx="10872216" cy="566928"/>
          </a:xfrm>
          <a:prstGeom prst="rect">
            <a:avLst/>
          </a:prstGeom>
          <a:solidFill>
            <a:srgbClr val="E8F0F7"/>
          </a:solidFill>
          <a:ln/>
        </p:spPr>
      </p:sp>
      <p:sp>
        <p:nvSpPr>
          <p:cNvPr id="11" name="Shape 8"/>
          <p:cNvSpPr/>
          <p:nvPr/>
        </p:nvSpPr>
        <p:spPr>
          <a:xfrm>
            <a:off x="658368" y="1664208"/>
            <a:ext cx="54864" cy="566928"/>
          </a:xfrm>
          <a:prstGeom prst="rect">
            <a:avLst/>
          </a:prstGeom>
          <a:solidFill>
            <a:srgbClr val="004B85"/>
          </a:solidFill>
          <a:ln/>
        </p:spPr>
      </p:sp>
      <p:sp>
        <p:nvSpPr>
          <p:cNvPr id="12" name="Text 9"/>
          <p:cNvSpPr txBox="1"/>
          <p:nvPr/>
        </p:nvSpPr>
        <p:spPr>
          <a:xfrm>
            <a:off x="960120" y="1664208"/>
            <a:ext cx="10241280" cy="566928"/>
          </a:xfrm>
          <a:prstGeom prst="rect">
            <a:avLst/>
          </a:prstGeom>
          <a:noFill/>
          <a:ln/>
        </p:spPr>
        <p:txBody>
          <a:bodyPr wrap="square" lIns="0" tIns="0" rIns="0" bIns="0" rtlCol="0" anchor="ctr"/>
          <a:lstStyle/>
          <a:p>
            <a:pPr marL="0" indent="0">
              <a:buNone/>
            </a:pPr>
            <a:r>
              <a:rPr lang="en-US" sz="1600" b="1" dirty="0">
                <a:solidFill>
                  <a:srgbClr val="00335C"/>
                </a:solidFill>
                <a:latin typeface="Segoe UI" pitchFamily="34" charset="0"/>
                <a:ea typeface="Segoe UI" pitchFamily="34" charset="-122"/>
                <a:cs typeface="Segoe UI" pitchFamily="34" charset="-120"/>
              </a:rPr>
              <a:t>Se analizan causas inmediatas, causas básicas y causas raíces.</a:t>
            </a:r>
            <a:endParaRPr lang="en-US" sz="1600" dirty="0"/>
          </a:p>
        </p:txBody>
      </p:sp>
      <p:sp>
        <p:nvSpPr>
          <p:cNvPr id="13" name="Text 10"/>
          <p:cNvSpPr txBox="1"/>
          <p:nvPr/>
        </p:nvSpPr>
        <p:spPr>
          <a:xfrm>
            <a:off x="658368" y="2450592"/>
            <a:ext cx="5486400" cy="274320"/>
          </a:xfrm>
          <a:prstGeom prst="rect">
            <a:avLst/>
          </a:prstGeom>
          <a:noFill/>
          <a:ln/>
        </p:spPr>
        <p:txBody>
          <a:bodyPr wrap="square" lIns="0" tIns="0" rIns="0" bIns="0" rtlCol="0" anchor="ctr"/>
          <a:lstStyle/>
          <a:p>
            <a:pPr marL="0" indent="0">
              <a:buNone/>
            </a:pPr>
            <a:r>
              <a:rPr lang="en-US" sz="1200" b="1" kern="0" spc="100" dirty="0">
                <a:solidFill>
                  <a:srgbClr val="B88200"/>
                </a:solidFill>
                <a:latin typeface="Segoe UI" pitchFamily="34" charset="0"/>
                <a:ea typeface="Segoe UI" pitchFamily="34" charset="-122"/>
                <a:cs typeface="Segoe UI" pitchFamily="34" charset="-120"/>
              </a:rPr>
              <a:t>PROCEDIMIENTOS</a:t>
            </a:r>
            <a:endParaRPr lang="en-US" sz="1200" dirty="0"/>
          </a:p>
        </p:txBody>
      </p:sp>
      <p:sp>
        <p:nvSpPr>
          <p:cNvPr id="14" name="Shape 11"/>
          <p:cNvSpPr/>
          <p:nvPr/>
        </p:nvSpPr>
        <p:spPr>
          <a:xfrm>
            <a:off x="658368" y="2798064"/>
            <a:ext cx="5294376" cy="1755648"/>
          </a:xfrm>
          <a:prstGeom prst="rect">
            <a:avLst/>
          </a:prstGeom>
          <a:solidFill>
            <a:srgbClr val="F4F7FA"/>
          </a:solidFill>
          <a:ln w="9525">
            <a:solidFill>
              <a:srgbClr val="D5DDE5"/>
            </a:solidFill>
            <a:prstDash val="solid"/>
          </a:ln>
        </p:spPr>
      </p:sp>
      <p:sp>
        <p:nvSpPr>
          <p:cNvPr id="15" name="Shape 12"/>
          <p:cNvSpPr/>
          <p:nvPr/>
        </p:nvSpPr>
        <p:spPr>
          <a:xfrm>
            <a:off x="658368" y="2798064"/>
            <a:ext cx="5294376" cy="64008"/>
          </a:xfrm>
          <a:prstGeom prst="rect">
            <a:avLst/>
          </a:prstGeom>
          <a:solidFill>
            <a:srgbClr val="004B85"/>
          </a:solidFill>
          <a:ln/>
        </p:spPr>
      </p:sp>
      <p:sp>
        <p:nvSpPr>
          <p:cNvPr id="16" name="Text 13"/>
          <p:cNvSpPr txBox="1"/>
          <p:nvPr/>
        </p:nvSpPr>
        <p:spPr>
          <a:xfrm>
            <a:off x="914400" y="3072384"/>
            <a:ext cx="4782312" cy="384048"/>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FMECA</a:t>
            </a:r>
            <a:endParaRPr lang="en-US" sz="2000" dirty="0"/>
          </a:p>
        </p:txBody>
      </p:sp>
      <p:sp>
        <p:nvSpPr>
          <p:cNvPr id="17" name="Text 14"/>
          <p:cNvSpPr txBox="1"/>
          <p:nvPr/>
        </p:nvSpPr>
        <p:spPr>
          <a:xfrm>
            <a:off x="914400" y="3547872"/>
            <a:ext cx="4782312" cy="841248"/>
          </a:xfrm>
          <a:prstGeom prst="rect">
            <a:avLst/>
          </a:prstGeom>
          <a:noFill/>
          <a:ln/>
        </p:spPr>
        <p:txBody>
          <a:bodyPr wrap="square" lIns="0" tIns="0" rIns="0" bIns="0" rtlCol="0" anchor="ctr"/>
          <a:lstStyle/>
          <a:p>
            <a:pPr marL="0" indent="0">
              <a:lnSpc>
                <a:spcPts val="1800"/>
              </a:lnSpc>
              <a:buNone/>
            </a:pPr>
            <a:r>
              <a:rPr lang="en-US" sz="1450" dirty="0">
                <a:solidFill>
                  <a:srgbClr val="5C6B7A"/>
                </a:solidFill>
                <a:latin typeface="Segoe UI" pitchFamily="34" charset="0"/>
                <a:ea typeface="Segoe UI" pitchFamily="34" charset="-122"/>
                <a:cs typeface="Segoe UI" pitchFamily="34" charset="-120"/>
              </a:rPr>
              <a:t>Análisis de los Modos, Efectos, Causas y Criticidades de las fallas.</a:t>
            </a:r>
            <a:endParaRPr lang="en-US" sz="1450" dirty="0"/>
          </a:p>
        </p:txBody>
      </p:sp>
      <p:sp>
        <p:nvSpPr>
          <p:cNvPr id="18" name="Shape 15"/>
          <p:cNvSpPr/>
          <p:nvPr/>
        </p:nvSpPr>
        <p:spPr>
          <a:xfrm>
            <a:off x="6236208" y="2798064"/>
            <a:ext cx="5294376" cy="1755648"/>
          </a:xfrm>
          <a:prstGeom prst="rect">
            <a:avLst/>
          </a:prstGeom>
          <a:solidFill>
            <a:srgbClr val="F4F7FA"/>
          </a:solidFill>
          <a:ln w="9525">
            <a:solidFill>
              <a:srgbClr val="D5DDE5"/>
            </a:solidFill>
            <a:prstDash val="solid"/>
          </a:ln>
        </p:spPr>
      </p:sp>
      <p:sp>
        <p:nvSpPr>
          <p:cNvPr id="19" name="Shape 16"/>
          <p:cNvSpPr/>
          <p:nvPr/>
        </p:nvSpPr>
        <p:spPr>
          <a:xfrm>
            <a:off x="6236208" y="2798064"/>
            <a:ext cx="5294376" cy="64008"/>
          </a:xfrm>
          <a:prstGeom prst="rect">
            <a:avLst/>
          </a:prstGeom>
          <a:solidFill>
            <a:srgbClr val="004B85"/>
          </a:solidFill>
          <a:ln/>
        </p:spPr>
      </p:sp>
      <p:sp>
        <p:nvSpPr>
          <p:cNvPr id="20" name="Text 17"/>
          <p:cNvSpPr txBox="1"/>
          <p:nvPr/>
        </p:nvSpPr>
        <p:spPr>
          <a:xfrm>
            <a:off x="6492240" y="3072384"/>
            <a:ext cx="4782312" cy="384048"/>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RCFA</a:t>
            </a:r>
            <a:endParaRPr lang="en-US" sz="2000" dirty="0"/>
          </a:p>
        </p:txBody>
      </p:sp>
      <p:sp>
        <p:nvSpPr>
          <p:cNvPr id="21" name="Text 18"/>
          <p:cNvSpPr txBox="1"/>
          <p:nvPr/>
        </p:nvSpPr>
        <p:spPr>
          <a:xfrm>
            <a:off x="6492240" y="3547872"/>
            <a:ext cx="4782312" cy="841248"/>
          </a:xfrm>
          <a:prstGeom prst="rect">
            <a:avLst/>
          </a:prstGeom>
          <a:noFill/>
          <a:ln/>
        </p:spPr>
        <p:txBody>
          <a:bodyPr wrap="square" lIns="0" tIns="0" rIns="0" bIns="0" rtlCol="0" anchor="ctr"/>
          <a:lstStyle/>
          <a:p>
            <a:pPr marL="0" indent="0">
              <a:lnSpc>
                <a:spcPts val="1800"/>
              </a:lnSpc>
              <a:buNone/>
            </a:pPr>
            <a:r>
              <a:rPr lang="en-US" sz="1450" dirty="0">
                <a:solidFill>
                  <a:srgbClr val="5C6B7A"/>
                </a:solidFill>
                <a:latin typeface="Segoe UI" pitchFamily="34" charset="0"/>
                <a:ea typeface="Segoe UI" pitchFamily="34" charset="-122"/>
                <a:cs typeface="Segoe UI" pitchFamily="34" charset="-120"/>
              </a:rPr>
              <a:t>Análisis de Causa Raíz en Eventos Específicos de Fallas.</a:t>
            </a:r>
            <a:endParaRPr lang="en-US" sz="1450" dirty="0"/>
          </a:p>
        </p:txBody>
      </p:sp>
      <p:sp>
        <p:nvSpPr>
          <p:cNvPr id="22" name="Shape 19"/>
          <p:cNvSpPr/>
          <p:nvPr/>
        </p:nvSpPr>
        <p:spPr>
          <a:xfrm>
            <a:off x="658368" y="4828032"/>
            <a:ext cx="10872216" cy="566928"/>
          </a:xfrm>
          <a:prstGeom prst="rect">
            <a:avLst/>
          </a:prstGeom>
          <a:solidFill>
            <a:srgbClr val="00335C"/>
          </a:solidFill>
          <a:ln/>
        </p:spPr>
      </p:sp>
      <p:sp>
        <p:nvSpPr>
          <p:cNvPr id="23" name="Text 20"/>
          <p:cNvSpPr txBox="1"/>
          <p:nvPr/>
        </p:nvSpPr>
        <p:spPr>
          <a:xfrm>
            <a:off x="658368" y="4828032"/>
            <a:ext cx="10872216" cy="566928"/>
          </a:xfrm>
          <a:prstGeom prst="rect">
            <a:avLst/>
          </a:prstGeom>
          <a:noFill/>
          <a:ln/>
        </p:spPr>
        <p:txBody>
          <a:bodyPr wrap="square" lIns="0" tIns="0" rIns="0" bIns="0" rtlCol="0" anchor="ctr"/>
          <a:lstStyle/>
          <a:p>
            <a:pPr marL="0" indent="0" algn="ctr">
              <a:buNone/>
            </a:pPr>
            <a:r>
              <a:rPr lang="en-US" sz="2000" b="1" kern="0" spc="60" dirty="0">
                <a:solidFill>
                  <a:srgbClr val="FFB903"/>
                </a:solidFill>
                <a:latin typeface="Segoe UI" pitchFamily="34" charset="0"/>
                <a:ea typeface="Segoe UI" pitchFamily="34" charset="-122"/>
                <a:cs typeface="Segoe UI" pitchFamily="34" charset="-120"/>
              </a:rPr>
              <a:t>¿QUIÉN HACE LOS ANÁLISIS?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COMPORTAMIENTO EN EL TIEMPO</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Consideraciones estándares en fallas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12</a:t>
            </a:r>
            <a:endParaRPr lang="en-US" sz="1000" dirty="0"/>
          </a:p>
        </p:txBody>
      </p:sp>
      <p:pic>
        <p:nvPicPr>
          <p:cNvPr id="10" name="Image 1" descr="/home/claude/work/assets/fig_consideraciones.png"/>
          <p:cNvPicPr>
            <a:picLocks noChangeAspect="1"/>
          </p:cNvPicPr>
          <p:nvPr/>
        </p:nvPicPr>
        <p:blipFill>
          <a:blip r:embed="rId4"/>
          <a:stretch>
            <a:fillRect/>
          </a:stretch>
        </p:blipFill>
        <p:spPr>
          <a:xfrm>
            <a:off x="1874520" y="1737360"/>
            <a:ext cx="8430768" cy="3703320"/>
          </a:xfrm>
          <a:prstGeom prst="rect">
            <a:avLst/>
          </a:prstGeom>
        </p:spPr>
      </p:pic>
      <p:sp>
        <p:nvSpPr>
          <p:cNvPr id="11" name="Shape 7"/>
          <p:cNvSpPr/>
          <p:nvPr/>
        </p:nvSpPr>
        <p:spPr>
          <a:xfrm>
            <a:off x="658368" y="5541264"/>
            <a:ext cx="10872216" cy="420624"/>
          </a:xfrm>
          <a:prstGeom prst="rect">
            <a:avLst/>
          </a:prstGeom>
          <a:solidFill>
            <a:srgbClr val="E8F0F7"/>
          </a:solidFill>
          <a:ln/>
        </p:spPr>
      </p:sp>
      <p:sp>
        <p:nvSpPr>
          <p:cNvPr id="12" name="Shape 8"/>
          <p:cNvSpPr/>
          <p:nvPr/>
        </p:nvSpPr>
        <p:spPr>
          <a:xfrm>
            <a:off x="658368" y="5541264"/>
            <a:ext cx="54864" cy="420624"/>
          </a:xfrm>
          <a:prstGeom prst="rect">
            <a:avLst/>
          </a:prstGeom>
          <a:solidFill>
            <a:srgbClr val="004B85"/>
          </a:solidFill>
          <a:ln/>
        </p:spPr>
      </p:sp>
      <p:sp>
        <p:nvSpPr>
          <p:cNvPr id="13" name="Text 9"/>
          <p:cNvSpPr txBox="1"/>
          <p:nvPr/>
        </p:nvSpPr>
        <p:spPr>
          <a:xfrm>
            <a:off x="932688" y="5586984"/>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Mora Gutiérrez, A. (2020). Mantenimiento industrial efectivo.</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2.2</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Procedimiento para análisis de las fallas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13</a:t>
            </a:r>
            <a:endParaRPr lang="en-US" sz="1000" dirty="0"/>
          </a:p>
        </p:txBody>
      </p:sp>
      <p:sp>
        <p:nvSpPr>
          <p:cNvPr id="10" name="Shape 7"/>
          <p:cNvSpPr/>
          <p:nvPr/>
        </p:nvSpPr>
        <p:spPr>
          <a:xfrm>
            <a:off x="658368" y="1700784"/>
            <a:ext cx="5532120" cy="2761488"/>
          </a:xfrm>
          <a:prstGeom prst="rect">
            <a:avLst/>
          </a:prstGeom>
          <a:solidFill>
            <a:srgbClr val="F4F7FA"/>
          </a:solidFill>
          <a:ln w="9525">
            <a:solidFill>
              <a:srgbClr val="D5DDE5"/>
            </a:solidFill>
            <a:prstDash val="solid"/>
          </a:ln>
        </p:spPr>
      </p:sp>
      <p:sp>
        <p:nvSpPr>
          <p:cNvPr id="11" name="Shape 8"/>
          <p:cNvSpPr/>
          <p:nvPr/>
        </p:nvSpPr>
        <p:spPr>
          <a:xfrm>
            <a:off x="658368" y="1700784"/>
            <a:ext cx="5532120" cy="64008"/>
          </a:xfrm>
          <a:prstGeom prst="rect">
            <a:avLst/>
          </a:prstGeom>
          <a:solidFill>
            <a:srgbClr val="004B85"/>
          </a:solidFill>
          <a:ln/>
        </p:spPr>
      </p:sp>
      <p:sp>
        <p:nvSpPr>
          <p:cNvPr id="12" name="Text 9"/>
          <p:cNvSpPr txBox="1"/>
          <p:nvPr/>
        </p:nvSpPr>
        <p:spPr>
          <a:xfrm>
            <a:off x="914400" y="1975104"/>
            <a:ext cx="5020056" cy="530352"/>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2.2.1  Revisión de antecedentes</a:t>
            </a:r>
            <a:endParaRPr lang="en-US" sz="1800" dirty="0"/>
          </a:p>
        </p:txBody>
      </p:sp>
      <p:sp>
        <p:nvSpPr>
          <p:cNvPr id="13" name="Text 10"/>
          <p:cNvSpPr txBox="1"/>
          <p:nvPr/>
        </p:nvSpPr>
        <p:spPr>
          <a:xfrm>
            <a:off x="914400" y="2596896"/>
            <a:ext cx="5020056" cy="1700784"/>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Estudio acerca de los procesos de fabricación de las piezas (mecánicos, térmicos y químicos) y del historial de servicios (detalles ambientales y antecedentes de trabajo).</a:t>
            </a:r>
            <a:endParaRPr lang="en-US" sz="1400" dirty="0"/>
          </a:p>
        </p:txBody>
      </p:sp>
      <p:sp>
        <p:nvSpPr>
          <p:cNvPr id="14" name="Shape 11"/>
          <p:cNvSpPr/>
          <p:nvPr/>
        </p:nvSpPr>
        <p:spPr>
          <a:xfrm>
            <a:off x="658368" y="4645152"/>
            <a:ext cx="5532120" cy="1188720"/>
          </a:xfrm>
          <a:prstGeom prst="rect">
            <a:avLst/>
          </a:prstGeom>
          <a:solidFill>
            <a:srgbClr val="F4F7FA"/>
          </a:solidFill>
          <a:ln w="9525">
            <a:solidFill>
              <a:srgbClr val="D5DDE5"/>
            </a:solidFill>
            <a:prstDash val="solid"/>
          </a:ln>
        </p:spPr>
      </p:sp>
      <p:sp>
        <p:nvSpPr>
          <p:cNvPr id="15" name="Shape 12"/>
          <p:cNvSpPr/>
          <p:nvPr/>
        </p:nvSpPr>
        <p:spPr>
          <a:xfrm>
            <a:off x="658368" y="4645152"/>
            <a:ext cx="5532120" cy="64008"/>
          </a:xfrm>
          <a:prstGeom prst="rect">
            <a:avLst/>
          </a:prstGeom>
          <a:solidFill>
            <a:srgbClr val="004B85"/>
          </a:solidFill>
          <a:ln/>
        </p:spPr>
      </p:sp>
      <p:sp>
        <p:nvSpPr>
          <p:cNvPr id="16" name="Text 13"/>
          <p:cNvSpPr txBox="1"/>
          <p:nvPr/>
        </p:nvSpPr>
        <p:spPr>
          <a:xfrm>
            <a:off x="914400" y="4919472"/>
            <a:ext cx="5020056" cy="31089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2.2.2  Exámenes preliminares</a:t>
            </a:r>
            <a:endParaRPr lang="en-US" sz="1800" dirty="0"/>
          </a:p>
        </p:txBody>
      </p:sp>
      <p:sp>
        <p:nvSpPr>
          <p:cNvPr id="17" name="Text 14"/>
          <p:cNvSpPr txBox="1"/>
          <p:nvPr/>
        </p:nvSpPr>
        <p:spPr>
          <a:xfrm>
            <a:off x="914400" y="5321808"/>
            <a:ext cx="5020056" cy="347472"/>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Inspecciones visuales y registro fotográfico.</a:t>
            </a:r>
            <a:endParaRPr lang="en-US" sz="1400" dirty="0"/>
          </a:p>
        </p:txBody>
      </p:sp>
      <p:pic>
        <p:nvPicPr>
          <p:cNvPr id="18" name="Image 1" descr="/home/claude/work/assets/image4.png"/>
          <p:cNvPicPr>
            <a:picLocks noChangeAspect="1"/>
          </p:cNvPicPr>
          <p:nvPr/>
        </p:nvPicPr>
        <p:blipFill>
          <a:blip r:embed="rId4"/>
          <a:stretch>
            <a:fillRect/>
          </a:stretch>
        </p:blipFill>
        <p:spPr>
          <a:xfrm>
            <a:off x="7818120" y="1700784"/>
            <a:ext cx="2770632" cy="4114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2.2</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Muestras, pruebas y ensayos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14</a:t>
            </a:r>
            <a:endParaRPr lang="en-US" sz="1000" dirty="0"/>
          </a:p>
        </p:txBody>
      </p:sp>
      <p:sp>
        <p:nvSpPr>
          <p:cNvPr id="10" name="Shape 7"/>
          <p:cNvSpPr/>
          <p:nvPr/>
        </p:nvSpPr>
        <p:spPr>
          <a:xfrm>
            <a:off x="658368" y="1700784"/>
            <a:ext cx="5294376" cy="1572768"/>
          </a:xfrm>
          <a:prstGeom prst="rect">
            <a:avLst/>
          </a:prstGeom>
          <a:solidFill>
            <a:srgbClr val="F4F7FA"/>
          </a:solidFill>
          <a:ln w="9525">
            <a:solidFill>
              <a:srgbClr val="D5DDE5"/>
            </a:solidFill>
            <a:prstDash val="solid"/>
          </a:ln>
        </p:spPr>
      </p:sp>
      <p:sp>
        <p:nvSpPr>
          <p:cNvPr id="11" name="Shape 8"/>
          <p:cNvSpPr/>
          <p:nvPr/>
        </p:nvSpPr>
        <p:spPr>
          <a:xfrm>
            <a:off x="658368" y="1700784"/>
            <a:ext cx="5294376" cy="64008"/>
          </a:xfrm>
          <a:prstGeom prst="rect">
            <a:avLst/>
          </a:prstGeom>
          <a:solidFill>
            <a:srgbClr val="004B85"/>
          </a:solidFill>
          <a:ln/>
        </p:spPr>
      </p:sp>
      <p:sp>
        <p:nvSpPr>
          <p:cNvPr id="12" name="Text 9"/>
          <p:cNvSpPr txBox="1"/>
          <p:nvPr/>
        </p:nvSpPr>
        <p:spPr>
          <a:xfrm>
            <a:off x="914400" y="1975104"/>
            <a:ext cx="4782312" cy="310896"/>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2.2.3  Selección de muestras</a:t>
            </a:r>
            <a:endParaRPr lang="en-US" sz="1800" dirty="0"/>
          </a:p>
        </p:txBody>
      </p:sp>
      <p:sp>
        <p:nvSpPr>
          <p:cNvPr id="13" name="Text 10"/>
          <p:cNvSpPr txBox="1"/>
          <p:nvPr/>
        </p:nvSpPr>
        <p:spPr>
          <a:xfrm>
            <a:off x="914400" y="2377440"/>
            <a:ext cx="4782312" cy="731520"/>
          </a:xfrm>
          <a:prstGeom prst="rect">
            <a:avLst/>
          </a:prstGeom>
          <a:noFill/>
          <a:ln/>
        </p:spPr>
        <p:txBody>
          <a:bodyPr wrap="square" lIns="0" tIns="0" rIns="0" bIns="0" rtlCol="0" anchor="ctr"/>
          <a:lstStyle/>
          <a:p>
            <a:pPr marL="0" indent="0">
              <a:lnSpc>
                <a:spcPts val="1800"/>
              </a:lnSpc>
              <a:buNone/>
            </a:pPr>
            <a:r>
              <a:rPr lang="en-US" sz="1400" dirty="0">
                <a:solidFill>
                  <a:srgbClr val="5C6B7A"/>
                </a:solidFill>
                <a:latin typeface="Segoe UI" pitchFamily="34" charset="0"/>
                <a:ea typeface="Segoe UI" pitchFamily="34" charset="-122"/>
                <a:cs typeface="Segoe UI" pitchFamily="34" charset="-120"/>
              </a:rPr>
              <a:t>Selección, identificación, preservación y adecuación de muestras.</a:t>
            </a:r>
            <a:endParaRPr lang="en-US" sz="1400" dirty="0"/>
          </a:p>
        </p:txBody>
      </p:sp>
      <p:sp>
        <p:nvSpPr>
          <p:cNvPr id="14" name="Shape 11"/>
          <p:cNvSpPr/>
          <p:nvPr/>
        </p:nvSpPr>
        <p:spPr>
          <a:xfrm>
            <a:off x="658368" y="3474720"/>
            <a:ext cx="5294376" cy="2011680"/>
          </a:xfrm>
          <a:prstGeom prst="rect">
            <a:avLst/>
          </a:prstGeom>
          <a:solidFill>
            <a:srgbClr val="F4F7FA"/>
          </a:solidFill>
          <a:ln w="9525">
            <a:solidFill>
              <a:srgbClr val="D5DDE5"/>
            </a:solidFill>
            <a:prstDash val="solid"/>
          </a:ln>
        </p:spPr>
      </p:sp>
      <p:sp>
        <p:nvSpPr>
          <p:cNvPr id="15" name="Shape 12"/>
          <p:cNvSpPr/>
          <p:nvPr/>
        </p:nvSpPr>
        <p:spPr>
          <a:xfrm>
            <a:off x="658368" y="3474720"/>
            <a:ext cx="5294376" cy="64008"/>
          </a:xfrm>
          <a:prstGeom prst="rect">
            <a:avLst/>
          </a:prstGeom>
          <a:solidFill>
            <a:srgbClr val="004B85"/>
          </a:solidFill>
          <a:ln/>
        </p:spPr>
      </p:sp>
      <p:sp>
        <p:nvSpPr>
          <p:cNvPr id="16" name="Text 13"/>
          <p:cNvSpPr txBox="1"/>
          <p:nvPr/>
        </p:nvSpPr>
        <p:spPr>
          <a:xfrm>
            <a:off x="914400" y="3749040"/>
            <a:ext cx="4782312" cy="530352"/>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2.2.4  Determinación de pruebas y ensayos</a:t>
            </a:r>
            <a:endParaRPr lang="en-US" sz="1800" dirty="0"/>
          </a:p>
        </p:txBody>
      </p:sp>
      <p:sp>
        <p:nvSpPr>
          <p:cNvPr id="17" name="Text 14"/>
          <p:cNvSpPr txBox="1"/>
          <p:nvPr/>
        </p:nvSpPr>
        <p:spPr>
          <a:xfrm>
            <a:off x="914400" y="4370832"/>
            <a:ext cx="4782312" cy="950976"/>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Pruebas no destructivas: partículas magnéticas, líquidos penetrantes e inspección por ultrasonido.</a:t>
            </a:r>
            <a:endParaRPr lang="en-US" sz="1400" dirty="0"/>
          </a:p>
        </p:txBody>
      </p:sp>
      <p:pic>
        <p:nvPicPr>
          <p:cNvPr id="18" name="Image 1" descr="/home/claude/work/assets/image5.png"/>
          <p:cNvPicPr>
            <a:picLocks noChangeAspect="1"/>
          </p:cNvPicPr>
          <p:nvPr/>
        </p:nvPicPr>
        <p:blipFill>
          <a:blip r:embed="rId4"/>
          <a:stretch>
            <a:fillRect/>
          </a:stretch>
        </p:blipFill>
        <p:spPr>
          <a:xfrm>
            <a:off x="6236208" y="2706624"/>
            <a:ext cx="5294376" cy="17922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2.2.4 · CONTINUACIÓN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Ensayos mecánicos y exámenes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15</a:t>
            </a:r>
            <a:endParaRPr lang="en-US" sz="1000" dirty="0"/>
          </a:p>
        </p:txBody>
      </p:sp>
      <p:sp>
        <p:nvSpPr>
          <p:cNvPr id="10" name="Shape 7"/>
          <p:cNvSpPr/>
          <p:nvPr/>
        </p:nvSpPr>
        <p:spPr>
          <a:xfrm>
            <a:off x="658368" y="1700784"/>
            <a:ext cx="6903720" cy="1188720"/>
          </a:xfrm>
          <a:prstGeom prst="rect">
            <a:avLst/>
          </a:prstGeom>
          <a:solidFill>
            <a:srgbClr val="F4F7FA"/>
          </a:solidFill>
          <a:ln w="9525">
            <a:solidFill>
              <a:srgbClr val="D5DDE5"/>
            </a:solidFill>
            <a:prstDash val="solid"/>
          </a:ln>
        </p:spPr>
      </p:sp>
      <p:sp>
        <p:nvSpPr>
          <p:cNvPr id="11" name="Shape 8"/>
          <p:cNvSpPr/>
          <p:nvPr/>
        </p:nvSpPr>
        <p:spPr>
          <a:xfrm>
            <a:off x="658368" y="1700784"/>
            <a:ext cx="6903720" cy="64008"/>
          </a:xfrm>
          <a:prstGeom prst="rect">
            <a:avLst/>
          </a:prstGeom>
          <a:solidFill>
            <a:srgbClr val="004B85"/>
          </a:solidFill>
          <a:ln/>
        </p:spPr>
      </p:sp>
      <p:sp>
        <p:nvSpPr>
          <p:cNvPr id="12" name="Shape 9"/>
          <p:cNvSpPr/>
          <p:nvPr/>
        </p:nvSpPr>
        <p:spPr>
          <a:xfrm>
            <a:off x="914400" y="1938528"/>
            <a:ext cx="347472" cy="347472"/>
          </a:xfrm>
          <a:prstGeom prst="rect">
            <a:avLst/>
          </a:prstGeom>
          <a:solidFill>
            <a:srgbClr val="004B85"/>
          </a:solidFill>
          <a:ln/>
        </p:spPr>
      </p:sp>
      <p:sp>
        <p:nvSpPr>
          <p:cNvPr id="13" name="Text 10"/>
          <p:cNvSpPr txBox="1"/>
          <p:nvPr/>
        </p:nvSpPr>
        <p:spPr>
          <a:xfrm>
            <a:off x="914400" y="19842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389888" y="1920240"/>
            <a:ext cx="591616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Ensayos mecánicos</a:t>
            </a:r>
            <a:endParaRPr lang="en-US" sz="1700" dirty="0"/>
          </a:p>
        </p:txBody>
      </p:sp>
      <p:sp>
        <p:nvSpPr>
          <p:cNvPr id="15" name="Text 12"/>
          <p:cNvSpPr txBox="1"/>
          <p:nvPr/>
        </p:nvSpPr>
        <p:spPr>
          <a:xfrm>
            <a:off x="914400" y="2340864"/>
            <a:ext cx="6391656" cy="38404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Dureza, tensión, impacto y fatiga.</a:t>
            </a:r>
            <a:endParaRPr lang="en-US" sz="1350" dirty="0"/>
          </a:p>
        </p:txBody>
      </p:sp>
      <p:sp>
        <p:nvSpPr>
          <p:cNvPr id="16" name="Shape 13"/>
          <p:cNvSpPr/>
          <p:nvPr/>
        </p:nvSpPr>
        <p:spPr>
          <a:xfrm>
            <a:off x="658368" y="3035808"/>
            <a:ext cx="6903720" cy="1188720"/>
          </a:xfrm>
          <a:prstGeom prst="rect">
            <a:avLst/>
          </a:prstGeom>
          <a:solidFill>
            <a:srgbClr val="F4F7FA"/>
          </a:solidFill>
          <a:ln w="9525">
            <a:solidFill>
              <a:srgbClr val="D5DDE5"/>
            </a:solidFill>
            <a:prstDash val="solid"/>
          </a:ln>
        </p:spPr>
      </p:sp>
      <p:sp>
        <p:nvSpPr>
          <p:cNvPr id="17" name="Shape 14"/>
          <p:cNvSpPr/>
          <p:nvPr/>
        </p:nvSpPr>
        <p:spPr>
          <a:xfrm>
            <a:off x="658368" y="3035808"/>
            <a:ext cx="6903720" cy="64008"/>
          </a:xfrm>
          <a:prstGeom prst="rect">
            <a:avLst/>
          </a:prstGeom>
          <a:solidFill>
            <a:srgbClr val="004B85"/>
          </a:solidFill>
          <a:ln/>
        </p:spPr>
      </p:sp>
      <p:sp>
        <p:nvSpPr>
          <p:cNvPr id="18" name="Shape 15"/>
          <p:cNvSpPr/>
          <p:nvPr/>
        </p:nvSpPr>
        <p:spPr>
          <a:xfrm>
            <a:off x="914400" y="3273552"/>
            <a:ext cx="347472" cy="347472"/>
          </a:xfrm>
          <a:prstGeom prst="rect">
            <a:avLst/>
          </a:prstGeom>
          <a:solidFill>
            <a:srgbClr val="004B85"/>
          </a:solidFill>
          <a:ln/>
        </p:spPr>
      </p:sp>
      <p:sp>
        <p:nvSpPr>
          <p:cNvPr id="19" name="Text 16"/>
          <p:cNvSpPr txBox="1"/>
          <p:nvPr/>
        </p:nvSpPr>
        <p:spPr>
          <a:xfrm>
            <a:off x="914400" y="3319272"/>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20" name="Text 17"/>
          <p:cNvSpPr txBox="1"/>
          <p:nvPr/>
        </p:nvSpPr>
        <p:spPr>
          <a:xfrm>
            <a:off x="1389888" y="3255264"/>
            <a:ext cx="591616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Examen macroscópico</a:t>
            </a:r>
            <a:endParaRPr lang="en-US" sz="1700" dirty="0"/>
          </a:p>
        </p:txBody>
      </p:sp>
      <p:sp>
        <p:nvSpPr>
          <p:cNvPr id="21" name="Text 18"/>
          <p:cNvSpPr txBox="1"/>
          <p:nvPr/>
        </p:nvSpPr>
        <p:spPr>
          <a:xfrm>
            <a:off x="914400" y="3675888"/>
            <a:ext cx="6391656" cy="38404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Determina el origen, la dirección de propagación y el tipo de fractura.</a:t>
            </a:r>
            <a:endParaRPr lang="en-US" sz="1350" dirty="0"/>
          </a:p>
        </p:txBody>
      </p:sp>
      <p:sp>
        <p:nvSpPr>
          <p:cNvPr id="22" name="Shape 19"/>
          <p:cNvSpPr/>
          <p:nvPr/>
        </p:nvSpPr>
        <p:spPr>
          <a:xfrm>
            <a:off x="658368" y="4370832"/>
            <a:ext cx="6903720" cy="1188720"/>
          </a:xfrm>
          <a:prstGeom prst="rect">
            <a:avLst/>
          </a:prstGeom>
          <a:solidFill>
            <a:srgbClr val="F4F7FA"/>
          </a:solidFill>
          <a:ln w="9525">
            <a:solidFill>
              <a:srgbClr val="D5DDE5"/>
            </a:solidFill>
            <a:prstDash val="solid"/>
          </a:ln>
        </p:spPr>
      </p:sp>
      <p:sp>
        <p:nvSpPr>
          <p:cNvPr id="23" name="Shape 20"/>
          <p:cNvSpPr/>
          <p:nvPr/>
        </p:nvSpPr>
        <p:spPr>
          <a:xfrm>
            <a:off x="658368" y="4370832"/>
            <a:ext cx="6903720" cy="64008"/>
          </a:xfrm>
          <a:prstGeom prst="rect">
            <a:avLst/>
          </a:prstGeom>
          <a:solidFill>
            <a:srgbClr val="004B85"/>
          </a:solidFill>
          <a:ln/>
        </p:spPr>
      </p:sp>
      <p:sp>
        <p:nvSpPr>
          <p:cNvPr id="24" name="Shape 21"/>
          <p:cNvSpPr/>
          <p:nvPr/>
        </p:nvSpPr>
        <p:spPr>
          <a:xfrm>
            <a:off x="914400" y="4608576"/>
            <a:ext cx="347472" cy="347472"/>
          </a:xfrm>
          <a:prstGeom prst="rect">
            <a:avLst/>
          </a:prstGeom>
          <a:solidFill>
            <a:srgbClr val="004B85"/>
          </a:solidFill>
          <a:ln/>
        </p:spPr>
      </p:sp>
      <p:sp>
        <p:nvSpPr>
          <p:cNvPr id="25" name="Text 22"/>
          <p:cNvSpPr txBox="1"/>
          <p:nvPr/>
        </p:nvSpPr>
        <p:spPr>
          <a:xfrm>
            <a:off x="914400" y="4654296"/>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6" name="Text 23"/>
          <p:cNvSpPr txBox="1"/>
          <p:nvPr/>
        </p:nvSpPr>
        <p:spPr>
          <a:xfrm>
            <a:off x="1389888" y="4590288"/>
            <a:ext cx="5916168" cy="329184"/>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Examen microscópico</a:t>
            </a:r>
            <a:endParaRPr lang="en-US" sz="1700" dirty="0"/>
          </a:p>
        </p:txBody>
      </p:sp>
      <p:sp>
        <p:nvSpPr>
          <p:cNvPr id="27" name="Text 24"/>
          <p:cNvSpPr txBox="1"/>
          <p:nvPr/>
        </p:nvSpPr>
        <p:spPr>
          <a:xfrm>
            <a:off x="914400" y="5010912"/>
            <a:ext cx="6391656" cy="38404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Determina el mecanismo de la fractura y los posibles mecanismos de desgaste.</a:t>
            </a:r>
            <a:endParaRPr lang="en-US" sz="1350" dirty="0"/>
          </a:p>
        </p:txBody>
      </p:sp>
      <p:pic>
        <p:nvPicPr>
          <p:cNvPr id="28" name="Image 1" descr="/home/claude/work/assets/image6.png"/>
          <p:cNvPicPr>
            <a:picLocks noChangeAspect="1"/>
          </p:cNvPicPr>
          <p:nvPr/>
        </p:nvPicPr>
        <p:blipFill>
          <a:blip r:embed="rId4"/>
          <a:stretch>
            <a:fillRect/>
          </a:stretch>
        </p:blipFill>
        <p:spPr>
          <a:xfrm>
            <a:off x="8275320" y="1700784"/>
            <a:ext cx="2404872" cy="376732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2.2.5</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Proceso de análisis metalográfico</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16</a:t>
            </a:r>
            <a:endParaRPr lang="en-US" sz="1000" dirty="0"/>
          </a:p>
        </p:txBody>
      </p:sp>
      <p:sp>
        <p:nvSpPr>
          <p:cNvPr id="10" name="Text 7"/>
          <p:cNvSpPr txBox="1"/>
          <p:nvPr/>
        </p:nvSpPr>
        <p:spPr>
          <a:xfrm>
            <a:off x="658368" y="1719072"/>
            <a:ext cx="6583680" cy="329184"/>
          </a:xfrm>
          <a:prstGeom prst="rect">
            <a:avLst/>
          </a:prstGeom>
          <a:noFill/>
          <a:ln/>
        </p:spPr>
        <p:txBody>
          <a:bodyPr wrap="square" lIns="0" tIns="0" rIns="0" bIns="0" rtlCol="0" anchor="ctr"/>
          <a:lstStyle/>
          <a:p>
            <a:pPr marL="0" indent="0">
              <a:buNone/>
            </a:pPr>
            <a:r>
              <a:rPr lang="en-US" sz="1700" dirty="0">
                <a:solidFill>
                  <a:srgbClr val="1B2430"/>
                </a:solidFill>
                <a:latin typeface="Segoe UI" pitchFamily="34" charset="0"/>
                <a:ea typeface="Segoe UI" pitchFamily="34" charset="-122"/>
                <a:cs typeface="Segoe UI" pitchFamily="34" charset="-120"/>
              </a:rPr>
              <a:t>Inspección de la microestructura, el cual señala:</a:t>
            </a:r>
            <a:endParaRPr lang="en-US" sz="1700" dirty="0"/>
          </a:p>
        </p:txBody>
      </p:sp>
      <p:sp>
        <p:nvSpPr>
          <p:cNvPr id="11" name="Shape 8"/>
          <p:cNvSpPr/>
          <p:nvPr/>
        </p:nvSpPr>
        <p:spPr>
          <a:xfrm>
            <a:off x="658368" y="2313432"/>
            <a:ext cx="109728" cy="109728"/>
          </a:xfrm>
          <a:prstGeom prst="rect">
            <a:avLst/>
          </a:prstGeom>
          <a:solidFill>
            <a:srgbClr val="FFB903"/>
          </a:solidFill>
          <a:ln/>
        </p:spPr>
      </p:sp>
      <p:sp>
        <p:nvSpPr>
          <p:cNvPr id="12" name="Text 9"/>
          <p:cNvSpPr txBox="1"/>
          <p:nvPr/>
        </p:nvSpPr>
        <p:spPr>
          <a:xfrm>
            <a:off x="950976" y="2212848"/>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Inclusiones metálicas</a:t>
            </a:r>
            <a:endParaRPr lang="en-US" sz="1450" dirty="0"/>
          </a:p>
        </p:txBody>
      </p:sp>
      <p:sp>
        <p:nvSpPr>
          <p:cNvPr id="13" name="Shape 10"/>
          <p:cNvSpPr/>
          <p:nvPr/>
        </p:nvSpPr>
        <p:spPr>
          <a:xfrm>
            <a:off x="658368" y="2697480"/>
            <a:ext cx="109728" cy="109728"/>
          </a:xfrm>
          <a:prstGeom prst="rect">
            <a:avLst/>
          </a:prstGeom>
          <a:solidFill>
            <a:srgbClr val="FFB903"/>
          </a:solidFill>
          <a:ln/>
        </p:spPr>
      </p:sp>
      <p:sp>
        <p:nvSpPr>
          <p:cNvPr id="14" name="Text 11"/>
          <p:cNvSpPr txBox="1"/>
          <p:nvPr/>
        </p:nvSpPr>
        <p:spPr>
          <a:xfrm>
            <a:off x="950976" y="2596896"/>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Segregaciones</a:t>
            </a:r>
            <a:endParaRPr lang="en-US" sz="1450" dirty="0"/>
          </a:p>
        </p:txBody>
      </p:sp>
      <p:sp>
        <p:nvSpPr>
          <p:cNvPr id="15" name="Shape 12"/>
          <p:cNvSpPr/>
          <p:nvPr/>
        </p:nvSpPr>
        <p:spPr>
          <a:xfrm>
            <a:off x="658368" y="3081528"/>
            <a:ext cx="109728" cy="109728"/>
          </a:xfrm>
          <a:prstGeom prst="rect">
            <a:avLst/>
          </a:prstGeom>
          <a:solidFill>
            <a:srgbClr val="FFB903"/>
          </a:solidFill>
          <a:ln/>
        </p:spPr>
      </p:sp>
      <p:sp>
        <p:nvSpPr>
          <p:cNvPr id="16" name="Text 13"/>
          <p:cNvSpPr txBox="1"/>
          <p:nvPr/>
        </p:nvSpPr>
        <p:spPr>
          <a:xfrm>
            <a:off x="950976" y="2980944"/>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Descarburación</a:t>
            </a:r>
            <a:endParaRPr lang="en-US" sz="1450" dirty="0"/>
          </a:p>
        </p:txBody>
      </p:sp>
      <p:sp>
        <p:nvSpPr>
          <p:cNvPr id="17" name="Shape 14"/>
          <p:cNvSpPr/>
          <p:nvPr/>
        </p:nvSpPr>
        <p:spPr>
          <a:xfrm>
            <a:off x="658368" y="3465576"/>
            <a:ext cx="109728" cy="109728"/>
          </a:xfrm>
          <a:prstGeom prst="rect">
            <a:avLst/>
          </a:prstGeom>
          <a:solidFill>
            <a:srgbClr val="FFB903"/>
          </a:solidFill>
          <a:ln/>
        </p:spPr>
      </p:sp>
      <p:sp>
        <p:nvSpPr>
          <p:cNvPr id="18" name="Text 15"/>
          <p:cNvSpPr txBox="1"/>
          <p:nvPr/>
        </p:nvSpPr>
        <p:spPr>
          <a:xfrm>
            <a:off x="950976" y="3364992"/>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Oxidación</a:t>
            </a:r>
            <a:endParaRPr lang="en-US" sz="1450" dirty="0"/>
          </a:p>
        </p:txBody>
      </p:sp>
      <p:sp>
        <p:nvSpPr>
          <p:cNvPr id="19" name="Shape 16"/>
          <p:cNvSpPr/>
          <p:nvPr/>
        </p:nvSpPr>
        <p:spPr>
          <a:xfrm>
            <a:off x="658368" y="3849624"/>
            <a:ext cx="109728" cy="109728"/>
          </a:xfrm>
          <a:prstGeom prst="rect">
            <a:avLst/>
          </a:prstGeom>
          <a:solidFill>
            <a:srgbClr val="FFB903"/>
          </a:solidFill>
          <a:ln/>
        </p:spPr>
      </p:sp>
      <p:sp>
        <p:nvSpPr>
          <p:cNvPr id="20" name="Text 17"/>
          <p:cNvSpPr txBox="1"/>
          <p:nvPr/>
        </p:nvSpPr>
        <p:spPr>
          <a:xfrm>
            <a:off x="950976" y="3749040"/>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Tamaño del grano</a:t>
            </a:r>
            <a:endParaRPr lang="en-US" sz="1450" dirty="0"/>
          </a:p>
        </p:txBody>
      </p:sp>
      <p:sp>
        <p:nvSpPr>
          <p:cNvPr id="21" name="Shape 18"/>
          <p:cNvSpPr/>
          <p:nvPr/>
        </p:nvSpPr>
        <p:spPr>
          <a:xfrm>
            <a:off x="658368" y="4233672"/>
            <a:ext cx="109728" cy="109728"/>
          </a:xfrm>
          <a:prstGeom prst="rect">
            <a:avLst/>
          </a:prstGeom>
          <a:solidFill>
            <a:srgbClr val="FFB903"/>
          </a:solidFill>
          <a:ln/>
        </p:spPr>
      </p:sp>
      <p:sp>
        <p:nvSpPr>
          <p:cNvPr id="22" name="Text 19"/>
          <p:cNvSpPr txBox="1"/>
          <p:nvPr/>
        </p:nvSpPr>
        <p:spPr>
          <a:xfrm>
            <a:off x="950976" y="4133088"/>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Martensita sin revenir</a:t>
            </a:r>
            <a:endParaRPr lang="en-US" sz="1450" dirty="0"/>
          </a:p>
        </p:txBody>
      </p:sp>
      <p:sp>
        <p:nvSpPr>
          <p:cNvPr id="23" name="Shape 20"/>
          <p:cNvSpPr/>
          <p:nvPr/>
        </p:nvSpPr>
        <p:spPr>
          <a:xfrm>
            <a:off x="658368" y="4617720"/>
            <a:ext cx="109728" cy="109728"/>
          </a:xfrm>
          <a:prstGeom prst="rect">
            <a:avLst/>
          </a:prstGeom>
          <a:solidFill>
            <a:srgbClr val="FFB903"/>
          </a:solidFill>
          <a:ln/>
        </p:spPr>
      </p:sp>
      <p:sp>
        <p:nvSpPr>
          <p:cNvPr id="24" name="Text 21"/>
          <p:cNvSpPr txBox="1"/>
          <p:nvPr/>
        </p:nvSpPr>
        <p:spPr>
          <a:xfrm>
            <a:off x="950976" y="4517136"/>
            <a:ext cx="6108192" cy="310896"/>
          </a:xfrm>
          <a:prstGeom prst="rect">
            <a:avLst/>
          </a:prstGeom>
          <a:noFill/>
          <a:ln/>
        </p:spPr>
        <p:txBody>
          <a:bodyPr wrap="square" lIns="0" tIns="0" rIns="0" bIns="0" rtlCol="0" anchor="ctr"/>
          <a:lstStyle/>
          <a:p>
            <a:pPr marL="0" indent="0">
              <a:lnSpc>
                <a:spcPts val="1958"/>
              </a:lnSpc>
              <a:buNone/>
            </a:pPr>
            <a:r>
              <a:rPr lang="en-US" sz="1450" dirty="0">
                <a:solidFill>
                  <a:srgbClr val="1B2430"/>
                </a:solidFill>
                <a:latin typeface="Segoe UI" pitchFamily="34" charset="0"/>
                <a:ea typeface="Segoe UI" pitchFamily="34" charset="-122"/>
                <a:cs typeface="Segoe UI" pitchFamily="34" charset="-120"/>
              </a:rPr>
              <a:t>Corrosión intergranular</a:t>
            </a:r>
            <a:endParaRPr lang="en-US" sz="1450" dirty="0"/>
          </a:p>
        </p:txBody>
      </p:sp>
      <p:sp>
        <p:nvSpPr>
          <p:cNvPr id="25" name="Shape 22"/>
          <p:cNvSpPr/>
          <p:nvPr/>
        </p:nvSpPr>
        <p:spPr>
          <a:xfrm>
            <a:off x="7635240" y="3877056"/>
            <a:ext cx="3895344" cy="1572768"/>
          </a:xfrm>
          <a:prstGeom prst="rect">
            <a:avLst/>
          </a:prstGeom>
          <a:solidFill>
            <a:srgbClr val="F4F7FA"/>
          </a:solidFill>
          <a:ln w="9525">
            <a:solidFill>
              <a:srgbClr val="D5DDE5"/>
            </a:solidFill>
            <a:prstDash val="solid"/>
          </a:ln>
        </p:spPr>
      </p:sp>
      <p:sp>
        <p:nvSpPr>
          <p:cNvPr id="26" name="Shape 23"/>
          <p:cNvSpPr/>
          <p:nvPr/>
        </p:nvSpPr>
        <p:spPr>
          <a:xfrm>
            <a:off x="7635240" y="3877056"/>
            <a:ext cx="3895344" cy="64008"/>
          </a:xfrm>
          <a:prstGeom prst="rect">
            <a:avLst/>
          </a:prstGeom>
          <a:solidFill>
            <a:srgbClr val="FFB903"/>
          </a:solidFill>
          <a:ln/>
        </p:spPr>
      </p:sp>
      <p:sp>
        <p:nvSpPr>
          <p:cNvPr id="27" name="Text 24"/>
          <p:cNvSpPr txBox="1"/>
          <p:nvPr/>
        </p:nvSpPr>
        <p:spPr>
          <a:xfrm>
            <a:off x="7891272" y="4151376"/>
            <a:ext cx="3383280" cy="566928"/>
          </a:xfrm>
          <a:prstGeom prst="rect">
            <a:avLst/>
          </a:prstGeom>
          <a:noFill/>
          <a:ln/>
        </p:spPr>
        <p:txBody>
          <a:bodyPr wrap="square" lIns="0" tIns="0" rIns="0" bIns="0" rtlCol="0" anchor="ctr"/>
          <a:lstStyle/>
          <a:p>
            <a:pPr marL="0" indent="0">
              <a:lnSpc>
                <a:spcPts val="2074"/>
              </a:lnSpc>
              <a:buNone/>
            </a:pPr>
            <a:r>
              <a:rPr lang="en-US" sz="1700" b="1" dirty="0">
                <a:solidFill>
                  <a:srgbClr val="00335C"/>
                </a:solidFill>
                <a:latin typeface="Segoe UI" pitchFamily="34" charset="0"/>
                <a:ea typeface="Segoe UI" pitchFamily="34" charset="-122"/>
                <a:cs typeface="Segoe UI" pitchFamily="34" charset="-120"/>
              </a:rPr>
              <a:t>Análisis de la composición química</a:t>
            </a:r>
            <a:endParaRPr lang="en-US" sz="1700" dirty="0"/>
          </a:p>
        </p:txBody>
      </p:sp>
      <p:sp>
        <p:nvSpPr>
          <p:cNvPr id="28" name="Text 25"/>
          <p:cNvSpPr txBox="1"/>
          <p:nvPr/>
        </p:nvSpPr>
        <p:spPr>
          <a:xfrm>
            <a:off x="7891272" y="4809744"/>
            <a:ext cx="3383280" cy="475488"/>
          </a:xfrm>
          <a:prstGeom prst="rect">
            <a:avLst/>
          </a:prstGeom>
          <a:noFill/>
          <a:ln/>
        </p:spPr>
        <p:txBody>
          <a:bodyPr wrap="square" lIns="0" tIns="0" rIns="0" bIns="0" rtlCol="0" anchor="ctr"/>
          <a:lstStyle/>
          <a:p>
            <a:pPr marL="0" indent="0">
              <a:lnSpc>
                <a:spcPts val="1800"/>
              </a:lnSpc>
              <a:buNone/>
            </a:pPr>
            <a:r>
              <a:rPr lang="en-US" sz="1350" dirty="0">
                <a:solidFill>
                  <a:srgbClr val="5C6B7A"/>
                </a:solidFill>
                <a:latin typeface="Segoe UI" pitchFamily="34" charset="0"/>
                <a:ea typeface="Segoe UI" pitchFamily="34" charset="-122"/>
                <a:cs typeface="Segoe UI" pitchFamily="34" charset="-120"/>
              </a:rPr>
              <a:t>Complementa el examen metalográfico.</a:t>
            </a:r>
            <a:endParaRPr lang="en-US" sz="1350" dirty="0"/>
          </a:p>
        </p:txBody>
      </p:sp>
      <p:pic>
        <p:nvPicPr>
          <p:cNvPr id="29" name="Image 1" descr="/home/claude/work/assets/image7.png"/>
          <p:cNvPicPr>
            <a:picLocks noChangeAspect="1"/>
          </p:cNvPicPr>
          <p:nvPr/>
        </p:nvPicPr>
        <p:blipFill>
          <a:blip r:embed="rId4"/>
          <a:stretch>
            <a:fillRect/>
          </a:stretch>
        </p:blipFill>
        <p:spPr>
          <a:xfrm>
            <a:off x="7635240" y="1700784"/>
            <a:ext cx="3895344" cy="20116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17</a:t>
            </a:r>
            <a:endParaRPr lang="en-US" sz="1000" dirty="0"/>
          </a:p>
        </p:txBody>
      </p:sp>
      <p:sp>
        <p:nvSpPr>
          <p:cNvPr id="11" name="Shape 8"/>
          <p:cNvSpPr/>
          <p:nvPr/>
        </p:nvSpPr>
        <p:spPr>
          <a:xfrm>
            <a:off x="658368" y="1645920"/>
            <a:ext cx="54864" cy="786384"/>
          </a:xfrm>
          <a:prstGeom prst="rect">
            <a:avLst/>
          </a:prstGeom>
          <a:solidFill>
            <a:srgbClr val="004B85"/>
          </a:solidFill>
          <a:ln/>
        </p:spPr>
      </p:sp>
      <p:sp>
        <p:nvSpPr>
          <p:cNvPr id="12" name="Text 9"/>
          <p:cNvSpPr txBox="1"/>
          <p:nvPr/>
        </p:nvSpPr>
        <p:spPr>
          <a:xfrm>
            <a:off x="960120" y="1645920"/>
            <a:ext cx="10241280" cy="786384"/>
          </a:xfrm>
          <a:prstGeom prst="rect">
            <a:avLst/>
          </a:prstGeom>
          <a:noFill/>
          <a:ln/>
        </p:spPr>
        <p:txBody>
          <a:bodyPr wrap="square" lIns="0" tIns="0" rIns="0" bIns="0" rtlCol="0" anchor="ctr"/>
          <a:lstStyle/>
          <a:p>
            <a:pPr marL="0" indent="0">
              <a:lnSpc>
                <a:spcPts val="2200"/>
              </a:lnSpc>
              <a:buNone/>
            </a:pPr>
            <a:r>
              <a:rPr lang="en-US" sz="1600" dirty="0">
                <a:solidFill>
                  <a:srgbClr val="00335C"/>
                </a:solidFill>
                <a:latin typeface="Segoe UI" pitchFamily="34" charset="0"/>
                <a:ea typeface="Segoe UI" pitchFamily="34" charset="-122"/>
                <a:cs typeface="Segoe UI" pitchFamily="34" charset="-120"/>
              </a:rPr>
              <a:t>Determinación de las posibles causas de la falla, las cuales se pueden agrupar en los siguientes procesos:</a:t>
            </a:r>
            <a:endParaRPr lang="en-US" sz="1600" dirty="0"/>
          </a:p>
        </p:txBody>
      </p:sp>
      <p:sp>
        <p:nvSpPr>
          <p:cNvPr id="13" name="Shape 10"/>
          <p:cNvSpPr/>
          <p:nvPr/>
        </p:nvSpPr>
        <p:spPr>
          <a:xfrm>
            <a:off x="658368" y="2615184"/>
            <a:ext cx="2606040" cy="1517904"/>
          </a:xfrm>
          <a:prstGeom prst="rect">
            <a:avLst/>
          </a:prstGeom>
          <a:solidFill>
            <a:srgbClr val="F4F7FA"/>
          </a:solidFill>
          <a:ln w="9525">
            <a:solidFill>
              <a:srgbClr val="D5DDE5"/>
            </a:solidFill>
            <a:prstDash val="solid"/>
          </a:ln>
        </p:spPr>
      </p:sp>
      <p:sp>
        <p:nvSpPr>
          <p:cNvPr id="14" name="Shape 11"/>
          <p:cNvSpPr/>
          <p:nvPr/>
        </p:nvSpPr>
        <p:spPr>
          <a:xfrm>
            <a:off x="658368" y="2615184"/>
            <a:ext cx="2606040" cy="64008"/>
          </a:xfrm>
          <a:prstGeom prst="rect">
            <a:avLst/>
          </a:prstGeom>
          <a:solidFill>
            <a:srgbClr val="004B85"/>
          </a:solidFill>
          <a:ln/>
        </p:spPr>
      </p:sp>
      <p:sp>
        <p:nvSpPr>
          <p:cNvPr id="15" name="Text 12"/>
          <p:cNvSpPr txBox="1"/>
          <p:nvPr/>
        </p:nvSpPr>
        <p:spPr>
          <a:xfrm>
            <a:off x="914400" y="2889504"/>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Diseño</a:t>
            </a:r>
            <a:endParaRPr lang="en-US" sz="1500" dirty="0"/>
          </a:p>
        </p:txBody>
      </p:sp>
      <p:sp>
        <p:nvSpPr>
          <p:cNvPr id="16" name="Text 13"/>
          <p:cNvSpPr txBox="1"/>
          <p:nvPr/>
        </p:nvSpPr>
        <p:spPr>
          <a:xfrm>
            <a:off x="914400" y="3456432"/>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Tamaño, configuración geométrica, proporcionalidad.</a:t>
            </a:r>
            <a:endParaRPr lang="en-US" sz="1250" dirty="0"/>
          </a:p>
        </p:txBody>
      </p:sp>
      <p:sp>
        <p:nvSpPr>
          <p:cNvPr id="17" name="Shape 14"/>
          <p:cNvSpPr/>
          <p:nvPr/>
        </p:nvSpPr>
        <p:spPr>
          <a:xfrm>
            <a:off x="3410712" y="2615184"/>
            <a:ext cx="2606040" cy="1517904"/>
          </a:xfrm>
          <a:prstGeom prst="rect">
            <a:avLst/>
          </a:prstGeom>
          <a:solidFill>
            <a:srgbClr val="F4F7FA"/>
          </a:solidFill>
          <a:ln w="9525">
            <a:solidFill>
              <a:srgbClr val="D5DDE5"/>
            </a:solidFill>
            <a:prstDash val="solid"/>
          </a:ln>
        </p:spPr>
      </p:sp>
      <p:sp>
        <p:nvSpPr>
          <p:cNvPr id="18" name="Shape 15"/>
          <p:cNvSpPr/>
          <p:nvPr/>
        </p:nvSpPr>
        <p:spPr>
          <a:xfrm>
            <a:off x="3410712" y="2615184"/>
            <a:ext cx="2606040" cy="64008"/>
          </a:xfrm>
          <a:prstGeom prst="rect">
            <a:avLst/>
          </a:prstGeom>
          <a:solidFill>
            <a:srgbClr val="004B85"/>
          </a:solidFill>
          <a:ln/>
        </p:spPr>
      </p:sp>
      <p:sp>
        <p:nvSpPr>
          <p:cNvPr id="19" name="Text 16"/>
          <p:cNvSpPr txBox="1"/>
          <p:nvPr/>
        </p:nvSpPr>
        <p:spPr>
          <a:xfrm>
            <a:off x="3666744" y="2889504"/>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Selección de materiales</a:t>
            </a:r>
            <a:endParaRPr lang="en-US" sz="1500" dirty="0"/>
          </a:p>
        </p:txBody>
      </p:sp>
      <p:sp>
        <p:nvSpPr>
          <p:cNvPr id="20" name="Text 17"/>
          <p:cNvSpPr txBox="1"/>
          <p:nvPr/>
        </p:nvSpPr>
        <p:spPr>
          <a:xfrm>
            <a:off x="3666744" y="3456432"/>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Idoneidad del material frente al servicio.</a:t>
            </a:r>
            <a:endParaRPr lang="en-US" sz="1250" dirty="0"/>
          </a:p>
        </p:txBody>
      </p:sp>
      <p:sp>
        <p:nvSpPr>
          <p:cNvPr id="21" name="Shape 18"/>
          <p:cNvSpPr/>
          <p:nvPr/>
        </p:nvSpPr>
        <p:spPr>
          <a:xfrm>
            <a:off x="6163056" y="2615184"/>
            <a:ext cx="2606040" cy="1517904"/>
          </a:xfrm>
          <a:prstGeom prst="rect">
            <a:avLst/>
          </a:prstGeom>
          <a:solidFill>
            <a:srgbClr val="F4F7FA"/>
          </a:solidFill>
          <a:ln w="9525">
            <a:solidFill>
              <a:srgbClr val="D5DDE5"/>
            </a:solidFill>
            <a:prstDash val="solid"/>
          </a:ln>
        </p:spPr>
      </p:sp>
      <p:sp>
        <p:nvSpPr>
          <p:cNvPr id="22" name="Shape 19"/>
          <p:cNvSpPr/>
          <p:nvPr/>
        </p:nvSpPr>
        <p:spPr>
          <a:xfrm>
            <a:off x="6163056" y="2615184"/>
            <a:ext cx="2606040" cy="64008"/>
          </a:xfrm>
          <a:prstGeom prst="rect">
            <a:avLst/>
          </a:prstGeom>
          <a:solidFill>
            <a:srgbClr val="004B85"/>
          </a:solidFill>
          <a:ln/>
        </p:spPr>
      </p:sp>
      <p:sp>
        <p:nvSpPr>
          <p:cNvPr id="23" name="Text 20"/>
          <p:cNvSpPr txBox="1"/>
          <p:nvPr/>
        </p:nvSpPr>
        <p:spPr>
          <a:xfrm>
            <a:off x="6419088" y="2889504"/>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Maquinado</a:t>
            </a:r>
            <a:endParaRPr lang="en-US" sz="1500" dirty="0"/>
          </a:p>
        </p:txBody>
      </p:sp>
      <p:sp>
        <p:nvSpPr>
          <p:cNvPr id="24" name="Text 21"/>
          <p:cNvSpPr txBox="1"/>
          <p:nvPr/>
        </p:nvSpPr>
        <p:spPr>
          <a:xfrm>
            <a:off x="6419088" y="3456432"/>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Mecanizado y discontinuidades.</a:t>
            </a:r>
            <a:endParaRPr lang="en-US" sz="1250" dirty="0"/>
          </a:p>
        </p:txBody>
      </p:sp>
      <p:sp>
        <p:nvSpPr>
          <p:cNvPr id="27" name="Text 24"/>
          <p:cNvSpPr txBox="1"/>
          <p:nvPr/>
        </p:nvSpPr>
        <p:spPr>
          <a:xfrm>
            <a:off x="9171432" y="2889504"/>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Tratamiento térmico</a:t>
            </a:r>
            <a:endParaRPr lang="en-US" sz="1500" dirty="0"/>
          </a:p>
        </p:txBody>
      </p:sp>
      <p:sp>
        <p:nvSpPr>
          <p:cNvPr id="28" name="Text 25"/>
          <p:cNvSpPr txBox="1"/>
          <p:nvPr/>
        </p:nvSpPr>
        <p:spPr>
          <a:xfrm>
            <a:off x="9171432" y="3456432"/>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Ciclos y estructura resultante.</a:t>
            </a:r>
            <a:endParaRPr lang="en-US" sz="1250" dirty="0"/>
          </a:p>
        </p:txBody>
      </p:sp>
      <p:sp>
        <p:nvSpPr>
          <p:cNvPr id="29" name="Shape 26"/>
          <p:cNvSpPr/>
          <p:nvPr/>
        </p:nvSpPr>
        <p:spPr>
          <a:xfrm>
            <a:off x="658368" y="4279392"/>
            <a:ext cx="2606040" cy="1517904"/>
          </a:xfrm>
          <a:prstGeom prst="rect">
            <a:avLst/>
          </a:prstGeom>
          <a:solidFill>
            <a:srgbClr val="F4F7FA"/>
          </a:solidFill>
          <a:ln w="9525">
            <a:solidFill>
              <a:srgbClr val="D5DDE5"/>
            </a:solidFill>
            <a:prstDash val="solid"/>
          </a:ln>
        </p:spPr>
      </p:sp>
      <p:sp>
        <p:nvSpPr>
          <p:cNvPr id="30" name="Shape 27"/>
          <p:cNvSpPr/>
          <p:nvPr/>
        </p:nvSpPr>
        <p:spPr>
          <a:xfrm>
            <a:off x="658368" y="4279392"/>
            <a:ext cx="2606040" cy="64008"/>
          </a:xfrm>
          <a:prstGeom prst="rect">
            <a:avLst/>
          </a:prstGeom>
          <a:solidFill>
            <a:srgbClr val="FFB903"/>
          </a:solidFill>
          <a:ln/>
        </p:spPr>
      </p:sp>
      <p:sp>
        <p:nvSpPr>
          <p:cNvPr id="31" name="Text 28"/>
          <p:cNvSpPr txBox="1"/>
          <p:nvPr/>
        </p:nvSpPr>
        <p:spPr>
          <a:xfrm>
            <a:off x="914400" y="4553712"/>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Rectificado</a:t>
            </a:r>
            <a:endParaRPr lang="en-US" sz="1500" dirty="0"/>
          </a:p>
        </p:txBody>
      </p:sp>
      <p:sp>
        <p:nvSpPr>
          <p:cNvPr id="32" name="Text 29"/>
          <p:cNvSpPr txBox="1"/>
          <p:nvPr/>
        </p:nvSpPr>
        <p:spPr>
          <a:xfrm>
            <a:off x="914400" y="5120640"/>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Acabado y tensiones inducidas.</a:t>
            </a:r>
            <a:endParaRPr lang="en-US" sz="1250" dirty="0"/>
          </a:p>
        </p:txBody>
      </p:sp>
      <p:sp>
        <p:nvSpPr>
          <p:cNvPr id="33" name="Shape 30"/>
          <p:cNvSpPr/>
          <p:nvPr/>
        </p:nvSpPr>
        <p:spPr>
          <a:xfrm>
            <a:off x="3410712" y="4279392"/>
            <a:ext cx="2606040" cy="1517904"/>
          </a:xfrm>
          <a:prstGeom prst="rect">
            <a:avLst/>
          </a:prstGeom>
          <a:solidFill>
            <a:srgbClr val="F4F7FA"/>
          </a:solidFill>
          <a:ln w="9525">
            <a:solidFill>
              <a:srgbClr val="D5DDE5"/>
            </a:solidFill>
            <a:prstDash val="solid"/>
          </a:ln>
        </p:spPr>
      </p:sp>
      <p:sp>
        <p:nvSpPr>
          <p:cNvPr id="34" name="Shape 31"/>
          <p:cNvSpPr/>
          <p:nvPr/>
        </p:nvSpPr>
        <p:spPr>
          <a:xfrm>
            <a:off x="3410712" y="4279392"/>
            <a:ext cx="2606040" cy="64008"/>
          </a:xfrm>
          <a:prstGeom prst="rect">
            <a:avLst/>
          </a:prstGeom>
          <a:solidFill>
            <a:srgbClr val="FFB903"/>
          </a:solidFill>
          <a:ln/>
        </p:spPr>
      </p:sp>
      <p:sp>
        <p:nvSpPr>
          <p:cNvPr id="35" name="Text 32"/>
          <p:cNvSpPr txBox="1"/>
          <p:nvPr/>
        </p:nvSpPr>
        <p:spPr>
          <a:xfrm>
            <a:off x="3666744" y="4553712"/>
            <a:ext cx="2093976"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Corte</a:t>
            </a:r>
            <a:endParaRPr lang="en-US" sz="1500" dirty="0"/>
          </a:p>
        </p:txBody>
      </p:sp>
      <p:sp>
        <p:nvSpPr>
          <p:cNvPr id="36" name="Text 33"/>
          <p:cNvSpPr txBox="1"/>
          <p:nvPr/>
        </p:nvSpPr>
        <p:spPr>
          <a:xfrm>
            <a:off x="3666744" y="5120640"/>
            <a:ext cx="2093976"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Corte por hilo, electroerosión.</a:t>
            </a:r>
            <a:endParaRPr lang="en-US" sz="1250" dirty="0"/>
          </a:p>
        </p:txBody>
      </p:sp>
      <p:sp>
        <p:nvSpPr>
          <p:cNvPr id="37" name="Shape 34"/>
          <p:cNvSpPr/>
          <p:nvPr/>
        </p:nvSpPr>
        <p:spPr>
          <a:xfrm>
            <a:off x="6163056" y="4279392"/>
            <a:ext cx="5358384" cy="1517904"/>
          </a:xfrm>
          <a:prstGeom prst="rect">
            <a:avLst/>
          </a:prstGeom>
          <a:solidFill>
            <a:srgbClr val="F4F7FA"/>
          </a:solidFill>
          <a:ln w="9525">
            <a:solidFill>
              <a:srgbClr val="D5DDE5"/>
            </a:solidFill>
            <a:prstDash val="solid"/>
          </a:ln>
        </p:spPr>
      </p:sp>
      <p:sp>
        <p:nvSpPr>
          <p:cNvPr id="38" name="Shape 35"/>
          <p:cNvSpPr/>
          <p:nvPr/>
        </p:nvSpPr>
        <p:spPr>
          <a:xfrm>
            <a:off x="6163056" y="4279392"/>
            <a:ext cx="5358384" cy="64008"/>
          </a:xfrm>
          <a:prstGeom prst="rect">
            <a:avLst/>
          </a:prstGeom>
          <a:solidFill>
            <a:srgbClr val="FFB903"/>
          </a:solidFill>
          <a:ln/>
        </p:spPr>
      </p:sp>
      <p:sp>
        <p:nvSpPr>
          <p:cNvPr id="39" name="Text 36"/>
          <p:cNvSpPr txBox="1"/>
          <p:nvPr/>
        </p:nvSpPr>
        <p:spPr>
          <a:xfrm>
            <a:off x="6419088" y="4553712"/>
            <a:ext cx="4846320" cy="475488"/>
          </a:xfrm>
          <a:prstGeom prst="rect">
            <a:avLst/>
          </a:prstGeom>
          <a:noFill/>
          <a:ln/>
        </p:spPr>
        <p:txBody>
          <a:bodyPr wrap="square" lIns="0" tIns="0" rIns="0" bIns="0" rtlCol="0" anchor="ctr"/>
          <a:lstStyle/>
          <a:p>
            <a:pPr marL="0" indent="0">
              <a:lnSpc>
                <a:spcPts val="1830"/>
              </a:lnSpc>
              <a:buNone/>
            </a:pPr>
            <a:r>
              <a:rPr lang="en-US" sz="1500" b="1" dirty="0">
                <a:solidFill>
                  <a:srgbClr val="00335C"/>
                </a:solidFill>
                <a:latin typeface="Segoe UI" pitchFamily="34" charset="0"/>
                <a:ea typeface="Segoe UI" pitchFamily="34" charset="-122"/>
                <a:cs typeface="Segoe UI" pitchFamily="34" charset="-120"/>
              </a:rPr>
              <a:t>Operación</a:t>
            </a:r>
            <a:endParaRPr lang="en-US" sz="1500" dirty="0"/>
          </a:p>
        </p:txBody>
      </p:sp>
      <p:sp>
        <p:nvSpPr>
          <p:cNvPr id="40" name="Text 37"/>
          <p:cNvSpPr txBox="1"/>
          <p:nvPr/>
        </p:nvSpPr>
        <p:spPr>
          <a:xfrm>
            <a:off x="6419088" y="5120640"/>
            <a:ext cx="4846320" cy="512064"/>
          </a:xfrm>
          <a:prstGeom prst="rect">
            <a:avLst/>
          </a:prstGeom>
          <a:noFill/>
          <a:ln/>
        </p:spPr>
        <p:txBody>
          <a:bodyPr wrap="square" lIns="0" tIns="0" rIns="0" bIns="0" rtlCol="0" anchor="ctr"/>
          <a:lstStyle/>
          <a:p>
            <a:pPr marL="0" indent="0">
              <a:lnSpc>
                <a:spcPts val="1600"/>
              </a:lnSpc>
              <a:buNone/>
            </a:pPr>
            <a:r>
              <a:rPr lang="en-US" sz="1250" dirty="0">
                <a:solidFill>
                  <a:srgbClr val="5C6B7A"/>
                </a:solidFill>
                <a:latin typeface="Segoe UI" pitchFamily="34" charset="0"/>
                <a:ea typeface="Segoe UI" pitchFamily="34" charset="-122"/>
                <a:cs typeface="Segoe UI" pitchFamily="34" charset="-120"/>
              </a:rPr>
              <a:t>Desalineamiento, desajuste, sobrecarga, carga de impacto, vida útil.</a:t>
            </a:r>
            <a:endParaRPr lang="en-US" sz="1250" dirty="0"/>
          </a:p>
        </p:txBody>
      </p:sp>
      <p:pic>
        <p:nvPicPr>
          <p:cNvPr id="83" name="Imagen 82">
            <a:extLst>
              <a:ext uri="{FF2B5EF4-FFF2-40B4-BE49-F238E27FC236}">
                <a16:creationId xmlns:a16="http://schemas.microsoft.com/office/drawing/2014/main" id="{74532D88-906C-3083-3292-38A5E311864D}"/>
              </a:ext>
            </a:extLst>
          </p:cNvPr>
          <p:cNvPicPr>
            <a:picLocks noChangeAspect="1"/>
          </p:cNvPicPr>
          <p:nvPr/>
        </p:nvPicPr>
        <p:blipFill>
          <a:blip r:embed="rId4"/>
          <a:stretch>
            <a:fillRect/>
          </a:stretch>
        </p:blipFill>
        <p:spPr>
          <a:xfrm>
            <a:off x="8011527" y="8001000"/>
            <a:ext cx="3859676" cy="6858000"/>
          </a:xfrm>
          <a:prstGeom prst="rect">
            <a:avLst/>
          </a:prstGeom>
        </p:spPr>
      </p:pic>
      <p:pic>
        <p:nvPicPr>
          <p:cNvPr id="87" name="Imagen 86">
            <a:extLst>
              <a:ext uri="{FF2B5EF4-FFF2-40B4-BE49-F238E27FC236}">
                <a16:creationId xmlns:a16="http://schemas.microsoft.com/office/drawing/2014/main" id="{79A1DEC0-D6F2-AAFB-BD3C-5C702A7AFCA6}"/>
              </a:ext>
            </a:extLst>
          </p:cNvPr>
          <p:cNvPicPr>
            <a:picLocks noChangeAspect="1"/>
          </p:cNvPicPr>
          <p:nvPr/>
        </p:nvPicPr>
        <p:blipFill>
          <a:blip r:embed="rId5"/>
          <a:stretch>
            <a:fillRect/>
          </a:stretch>
        </p:blipFill>
        <p:spPr>
          <a:xfrm>
            <a:off x="8773527" y="8763000"/>
            <a:ext cx="12192000" cy="6846165"/>
          </a:xfrm>
          <a:prstGeom prst="rect">
            <a:avLst/>
          </a:prstGeom>
        </p:spPr>
      </p:pic>
      <p:pic>
        <p:nvPicPr>
          <p:cNvPr id="88" name="Imagen 87">
            <a:extLst>
              <a:ext uri="{FF2B5EF4-FFF2-40B4-BE49-F238E27FC236}">
                <a16:creationId xmlns:a16="http://schemas.microsoft.com/office/drawing/2014/main" id="{7E4D8CE7-6560-5C58-4D28-0EA8CC2108E7}"/>
              </a:ext>
            </a:extLst>
          </p:cNvPr>
          <p:cNvPicPr>
            <a:picLocks noChangeAspect="1"/>
          </p:cNvPicPr>
          <p:nvPr/>
        </p:nvPicPr>
        <p:blipFill>
          <a:blip r:embed="rId6"/>
          <a:stretch>
            <a:fillRect/>
          </a:stretch>
        </p:blipFill>
        <p:spPr>
          <a:xfrm>
            <a:off x="10527" y="0"/>
            <a:ext cx="12170946"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PROCEDIMIENTO 2.2</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Caso: análisis de la rotura de un eje</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17a</a:t>
            </a:r>
          </a:p>
        </p:txBody>
      </p:sp>
      <p:sp>
        <p:nvSpPr>
          <p:cNvPr id="12" name="Rectangle 11"/>
          <p:cNvSpPr/>
          <p:nvPr/>
        </p:nvSpPr>
        <p:spPr>
          <a:xfrm>
            <a:off x="658368" y="1664208"/>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54864"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1755648"/>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2.2.1</a:t>
            </a:r>
          </a:p>
        </p:txBody>
      </p:sp>
      <p:sp>
        <p:nvSpPr>
          <p:cNvPr id="15" name="TextBox 14"/>
          <p:cNvSpPr txBox="1"/>
          <p:nvPr/>
        </p:nvSpPr>
        <p:spPr>
          <a:xfrm>
            <a:off x="1618488" y="1755648"/>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Antecedentes</a:t>
            </a:r>
          </a:p>
        </p:txBody>
      </p:sp>
      <p:sp>
        <p:nvSpPr>
          <p:cNvPr id="16" name="TextBox 15"/>
          <p:cNvSpPr txBox="1"/>
          <p:nvPr/>
        </p:nvSpPr>
        <p:spPr>
          <a:xfrm>
            <a:off x="3538728" y="1719072"/>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Eje AISI 1045 de reductor; 14 meses de servicio; sin cambios de carga.</a:t>
            </a:r>
          </a:p>
        </p:txBody>
      </p:sp>
      <p:sp>
        <p:nvSpPr>
          <p:cNvPr id="17" name="Rectangle 16"/>
          <p:cNvSpPr/>
          <p:nvPr/>
        </p:nvSpPr>
        <p:spPr>
          <a:xfrm>
            <a:off x="658368" y="2295144"/>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8368" y="2295144"/>
            <a:ext cx="54864"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7" y="2386584"/>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2.2.2</a:t>
            </a:r>
          </a:p>
        </p:txBody>
      </p:sp>
      <p:sp>
        <p:nvSpPr>
          <p:cNvPr id="20" name="TextBox 19"/>
          <p:cNvSpPr txBox="1"/>
          <p:nvPr/>
        </p:nvSpPr>
        <p:spPr>
          <a:xfrm>
            <a:off x="1618488" y="2386584"/>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Examen preliminar</a:t>
            </a:r>
          </a:p>
        </p:txBody>
      </p:sp>
      <p:sp>
        <p:nvSpPr>
          <p:cNvPr id="21" name="TextBox 20"/>
          <p:cNvSpPr txBox="1"/>
          <p:nvPr/>
        </p:nvSpPr>
        <p:spPr>
          <a:xfrm>
            <a:off x="3538728" y="2350008"/>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Rotura en el cambio de sección, junto al hombro del rodamiento.</a:t>
            </a:r>
          </a:p>
        </p:txBody>
      </p:sp>
      <p:sp>
        <p:nvSpPr>
          <p:cNvPr id="22" name="Rectangle 21"/>
          <p:cNvSpPr/>
          <p:nvPr/>
        </p:nvSpPr>
        <p:spPr>
          <a:xfrm>
            <a:off x="658368" y="2926080"/>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58368" y="2926080"/>
            <a:ext cx="54864"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7" y="3017520"/>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2.2.3–4</a:t>
            </a:r>
          </a:p>
        </p:txBody>
      </p:sp>
      <p:sp>
        <p:nvSpPr>
          <p:cNvPr id="25" name="TextBox 24"/>
          <p:cNvSpPr txBox="1"/>
          <p:nvPr/>
        </p:nvSpPr>
        <p:spPr>
          <a:xfrm>
            <a:off x="1618488" y="3017520"/>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Muestras y ensayos</a:t>
            </a:r>
          </a:p>
        </p:txBody>
      </p:sp>
      <p:sp>
        <p:nvSpPr>
          <p:cNvPr id="26" name="TextBox 25"/>
          <p:cNvSpPr txBox="1"/>
          <p:nvPr/>
        </p:nvSpPr>
        <p:spPr>
          <a:xfrm>
            <a:off x="3538728" y="2980944"/>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Dureza ≈ 190 HB, acorde con el material especificado.</a:t>
            </a:r>
          </a:p>
        </p:txBody>
      </p:sp>
      <p:sp>
        <p:nvSpPr>
          <p:cNvPr id="27" name="Rectangle 26"/>
          <p:cNvSpPr/>
          <p:nvPr/>
        </p:nvSpPr>
        <p:spPr>
          <a:xfrm>
            <a:off x="658368" y="3557015"/>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8368" y="3557015"/>
            <a:ext cx="54864"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7" y="3648456"/>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2.2.4</a:t>
            </a:r>
          </a:p>
        </p:txBody>
      </p:sp>
      <p:sp>
        <p:nvSpPr>
          <p:cNvPr id="30" name="TextBox 29"/>
          <p:cNvSpPr txBox="1"/>
          <p:nvPr/>
        </p:nvSpPr>
        <p:spPr>
          <a:xfrm>
            <a:off x="1618488" y="3648456"/>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Examen macroscópico</a:t>
            </a:r>
          </a:p>
        </p:txBody>
      </p:sp>
      <p:sp>
        <p:nvSpPr>
          <p:cNvPr id="31" name="TextBox 30"/>
          <p:cNvSpPr txBox="1"/>
          <p:nvPr/>
        </p:nvSpPr>
        <p:spPr>
          <a:xfrm>
            <a:off x="3538728" y="3611879"/>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Marcas de playa y zona final de rotura pequeña: fatiga.</a:t>
            </a:r>
          </a:p>
        </p:txBody>
      </p:sp>
      <p:sp>
        <p:nvSpPr>
          <p:cNvPr id="32" name="Rectangle 31"/>
          <p:cNvSpPr/>
          <p:nvPr/>
        </p:nvSpPr>
        <p:spPr>
          <a:xfrm>
            <a:off x="658368" y="4187952"/>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58368" y="4187952"/>
            <a:ext cx="54864" cy="56692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4279392"/>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2.2.5</a:t>
            </a:r>
          </a:p>
        </p:txBody>
      </p:sp>
      <p:sp>
        <p:nvSpPr>
          <p:cNvPr id="35" name="TextBox 34"/>
          <p:cNvSpPr txBox="1"/>
          <p:nvPr/>
        </p:nvSpPr>
        <p:spPr>
          <a:xfrm>
            <a:off x="1618488" y="4279392"/>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Metalografía</a:t>
            </a:r>
          </a:p>
        </p:txBody>
      </p:sp>
      <p:sp>
        <p:nvSpPr>
          <p:cNvPr id="36" name="TextBox 35"/>
          <p:cNvSpPr txBox="1"/>
          <p:nvPr/>
        </p:nvSpPr>
        <p:spPr>
          <a:xfrm>
            <a:off x="3538728" y="4242816"/>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Ferrita-perlita normal; sin inclusiones ni descarburación.</a:t>
            </a:r>
          </a:p>
        </p:txBody>
      </p:sp>
      <p:sp>
        <p:nvSpPr>
          <p:cNvPr id="37" name="Rectangle 36"/>
          <p:cNvSpPr/>
          <p:nvPr/>
        </p:nvSpPr>
        <p:spPr>
          <a:xfrm>
            <a:off x="658368" y="4818888"/>
            <a:ext cx="6309360" cy="566928"/>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58368" y="4818888"/>
            <a:ext cx="54864" cy="566928"/>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7" y="4910327"/>
            <a:ext cx="777240" cy="384048"/>
          </a:xfrm>
          <a:prstGeom prst="rect">
            <a:avLst/>
          </a:prstGeom>
          <a:noFill/>
        </p:spPr>
        <p:txBody>
          <a:bodyPr wrap="square" lIns="0" tIns="0" rIns="0" bIns="0" anchor="ctr">
            <a:spAutoFit/>
          </a:bodyPr>
          <a:lstStyle/>
          <a:p>
            <a:pPr algn="l">
              <a:lnSpc>
                <a:spcPct val="122000"/>
              </a:lnSpc>
              <a:spcAft>
                <a:spcPts val="0"/>
              </a:spcAft>
            </a:pPr>
            <a:r>
              <a:rPr sz="1100" b="1" i="0">
                <a:solidFill>
                  <a:srgbClr val="B88200"/>
                </a:solidFill>
                <a:latin typeface="Segoe UI"/>
              </a:rPr>
              <a:t>2.2.6</a:t>
            </a:r>
          </a:p>
        </p:txBody>
      </p:sp>
      <p:sp>
        <p:nvSpPr>
          <p:cNvPr id="40" name="TextBox 39"/>
          <p:cNvSpPr txBox="1"/>
          <p:nvPr/>
        </p:nvSpPr>
        <p:spPr>
          <a:xfrm>
            <a:off x="1618488" y="4910327"/>
            <a:ext cx="1874519" cy="384048"/>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Análisis de evidencias</a:t>
            </a:r>
          </a:p>
        </p:txBody>
      </p:sp>
      <p:sp>
        <p:nvSpPr>
          <p:cNvPr id="41" name="TextBox 40"/>
          <p:cNvSpPr txBox="1"/>
          <p:nvPr/>
        </p:nvSpPr>
        <p:spPr>
          <a:xfrm>
            <a:off x="3538728" y="4873751"/>
            <a:ext cx="3291840" cy="457200"/>
          </a:xfrm>
          <a:prstGeom prst="rect">
            <a:avLst/>
          </a:prstGeom>
          <a:noFill/>
        </p:spPr>
        <p:txBody>
          <a:bodyPr wrap="square" lIns="0" tIns="0" rIns="0" bIns="0" anchor="ctr">
            <a:spAutoFit/>
          </a:bodyPr>
          <a:lstStyle/>
          <a:p>
            <a:pPr algn="l">
              <a:lnSpc>
                <a:spcPct val="115000"/>
              </a:lnSpc>
              <a:spcAft>
                <a:spcPts val="0"/>
              </a:spcAft>
            </a:pPr>
            <a:r>
              <a:rPr sz="1100" b="0" i="0">
                <a:solidFill>
                  <a:srgbClr val="5C6B7A"/>
                </a:solidFill>
                <a:latin typeface="Segoe UI"/>
              </a:rPr>
              <a:t>Radio de acuerdo casi nulo en el hombro: concentrador de esfuerzos.</a:t>
            </a:r>
          </a:p>
        </p:txBody>
      </p:sp>
      <p:pic>
        <p:nvPicPr>
          <p:cNvPr id="42" name="Picture 41" descr="eje_fracturado.jpg"/>
          <p:cNvPicPr>
            <a:picLocks noChangeAspect="1"/>
          </p:cNvPicPr>
          <p:nvPr/>
        </p:nvPicPr>
        <p:blipFill>
          <a:blip r:embed="rId4"/>
          <a:srcRect l="805" r="805"/>
          <a:stretch>
            <a:fillRect/>
          </a:stretch>
        </p:blipFill>
        <p:spPr>
          <a:xfrm>
            <a:off x="7242048" y="1664208"/>
            <a:ext cx="4288536" cy="2148840"/>
          </a:xfrm>
          <a:prstGeom prst="rect">
            <a:avLst/>
          </a:prstGeom>
          <a:ln w="9525">
            <a:solidFill>
              <a:srgbClr val="D5DDE5"/>
            </a:solidFill>
          </a:ln>
        </p:spPr>
      </p:pic>
      <p:sp>
        <p:nvSpPr>
          <p:cNvPr id="43" name="TextBox 42"/>
          <p:cNvSpPr txBox="1"/>
          <p:nvPr/>
        </p:nvSpPr>
        <p:spPr>
          <a:xfrm>
            <a:off x="7242048" y="3877056"/>
            <a:ext cx="4288536" cy="274320"/>
          </a:xfrm>
          <a:prstGeom prst="rect">
            <a:avLst/>
          </a:prstGeom>
          <a:noFill/>
        </p:spPr>
        <p:txBody>
          <a:bodyPr wrap="square" lIns="0" tIns="0" rIns="0" bIns="0" anchor="t">
            <a:spAutoFit/>
          </a:bodyPr>
          <a:lstStyle/>
          <a:p>
            <a:pPr algn="l">
              <a:lnSpc>
                <a:spcPct val="122000"/>
              </a:lnSpc>
              <a:spcAft>
                <a:spcPts val="0"/>
              </a:spcAft>
            </a:pPr>
            <a:r>
              <a:rPr sz="950" b="0" i="1">
                <a:solidFill>
                  <a:srgbClr val="8A97A3"/>
                </a:solidFill>
                <a:latin typeface="Segoe UI"/>
              </a:rPr>
              <a:t>Eje con grietas en el cambio de sección (trabajo del curso anterior).</a:t>
            </a:r>
          </a:p>
        </p:txBody>
      </p:sp>
      <p:sp>
        <p:nvSpPr>
          <p:cNvPr id="44" name="Rectangle 43"/>
          <p:cNvSpPr/>
          <p:nvPr/>
        </p:nvSpPr>
        <p:spPr>
          <a:xfrm>
            <a:off x="7242048" y="4279392"/>
            <a:ext cx="4288536" cy="1133856"/>
          </a:xfrm>
          <a:prstGeom prst="rect">
            <a:avLst/>
          </a:prstGeom>
          <a:solidFill>
            <a:srgbClr val="00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424927" y="4370832"/>
            <a:ext cx="3922776" cy="201168"/>
          </a:xfrm>
          <a:prstGeom prst="rect">
            <a:avLst/>
          </a:prstGeom>
          <a:noFill/>
        </p:spPr>
        <p:txBody>
          <a:bodyPr wrap="square" lIns="0" tIns="0" rIns="0" bIns="0" anchor="t">
            <a:spAutoFit/>
          </a:bodyPr>
          <a:lstStyle/>
          <a:p>
            <a:pPr algn="l">
              <a:lnSpc>
                <a:spcPct val="122000"/>
              </a:lnSpc>
              <a:spcAft>
                <a:spcPts val="0"/>
              </a:spcAft>
            </a:pPr>
            <a:r>
              <a:rPr sz="950" b="1" i="0">
                <a:solidFill>
                  <a:srgbClr val="FFB903"/>
                </a:solidFill>
                <a:latin typeface="Segoe UI"/>
              </a:rPr>
              <a:t>CAUSA Y ACCIÓN</a:t>
            </a:r>
          </a:p>
        </p:txBody>
      </p:sp>
      <p:sp>
        <p:nvSpPr>
          <p:cNvPr id="46" name="TextBox 45"/>
          <p:cNvSpPr txBox="1"/>
          <p:nvPr/>
        </p:nvSpPr>
        <p:spPr>
          <a:xfrm>
            <a:off x="7424927" y="4608576"/>
            <a:ext cx="3922776" cy="777240"/>
          </a:xfrm>
          <a:prstGeom prst="rect">
            <a:avLst/>
          </a:prstGeom>
          <a:noFill/>
        </p:spPr>
        <p:txBody>
          <a:bodyPr wrap="square" lIns="0" tIns="0" rIns="0" bIns="0" anchor="t">
            <a:spAutoFit/>
          </a:bodyPr>
          <a:lstStyle/>
          <a:p>
            <a:pPr algn="l">
              <a:lnSpc>
                <a:spcPct val="120000"/>
              </a:lnSpc>
              <a:spcAft>
                <a:spcPts val="0"/>
              </a:spcAft>
            </a:pPr>
            <a:r>
              <a:rPr sz="1150" b="0" i="0">
                <a:solidFill>
                  <a:srgbClr val="FFFFFF"/>
                </a:solidFill>
                <a:latin typeface="Segoe UI"/>
              </a:rPr>
              <a:t>Fatiga por flexión rotativa iniciada en el radio de acuerdo (diseño y maquinado). Eje nuevo con radio especificado en el plano.</a:t>
            </a:r>
          </a:p>
        </p:txBody>
      </p:sp>
      <p:sp>
        <p:nvSpPr>
          <p:cNvPr id="47" name="Rectangle 46"/>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 evidencia física manda: el material estaba bien; el origen estaba en la geometría del maquinado.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EXÁMENES PRELIMINARES</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Lo que dice cada huella en un rodamiento</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17b</a:t>
            </a:r>
          </a:p>
        </p:txBody>
      </p:sp>
      <p:sp>
        <p:nvSpPr>
          <p:cNvPr id="12" name="Rectangle 11"/>
          <p:cNvSpPr/>
          <p:nvPr/>
        </p:nvSpPr>
        <p:spPr>
          <a:xfrm>
            <a:off x="658368"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rod_desconchado.jpg"/>
          <p:cNvPicPr>
            <a:picLocks noChangeAspect="1"/>
          </p:cNvPicPr>
          <p:nvPr/>
        </p:nvPicPr>
        <p:blipFill>
          <a:blip r:embed="rId4"/>
          <a:srcRect l="305" r="305"/>
          <a:stretch>
            <a:fillRect/>
          </a:stretch>
        </p:blipFill>
        <p:spPr>
          <a:xfrm>
            <a:off x="658368" y="1728216"/>
            <a:ext cx="2567178" cy="1691640"/>
          </a:xfrm>
          <a:prstGeom prst="rect">
            <a:avLst/>
          </a:prstGeom>
        </p:spPr>
      </p:pic>
      <p:sp>
        <p:nvSpPr>
          <p:cNvPr id="15" name="TextBox 14"/>
          <p:cNvSpPr txBox="1"/>
          <p:nvPr/>
        </p:nvSpPr>
        <p:spPr>
          <a:xfrm>
            <a:off x="841247" y="3566160"/>
            <a:ext cx="2201418" cy="310896"/>
          </a:xfrm>
          <a:prstGeom prst="rect">
            <a:avLst/>
          </a:prstGeom>
          <a:noFill/>
        </p:spPr>
        <p:txBody>
          <a:bodyPr wrap="square" lIns="0" tIns="0" rIns="0" bIns="0" anchor="t">
            <a:spAutoFit/>
          </a:bodyPr>
          <a:lstStyle/>
          <a:p>
            <a:pPr algn="l">
              <a:lnSpc>
                <a:spcPct val="122000"/>
              </a:lnSpc>
              <a:spcAft>
                <a:spcPts val="0"/>
              </a:spcAft>
            </a:pPr>
            <a:r>
              <a:rPr sz="1600" b="1" i="0">
                <a:solidFill>
                  <a:srgbClr val="00335C"/>
                </a:solidFill>
                <a:latin typeface="Segoe UI"/>
              </a:rPr>
              <a:t>Desconchado</a:t>
            </a:r>
          </a:p>
        </p:txBody>
      </p:sp>
      <p:sp>
        <p:nvSpPr>
          <p:cNvPr id="16" name="TextBox 15"/>
          <p:cNvSpPr txBox="1"/>
          <p:nvPr/>
        </p:nvSpPr>
        <p:spPr>
          <a:xfrm>
            <a:off x="841247" y="3950208"/>
            <a:ext cx="2201418" cy="685800"/>
          </a:xfrm>
          <a:prstGeom prst="rect">
            <a:avLst/>
          </a:prstGeom>
          <a:noFill/>
        </p:spPr>
        <p:txBody>
          <a:bodyPr wrap="square" lIns="0" tIns="0" rIns="0" bIns="0" anchor="t">
            <a:spAutoFit/>
          </a:bodyPr>
          <a:lstStyle/>
          <a:p>
            <a:pPr algn="l">
              <a:lnSpc>
                <a:spcPct val="122000"/>
              </a:lnSpc>
              <a:spcAft>
                <a:spcPts val="0"/>
              </a:spcAft>
            </a:pPr>
            <a:r>
              <a:rPr sz="1150" b="0" i="0">
                <a:solidFill>
                  <a:srgbClr val="5C6B7A"/>
                </a:solidFill>
                <a:latin typeface="Segoe UI"/>
              </a:rPr>
              <a:t>Fatiga del material: fin de vida, sobrecarga o mal ajuste.</a:t>
            </a:r>
          </a:p>
        </p:txBody>
      </p:sp>
      <p:sp>
        <p:nvSpPr>
          <p:cNvPr id="17" name="Rectangle 16"/>
          <p:cNvSpPr/>
          <p:nvPr/>
        </p:nvSpPr>
        <p:spPr>
          <a:xfrm>
            <a:off x="841247" y="4700016"/>
            <a:ext cx="2201418" cy="530352"/>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4736592"/>
            <a:ext cx="2018538" cy="457200"/>
          </a:xfrm>
          <a:prstGeom prst="rect">
            <a:avLst/>
          </a:prstGeom>
          <a:noFill/>
        </p:spPr>
        <p:txBody>
          <a:bodyPr wrap="square" lIns="0" tIns="0" rIns="0" bIns="0" anchor="ctr">
            <a:spAutoFit/>
          </a:bodyPr>
          <a:lstStyle/>
          <a:p>
            <a:pPr algn="l">
              <a:lnSpc>
                <a:spcPct val="110000"/>
              </a:lnSpc>
              <a:spcAft>
                <a:spcPts val="0"/>
              </a:spcAft>
            </a:pPr>
            <a:r>
              <a:rPr sz="1050" b="1" i="0">
                <a:solidFill>
                  <a:srgbClr val="00335C"/>
                </a:solidFill>
                <a:latin typeface="Segoe UI"/>
              </a:rPr>
              <a:t>Revisar cargas y ajustes.</a:t>
            </a:r>
          </a:p>
        </p:txBody>
      </p:sp>
      <p:sp>
        <p:nvSpPr>
          <p:cNvPr id="19" name="Rectangle 18"/>
          <p:cNvSpPr/>
          <p:nvPr/>
        </p:nvSpPr>
        <p:spPr>
          <a:xfrm>
            <a:off x="3426714"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26714"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rod_indent.jpg"/>
          <p:cNvPicPr>
            <a:picLocks noChangeAspect="1"/>
          </p:cNvPicPr>
          <p:nvPr/>
        </p:nvPicPr>
        <p:blipFill>
          <a:blip r:embed="rId5"/>
          <a:srcRect t="950" b="950"/>
          <a:stretch>
            <a:fillRect/>
          </a:stretch>
        </p:blipFill>
        <p:spPr>
          <a:xfrm>
            <a:off x="3426714" y="1728216"/>
            <a:ext cx="2567178" cy="1691640"/>
          </a:xfrm>
          <a:prstGeom prst="rect">
            <a:avLst/>
          </a:prstGeom>
        </p:spPr>
      </p:pic>
      <p:sp>
        <p:nvSpPr>
          <p:cNvPr id="22" name="TextBox 21"/>
          <p:cNvSpPr txBox="1"/>
          <p:nvPr/>
        </p:nvSpPr>
        <p:spPr>
          <a:xfrm>
            <a:off x="3609594" y="3566160"/>
            <a:ext cx="2201418" cy="310896"/>
          </a:xfrm>
          <a:prstGeom prst="rect">
            <a:avLst/>
          </a:prstGeom>
          <a:noFill/>
        </p:spPr>
        <p:txBody>
          <a:bodyPr wrap="square" lIns="0" tIns="0" rIns="0" bIns="0" anchor="t">
            <a:spAutoFit/>
          </a:bodyPr>
          <a:lstStyle/>
          <a:p>
            <a:pPr algn="l">
              <a:lnSpc>
                <a:spcPct val="122000"/>
              </a:lnSpc>
              <a:spcAft>
                <a:spcPts val="0"/>
              </a:spcAft>
            </a:pPr>
            <a:r>
              <a:rPr sz="1600" b="1" i="0">
                <a:solidFill>
                  <a:srgbClr val="00335C"/>
                </a:solidFill>
                <a:latin typeface="Segoe UI"/>
              </a:rPr>
              <a:t>Indentaciones</a:t>
            </a:r>
          </a:p>
        </p:txBody>
      </p:sp>
      <p:sp>
        <p:nvSpPr>
          <p:cNvPr id="23" name="TextBox 22"/>
          <p:cNvSpPr txBox="1"/>
          <p:nvPr/>
        </p:nvSpPr>
        <p:spPr>
          <a:xfrm>
            <a:off x="3609594" y="3950208"/>
            <a:ext cx="2201418" cy="685800"/>
          </a:xfrm>
          <a:prstGeom prst="rect">
            <a:avLst/>
          </a:prstGeom>
          <a:noFill/>
        </p:spPr>
        <p:txBody>
          <a:bodyPr wrap="square" lIns="0" tIns="0" rIns="0" bIns="0" anchor="t">
            <a:spAutoFit/>
          </a:bodyPr>
          <a:lstStyle/>
          <a:p>
            <a:pPr algn="l">
              <a:lnSpc>
                <a:spcPct val="122000"/>
              </a:lnSpc>
              <a:spcAft>
                <a:spcPts val="0"/>
              </a:spcAft>
            </a:pPr>
            <a:r>
              <a:rPr sz="1150" b="0" i="0">
                <a:solidFill>
                  <a:srgbClr val="5C6B7A"/>
                </a:solidFill>
                <a:latin typeface="Segoe UI"/>
              </a:rPr>
              <a:t>Golpes en el montaje o partículas duras atrapadas.</a:t>
            </a:r>
          </a:p>
        </p:txBody>
      </p:sp>
      <p:sp>
        <p:nvSpPr>
          <p:cNvPr id="24" name="Rectangle 23"/>
          <p:cNvSpPr/>
          <p:nvPr/>
        </p:nvSpPr>
        <p:spPr>
          <a:xfrm>
            <a:off x="3609594" y="4700016"/>
            <a:ext cx="2201418" cy="530352"/>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701034" y="4736592"/>
            <a:ext cx="2018538" cy="457200"/>
          </a:xfrm>
          <a:prstGeom prst="rect">
            <a:avLst/>
          </a:prstGeom>
          <a:noFill/>
        </p:spPr>
        <p:txBody>
          <a:bodyPr wrap="square" lIns="0" tIns="0" rIns="0" bIns="0" anchor="ctr">
            <a:spAutoFit/>
          </a:bodyPr>
          <a:lstStyle/>
          <a:p>
            <a:pPr algn="l">
              <a:lnSpc>
                <a:spcPct val="110000"/>
              </a:lnSpc>
              <a:spcAft>
                <a:spcPts val="0"/>
              </a:spcAft>
            </a:pPr>
            <a:r>
              <a:rPr sz="1050" b="1" i="0">
                <a:solidFill>
                  <a:srgbClr val="00335C"/>
                </a:solidFill>
                <a:latin typeface="Segoe UI"/>
              </a:rPr>
              <a:t>Montaje con herramienta adecuada y limpieza.</a:t>
            </a:r>
          </a:p>
        </p:txBody>
      </p:sp>
      <p:sp>
        <p:nvSpPr>
          <p:cNvPr id="26" name="Rectangle 25"/>
          <p:cNvSpPr/>
          <p:nvPr/>
        </p:nvSpPr>
        <p:spPr>
          <a:xfrm>
            <a:off x="6195060"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95060"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rod_corrosion2.jpg"/>
          <p:cNvPicPr>
            <a:picLocks noChangeAspect="1"/>
          </p:cNvPicPr>
          <p:nvPr/>
        </p:nvPicPr>
        <p:blipFill>
          <a:blip r:embed="rId6"/>
          <a:srcRect l="613" r="613"/>
          <a:stretch>
            <a:fillRect/>
          </a:stretch>
        </p:blipFill>
        <p:spPr>
          <a:xfrm>
            <a:off x="6195060" y="1728216"/>
            <a:ext cx="2567178" cy="1691640"/>
          </a:xfrm>
          <a:prstGeom prst="rect">
            <a:avLst/>
          </a:prstGeom>
        </p:spPr>
      </p:pic>
      <p:sp>
        <p:nvSpPr>
          <p:cNvPr id="29" name="TextBox 28"/>
          <p:cNvSpPr txBox="1"/>
          <p:nvPr/>
        </p:nvSpPr>
        <p:spPr>
          <a:xfrm>
            <a:off x="6377940" y="3566160"/>
            <a:ext cx="2201418" cy="310896"/>
          </a:xfrm>
          <a:prstGeom prst="rect">
            <a:avLst/>
          </a:prstGeom>
          <a:noFill/>
        </p:spPr>
        <p:txBody>
          <a:bodyPr wrap="square" lIns="0" tIns="0" rIns="0" bIns="0" anchor="t">
            <a:spAutoFit/>
          </a:bodyPr>
          <a:lstStyle/>
          <a:p>
            <a:pPr algn="l">
              <a:lnSpc>
                <a:spcPct val="122000"/>
              </a:lnSpc>
              <a:spcAft>
                <a:spcPts val="0"/>
              </a:spcAft>
            </a:pPr>
            <a:r>
              <a:rPr sz="1600" b="1" i="0">
                <a:solidFill>
                  <a:srgbClr val="00335C"/>
                </a:solidFill>
                <a:latin typeface="Segoe UI"/>
              </a:rPr>
              <a:t>Corrosión</a:t>
            </a:r>
          </a:p>
        </p:txBody>
      </p:sp>
      <p:sp>
        <p:nvSpPr>
          <p:cNvPr id="30" name="TextBox 29"/>
          <p:cNvSpPr txBox="1"/>
          <p:nvPr/>
        </p:nvSpPr>
        <p:spPr>
          <a:xfrm>
            <a:off x="6377940" y="3950208"/>
            <a:ext cx="2201418" cy="685800"/>
          </a:xfrm>
          <a:prstGeom prst="rect">
            <a:avLst/>
          </a:prstGeom>
          <a:noFill/>
        </p:spPr>
        <p:txBody>
          <a:bodyPr wrap="square" lIns="0" tIns="0" rIns="0" bIns="0" anchor="t">
            <a:spAutoFit/>
          </a:bodyPr>
          <a:lstStyle/>
          <a:p>
            <a:pPr algn="l">
              <a:lnSpc>
                <a:spcPct val="122000"/>
              </a:lnSpc>
              <a:spcAft>
                <a:spcPts val="0"/>
              </a:spcAft>
            </a:pPr>
            <a:r>
              <a:rPr sz="1150" b="0" i="0">
                <a:solidFill>
                  <a:srgbClr val="5C6B7A"/>
                </a:solidFill>
                <a:latin typeface="Segoe UI"/>
              </a:rPr>
              <a:t>Agua o humedad por sellado ineficaz.</a:t>
            </a:r>
          </a:p>
        </p:txBody>
      </p:sp>
      <p:sp>
        <p:nvSpPr>
          <p:cNvPr id="31" name="Rectangle 30"/>
          <p:cNvSpPr/>
          <p:nvPr/>
        </p:nvSpPr>
        <p:spPr>
          <a:xfrm>
            <a:off x="6377940" y="4700016"/>
            <a:ext cx="2201418" cy="530352"/>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9380" y="4736592"/>
            <a:ext cx="2018538" cy="457200"/>
          </a:xfrm>
          <a:prstGeom prst="rect">
            <a:avLst/>
          </a:prstGeom>
          <a:noFill/>
        </p:spPr>
        <p:txBody>
          <a:bodyPr wrap="square" lIns="0" tIns="0" rIns="0" bIns="0" anchor="ctr">
            <a:spAutoFit/>
          </a:bodyPr>
          <a:lstStyle/>
          <a:p>
            <a:pPr algn="l">
              <a:lnSpc>
                <a:spcPct val="110000"/>
              </a:lnSpc>
              <a:spcAft>
                <a:spcPts val="0"/>
              </a:spcAft>
            </a:pPr>
            <a:r>
              <a:rPr sz="1050" b="1" i="0">
                <a:solidFill>
                  <a:srgbClr val="00335C"/>
                </a:solidFill>
                <a:latin typeface="Segoe UI"/>
              </a:rPr>
              <a:t>Mejorar el sellado y el lubricante.</a:t>
            </a:r>
          </a:p>
        </p:txBody>
      </p:sp>
      <p:sp>
        <p:nvSpPr>
          <p:cNvPr id="33" name="Rectangle 32"/>
          <p:cNvSpPr/>
          <p:nvPr/>
        </p:nvSpPr>
        <p:spPr>
          <a:xfrm>
            <a:off x="8963406"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963406"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rod_estrias.jpg"/>
          <p:cNvPicPr>
            <a:picLocks noChangeAspect="1"/>
          </p:cNvPicPr>
          <p:nvPr/>
        </p:nvPicPr>
        <p:blipFill>
          <a:blip r:embed="rId7"/>
          <a:srcRect l="535" r="535"/>
          <a:stretch>
            <a:fillRect/>
          </a:stretch>
        </p:blipFill>
        <p:spPr>
          <a:xfrm>
            <a:off x="8963406" y="1728216"/>
            <a:ext cx="2567178" cy="1691640"/>
          </a:xfrm>
          <a:prstGeom prst="rect">
            <a:avLst/>
          </a:prstGeom>
        </p:spPr>
      </p:pic>
      <p:sp>
        <p:nvSpPr>
          <p:cNvPr id="36" name="TextBox 35"/>
          <p:cNvSpPr txBox="1"/>
          <p:nvPr/>
        </p:nvSpPr>
        <p:spPr>
          <a:xfrm>
            <a:off x="9146286" y="3566160"/>
            <a:ext cx="2201418" cy="310896"/>
          </a:xfrm>
          <a:prstGeom prst="rect">
            <a:avLst/>
          </a:prstGeom>
          <a:noFill/>
        </p:spPr>
        <p:txBody>
          <a:bodyPr wrap="square" lIns="0" tIns="0" rIns="0" bIns="0" anchor="t">
            <a:spAutoFit/>
          </a:bodyPr>
          <a:lstStyle/>
          <a:p>
            <a:pPr algn="l">
              <a:lnSpc>
                <a:spcPct val="122000"/>
              </a:lnSpc>
              <a:spcAft>
                <a:spcPts val="0"/>
              </a:spcAft>
            </a:pPr>
            <a:r>
              <a:rPr sz="1600" b="1" i="0">
                <a:solidFill>
                  <a:srgbClr val="00335C"/>
                </a:solidFill>
                <a:latin typeface="Segoe UI"/>
              </a:rPr>
              <a:t>Estrías</a:t>
            </a:r>
          </a:p>
        </p:txBody>
      </p:sp>
      <p:sp>
        <p:nvSpPr>
          <p:cNvPr id="37" name="TextBox 36"/>
          <p:cNvSpPr txBox="1"/>
          <p:nvPr/>
        </p:nvSpPr>
        <p:spPr>
          <a:xfrm>
            <a:off x="9146286" y="3950208"/>
            <a:ext cx="2201418" cy="685800"/>
          </a:xfrm>
          <a:prstGeom prst="rect">
            <a:avLst/>
          </a:prstGeom>
          <a:noFill/>
        </p:spPr>
        <p:txBody>
          <a:bodyPr wrap="square" lIns="0" tIns="0" rIns="0" bIns="0" anchor="t">
            <a:spAutoFit/>
          </a:bodyPr>
          <a:lstStyle/>
          <a:p>
            <a:pPr algn="l">
              <a:lnSpc>
                <a:spcPct val="122000"/>
              </a:lnSpc>
              <a:spcAft>
                <a:spcPts val="0"/>
              </a:spcAft>
            </a:pPr>
            <a:r>
              <a:rPr sz="1150" b="0" i="0">
                <a:solidFill>
                  <a:srgbClr val="5C6B7A"/>
                </a:solidFill>
                <a:latin typeface="Segoe UI"/>
              </a:rPr>
              <a:t>Paso de corriente eléctrica por el rodamiento.</a:t>
            </a:r>
          </a:p>
        </p:txBody>
      </p:sp>
      <p:sp>
        <p:nvSpPr>
          <p:cNvPr id="38" name="Rectangle 37"/>
          <p:cNvSpPr/>
          <p:nvPr/>
        </p:nvSpPr>
        <p:spPr>
          <a:xfrm>
            <a:off x="9146286" y="4700016"/>
            <a:ext cx="2201418" cy="530352"/>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37726" y="4736592"/>
            <a:ext cx="2018538" cy="457200"/>
          </a:xfrm>
          <a:prstGeom prst="rect">
            <a:avLst/>
          </a:prstGeom>
          <a:noFill/>
        </p:spPr>
        <p:txBody>
          <a:bodyPr wrap="square" lIns="0" tIns="0" rIns="0" bIns="0" anchor="ctr">
            <a:spAutoFit/>
          </a:bodyPr>
          <a:lstStyle/>
          <a:p>
            <a:pPr algn="l">
              <a:lnSpc>
                <a:spcPct val="110000"/>
              </a:lnSpc>
              <a:spcAft>
                <a:spcPts val="0"/>
              </a:spcAft>
            </a:pPr>
            <a:r>
              <a:rPr sz="1050" b="1" i="0">
                <a:solidFill>
                  <a:srgbClr val="00335C"/>
                </a:solidFill>
                <a:latin typeface="Segoe UI"/>
              </a:rPr>
              <a:t>Aislar el rodamiento o poner a tierra el eje.</a:t>
            </a:r>
          </a:p>
        </p:txBody>
      </p:sp>
      <p:sp>
        <p:nvSpPr>
          <p:cNvPr id="40" name="Rectangle 39"/>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Cambiar el rodamiento sin leer la huella es un desvare: la causa sigue activa y la falla se vuelve reiterativa.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3</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Consecución, fabricación o recuperación de partes</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18</a:t>
            </a:r>
            <a:endParaRPr lang="en-US" sz="1000" dirty="0"/>
          </a:p>
        </p:txBody>
      </p:sp>
      <p:sp>
        <p:nvSpPr>
          <p:cNvPr id="10" name="Shape 7"/>
          <p:cNvSpPr/>
          <p:nvPr/>
        </p:nvSpPr>
        <p:spPr>
          <a:xfrm>
            <a:off x="658368" y="1920240"/>
            <a:ext cx="10872216" cy="1554480"/>
          </a:xfrm>
          <a:prstGeom prst="rect">
            <a:avLst/>
          </a:prstGeom>
          <a:solidFill>
            <a:srgbClr val="E8F0F7"/>
          </a:solidFill>
          <a:ln/>
        </p:spPr>
      </p:sp>
      <p:sp>
        <p:nvSpPr>
          <p:cNvPr id="11" name="Shape 8"/>
          <p:cNvSpPr/>
          <p:nvPr/>
        </p:nvSpPr>
        <p:spPr>
          <a:xfrm>
            <a:off x="658368" y="1920240"/>
            <a:ext cx="64008" cy="1554480"/>
          </a:xfrm>
          <a:prstGeom prst="rect">
            <a:avLst/>
          </a:prstGeom>
          <a:solidFill>
            <a:srgbClr val="004B85"/>
          </a:solidFill>
          <a:ln/>
        </p:spPr>
      </p:sp>
      <p:sp>
        <p:nvSpPr>
          <p:cNvPr id="12" name="Text 9"/>
          <p:cNvSpPr txBox="1"/>
          <p:nvPr/>
        </p:nvSpPr>
        <p:spPr>
          <a:xfrm>
            <a:off x="1097280" y="1920240"/>
            <a:ext cx="9966960" cy="1554480"/>
          </a:xfrm>
          <a:prstGeom prst="rect">
            <a:avLst/>
          </a:prstGeom>
          <a:noFill/>
          <a:ln/>
        </p:spPr>
        <p:txBody>
          <a:bodyPr wrap="square" lIns="0" tIns="0" rIns="0" bIns="0" rtlCol="0" anchor="ctr"/>
          <a:lstStyle/>
          <a:p>
            <a:pPr marL="0" indent="0">
              <a:lnSpc>
                <a:spcPts val="3300"/>
              </a:lnSpc>
              <a:buNone/>
            </a:pPr>
            <a:r>
              <a:rPr lang="en-US" sz="2400" b="1" dirty="0">
                <a:solidFill>
                  <a:srgbClr val="00335C"/>
                </a:solidFill>
                <a:latin typeface="Segoe UI" pitchFamily="34" charset="0"/>
                <a:ea typeface="Segoe UI" pitchFamily="34" charset="-122"/>
                <a:cs typeface="Segoe UI" pitchFamily="34" charset="-120"/>
              </a:rPr>
              <a:t>Consecución, fabricación o recuperación de las partes requeridas para la reparación.</a:t>
            </a:r>
            <a:endParaRPr lang="en-US" sz="2400" dirty="0"/>
          </a:p>
        </p:txBody>
      </p:sp>
      <p:sp>
        <p:nvSpPr>
          <p:cNvPr id="13" name="Shape 10"/>
          <p:cNvSpPr/>
          <p:nvPr/>
        </p:nvSpPr>
        <p:spPr>
          <a:xfrm>
            <a:off x="658368" y="3913632"/>
            <a:ext cx="10872216" cy="1005840"/>
          </a:xfrm>
          <a:prstGeom prst="rect">
            <a:avLst/>
          </a:prstGeom>
          <a:solidFill>
            <a:srgbClr val="00335C"/>
          </a:solidFill>
          <a:ln/>
        </p:spPr>
      </p:sp>
      <p:sp>
        <p:nvSpPr>
          <p:cNvPr id="14" name="Text 11"/>
          <p:cNvSpPr txBox="1"/>
          <p:nvPr/>
        </p:nvSpPr>
        <p:spPr>
          <a:xfrm>
            <a:off x="658368" y="3913632"/>
            <a:ext cx="10872216" cy="1005840"/>
          </a:xfrm>
          <a:prstGeom prst="rect">
            <a:avLst/>
          </a:prstGeom>
          <a:noFill/>
          <a:ln/>
        </p:spPr>
        <p:txBody>
          <a:bodyPr wrap="square" lIns="0" tIns="0" rIns="0" bIns="0" rtlCol="0" anchor="ctr"/>
          <a:lstStyle/>
          <a:p>
            <a:pPr marL="0" indent="0" algn="ctr">
              <a:buNone/>
            </a:pPr>
            <a:r>
              <a:rPr lang="en-US" sz="3000" b="1" kern="0" spc="60" dirty="0">
                <a:solidFill>
                  <a:srgbClr val="FFB903"/>
                </a:solidFill>
                <a:latin typeface="Segoe UI" pitchFamily="34" charset="0"/>
                <a:ea typeface="Segoe UI" pitchFamily="34" charset="-122"/>
                <a:cs typeface="Segoe UI" pitchFamily="34" charset="-120"/>
              </a:rPr>
              <a:t>¿REEMPLAZAR O RECUPERAR?</a:t>
            </a:r>
            <a:endParaRPr lang="en-US" sz="3000" dirty="0"/>
          </a:p>
        </p:txBody>
      </p:sp>
      <p:sp>
        <p:nvSpPr>
          <p:cNvPr id="15" name="Shape 12"/>
          <p:cNvSpPr/>
          <p:nvPr/>
        </p:nvSpPr>
        <p:spPr>
          <a:xfrm>
            <a:off x="658368" y="5559552"/>
            <a:ext cx="10872216" cy="420624"/>
          </a:xfrm>
          <a:prstGeom prst="rect">
            <a:avLst/>
          </a:prstGeom>
          <a:solidFill>
            <a:srgbClr val="E8F0F7"/>
          </a:solidFill>
          <a:ln/>
        </p:spPr>
      </p:sp>
      <p:sp>
        <p:nvSpPr>
          <p:cNvPr id="16" name="Shape 13"/>
          <p:cNvSpPr/>
          <p:nvPr/>
        </p:nvSpPr>
        <p:spPr>
          <a:xfrm>
            <a:off x="658368" y="5559552"/>
            <a:ext cx="54864" cy="420624"/>
          </a:xfrm>
          <a:prstGeom prst="rect">
            <a:avLst/>
          </a:prstGeom>
          <a:solidFill>
            <a:srgbClr val="004B85"/>
          </a:solidFill>
          <a:ln/>
        </p:spPr>
      </p:sp>
      <p:sp>
        <p:nvSpPr>
          <p:cNvPr id="17" name="Text 14"/>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respuesta define el resto del procedimiento: si se recupera, hay que calificar procedimientos y preparar herramientas especiales.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ACTIVIDADES 3.1 Y 3.2</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2800" b="1" dirty="0">
                <a:solidFill>
                  <a:srgbClr val="00335C"/>
                </a:solidFill>
                <a:latin typeface="Segoe UI" pitchFamily="34" charset="0"/>
                <a:ea typeface="Segoe UI" pitchFamily="34" charset="-122"/>
                <a:cs typeface="Segoe UI" pitchFamily="34" charset="-120"/>
              </a:rPr>
              <a:t>Procedimientos y herramientas para la recuperación</a:t>
            </a:r>
            <a:endParaRPr lang="en-US" sz="28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19</a:t>
            </a:r>
            <a:endParaRPr lang="en-US" sz="1000" dirty="0"/>
          </a:p>
        </p:txBody>
      </p:sp>
      <p:sp>
        <p:nvSpPr>
          <p:cNvPr id="10" name="Shape 7"/>
          <p:cNvSpPr/>
          <p:nvPr/>
        </p:nvSpPr>
        <p:spPr>
          <a:xfrm>
            <a:off x="658368" y="1737360"/>
            <a:ext cx="5294376" cy="3529584"/>
          </a:xfrm>
          <a:prstGeom prst="rect">
            <a:avLst/>
          </a:prstGeom>
          <a:solidFill>
            <a:srgbClr val="F4F7FA"/>
          </a:solidFill>
          <a:ln w="9525">
            <a:solidFill>
              <a:srgbClr val="D5DDE5"/>
            </a:solidFill>
            <a:prstDash val="solid"/>
          </a:ln>
        </p:spPr>
      </p:sp>
      <p:sp>
        <p:nvSpPr>
          <p:cNvPr id="11" name="Shape 8"/>
          <p:cNvSpPr/>
          <p:nvPr/>
        </p:nvSpPr>
        <p:spPr>
          <a:xfrm>
            <a:off x="658368" y="1737360"/>
            <a:ext cx="5294376" cy="64008"/>
          </a:xfrm>
          <a:prstGeom prst="rect">
            <a:avLst/>
          </a:prstGeom>
          <a:solidFill>
            <a:srgbClr val="004B85"/>
          </a:solidFill>
          <a:ln/>
        </p:spPr>
      </p:sp>
      <p:sp>
        <p:nvSpPr>
          <p:cNvPr id="12" name="Shape 9"/>
          <p:cNvSpPr/>
          <p:nvPr/>
        </p:nvSpPr>
        <p:spPr>
          <a:xfrm>
            <a:off x="914400" y="1993392"/>
            <a:ext cx="384048" cy="384048"/>
          </a:xfrm>
          <a:prstGeom prst="rect">
            <a:avLst/>
          </a:prstGeom>
          <a:solidFill>
            <a:srgbClr val="004B85"/>
          </a:solidFill>
          <a:ln/>
        </p:spPr>
      </p:sp>
      <p:sp>
        <p:nvSpPr>
          <p:cNvPr id="13" name="Text 10"/>
          <p:cNvSpPr txBox="1"/>
          <p:nvPr/>
        </p:nvSpPr>
        <p:spPr>
          <a:xfrm>
            <a:off x="914400" y="2048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3.1</a:t>
            </a:r>
            <a:endParaRPr lang="en-US" sz="1500" dirty="0"/>
          </a:p>
        </p:txBody>
      </p:sp>
      <p:sp>
        <p:nvSpPr>
          <p:cNvPr id="14" name="Text 11"/>
          <p:cNvSpPr txBox="1"/>
          <p:nvPr/>
        </p:nvSpPr>
        <p:spPr>
          <a:xfrm>
            <a:off x="914400" y="2542032"/>
            <a:ext cx="4782312" cy="402336"/>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Procedimientos de soldadura</a:t>
            </a:r>
            <a:endParaRPr lang="en-US" sz="1900" dirty="0"/>
          </a:p>
        </p:txBody>
      </p:sp>
      <p:sp>
        <p:nvSpPr>
          <p:cNvPr id="15" name="Text 12"/>
          <p:cNvSpPr txBox="1"/>
          <p:nvPr/>
        </p:nvSpPr>
        <p:spPr>
          <a:xfrm>
            <a:off x="914400" y="3035808"/>
            <a:ext cx="4782312" cy="1280160"/>
          </a:xfrm>
          <a:prstGeom prst="rect">
            <a:avLst/>
          </a:prstGeom>
          <a:noFill/>
          <a:ln/>
        </p:spPr>
        <p:txBody>
          <a:bodyPr wrap="square" lIns="0" tIns="0" rIns="0" bIns="0" rtlCol="0" anchor="ctr"/>
          <a:lstStyle/>
          <a:p>
            <a:pPr marL="0" indent="0">
              <a:lnSpc>
                <a:spcPts val="2100"/>
              </a:lnSpc>
              <a:buNone/>
            </a:pPr>
            <a:r>
              <a:rPr lang="en-US" sz="1500" dirty="0">
                <a:solidFill>
                  <a:srgbClr val="5C6B7A"/>
                </a:solidFill>
                <a:latin typeface="Segoe UI" pitchFamily="34" charset="0"/>
                <a:ea typeface="Segoe UI" pitchFamily="34" charset="-122"/>
                <a:cs typeface="Segoe UI" pitchFamily="34" charset="-120"/>
              </a:rPr>
              <a:t>Elaboración y calificación de procedimientos para el caso de actividades de recuperación con soldadura.</a:t>
            </a:r>
            <a:endParaRPr lang="en-US" sz="1500" dirty="0"/>
          </a:p>
        </p:txBody>
      </p:sp>
      <p:sp>
        <p:nvSpPr>
          <p:cNvPr id="16" name="Shape 13"/>
          <p:cNvSpPr/>
          <p:nvPr/>
        </p:nvSpPr>
        <p:spPr>
          <a:xfrm>
            <a:off x="6236208" y="1737360"/>
            <a:ext cx="5294376" cy="3529584"/>
          </a:xfrm>
          <a:prstGeom prst="rect">
            <a:avLst/>
          </a:prstGeom>
          <a:solidFill>
            <a:srgbClr val="F4F7FA"/>
          </a:solidFill>
          <a:ln w="9525">
            <a:solidFill>
              <a:srgbClr val="D5DDE5"/>
            </a:solidFill>
            <a:prstDash val="solid"/>
          </a:ln>
        </p:spPr>
      </p:sp>
      <p:sp>
        <p:nvSpPr>
          <p:cNvPr id="17" name="Shape 14"/>
          <p:cNvSpPr/>
          <p:nvPr/>
        </p:nvSpPr>
        <p:spPr>
          <a:xfrm>
            <a:off x="6236208" y="1737360"/>
            <a:ext cx="5294376" cy="64008"/>
          </a:xfrm>
          <a:prstGeom prst="rect">
            <a:avLst/>
          </a:prstGeom>
          <a:solidFill>
            <a:srgbClr val="FFB903"/>
          </a:solidFill>
          <a:ln/>
        </p:spPr>
      </p:sp>
      <p:sp>
        <p:nvSpPr>
          <p:cNvPr id="18" name="Shape 15"/>
          <p:cNvSpPr/>
          <p:nvPr/>
        </p:nvSpPr>
        <p:spPr>
          <a:xfrm>
            <a:off x="6492240" y="1993392"/>
            <a:ext cx="384048" cy="384048"/>
          </a:xfrm>
          <a:prstGeom prst="rect">
            <a:avLst/>
          </a:prstGeom>
          <a:solidFill>
            <a:srgbClr val="FFB903"/>
          </a:solidFill>
          <a:ln/>
        </p:spPr>
      </p:sp>
      <p:sp>
        <p:nvSpPr>
          <p:cNvPr id="19" name="Text 16"/>
          <p:cNvSpPr txBox="1"/>
          <p:nvPr/>
        </p:nvSpPr>
        <p:spPr>
          <a:xfrm>
            <a:off x="6492240" y="2048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3.2</a:t>
            </a:r>
            <a:endParaRPr lang="en-US" sz="1500" dirty="0"/>
          </a:p>
        </p:txBody>
      </p:sp>
      <p:sp>
        <p:nvSpPr>
          <p:cNvPr id="20" name="Text 17"/>
          <p:cNvSpPr txBox="1"/>
          <p:nvPr/>
        </p:nvSpPr>
        <p:spPr>
          <a:xfrm>
            <a:off x="6492240" y="2542032"/>
            <a:ext cx="4782312" cy="402336"/>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Herramientas y dispositivos</a:t>
            </a:r>
            <a:endParaRPr lang="en-US" sz="1900" dirty="0"/>
          </a:p>
        </p:txBody>
      </p:sp>
      <p:sp>
        <p:nvSpPr>
          <p:cNvPr id="21" name="Text 18"/>
          <p:cNvSpPr txBox="1"/>
          <p:nvPr/>
        </p:nvSpPr>
        <p:spPr>
          <a:xfrm>
            <a:off x="6492240" y="3035808"/>
            <a:ext cx="4782312" cy="1463040"/>
          </a:xfrm>
          <a:prstGeom prst="rect">
            <a:avLst/>
          </a:prstGeom>
          <a:noFill/>
          <a:ln/>
        </p:spPr>
        <p:txBody>
          <a:bodyPr wrap="square" lIns="0" tIns="0" rIns="0" bIns="0" rtlCol="0" anchor="ctr"/>
          <a:lstStyle/>
          <a:p>
            <a:pPr marL="0" indent="0">
              <a:lnSpc>
                <a:spcPts val="2100"/>
              </a:lnSpc>
              <a:buNone/>
            </a:pPr>
            <a:r>
              <a:rPr lang="en-US" sz="1500" dirty="0">
                <a:solidFill>
                  <a:srgbClr val="5C6B7A"/>
                </a:solidFill>
                <a:latin typeface="Segoe UI" pitchFamily="34" charset="0"/>
                <a:ea typeface="Segoe UI" pitchFamily="34" charset="-122"/>
                <a:cs typeface="Segoe UI" pitchFamily="34" charset="-120"/>
              </a:rPr>
              <a:t>Consecución o diseño y fabricación de herramientas especiales, plantillas y mecanismos o dispositivos auxiliares requeridos para la reparación.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ACTIVIDADES 4 Y 5</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Ejecución de la reparación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20</a:t>
            </a:r>
            <a:endParaRPr lang="en-US" sz="1000" dirty="0"/>
          </a:p>
        </p:txBody>
      </p:sp>
      <p:sp>
        <p:nvSpPr>
          <p:cNvPr id="10" name="Shape 7"/>
          <p:cNvSpPr/>
          <p:nvPr/>
        </p:nvSpPr>
        <p:spPr>
          <a:xfrm>
            <a:off x="658368" y="1737360"/>
            <a:ext cx="5294376" cy="2212848"/>
          </a:xfrm>
          <a:prstGeom prst="rect">
            <a:avLst/>
          </a:prstGeom>
          <a:solidFill>
            <a:srgbClr val="F4F7FA"/>
          </a:solidFill>
          <a:ln w="9525">
            <a:solidFill>
              <a:srgbClr val="D5DDE5"/>
            </a:solidFill>
            <a:prstDash val="solid"/>
          </a:ln>
        </p:spPr>
      </p:sp>
      <p:sp>
        <p:nvSpPr>
          <p:cNvPr id="11" name="Shape 8"/>
          <p:cNvSpPr/>
          <p:nvPr/>
        </p:nvSpPr>
        <p:spPr>
          <a:xfrm>
            <a:off x="658368" y="1737360"/>
            <a:ext cx="5294376" cy="64008"/>
          </a:xfrm>
          <a:prstGeom prst="rect">
            <a:avLst/>
          </a:prstGeom>
          <a:solidFill>
            <a:srgbClr val="004B85"/>
          </a:solidFill>
          <a:ln/>
        </p:spPr>
      </p:sp>
      <p:sp>
        <p:nvSpPr>
          <p:cNvPr id="12" name="Shape 9"/>
          <p:cNvSpPr/>
          <p:nvPr/>
        </p:nvSpPr>
        <p:spPr>
          <a:xfrm>
            <a:off x="914400" y="1993392"/>
            <a:ext cx="384048" cy="384048"/>
          </a:xfrm>
          <a:prstGeom prst="rect">
            <a:avLst/>
          </a:prstGeom>
          <a:solidFill>
            <a:srgbClr val="004B85"/>
          </a:solidFill>
          <a:ln/>
        </p:spPr>
      </p:sp>
      <p:sp>
        <p:nvSpPr>
          <p:cNvPr id="13" name="Text 10"/>
          <p:cNvSpPr txBox="1"/>
          <p:nvPr/>
        </p:nvSpPr>
        <p:spPr>
          <a:xfrm>
            <a:off x="914400" y="2048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14" name="Text 11"/>
          <p:cNvSpPr txBox="1"/>
          <p:nvPr/>
        </p:nvSpPr>
        <p:spPr>
          <a:xfrm>
            <a:off x="914400" y="2542032"/>
            <a:ext cx="4782312"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Proceso de reparación</a:t>
            </a:r>
            <a:endParaRPr lang="en-US" sz="1900" dirty="0"/>
          </a:p>
        </p:txBody>
      </p:sp>
      <p:sp>
        <p:nvSpPr>
          <p:cNvPr id="15" name="Text 12"/>
          <p:cNvSpPr txBox="1"/>
          <p:nvPr/>
        </p:nvSpPr>
        <p:spPr>
          <a:xfrm>
            <a:off x="914400" y="2962656"/>
            <a:ext cx="4782312" cy="822960"/>
          </a:xfrm>
          <a:prstGeom prst="rect">
            <a:avLst/>
          </a:prstGeom>
          <a:noFill/>
          <a:ln/>
        </p:spPr>
        <p:txBody>
          <a:bodyPr wrap="square" lIns="0" tIns="0" rIns="0" bIns="0" rtlCol="0" anchor="ctr"/>
          <a:lstStyle/>
          <a:p>
            <a:pPr marL="0" indent="0">
              <a:lnSpc>
                <a:spcPts val="1800"/>
              </a:lnSpc>
              <a:buNone/>
            </a:pPr>
            <a:r>
              <a:rPr lang="en-US" sz="1500" dirty="0">
                <a:solidFill>
                  <a:srgbClr val="5C6B7A"/>
                </a:solidFill>
                <a:latin typeface="Segoe UI" pitchFamily="34" charset="0"/>
                <a:ea typeface="Segoe UI" pitchFamily="34" charset="-122"/>
                <a:cs typeface="Segoe UI" pitchFamily="34" charset="-120"/>
              </a:rPr>
              <a:t>Desmontaje, sustituciones y montaje de partes.</a:t>
            </a:r>
            <a:endParaRPr lang="en-US" sz="1500" dirty="0"/>
          </a:p>
        </p:txBody>
      </p:sp>
      <p:sp>
        <p:nvSpPr>
          <p:cNvPr id="16" name="Shape 13"/>
          <p:cNvSpPr/>
          <p:nvPr/>
        </p:nvSpPr>
        <p:spPr>
          <a:xfrm>
            <a:off x="6236208" y="1737360"/>
            <a:ext cx="5294376" cy="2212848"/>
          </a:xfrm>
          <a:prstGeom prst="rect">
            <a:avLst/>
          </a:prstGeom>
          <a:solidFill>
            <a:srgbClr val="F4F7FA"/>
          </a:solidFill>
          <a:ln w="9525">
            <a:solidFill>
              <a:srgbClr val="D5DDE5"/>
            </a:solidFill>
            <a:prstDash val="solid"/>
          </a:ln>
        </p:spPr>
      </p:sp>
      <p:sp>
        <p:nvSpPr>
          <p:cNvPr id="17" name="Shape 14"/>
          <p:cNvSpPr/>
          <p:nvPr/>
        </p:nvSpPr>
        <p:spPr>
          <a:xfrm>
            <a:off x="6236208" y="1737360"/>
            <a:ext cx="5294376" cy="64008"/>
          </a:xfrm>
          <a:prstGeom prst="rect">
            <a:avLst/>
          </a:prstGeom>
          <a:solidFill>
            <a:srgbClr val="FFB903"/>
          </a:solidFill>
          <a:ln/>
        </p:spPr>
      </p:sp>
      <p:sp>
        <p:nvSpPr>
          <p:cNvPr id="18" name="Shape 15"/>
          <p:cNvSpPr/>
          <p:nvPr/>
        </p:nvSpPr>
        <p:spPr>
          <a:xfrm>
            <a:off x="6492240" y="1993392"/>
            <a:ext cx="384048" cy="384048"/>
          </a:xfrm>
          <a:prstGeom prst="rect">
            <a:avLst/>
          </a:prstGeom>
          <a:solidFill>
            <a:srgbClr val="FFB903"/>
          </a:solidFill>
          <a:ln/>
        </p:spPr>
      </p:sp>
      <p:sp>
        <p:nvSpPr>
          <p:cNvPr id="19" name="Text 16"/>
          <p:cNvSpPr txBox="1"/>
          <p:nvPr/>
        </p:nvSpPr>
        <p:spPr>
          <a:xfrm>
            <a:off x="6492240" y="204825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20" name="Text 17"/>
          <p:cNvSpPr txBox="1"/>
          <p:nvPr/>
        </p:nvSpPr>
        <p:spPr>
          <a:xfrm>
            <a:off x="6492240" y="2542032"/>
            <a:ext cx="4782312"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Verificaciones y pruebas</a:t>
            </a:r>
            <a:endParaRPr lang="en-US" sz="1900" dirty="0"/>
          </a:p>
        </p:txBody>
      </p:sp>
      <p:sp>
        <p:nvSpPr>
          <p:cNvPr id="21" name="Text 18"/>
          <p:cNvSpPr txBox="1"/>
          <p:nvPr/>
        </p:nvSpPr>
        <p:spPr>
          <a:xfrm>
            <a:off x="6492240" y="2962656"/>
            <a:ext cx="4782312" cy="822960"/>
          </a:xfrm>
          <a:prstGeom prst="rect">
            <a:avLst/>
          </a:prstGeom>
          <a:noFill/>
          <a:ln/>
        </p:spPr>
        <p:txBody>
          <a:bodyPr wrap="square" lIns="0" tIns="0" rIns="0" bIns="0" rtlCol="0" anchor="ctr"/>
          <a:lstStyle/>
          <a:p>
            <a:pPr marL="0" indent="0">
              <a:lnSpc>
                <a:spcPts val="2100"/>
              </a:lnSpc>
              <a:buNone/>
            </a:pPr>
            <a:r>
              <a:rPr lang="en-US" sz="1500" dirty="0">
                <a:solidFill>
                  <a:srgbClr val="5C6B7A"/>
                </a:solidFill>
                <a:latin typeface="Segoe UI" pitchFamily="34" charset="0"/>
                <a:ea typeface="Segoe UI" pitchFamily="34" charset="-122"/>
                <a:cs typeface="Segoe UI" pitchFamily="34" charset="-120"/>
              </a:rPr>
              <a:t>Comprobación de que el equipo recuperó sus condiciones estándares.</a:t>
            </a:r>
            <a:endParaRPr lang="en-US" sz="1500" dirty="0"/>
          </a:p>
        </p:txBody>
      </p:sp>
      <p:sp>
        <p:nvSpPr>
          <p:cNvPr id="22" name="Shape 19"/>
          <p:cNvSpPr/>
          <p:nvPr/>
        </p:nvSpPr>
        <p:spPr>
          <a:xfrm>
            <a:off x="658368" y="4370832"/>
            <a:ext cx="10872216" cy="1005840"/>
          </a:xfrm>
          <a:prstGeom prst="rect">
            <a:avLst/>
          </a:prstGeom>
          <a:solidFill>
            <a:srgbClr val="00335C"/>
          </a:solidFill>
          <a:ln/>
        </p:spPr>
      </p:sp>
      <p:sp>
        <p:nvSpPr>
          <p:cNvPr id="23" name="Text 20"/>
          <p:cNvSpPr txBox="1"/>
          <p:nvPr/>
        </p:nvSpPr>
        <p:spPr>
          <a:xfrm>
            <a:off x="658368" y="4370832"/>
            <a:ext cx="10872216" cy="1005840"/>
          </a:xfrm>
          <a:prstGeom prst="rect">
            <a:avLst/>
          </a:prstGeom>
          <a:noFill/>
          <a:ln/>
        </p:spPr>
        <p:txBody>
          <a:bodyPr wrap="square" lIns="0" tIns="0" rIns="0" bIns="0" rtlCol="0" anchor="ctr"/>
          <a:lstStyle/>
          <a:p>
            <a:pPr marL="0" indent="0" algn="ctr">
              <a:buNone/>
            </a:pPr>
            <a:r>
              <a:rPr lang="en-US" sz="3000" b="1" kern="0" spc="60" dirty="0">
                <a:solidFill>
                  <a:srgbClr val="FFB903"/>
                </a:solidFill>
                <a:latin typeface="Segoe UI" pitchFamily="34" charset="0"/>
                <a:ea typeface="Segoe UI" pitchFamily="34" charset="-122"/>
                <a:cs typeface="Segoe UI" pitchFamily="34" charset="-120"/>
              </a:rPr>
              <a:t>ELABORAR GUÍA DE REPARACIÓN</a:t>
            </a:r>
            <a:endParaRPr lang="en-US" sz="3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DOCUMENTO RESULTANTE</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Guía de reparación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21</a:t>
            </a:r>
            <a:endParaRPr lang="en-US" sz="1000" dirty="0"/>
          </a:p>
        </p:txBody>
      </p:sp>
      <p:sp>
        <p:nvSpPr>
          <p:cNvPr id="10" name="Shape 7"/>
          <p:cNvSpPr/>
          <p:nvPr/>
        </p:nvSpPr>
        <p:spPr>
          <a:xfrm>
            <a:off x="658368" y="1682496"/>
            <a:ext cx="10872216" cy="1481328"/>
          </a:xfrm>
          <a:prstGeom prst="rect">
            <a:avLst/>
          </a:prstGeom>
          <a:solidFill>
            <a:srgbClr val="E8F0F7"/>
          </a:solidFill>
          <a:ln/>
        </p:spPr>
      </p:sp>
      <p:sp>
        <p:nvSpPr>
          <p:cNvPr id="11" name="Shape 8"/>
          <p:cNvSpPr/>
          <p:nvPr/>
        </p:nvSpPr>
        <p:spPr>
          <a:xfrm>
            <a:off x="658368" y="1682496"/>
            <a:ext cx="64008" cy="1481328"/>
          </a:xfrm>
          <a:prstGeom prst="rect">
            <a:avLst/>
          </a:prstGeom>
          <a:solidFill>
            <a:srgbClr val="004B85"/>
          </a:solidFill>
          <a:ln/>
        </p:spPr>
      </p:sp>
      <p:sp>
        <p:nvSpPr>
          <p:cNvPr id="12" name="Text 9"/>
          <p:cNvSpPr txBox="1"/>
          <p:nvPr/>
        </p:nvSpPr>
        <p:spPr>
          <a:xfrm>
            <a:off x="1097280" y="1682496"/>
            <a:ext cx="9966960" cy="1481328"/>
          </a:xfrm>
          <a:prstGeom prst="rect">
            <a:avLst/>
          </a:prstGeom>
          <a:noFill/>
          <a:ln/>
        </p:spPr>
        <p:txBody>
          <a:bodyPr wrap="square" lIns="0" tIns="0" rIns="0" bIns="0" rtlCol="0" anchor="ctr"/>
          <a:lstStyle/>
          <a:p>
            <a:pPr marL="0" indent="0">
              <a:lnSpc>
                <a:spcPts val="2900"/>
              </a:lnSpc>
              <a:buNone/>
            </a:pPr>
            <a:r>
              <a:rPr lang="en-US" sz="2100" b="1" dirty="0">
                <a:solidFill>
                  <a:srgbClr val="00335C"/>
                </a:solidFill>
                <a:latin typeface="Segoe UI" pitchFamily="34" charset="0"/>
                <a:ea typeface="Segoe UI" pitchFamily="34" charset="-122"/>
                <a:cs typeface="Segoe UI" pitchFamily="34" charset="-120"/>
              </a:rPr>
              <a:t>Instructivo que describe la manera de ejecutar una reparación en determinado equipo.</a:t>
            </a:r>
            <a:endParaRPr lang="en-US" sz="2100" dirty="0"/>
          </a:p>
        </p:txBody>
      </p:sp>
      <p:sp>
        <p:nvSpPr>
          <p:cNvPr id="13" name="Text 10"/>
          <p:cNvSpPr txBox="1"/>
          <p:nvPr/>
        </p:nvSpPr>
        <p:spPr>
          <a:xfrm>
            <a:off x="658368" y="3383280"/>
            <a:ext cx="5486400" cy="274320"/>
          </a:xfrm>
          <a:prstGeom prst="rect">
            <a:avLst/>
          </a:prstGeom>
          <a:noFill/>
          <a:ln/>
        </p:spPr>
        <p:txBody>
          <a:bodyPr wrap="square" lIns="0" tIns="0" rIns="0" bIns="0" rtlCol="0" anchor="ctr"/>
          <a:lstStyle/>
          <a:p>
            <a:pPr marL="0" indent="0">
              <a:buNone/>
            </a:pPr>
            <a:r>
              <a:rPr lang="en-US" sz="1200" b="1" kern="0" spc="100" dirty="0">
                <a:solidFill>
                  <a:srgbClr val="B88200"/>
                </a:solidFill>
                <a:latin typeface="Segoe UI" pitchFamily="34" charset="0"/>
                <a:ea typeface="Segoe UI" pitchFamily="34" charset="-122"/>
                <a:cs typeface="Segoe UI" pitchFamily="34" charset="-120"/>
              </a:rPr>
              <a:t>INCLUYE</a:t>
            </a:r>
            <a:endParaRPr lang="en-US" sz="1200" dirty="0"/>
          </a:p>
        </p:txBody>
      </p:sp>
      <p:sp>
        <p:nvSpPr>
          <p:cNvPr id="14" name="Shape 11"/>
          <p:cNvSpPr/>
          <p:nvPr/>
        </p:nvSpPr>
        <p:spPr>
          <a:xfrm>
            <a:off x="658368" y="3730752"/>
            <a:ext cx="3520440" cy="749808"/>
          </a:xfrm>
          <a:prstGeom prst="rect">
            <a:avLst/>
          </a:prstGeom>
          <a:solidFill>
            <a:srgbClr val="F4F7FA"/>
          </a:solidFill>
          <a:ln w="9525">
            <a:solidFill>
              <a:srgbClr val="D5DDE5"/>
            </a:solidFill>
            <a:prstDash val="solid"/>
          </a:ln>
        </p:spPr>
      </p:sp>
      <p:sp>
        <p:nvSpPr>
          <p:cNvPr id="15" name="Shape 12"/>
          <p:cNvSpPr/>
          <p:nvPr/>
        </p:nvSpPr>
        <p:spPr>
          <a:xfrm>
            <a:off x="658368" y="3730752"/>
            <a:ext cx="3520440" cy="45720"/>
          </a:xfrm>
          <a:prstGeom prst="rect">
            <a:avLst/>
          </a:prstGeom>
          <a:solidFill>
            <a:srgbClr val="004B85"/>
          </a:solidFill>
          <a:ln/>
        </p:spPr>
      </p:sp>
      <p:sp>
        <p:nvSpPr>
          <p:cNvPr id="16" name="Text 13"/>
          <p:cNvSpPr txBox="1"/>
          <p:nvPr/>
        </p:nvSpPr>
        <p:spPr>
          <a:xfrm>
            <a:off x="859536" y="3822192"/>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Identificación clara y precisa del equipo</a:t>
            </a:r>
            <a:endParaRPr lang="en-US" sz="1300" dirty="0"/>
          </a:p>
        </p:txBody>
      </p:sp>
      <p:sp>
        <p:nvSpPr>
          <p:cNvPr id="17" name="Shape 14"/>
          <p:cNvSpPr/>
          <p:nvPr/>
        </p:nvSpPr>
        <p:spPr>
          <a:xfrm>
            <a:off x="4334256" y="3730752"/>
            <a:ext cx="3520440" cy="749808"/>
          </a:xfrm>
          <a:prstGeom prst="rect">
            <a:avLst/>
          </a:prstGeom>
          <a:solidFill>
            <a:srgbClr val="F4F7FA"/>
          </a:solidFill>
          <a:ln w="9525">
            <a:solidFill>
              <a:srgbClr val="D5DDE5"/>
            </a:solidFill>
            <a:prstDash val="solid"/>
          </a:ln>
        </p:spPr>
      </p:sp>
      <p:sp>
        <p:nvSpPr>
          <p:cNvPr id="18" name="Shape 15"/>
          <p:cNvSpPr/>
          <p:nvPr/>
        </p:nvSpPr>
        <p:spPr>
          <a:xfrm>
            <a:off x="4334256" y="3730752"/>
            <a:ext cx="3520440" cy="45720"/>
          </a:xfrm>
          <a:prstGeom prst="rect">
            <a:avLst/>
          </a:prstGeom>
          <a:solidFill>
            <a:srgbClr val="004B85"/>
          </a:solidFill>
          <a:ln/>
        </p:spPr>
      </p:sp>
      <p:sp>
        <p:nvSpPr>
          <p:cNvPr id="19" name="Text 16"/>
          <p:cNvSpPr txBox="1"/>
          <p:nvPr/>
        </p:nvSpPr>
        <p:spPr>
          <a:xfrm>
            <a:off x="4535424" y="3822192"/>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Secuencia de actividades (hoja de ruta)</a:t>
            </a:r>
            <a:endParaRPr lang="en-US" sz="1300" dirty="0"/>
          </a:p>
        </p:txBody>
      </p:sp>
      <p:sp>
        <p:nvSpPr>
          <p:cNvPr id="20" name="Shape 17"/>
          <p:cNvSpPr/>
          <p:nvPr/>
        </p:nvSpPr>
        <p:spPr>
          <a:xfrm>
            <a:off x="8010144" y="3730752"/>
            <a:ext cx="3520440" cy="749808"/>
          </a:xfrm>
          <a:prstGeom prst="rect">
            <a:avLst/>
          </a:prstGeom>
          <a:solidFill>
            <a:srgbClr val="F4F7FA"/>
          </a:solidFill>
          <a:ln w="9525">
            <a:solidFill>
              <a:srgbClr val="D5DDE5"/>
            </a:solidFill>
            <a:prstDash val="solid"/>
          </a:ln>
        </p:spPr>
      </p:sp>
      <p:sp>
        <p:nvSpPr>
          <p:cNvPr id="21" name="Shape 18"/>
          <p:cNvSpPr/>
          <p:nvPr/>
        </p:nvSpPr>
        <p:spPr>
          <a:xfrm>
            <a:off x="8010144" y="3730752"/>
            <a:ext cx="3520440" cy="45720"/>
          </a:xfrm>
          <a:prstGeom prst="rect">
            <a:avLst/>
          </a:prstGeom>
          <a:solidFill>
            <a:srgbClr val="004B85"/>
          </a:solidFill>
          <a:ln/>
        </p:spPr>
      </p:sp>
      <p:sp>
        <p:nvSpPr>
          <p:cNvPr id="22" name="Text 19"/>
          <p:cNvSpPr txBox="1"/>
          <p:nvPr/>
        </p:nvSpPr>
        <p:spPr>
          <a:xfrm>
            <a:off x="8211312" y="3822192"/>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Materiales requeridos</a:t>
            </a:r>
            <a:endParaRPr lang="en-US" sz="1300" dirty="0"/>
          </a:p>
        </p:txBody>
      </p:sp>
      <p:sp>
        <p:nvSpPr>
          <p:cNvPr id="23" name="Shape 20"/>
          <p:cNvSpPr/>
          <p:nvPr/>
        </p:nvSpPr>
        <p:spPr>
          <a:xfrm>
            <a:off x="658368" y="4626864"/>
            <a:ext cx="3520440" cy="749808"/>
          </a:xfrm>
          <a:prstGeom prst="rect">
            <a:avLst/>
          </a:prstGeom>
          <a:solidFill>
            <a:srgbClr val="F4F7FA"/>
          </a:solidFill>
          <a:ln w="9525">
            <a:solidFill>
              <a:srgbClr val="D5DDE5"/>
            </a:solidFill>
            <a:prstDash val="solid"/>
          </a:ln>
        </p:spPr>
      </p:sp>
      <p:sp>
        <p:nvSpPr>
          <p:cNvPr id="24" name="Shape 21"/>
          <p:cNvSpPr/>
          <p:nvPr/>
        </p:nvSpPr>
        <p:spPr>
          <a:xfrm>
            <a:off x="658368" y="4626864"/>
            <a:ext cx="3520440" cy="45720"/>
          </a:xfrm>
          <a:prstGeom prst="rect">
            <a:avLst/>
          </a:prstGeom>
          <a:solidFill>
            <a:srgbClr val="004B85"/>
          </a:solidFill>
          <a:ln/>
        </p:spPr>
      </p:sp>
      <p:sp>
        <p:nvSpPr>
          <p:cNvPr id="25" name="Text 22"/>
          <p:cNvSpPr txBox="1"/>
          <p:nvPr/>
        </p:nvSpPr>
        <p:spPr>
          <a:xfrm>
            <a:off x="859536" y="4718304"/>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Herramientas e instrumentos a utilizar</a:t>
            </a:r>
            <a:endParaRPr lang="en-US" sz="1300" dirty="0"/>
          </a:p>
        </p:txBody>
      </p:sp>
      <p:sp>
        <p:nvSpPr>
          <p:cNvPr id="26" name="Shape 23"/>
          <p:cNvSpPr/>
          <p:nvPr/>
        </p:nvSpPr>
        <p:spPr>
          <a:xfrm>
            <a:off x="4334256" y="4626864"/>
            <a:ext cx="3520440" cy="749808"/>
          </a:xfrm>
          <a:prstGeom prst="rect">
            <a:avLst/>
          </a:prstGeom>
          <a:solidFill>
            <a:srgbClr val="F4F7FA"/>
          </a:solidFill>
          <a:ln w="9525">
            <a:solidFill>
              <a:srgbClr val="D5DDE5"/>
            </a:solidFill>
            <a:prstDash val="solid"/>
          </a:ln>
        </p:spPr>
      </p:sp>
      <p:sp>
        <p:nvSpPr>
          <p:cNvPr id="27" name="Shape 24"/>
          <p:cNvSpPr/>
          <p:nvPr/>
        </p:nvSpPr>
        <p:spPr>
          <a:xfrm>
            <a:off x="4334256" y="4626864"/>
            <a:ext cx="3520440" cy="45720"/>
          </a:xfrm>
          <a:prstGeom prst="rect">
            <a:avLst/>
          </a:prstGeom>
          <a:solidFill>
            <a:srgbClr val="004B85"/>
          </a:solidFill>
          <a:ln/>
        </p:spPr>
      </p:sp>
      <p:sp>
        <p:nvSpPr>
          <p:cNvPr id="28" name="Text 25"/>
          <p:cNvSpPr txBox="1"/>
          <p:nvPr/>
        </p:nvSpPr>
        <p:spPr>
          <a:xfrm>
            <a:off x="4535424" y="4718304"/>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Cantidad y especialidad del personal que debe intervenir</a:t>
            </a:r>
            <a:endParaRPr lang="en-US" sz="1300" dirty="0"/>
          </a:p>
        </p:txBody>
      </p:sp>
      <p:sp>
        <p:nvSpPr>
          <p:cNvPr id="29" name="Shape 26"/>
          <p:cNvSpPr/>
          <p:nvPr/>
        </p:nvSpPr>
        <p:spPr>
          <a:xfrm>
            <a:off x="8010144" y="4626864"/>
            <a:ext cx="3520440" cy="749808"/>
          </a:xfrm>
          <a:prstGeom prst="rect">
            <a:avLst/>
          </a:prstGeom>
          <a:solidFill>
            <a:srgbClr val="F4F7FA"/>
          </a:solidFill>
          <a:ln w="9525">
            <a:solidFill>
              <a:srgbClr val="D5DDE5"/>
            </a:solidFill>
            <a:prstDash val="solid"/>
          </a:ln>
        </p:spPr>
      </p:sp>
      <p:sp>
        <p:nvSpPr>
          <p:cNvPr id="30" name="Shape 27"/>
          <p:cNvSpPr/>
          <p:nvPr/>
        </p:nvSpPr>
        <p:spPr>
          <a:xfrm>
            <a:off x="8010144" y="4626864"/>
            <a:ext cx="3520440" cy="45720"/>
          </a:xfrm>
          <a:prstGeom prst="rect">
            <a:avLst/>
          </a:prstGeom>
          <a:solidFill>
            <a:srgbClr val="004B85"/>
          </a:solidFill>
          <a:ln/>
        </p:spPr>
      </p:sp>
      <p:sp>
        <p:nvSpPr>
          <p:cNvPr id="31" name="Text 28"/>
          <p:cNvSpPr txBox="1"/>
          <p:nvPr/>
        </p:nvSpPr>
        <p:spPr>
          <a:xfrm>
            <a:off x="8211312" y="4718304"/>
            <a:ext cx="3118104"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Medidas de seguridad</a:t>
            </a:r>
            <a:endParaRPr lang="en-US" sz="1300" dirty="0"/>
          </a:p>
        </p:txBody>
      </p:sp>
      <p:sp>
        <p:nvSpPr>
          <p:cNvPr id="32" name="Shape 29"/>
          <p:cNvSpPr/>
          <p:nvPr/>
        </p:nvSpPr>
        <p:spPr>
          <a:xfrm>
            <a:off x="658368" y="5522976"/>
            <a:ext cx="7196328" cy="749808"/>
          </a:xfrm>
          <a:prstGeom prst="rect">
            <a:avLst/>
          </a:prstGeom>
          <a:solidFill>
            <a:srgbClr val="F4F7FA"/>
          </a:solidFill>
          <a:ln w="9525">
            <a:solidFill>
              <a:srgbClr val="D5DDE5"/>
            </a:solidFill>
            <a:prstDash val="solid"/>
          </a:ln>
        </p:spPr>
      </p:sp>
      <p:sp>
        <p:nvSpPr>
          <p:cNvPr id="33" name="Shape 30"/>
          <p:cNvSpPr/>
          <p:nvPr/>
        </p:nvSpPr>
        <p:spPr>
          <a:xfrm>
            <a:off x="658368" y="5522976"/>
            <a:ext cx="7196328" cy="45720"/>
          </a:xfrm>
          <a:prstGeom prst="rect">
            <a:avLst/>
          </a:prstGeom>
          <a:solidFill>
            <a:srgbClr val="004B85"/>
          </a:solidFill>
          <a:ln/>
        </p:spPr>
      </p:sp>
      <p:sp>
        <p:nvSpPr>
          <p:cNvPr id="34" name="Text 31"/>
          <p:cNvSpPr txBox="1"/>
          <p:nvPr/>
        </p:nvSpPr>
        <p:spPr>
          <a:xfrm>
            <a:off x="859536" y="5614416"/>
            <a:ext cx="6793992" cy="566928"/>
          </a:xfrm>
          <a:prstGeom prst="rect">
            <a:avLst/>
          </a:prstGeom>
          <a:noFill/>
          <a:ln/>
        </p:spPr>
        <p:txBody>
          <a:bodyPr wrap="square" lIns="0" tIns="0" rIns="0" bIns="0" rtlCol="0" anchor="ctr"/>
          <a:lstStyle/>
          <a:p>
            <a:pPr marL="0" indent="0">
              <a:lnSpc>
                <a:spcPts val="1700"/>
              </a:lnSpc>
              <a:buNone/>
            </a:pPr>
            <a:r>
              <a:rPr lang="en-US" sz="1300" dirty="0">
                <a:solidFill>
                  <a:srgbClr val="00335C"/>
                </a:solidFill>
                <a:latin typeface="Segoe UI" pitchFamily="34" charset="0"/>
                <a:ea typeface="Segoe UI" pitchFamily="34" charset="-122"/>
                <a:cs typeface="Segoe UI" pitchFamily="34" charset="-120"/>
              </a:rPr>
              <a:t>Tiempo previsto para la ejecución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DOCUMENTO RESULTANTE</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Guía de reparación de una bomba</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21a</a:t>
            </a:r>
          </a:p>
        </p:txBody>
      </p:sp>
      <p:sp>
        <p:nvSpPr>
          <p:cNvPr id="12" name="Rectangle 11"/>
          <p:cNvSpPr/>
          <p:nvPr/>
        </p:nvSpPr>
        <p:spPr>
          <a:xfrm>
            <a:off x="658368" y="1664208"/>
            <a:ext cx="6172200"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6172200"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 y="1847088"/>
            <a:ext cx="571500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IDENTIFICACIÓN DEL EQUIPO</a:t>
            </a:r>
          </a:p>
        </p:txBody>
      </p:sp>
      <p:sp>
        <p:nvSpPr>
          <p:cNvPr id="15" name="TextBox 14"/>
          <p:cNvSpPr txBox="1"/>
          <p:nvPr/>
        </p:nvSpPr>
        <p:spPr>
          <a:xfrm>
            <a:off x="886968" y="2075688"/>
            <a:ext cx="5715000" cy="274320"/>
          </a:xfrm>
          <a:prstGeom prst="rect">
            <a:avLst/>
          </a:prstGeom>
          <a:noFill/>
        </p:spPr>
        <p:txBody>
          <a:bodyPr wrap="square" lIns="0" tIns="0" rIns="0" bIns="0" anchor="t">
            <a:spAutoFit/>
          </a:bodyPr>
          <a:lstStyle/>
          <a:p>
            <a:pPr algn="l">
              <a:lnSpc>
                <a:spcPct val="122000"/>
              </a:lnSpc>
              <a:spcAft>
                <a:spcPts val="0"/>
              </a:spcAft>
            </a:pPr>
            <a:r>
              <a:rPr sz="1250" b="1" i="0">
                <a:solidFill>
                  <a:srgbClr val="00335C"/>
                </a:solidFill>
                <a:latin typeface="Segoe UI"/>
              </a:rPr>
              <a:t>Bomba centrífuga P-101 · motor 30 kW · rodamientos 6309 C3</a:t>
            </a:r>
          </a:p>
        </p:txBody>
      </p:sp>
      <p:sp>
        <p:nvSpPr>
          <p:cNvPr id="16" name="TextBox 15"/>
          <p:cNvSpPr txBox="1"/>
          <p:nvPr/>
        </p:nvSpPr>
        <p:spPr>
          <a:xfrm>
            <a:off x="886968" y="2468880"/>
            <a:ext cx="5715000" cy="201168"/>
          </a:xfrm>
          <a:prstGeom prst="rect">
            <a:avLst/>
          </a:prstGeom>
          <a:noFill/>
        </p:spPr>
        <p:txBody>
          <a:bodyPr wrap="square" lIns="0" tIns="0" rIns="0" bIns="0" anchor="t">
            <a:spAutoFit/>
          </a:bodyPr>
          <a:lstStyle/>
          <a:p>
            <a:pPr algn="l">
              <a:lnSpc>
                <a:spcPct val="122000"/>
              </a:lnSpc>
              <a:spcAft>
                <a:spcPts val="0"/>
              </a:spcAft>
            </a:pPr>
            <a:r>
              <a:rPr sz="950" b="1" i="0">
                <a:solidFill>
                  <a:srgbClr val="B88200"/>
                </a:solidFill>
                <a:latin typeface="Segoe UI"/>
              </a:rPr>
              <a:t>SECUENCIA DE ACTIVIDADES (HOJA DE RUTA)</a:t>
            </a:r>
          </a:p>
        </p:txBody>
      </p:sp>
      <p:sp>
        <p:nvSpPr>
          <p:cNvPr id="17" name="Oval 16"/>
          <p:cNvSpPr/>
          <p:nvPr/>
        </p:nvSpPr>
        <p:spPr>
          <a:xfrm>
            <a:off x="886968" y="2743200"/>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2781604"/>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1</a:t>
            </a:r>
          </a:p>
        </p:txBody>
      </p:sp>
      <p:sp>
        <p:nvSpPr>
          <p:cNvPr id="19" name="TextBox 18"/>
          <p:cNvSpPr txBox="1"/>
          <p:nvPr/>
        </p:nvSpPr>
        <p:spPr>
          <a:xfrm>
            <a:off x="1252728" y="2724912"/>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Bloqueo y etiquetado (LOTO); cerrar válvulas y drenar.</a:t>
            </a:r>
          </a:p>
        </p:txBody>
      </p:sp>
      <p:sp>
        <p:nvSpPr>
          <p:cNvPr id="20" name="Oval 19"/>
          <p:cNvSpPr/>
          <p:nvPr/>
        </p:nvSpPr>
        <p:spPr>
          <a:xfrm>
            <a:off x="886968" y="3364992"/>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403396"/>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2</a:t>
            </a:r>
          </a:p>
        </p:txBody>
      </p:sp>
      <p:sp>
        <p:nvSpPr>
          <p:cNvPr id="22" name="TextBox 21"/>
          <p:cNvSpPr txBox="1"/>
          <p:nvPr/>
        </p:nvSpPr>
        <p:spPr>
          <a:xfrm>
            <a:off x="1252728" y="3346704"/>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Desacoplar y retirar el espaciador del acople.</a:t>
            </a:r>
          </a:p>
        </p:txBody>
      </p:sp>
      <p:sp>
        <p:nvSpPr>
          <p:cNvPr id="23" name="Oval 22"/>
          <p:cNvSpPr/>
          <p:nvPr/>
        </p:nvSpPr>
        <p:spPr>
          <a:xfrm>
            <a:off x="886968" y="3986783"/>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4025188"/>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3</a:t>
            </a:r>
          </a:p>
        </p:txBody>
      </p:sp>
      <p:sp>
        <p:nvSpPr>
          <p:cNvPr id="25" name="TextBox 24"/>
          <p:cNvSpPr txBox="1"/>
          <p:nvPr/>
        </p:nvSpPr>
        <p:spPr>
          <a:xfrm>
            <a:off x="1252728" y="3968496"/>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Extraer rodamientos con extractor; no golpear.</a:t>
            </a:r>
          </a:p>
        </p:txBody>
      </p:sp>
      <p:sp>
        <p:nvSpPr>
          <p:cNvPr id="26" name="Oval 25"/>
          <p:cNvSpPr/>
          <p:nvPr/>
        </p:nvSpPr>
        <p:spPr>
          <a:xfrm>
            <a:off x="886968" y="4608575"/>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4646980"/>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4</a:t>
            </a:r>
          </a:p>
        </p:txBody>
      </p:sp>
      <p:sp>
        <p:nvSpPr>
          <p:cNvPr id="28" name="TextBox 27"/>
          <p:cNvSpPr txBox="1"/>
          <p:nvPr/>
        </p:nvSpPr>
        <p:spPr>
          <a:xfrm>
            <a:off x="1252728" y="4590288"/>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Medir asientos del eje y del alojamiento.</a:t>
            </a:r>
          </a:p>
        </p:txBody>
      </p:sp>
      <p:sp>
        <p:nvSpPr>
          <p:cNvPr id="29" name="Oval 28"/>
          <p:cNvSpPr/>
          <p:nvPr/>
        </p:nvSpPr>
        <p:spPr>
          <a:xfrm>
            <a:off x="3744468" y="2743200"/>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4468" y="2781604"/>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5</a:t>
            </a:r>
          </a:p>
        </p:txBody>
      </p:sp>
      <p:sp>
        <p:nvSpPr>
          <p:cNvPr id="31" name="TextBox 30"/>
          <p:cNvSpPr txBox="1"/>
          <p:nvPr/>
        </p:nvSpPr>
        <p:spPr>
          <a:xfrm>
            <a:off x="4110228" y="2724912"/>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Montar rodamientos calentados por inducción (≈ 110 °C).</a:t>
            </a:r>
          </a:p>
        </p:txBody>
      </p:sp>
      <p:sp>
        <p:nvSpPr>
          <p:cNvPr id="32" name="Oval 31"/>
          <p:cNvSpPr/>
          <p:nvPr/>
        </p:nvSpPr>
        <p:spPr>
          <a:xfrm>
            <a:off x="3744468" y="3364992"/>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44468" y="3403396"/>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6</a:t>
            </a:r>
          </a:p>
        </p:txBody>
      </p:sp>
      <p:sp>
        <p:nvSpPr>
          <p:cNvPr id="34" name="TextBox 33"/>
          <p:cNvSpPr txBox="1"/>
          <p:nvPr/>
        </p:nvSpPr>
        <p:spPr>
          <a:xfrm>
            <a:off x="4110228" y="3346704"/>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Lubricar con la grasa y cantidad especificadas.</a:t>
            </a:r>
          </a:p>
        </p:txBody>
      </p:sp>
      <p:sp>
        <p:nvSpPr>
          <p:cNvPr id="35" name="Oval 34"/>
          <p:cNvSpPr/>
          <p:nvPr/>
        </p:nvSpPr>
        <p:spPr>
          <a:xfrm>
            <a:off x="3744468" y="3986783"/>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44468" y="4025188"/>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7</a:t>
            </a:r>
          </a:p>
        </p:txBody>
      </p:sp>
      <p:sp>
        <p:nvSpPr>
          <p:cNvPr id="37" name="TextBox 36"/>
          <p:cNvSpPr txBox="1"/>
          <p:nvPr/>
        </p:nvSpPr>
        <p:spPr>
          <a:xfrm>
            <a:off x="4110228" y="3968496"/>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Alinear con láser (desalineación ≤ 0,05 mm).</a:t>
            </a:r>
          </a:p>
        </p:txBody>
      </p:sp>
      <p:sp>
        <p:nvSpPr>
          <p:cNvPr id="38" name="Oval 37"/>
          <p:cNvSpPr/>
          <p:nvPr/>
        </p:nvSpPr>
        <p:spPr>
          <a:xfrm>
            <a:off x="3744468" y="4608575"/>
            <a:ext cx="274320" cy="274320"/>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44468" y="4646980"/>
            <a:ext cx="274320" cy="197510"/>
          </a:xfrm>
          <a:prstGeom prst="rect">
            <a:avLst/>
          </a:prstGeom>
          <a:noFill/>
        </p:spPr>
        <p:txBody>
          <a:bodyPr wrap="square" lIns="0" tIns="0" rIns="0" bIns="0" anchor="t">
            <a:spAutoFit/>
          </a:bodyPr>
          <a:lstStyle/>
          <a:p>
            <a:pPr algn="ctr">
              <a:lnSpc>
                <a:spcPct val="122000"/>
              </a:lnSpc>
              <a:spcAft>
                <a:spcPts val="0"/>
              </a:spcAft>
            </a:pPr>
            <a:r>
              <a:rPr sz="1050" b="1" i="0">
                <a:solidFill>
                  <a:srgbClr val="FFFFFF"/>
                </a:solidFill>
                <a:latin typeface="Segoe UI"/>
              </a:rPr>
              <a:t>8</a:t>
            </a:r>
          </a:p>
        </p:txBody>
      </p:sp>
      <p:sp>
        <p:nvSpPr>
          <p:cNvPr id="40" name="TextBox 39"/>
          <p:cNvSpPr txBox="1"/>
          <p:nvPr/>
        </p:nvSpPr>
        <p:spPr>
          <a:xfrm>
            <a:off x="4110228" y="4590288"/>
            <a:ext cx="2400300" cy="566928"/>
          </a:xfrm>
          <a:prstGeom prst="rect">
            <a:avLst/>
          </a:prstGeom>
          <a:noFill/>
        </p:spPr>
        <p:txBody>
          <a:bodyPr wrap="square" lIns="0" tIns="0" rIns="0" bIns="0" anchor="t">
            <a:spAutoFit/>
          </a:bodyPr>
          <a:lstStyle/>
          <a:p>
            <a:pPr algn="l">
              <a:lnSpc>
                <a:spcPct val="115000"/>
              </a:lnSpc>
              <a:spcAft>
                <a:spcPts val="0"/>
              </a:spcAft>
            </a:pPr>
            <a:r>
              <a:rPr sz="1050" b="0" i="0">
                <a:solidFill>
                  <a:srgbClr val="5C6B7A"/>
                </a:solidFill>
                <a:latin typeface="Segoe UI"/>
              </a:rPr>
              <a:t>Prueba: vibración y temperatura dentro de norma.</a:t>
            </a:r>
          </a:p>
        </p:txBody>
      </p:sp>
      <p:sp>
        <p:nvSpPr>
          <p:cNvPr id="41" name="Rectangle 40"/>
          <p:cNvSpPr/>
          <p:nvPr/>
        </p:nvSpPr>
        <p:spPr>
          <a:xfrm>
            <a:off x="7059168" y="1664208"/>
            <a:ext cx="4471416" cy="66934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059168" y="1664208"/>
            <a:ext cx="54864" cy="66934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42048" y="1737360"/>
            <a:ext cx="1325880" cy="523036"/>
          </a:xfrm>
          <a:prstGeom prst="rect">
            <a:avLst/>
          </a:prstGeom>
          <a:noFill/>
        </p:spPr>
        <p:txBody>
          <a:bodyPr wrap="square" lIns="0" tIns="0" rIns="0" bIns="0" anchor="ctr">
            <a:spAutoFit/>
          </a:bodyPr>
          <a:lstStyle/>
          <a:p>
            <a:pPr algn="l">
              <a:lnSpc>
                <a:spcPct val="122000"/>
              </a:lnSpc>
              <a:spcAft>
                <a:spcPts val="0"/>
              </a:spcAft>
            </a:pPr>
            <a:r>
              <a:rPr sz="1150" b="1" i="0">
                <a:solidFill>
                  <a:srgbClr val="00335C"/>
                </a:solidFill>
                <a:latin typeface="Segoe UI"/>
              </a:rPr>
              <a:t>Materiales</a:t>
            </a:r>
          </a:p>
        </p:txBody>
      </p:sp>
      <p:sp>
        <p:nvSpPr>
          <p:cNvPr id="44" name="TextBox 43"/>
          <p:cNvSpPr txBox="1"/>
          <p:nvPr/>
        </p:nvSpPr>
        <p:spPr>
          <a:xfrm>
            <a:off x="8613648" y="1719072"/>
            <a:ext cx="2779776" cy="559612"/>
          </a:xfrm>
          <a:prstGeom prst="rect">
            <a:avLst/>
          </a:prstGeom>
          <a:noFill/>
        </p:spPr>
        <p:txBody>
          <a:bodyPr wrap="square" lIns="0" tIns="0" rIns="0" bIns="0" anchor="ctr">
            <a:spAutoFit/>
          </a:bodyPr>
          <a:lstStyle/>
          <a:p>
            <a:pPr algn="l">
              <a:lnSpc>
                <a:spcPct val="112000"/>
              </a:lnSpc>
              <a:spcAft>
                <a:spcPts val="0"/>
              </a:spcAft>
            </a:pPr>
            <a:r>
              <a:rPr sz="1050" b="0" i="0">
                <a:solidFill>
                  <a:srgbClr val="5C6B7A"/>
                </a:solidFill>
                <a:latin typeface="Segoe UI"/>
              </a:rPr>
              <a:t>2 rodamientos 6309 C3, grasa, empaque de tapa.</a:t>
            </a:r>
          </a:p>
        </p:txBody>
      </p:sp>
      <p:sp>
        <p:nvSpPr>
          <p:cNvPr id="45" name="Rectangle 44"/>
          <p:cNvSpPr/>
          <p:nvPr/>
        </p:nvSpPr>
        <p:spPr>
          <a:xfrm>
            <a:off x="7059168" y="2424988"/>
            <a:ext cx="4471416" cy="66934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059168" y="2424988"/>
            <a:ext cx="54864" cy="66934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242048" y="2498140"/>
            <a:ext cx="1325880" cy="523036"/>
          </a:xfrm>
          <a:prstGeom prst="rect">
            <a:avLst/>
          </a:prstGeom>
          <a:noFill/>
        </p:spPr>
        <p:txBody>
          <a:bodyPr wrap="square" lIns="0" tIns="0" rIns="0" bIns="0" anchor="ctr">
            <a:spAutoFit/>
          </a:bodyPr>
          <a:lstStyle/>
          <a:p>
            <a:pPr algn="l">
              <a:lnSpc>
                <a:spcPct val="122000"/>
              </a:lnSpc>
              <a:spcAft>
                <a:spcPts val="0"/>
              </a:spcAft>
            </a:pPr>
            <a:r>
              <a:rPr sz="1150" b="1" i="0">
                <a:solidFill>
                  <a:srgbClr val="00335C"/>
                </a:solidFill>
                <a:latin typeface="Segoe UI"/>
              </a:rPr>
              <a:t>Herramientas</a:t>
            </a:r>
          </a:p>
        </p:txBody>
      </p:sp>
      <p:sp>
        <p:nvSpPr>
          <p:cNvPr id="48" name="TextBox 47"/>
          <p:cNvSpPr txBox="1"/>
          <p:nvPr/>
        </p:nvSpPr>
        <p:spPr>
          <a:xfrm>
            <a:off x="8613648" y="2479852"/>
            <a:ext cx="2779776" cy="559612"/>
          </a:xfrm>
          <a:prstGeom prst="rect">
            <a:avLst/>
          </a:prstGeom>
          <a:noFill/>
        </p:spPr>
        <p:txBody>
          <a:bodyPr wrap="square" lIns="0" tIns="0" rIns="0" bIns="0" anchor="ctr">
            <a:spAutoFit/>
          </a:bodyPr>
          <a:lstStyle/>
          <a:p>
            <a:pPr algn="l">
              <a:lnSpc>
                <a:spcPct val="112000"/>
              </a:lnSpc>
              <a:spcAft>
                <a:spcPts val="0"/>
              </a:spcAft>
            </a:pPr>
            <a:r>
              <a:rPr sz="1050" b="0" i="0">
                <a:solidFill>
                  <a:srgbClr val="5C6B7A"/>
                </a:solidFill>
                <a:latin typeface="Segoe UI"/>
              </a:rPr>
              <a:t>Extractor, calentador de inducción, alineador láser, vibrómetro.</a:t>
            </a:r>
          </a:p>
        </p:txBody>
      </p:sp>
      <p:sp>
        <p:nvSpPr>
          <p:cNvPr id="49" name="Rectangle 48"/>
          <p:cNvSpPr/>
          <p:nvPr/>
        </p:nvSpPr>
        <p:spPr>
          <a:xfrm>
            <a:off x="7059168" y="3185769"/>
            <a:ext cx="4471416" cy="66934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059168" y="3185769"/>
            <a:ext cx="54864" cy="66934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42048" y="3258921"/>
            <a:ext cx="1325880" cy="523036"/>
          </a:xfrm>
          <a:prstGeom prst="rect">
            <a:avLst/>
          </a:prstGeom>
          <a:noFill/>
        </p:spPr>
        <p:txBody>
          <a:bodyPr wrap="square" lIns="0" tIns="0" rIns="0" bIns="0" anchor="ctr">
            <a:spAutoFit/>
          </a:bodyPr>
          <a:lstStyle/>
          <a:p>
            <a:pPr algn="l">
              <a:lnSpc>
                <a:spcPct val="122000"/>
              </a:lnSpc>
              <a:spcAft>
                <a:spcPts val="0"/>
              </a:spcAft>
            </a:pPr>
            <a:r>
              <a:rPr sz="1150" b="1" i="0">
                <a:solidFill>
                  <a:srgbClr val="00335C"/>
                </a:solidFill>
                <a:latin typeface="Segoe UI"/>
              </a:rPr>
              <a:t>Personal</a:t>
            </a:r>
          </a:p>
        </p:txBody>
      </p:sp>
      <p:sp>
        <p:nvSpPr>
          <p:cNvPr id="52" name="TextBox 51"/>
          <p:cNvSpPr txBox="1"/>
          <p:nvPr/>
        </p:nvSpPr>
        <p:spPr>
          <a:xfrm>
            <a:off x="8613648" y="3240633"/>
            <a:ext cx="2779776" cy="559612"/>
          </a:xfrm>
          <a:prstGeom prst="rect">
            <a:avLst/>
          </a:prstGeom>
          <a:noFill/>
        </p:spPr>
        <p:txBody>
          <a:bodyPr wrap="square" lIns="0" tIns="0" rIns="0" bIns="0" anchor="ctr">
            <a:spAutoFit/>
          </a:bodyPr>
          <a:lstStyle/>
          <a:p>
            <a:pPr algn="l">
              <a:lnSpc>
                <a:spcPct val="112000"/>
              </a:lnSpc>
              <a:spcAft>
                <a:spcPts val="0"/>
              </a:spcAft>
            </a:pPr>
            <a:r>
              <a:rPr sz="1050" b="0" i="0">
                <a:solidFill>
                  <a:srgbClr val="5C6B7A"/>
                </a:solidFill>
                <a:latin typeface="Segoe UI"/>
              </a:rPr>
              <a:t>1 mecánico + 1 ayudante; electricista para el bloqueo.</a:t>
            </a:r>
          </a:p>
        </p:txBody>
      </p:sp>
      <p:sp>
        <p:nvSpPr>
          <p:cNvPr id="53" name="Rectangle 52"/>
          <p:cNvSpPr/>
          <p:nvPr/>
        </p:nvSpPr>
        <p:spPr>
          <a:xfrm>
            <a:off x="7059168" y="3946550"/>
            <a:ext cx="4471416" cy="66934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059168" y="3946550"/>
            <a:ext cx="54864" cy="669340"/>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242048" y="4019702"/>
            <a:ext cx="1325880" cy="523036"/>
          </a:xfrm>
          <a:prstGeom prst="rect">
            <a:avLst/>
          </a:prstGeom>
          <a:noFill/>
        </p:spPr>
        <p:txBody>
          <a:bodyPr wrap="square" lIns="0" tIns="0" rIns="0" bIns="0" anchor="ctr">
            <a:spAutoFit/>
          </a:bodyPr>
          <a:lstStyle/>
          <a:p>
            <a:pPr algn="l">
              <a:lnSpc>
                <a:spcPct val="122000"/>
              </a:lnSpc>
              <a:spcAft>
                <a:spcPts val="0"/>
              </a:spcAft>
            </a:pPr>
            <a:r>
              <a:rPr sz="1150" b="1" i="0">
                <a:solidFill>
                  <a:srgbClr val="00335C"/>
                </a:solidFill>
                <a:latin typeface="Segoe UI"/>
              </a:rPr>
              <a:t>Seguridad</a:t>
            </a:r>
          </a:p>
        </p:txBody>
      </p:sp>
      <p:sp>
        <p:nvSpPr>
          <p:cNvPr id="56" name="TextBox 55"/>
          <p:cNvSpPr txBox="1"/>
          <p:nvPr/>
        </p:nvSpPr>
        <p:spPr>
          <a:xfrm>
            <a:off x="8613648" y="4001414"/>
            <a:ext cx="2779776" cy="559612"/>
          </a:xfrm>
          <a:prstGeom prst="rect">
            <a:avLst/>
          </a:prstGeom>
          <a:noFill/>
        </p:spPr>
        <p:txBody>
          <a:bodyPr wrap="square" lIns="0" tIns="0" rIns="0" bIns="0" anchor="ctr">
            <a:spAutoFit/>
          </a:bodyPr>
          <a:lstStyle/>
          <a:p>
            <a:pPr algn="l">
              <a:lnSpc>
                <a:spcPct val="112000"/>
              </a:lnSpc>
              <a:spcAft>
                <a:spcPts val="0"/>
              </a:spcAft>
            </a:pPr>
            <a:r>
              <a:rPr sz="1050" b="0" i="0">
                <a:solidFill>
                  <a:srgbClr val="5C6B7A"/>
                </a:solidFill>
                <a:latin typeface="Segoe UI"/>
              </a:rPr>
              <a:t>LOTO, guantes térmicos, gafas; verificar energía cero.</a:t>
            </a:r>
          </a:p>
        </p:txBody>
      </p:sp>
      <p:sp>
        <p:nvSpPr>
          <p:cNvPr id="57" name="Rectangle 56"/>
          <p:cNvSpPr/>
          <p:nvPr/>
        </p:nvSpPr>
        <p:spPr>
          <a:xfrm>
            <a:off x="7059168" y="4707331"/>
            <a:ext cx="4471416" cy="669340"/>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059168" y="4707331"/>
            <a:ext cx="54864" cy="669340"/>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242048" y="4780483"/>
            <a:ext cx="1325880" cy="523036"/>
          </a:xfrm>
          <a:prstGeom prst="rect">
            <a:avLst/>
          </a:prstGeom>
          <a:noFill/>
        </p:spPr>
        <p:txBody>
          <a:bodyPr wrap="square" lIns="0" tIns="0" rIns="0" bIns="0" anchor="ctr">
            <a:spAutoFit/>
          </a:bodyPr>
          <a:lstStyle/>
          <a:p>
            <a:pPr algn="l">
              <a:lnSpc>
                <a:spcPct val="122000"/>
              </a:lnSpc>
              <a:spcAft>
                <a:spcPts val="0"/>
              </a:spcAft>
            </a:pPr>
            <a:r>
              <a:rPr sz="1150" b="1" i="0">
                <a:solidFill>
                  <a:srgbClr val="00335C"/>
                </a:solidFill>
                <a:latin typeface="Segoe UI"/>
              </a:rPr>
              <a:t>Tiempo previsto</a:t>
            </a:r>
          </a:p>
        </p:txBody>
      </p:sp>
      <p:sp>
        <p:nvSpPr>
          <p:cNvPr id="60" name="TextBox 59"/>
          <p:cNvSpPr txBox="1"/>
          <p:nvPr/>
        </p:nvSpPr>
        <p:spPr>
          <a:xfrm>
            <a:off x="8613648" y="4762195"/>
            <a:ext cx="2779776" cy="559612"/>
          </a:xfrm>
          <a:prstGeom prst="rect">
            <a:avLst/>
          </a:prstGeom>
          <a:noFill/>
        </p:spPr>
        <p:txBody>
          <a:bodyPr wrap="square" lIns="0" tIns="0" rIns="0" bIns="0" anchor="ctr">
            <a:spAutoFit/>
          </a:bodyPr>
          <a:lstStyle/>
          <a:p>
            <a:pPr algn="l">
              <a:lnSpc>
                <a:spcPct val="112000"/>
              </a:lnSpc>
              <a:spcAft>
                <a:spcPts val="0"/>
              </a:spcAft>
            </a:pPr>
            <a:r>
              <a:rPr sz="1050" b="0" i="0">
                <a:solidFill>
                  <a:srgbClr val="5C6B7A"/>
                </a:solidFill>
                <a:latin typeface="Segoe UI"/>
              </a:rPr>
              <a:t>4 horas.</a:t>
            </a:r>
          </a:p>
        </p:txBody>
      </p:sp>
      <p:sp>
        <p:nvSpPr>
          <p:cNvPr id="61" name="Rectangle 60"/>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 guía hace repetible la reparación: otra cuadrilla, otro turno, mismo resultado.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5C"/>
          </a:solidFill>
          <a:ln/>
        </p:spPr>
      </p:sp>
      <p:sp>
        <p:nvSpPr>
          <p:cNvPr id="3" name="Shape 1"/>
          <p:cNvSpPr/>
          <p:nvPr/>
        </p:nvSpPr>
        <p:spPr>
          <a:xfrm>
            <a:off x="0" y="0"/>
            <a:ext cx="274320" cy="6858000"/>
          </a:xfrm>
          <a:prstGeom prst="rect">
            <a:avLst/>
          </a:prstGeom>
          <a:solidFill>
            <a:srgbClr val="FFB903"/>
          </a:solidFill>
          <a:ln/>
        </p:spPr>
      </p:sp>
      <p:sp>
        <p:nvSpPr>
          <p:cNvPr id="4" name="Shape 2"/>
          <p:cNvSpPr/>
          <p:nvPr/>
        </p:nvSpPr>
        <p:spPr>
          <a:xfrm>
            <a:off x="7616952" y="0"/>
            <a:ext cx="4574743" cy="6858000"/>
          </a:xfrm>
          <a:prstGeom prst="rect">
            <a:avLst/>
          </a:prstGeom>
          <a:solidFill>
            <a:srgbClr val="001E38"/>
          </a:solidFill>
          <a:ln/>
        </p:spPr>
      </p:sp>
      <p:pic>
        <p:nvPicPr>
          <p:cNvPr id="5" name="Image 0" descr="/home/claude/work/assets/logo_eafit_blanco.png"/>
          <p:cNvPicPr>
            <a:picLocks noChangeAspect="1"/>
          </p:cNvPicPr>
          <p:nvPr/>
        </p:nvPicPr>
        <p:blipFill>
          <a:blip r:embed="rId3"/>
          <a:stretch>
            <a:fillRect/>
          </a:stretch>
        </p:blipFill>
        <p:spPr>
          <a:xfrm>
            <a:off x="10680192" y="237744"/>
            <a:ext cx="1152144" cy="713232"/>
          </a:xfrm>
          <a:prstGeom prst="rect">
            <a:avLst/>
          </a:prstGeom>
        </p:spPr>
      </p:pic>
      <p:sp>
        <p:nvSpPr>
          <p:cNvPr id="6" name="Text 3"/>
          <p:cNvSpPr txBox="1"/>
          <p:nvPr/>
        </p:nvSpPr>
        <p:spPr>
          <a:xfrm>
            <a:off x="1143000" y="1005840"/>
            <a:ext cx="2377440" cy="1417320"/>
          </a:xfrm>
          <a:prstGeom prst="rect">
            <a:avLst/>
          </a:prstGeom>
          <a:noFill/>
          <a:ln/>
        </p:spPr>
        <p:txBody>
          <a:bodyPr wrap="square" lIns="0" tIns="0" rIns="0" bIns="0" rtlCol="0" anchor="ctr"/>
          <a:lstStyle/>
          <a:p>
            <a:pPr marL="0" indent="0">
              <a:buNone/>
            </a:pPr>
            <a:r>
              <a:rPr lang="en-US" sz="10400" b="1" dirty="0">
                <a:solidFill>
                  <a:srgbClr val="FFB903"/>
                </a:solidFill>
                <a:latin typeface="Segoe UI" pitchFamily="34" charset="0"/>
                <a:ea typeface="Segoe UI" pitchFamily="34" charset="-122"/>
                <a:cs typeface="Segoe UI" pitchFamily="34" charset="-120"/>
              </a:rPr>
              <a:t>4</a:t>
            </a:r>
            <a:endParaRPr lang="en-US" sz="10400" dirty="0"/>
          </a:p>
        </p:txBody>
      </p:sp>
      <p:sp>
        <p:nvSpPr>
          <p:cNvPr id="7" name="Text 4"/>
          <p:cNvSpPr txBox="1"/>
          <p:nvPr/>
        </p:nvSpPr>
        <p:spPr>
          <a:xfrm>
            <a:off x="1143000" y="2350008"/>
            <a:ext cx="6126480" cy="1554480"/>
          </a:xfrm>
          <a:prstGeom prst="rect">
            <a:avLst/>
          </a:prstGeom>
          <a:noFill/>
          <a:ln/>
        </p:spPr>
        <p:txBody>
          <a:bodyPr wrap="square" lIns="0" tIns="0" rIns="0" bIns="0" rtlCol="0" anchor="ctr"/>
          <a:lstStyle/>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Técnicas para</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la recuperación</a:t>
            </a:r>
            <a:endParaRPr lang="en-US" sz="3300" dirty="0"/>
          </a:p>
          <a:p>
            <a:pPr marL="0" indent="0">
              <a:lnSpc>
                <a:spcPts val="4200"/>
              </a:lnSpc>
              <a:buNone/>
            </a:pPr>
            <a:r>
              <a:rPr lang="en-US" sz="3300" b="1" dirty="0">
                <a:solidFill>
                  <a:srgbClr val="FFFFFF"/>
                </a:solidFill>
                <a:latin typeface="Segoe UI" pitchFamily="34" charset="0"/>
                <a:ea typeface="Segoe UI" pitchFamily="34" charset="-122"/>
                <a:cs typeface="Segoe UI" pitchFamily="34" charset="-120"/>
              </a:rPr>
              <a:t>de partes</a:t>
            </a:r>
            <a:endParaRPr lang="en-US" sz="3300" dirty="0"/>
          </a:p>
        </p:txBody>
      </p:sp>
      <p:sp>
        <p:nvSpPr>
          <p:cNvPr id="8" name="Shape 5"/>
          <p:cNvSpPr/>
          <p:nvPr/>
        </p:nvSpPr>
        <p:spPr>
          <a:xfrm>
            <a:off x="1143000" y="4069080"/>
            <a:ext cx="1371600" cy="45720"/>
          </a:xfrm>
          <a:prstGeom prst="rect">
            <a:avLst/>
          </a:prstGeom>
          <a:solidFill>
            <a:srgbClr val="FFB903"/>
          </a:solidFill>
          <a:ln/>
        </p:spPr>
      </p:sp>
      <p:sp>
        <p:nvSpPr>
          <p:cNvPr id="9" name="Text 6"/>
          <p:cNvSpPr txBox="1"/>
          <p:nvPr/>
        </p:nvSpPr>
        <p:spPr>
          <a:xfrm>
            <a:off x="1143000" y="4279392"/>
            <a:ext cx="5852160" cy="1005840"/>
          </a:xfrm>
          <a:prstGeom prst="rect">
            <a:avLst/>
          </a:prstGeom>
          <a:noFill/>
          <a:ln/>
        </p:spPr>
        <p:txBody>
          <a:bodyPr wrap="square" lIns="0" tIns="0" rIns="0" bIns="0" rtlCol="0" anchor="ctr"/>
          <a:lstStyle/>
          <a:p>
            <a:pPr marL="0" indent="0">
              <a:lnSpc>
                <a:spcPts val="2500"/>
              </a:lnSpc>
              <a:buNone/>
            </a:pPr>
            <a:r>
              <a:rPr lang="en-US" sz="1800" dirty="0">
                <a:solidFill>
                  <a:srgbClr val="B8C8D8"/>
                </a:solidFill>
                <a:latin typeface="Segoe UI" pitchFamily="34" charset="0"/>
                <a:ea typeface="Segoe UI" pitchFamily="34" charset="-122"/>
                <a:cs typeface="Segoe UI" pitchFamily="34" charset="-120"/>
              </a:rPr>
              <a:t>Recubrimientos y procesos con soldadura: cuándo se aplican, qué exigen y cómo se seleccionan.</a:t>
            </a:r>
            <a:endParaRPr lang="en-US" sz="1800" dirty="0"/>
          </a:p>
        </p:txBody>
      </p:sp>
      <p:sp>
        <p:nvSpPr>
          <p:cNvPr id="10" name="Text 7"/>
          <p:cNvSpPr txBox="1"/>
          <p:nvPr/>
        </p:nvSpPr>
        <p:spPr>
          <a:xfrm>
            <a:off x="8211312" y="1719072"/>
            <a:ext cx="3291840" cy="338328"/>
          </a:xfrm>
          <a:prstGeom prst="rect">
            <a:avLst/>
          </a:prstGeom>
          <a:noFill/>
          <a:ln/>
        </p:spPr>
        <p:txBody>
          <a:bodyPr wrap="square" lIns="0" tIns="0" rIns="0" bIns="0" rtlCol="0" anchor="ctr"/>
          <a:lstStyle/>
          <a:p>
            <a:pPr marL="0" indent="0">
              <a:buNone/>
            </a:pPr>
            <a:r>
              <a:rPr lang="en-US" sz="1800" b="1" kern="0" spc="80" dirty="0">
                <a:solidFill>
                  <a:srgbClr val="FFB903"/>
                </a:solidFill>
                <a:latin typeface="Segoe UI" pitchFamily="34" charset="0"/>
                <a:ea typeface="Segoe UI" pitchFamily="34" charset="-122"/>
                <a:cs typeface="Segoe UI" pitchFamily="34" charset="-120"/>
              </a:rPr>
              <a:t>EN ESTA SECCIÓN</a:t>
            </a:r>
            <a:endParaRPr lang="en-US" sz="1800" dirty="0"/>
          </a:p>
        </p:txBody>
      </p:sp>
      <p:sp>
        <p:nvSpPr>
          <p:cNvPr id="11" name="Shape 8"/>
          <p:cNvSpPr/>
          <p:nvPr/>
        </p:nvSpPr>
        <p:spPr>
          <a:xfrm>
            <a:off x="8211312" y="2359152"/>
            <a:ext cx="146304" cy="36576"/>
          </a:xfrm>
          <a:prstGeom prst="rect">
            <a:avLst/>
          </a:prstGeom>
          <a:solidFill>
            <a:srgbClr val="FFB903"/>
          </a:solidFill>
          <a:ln/>
        </p:spPr>
      </p:sp>
      <p:sp>
        <p:nvSpPr>
          <p:cNvPr id="12" name="Text 9"/>
          <p:cNvSpPr txBox="1"/>
          <p:nvPr/>
        </p:nvSpPr>
        <p:spPr>
          <a:xfrm>
            <a:off x="8485632" y="224028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Técnicas de recuperación disponibles</a:t>
            </a:r>
            <a:endParaRPr lang="en-US" sz="1650" dirty="0"/>
          </a:p>
        </p:txBody>
      </p:sp>
      <p:sp>
        <p:nvSpPr>
          <p:cNvPr id="13" name="Shape 10"/>
          <p:cNvSpPr/>
          <p:nvPr/>
        </p:nvSpPr>
        <p:spPr>
          <a:xfrm>
            <a:off x="8211312" y="3319272"/>
            <a:ext cx="146304" cy="36576"/>
          </a:xfrm>
          <a:prstGeom prst="rect">
            <a:avLst/>
          </a:prstGeom>
          <a:solidFill>
            <a:srgbClr val="FFB903"/>
          </a:solidFill>
          <a:ln/>
        </p:spPr>
      </p:sp>
      <p:sp>
        <p:nvSpPr>
          <p:cNvPr id="14" name="Text 11"/>
          <p:cNvSpPr txBox="1"/>
          <p:nvPr/>
        </p:nvSpPr>
        <p:spPr>
          <a:xfrm>
            <a:off x="8485632" y="320040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Metalización y adhesivos químicos</a:t>
            </a:r>
            <a:endParaRPr lang="en-US" sz="1650" dirty="0"/>
          </a:p>
        </p:txBody>
      </p:sp>
      <p:sp>
        <p:nvSpPr>
          <p:cNvPr id="15" name="Shape 12"/>
          <p:cNvSpPr/>
          <p:nvPr/>
        </p:nvSpPr>
        <p:spPr>
          <a:xfrm>
            <a:off x="8211312" y="4279392"/>
            <a:ext cx="146304" cy="36576"/>
          </a:xfrm>
          <a:prstGeom prst="rect">
            <a:avLst/>
          </a:prstGeom>
          <a:solidFill>
            <a:srgbClr val="FFB903"/>
          </a:solidFill>
          <a:ln/>
        </p:spPr>
      </p:sp>
      <p:sp>
        <p:nvSpPr>
          <p:cNvPr id="16" name="Text 13"/>
          <p:cNvSpPr txBox="1"/>
          <p:nvPr/>
        </p:nvSpPr>
        <p:spPr>
          <a:xfrm>
            <a:off x="8485632" y="416052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Recuperación con soldadura</a:t>
            </a:r>
            <a:endParaRPr lang="en-US" sz="1650" dirty="0"/>
          </a:p>
        </p:txBody>
      </p:sp>
      <p:sp>
        <p:nvSpPr>
          <p:cNvPr id="17" name="Shape 14"/>
          <p:cNvSpPr/>
          <p:nvPr/>
        </p:nvSpPr>
        <p:spPr>
          <a:xfrm>
            <a:off x="8211312" y="5239512"/>
            <a:ext cx="146304" cy="36576"/>
          </a:xfrm>
          <a:prstGeom prst="rect">
            <a:avLst/>
          </a:prstGeom>
          <a:solidFill>
            <a:srgbClr val="FFB903"/>
          </a:solidFill>
          <a:ln/>
        </p:spPr>
      </p:sp>
      <p:sp>
        <p:nvSpPr>
          <p:cNvPr id="18" name="Text 15"/>
          <p:cNvSpPr txBox="1"/>
          <p:nvPr/>
        </p:nvSpPr>
        <p:spPr>
          <a:xfrm>
            <a:off x="8485632" y="5120640"/>
            <a:ext cx="3017520" cy="868680"/>
          </a:xfrm>
          <a:prstGeom prst="rect">
            <a:avLst/>
          </a:prstGeom>
          <a:noFill/>
          <a:ln/>
        </p:spPr>
        <p:txBody>
          <a:bodyPr wrap="square" lIns="0" tIns="0" rIns="0" bIns="0" rtlCol="0" anchor="ctr"/>
          <a:lstStyle/>
          <a:p>
            <a:pPr marL="0" indent="0">
              <a:lnSpc>
                <a:spcPts val="2200"/>
              </a:lnSpc>
              <a:buNone/>
            </a:pPr>
            <a:r>
              <a:rPr lang="en-US" sz="1650" dirty="0">
                <a:solidFill>
                  <a:srgbClr val="FFFFFF"/>
                </a:solidFill>
                <a:latin typeface="Segoe UI" pitchFamily="34" charset="0"/>
                <a:ea typeface="Segoe UI" pitchFamily="34" charset="-122"/>
                <a:cs typeface="Segoe UI" pitchFamily="34" charset="-120"/>
              </a:rPr>
              <a:t>Selección de la aleación y aplicación</a:t>
            </a:r>
            <a:endParaRPr lang="en-US" sz="1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CUATRO OPCIONES</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Técnicas para recuperación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22</a:t>
            </a:r>
            <a:endParaRPr lang="en-US" sz="1000" dirty="0"/>
          </a:p>
        </p:txBody>
      </p:sp>
      <p:sp>
        <p:nvSpPr>
          <p:cNvPr id="10" name="Shape 7"/>
          <p:cNvSpPr/>
          <p:nvPr/>
        </p:nvSpPr>
        <p:spPr>
          <a:xfrm>
            <a:off x="658368" y="2011680"/>
            <a:ext cx="2606040" cy="3017520"/>
          </a:xfrm>
          <a:prstGeom prst="rect">
            <a:avLst/>
          </a:prstGeom>
          <a:solidFill>
            <a:srgbClr val="F4F7FA"/>
          </a:solidFill>
          <a:ln w="9525">
            <a:solidFill>
              <a:srgbClr val="D5DDE5"/>
            </a:solidFill>
            <a:prstDash val="solid"/>
          </a:ln>
        </p:spPr>
      </p:sp>
      <p:sp>
        <p:nvSpPr>
          <p:cNvPr id="11" name="Shape 8"/>
          <p:cNvSpPr/>
          <p:nvPr/>
        </p:nvSpPr>
        <p:spPr>
          <a:xfrm>
            <a:off x="658368" y="2011680"/>
            <a:ext cx="2606040" cy="64008"/>
          </a:xfrm>
          <a:prstGeom prst="rect">
            <a:avLst/>
          </a:prstGeom>
          <a:solidFill>
            <a:srgbClr val="004B85"/>
          </a:solidFill>
          <a:ln/>
        </p:spPr>
      </p:sp>
      <p:sp>
        <p:nvSpPr>
          <p:cNvPr id="12" name="Shape 9"/>
          <p:cNvSpPr/>
          <p:nvPr/>
        </p:nvSpPr>
        <p:spPr>
          <a:xfrm>
            <a:off x="914400" y="2267712"/>
            <a:ext cx="384048" cy="384048"/>
          </a:xfrm>
          <a:prstGeom prst="rect">
            <a:avLst/>
          </a:prstGeom>
          <a:solidFill>
            <a:srgbClr val="004B85"/>
          </a:solidFill>
          <a:ln/>
        </p:spPr>
      </p:sp>
      <p:sp>
        <p:nvSpPr>
          <p:cNvPr id="13" name="Text 10"/>
          <p:cNvSpPr txBox="1"/>
          <p:nvPr/>
        </p:nvSpPr>
        <p:spPr>
          <a:xfrm>
            <a:off x="914400"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1"/>
          <p:cNvSpPr txBox="1"/>
          <p:nvPr/>
        </p:nvSpPr>
        <p:spPr>
          <a:xfrm>
            <a:off x="914400" y="2816352"/>
            <a:ext cx="2093976" cy="91440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Recubrimientos con soldadura</a:t>
            </a:r>
            <a:endParaRPr lang="en-US" sz="1600" dirty="0"/>
          </a:p>
        </p:txBody>
      </p:sp>
      <p:sp>
        <p:nvSpPr>
          <p:cNvPr id="15" name="Text 12"/>
          <p:cNvSpPr txBox="1"/>
          <p:nvPr/>
        </p:nvSpPr>
        <p:spPr>
          <a:xfrm>
            <a:off x="914400" y="3822192"/>
            <a:ext cx="2093976" cy="104241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Aporte de material mediante procesos de soldadura.</a:t>
            </a:r>
            <a:endParaRPr lang="en-US" sz="1300" dirty="0"/>
          </a:p>
        </p:txBody>
      </p:sp>
      <p:sp>
        <p:nvSpPr>
          <p:cNvPr id="16" name="Shape 13"/>
          <p:cNvSpPr/>
          <p:nvPr/>
        </p:nvSpPr>
        <p:spPr>
          <a:xfrm>
            <a:off x="3410712" y="2011680"/>
            <a:ext cx="2606040" cy="3017520"/>
          </a:xfrm>
          <a:prstGeom prst="rect">
            <a:avLst/>
          </a:prstGeom>
          <a:solidFill>
            <a:srgbClr val="F4F7FA"/>
          </a:solidFill>
          <a:ln w="9525">
            <a:solidFill>
              <a:srgbClr val="D5DDE5"/>
            </a:solidFill>
            <a:prstDash val="solid"/>
          </a:ln>
        </p:spPr>
      </p:sp>
      <p:sp>
        <p:nvSpPr>
          <p:cNvPr id="17" name="Shape 14"/>
          <p:cNvSpPr/>
          <p:nvPr/>
        </p:nvSpPr>
        <p:spPr>
          <a:xfrm>
            <a:off x="3410712" y="2011680"/>
            <a:ext cx="2606040" cy="64008"/>
          </a:xfrm>
          <a:prstGeom prst="rect">
            <a:avLst/>
          </a:prstGeom>
          <a:solidFill>
            <a:srgbClr val="B88200"/>
          </a:solidFill>
          <a:ln/>
        </p:spPr>
      </p:sp>
      <p:sp>
        <p:nvSpPr>
          <p:cNvPr id="18" name="Shape 15"/>
          <p:cNvSpPr/>
          <p:nvPr/>
        </p:nvSpPr>
        <p:spPr>
          <a:xfrm>
            <a:off x="3666744" y="2267712"/>
            <a:ext cx="384048" cy="384048"/>
          </a:xfrm>
          <a:prstGeom prst="rect">
            <a:avLst/>
          </a:prstGeom>
          <a:solidFill>
            <a:srgbClr val="B88200"/>
          </a:solidFill>
          <a:ln/>
        </p:spPr>
      </p:sp>
      <p:sp>
        <p:nvSpPr>
          <p:cNvPr id="19" name="Text 16"/>
          <p:cNvSpPr txBox="1"/>
          <p:nvPr/>
        </p:nvSpPr>
        <p:spPr>
          <a:xfrm>
            <a:off x="3666744"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0" name="Text 17"/>
          <p:cNvSpPr txBox="1"/>
          <p:nvPr/>
        </p:nvSpPr>
        <p:spPr>
          <a:xfrm>
            <a:off x="3666744" y="2816352"/>
            <a:ext cx="2093976" cy="91440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Recubrimientos por metalización</a:t>
            </a:r>
            <a:endParaRPr lang="en-US" sz="1600" dirty="0"/>
          </a:p>
        </p:txBody>
      </p:sp>
      <p:sp>
        <p:nvSpPr>
          <p:cNvPr id="21" name="Text 18"/>
          <p:cNvSpPr txBox="1"/>
          <p:nvPr/>
        </p:nvSpPr>
        <p:spPr>
          <a:xfrm>
            <a:off x="3666744" y="3822192"/>
            <a:ext cx="2093976" cy="104241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Proyección térmica de material sobre la superficie.</a:t>
            </a:r>
            <a:endParaRPr lang="en-US" sz="1300" dirty="0"/>
          </a:p>
        </p:txBody>
      </p:sp>
      <p:sp>
        <p:nvSpPr>
          <p:cNvPr id="22" name="Shape 19"/>
          <p:cNvSpPr/>
          <p:nvPr/>
        </p:nvSpPr>
        <p:spPr>
          <a:xfrm>
            <a:off x="6163056" y="2011680"/>
            <a:ext cx="2606040" cy="3017520"/>
          </a:xfrm>
          <a:prstGeom prst="rect">
            <a:avLst/>
          </a:prstGeom>
          <a:solidFill>
            <a:srgbClr val="F4F7FA"/>
          </a:solidFill>
          <a:ln w="9525">
            <a:solidFill>
              <a:srgbClr val="D5DDE5"/>
            </a:solidFill>
            <a:prstDash val="solid"/>
          </a:ln>
        </p:spPr>
      </p:sp>
      <p:sp>
        <p:nvSpPr>
          <p:cNvPr id="23" name="Shape 20"/>
          <p:cNvSpPr/>
          <p:nvPr/>
        </p:nvSpPr>
        <p:spPr>
          <a:xfrm>
            <a:off x="6163056" y="2011680"/>
            <a:ext cx="2606040" cy="64008"/>
          </a:xfrm>
          <a:prstGeom prst="rect">
            <a:avLst/>
          </a:prstGeom>
          <a:solidFill>
            <a:srgbClr val="004B85"/>
          </a:solidFill>
          <a:ln/>
        </p:spPr>
      </p:sp>
      <p:sp>
        <p:nvSpPr>
          <p:cNvPr id="24" name="Shape 21"/>
          <p:cNvSpPr/>
          <p:nvPr/>
        </p:nvSpPr>
        <p:spPr>
          <a:xfrm>
            <a:off x="6419088" y="2267712"/>
            <a:ext cx="384048" cy="384048"/>
          </a:xfrm>
          <a:prstGeom prst="rect">
            <a:avLst/>
          </a:prstGeom>
          <a:solidFill>
            <a:srgbClr val="004B85"/>
          </a:solidFill>
          <a:ln/>
        </p:spPr>
      </p:sp>
      <p:sp>
        <p:nvSpPr>
          <p:cNvPr id="25" name="Text 22"/>
          <p:cNvSpPr txBox="1"/>
          <p:nvPr/>
        </p:nvSpPr>
        <p:spPr>
          <a:xfrm>
            <a:off x="6419088"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6" name="Text 23"/>
          <p:cNvSpPr txBox="1"/>
          <p:nvPr/>
        </p:nvSpPr>
        <p:spPr>
          <a:xfrm>
            <a:off x="6419088" y="2816352"/>
            <a:ext cx="2093976" cy="91440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Recubrimientos con adhesivos químicos</a:t>
            </a:r>
            <a:endParaRPr lang="en-US" sz="1600" dirty="0"/>
          </a:p>
        </p:txBody>
      </p:sp>
      <p:sp>
        <p:nvSpPr>
          <p:cNvPr id="27" name="Text 24"/>
          <p:cNvSpPr txBox="1"/>
          <p:nvPr/>
        </p:nvSpPr>
        <p:spPr>
          <a:xfrm>
            <a:off x="6419088" y="3822192"/>
            <a:ext cx="2093976" cy="104241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Fijación, sellado, retención y relleno con compuestos.</a:t>
            </a:r>
            <a:endParaRPr lang="en-US" sz="1300" dirty="0"/>
          </a:p>
        </p:txBody>
      </p:sp>
      <p:sp>
        <p:nvSpPr>
          <p:cNvPr id="28" name="Shape 25"/>
          <p:cNvSpPr/>
          <p:nvPr/>
        </p:nvSpPr>
        <p:spPr>
          <a:xfrm>
            <a:off x="8915400" y="2011680"/>
            <a:ext cx="2606040" cy="3017520"/>
          </a:xfrm>
          <a:prstGeom prst="rect">
            <a:avLst/>
          </a:prstGeom>
          <a:solidFill>
            <a:srgbClr val="F4F7FA"/>
          </a:solidFill>
          <a:ln w="9525">
            <a:solidFill>
              <a:srgbClr val="D5DDE5"/>
            </a:solidFill>
            <a:prstDash val="solid"/>
          </a:ln>
        </p:spPr>
      </p:sp>
      <p:sp>
        <p:nvSpPr>
          <p:cNvPr id="29" name="Shape 26"/>
          <p:cNvSpPr/>
          <p:nvPr/>
        </p:nvSpPr>
        <p:spPr>
          <a:xfrm>
            <a:off x="8915400" y="2011680"/>
            <a:ext cx="2606040" cy="64008"/>
          </a:xfrm>
          <a:prstGeom prst="rect">
            <a:avLst/>
          </a:prstGeom>
          <a:solidFill>
            <a:srgbClr val="B88200"/>
          </a:solidFill>
          <a:ln/>
        </p:spPr>
      </p:sp>
      <p:sp>
        <p:nvSpPr>
          <p:cNvPr id="30" name="Shape 27"/>
          <p:cNvSpPr/>
          <p:nvPr/>
        </p:nvSpPr>
        <p:spPr>
          <a:xfrm>
            <a:off x="9171432" y="2267712"/>
            <a:ext cx="384048" cy="384048"/>
          </a:xfrm>
          <a:prstGeom prst="rect">
            <a:avLst/>
          </a:prstGeom>
          <a:solidFill>
            <a:srgbClr val="B88200"/>
          </a:solidFill>
          <a:ln/>
        </p:spPr>
      </p:sp>
      <p:sp>
        <p:nvSpPr>
          <p:cNvPr id="31" name="Text 28"/>
          <p:cNvSpPr txBox="1"/>
          <p:nvPr/>
        </p:nvSpPr>
        <p:spPr>
          <a:xfrm>
            <a:off x="9171432" y="23225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32" name="Text 29"/>
          <p:cNvSpPr txBox="1"/>
          <p:nvPr/>
        </p:nvSpPr>
        <p:spPr>
          <a:xfrm>
            <a:off x="9171432" y="2816352"/>
            <a:ext cx="2093976" cy="91440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Recubrimientos cerámicos</a:t>
            </a:r>
            <a:endParaRPr lang="en-US" sz="1600" dirty="0"/>
          </a:p>
        </p:txBody>
      </p:sp>
      <p:sp>
        <p:nvSpPr>
          <p:cNvPr id="33" name="Text 30"/>
          <p:cNvSpPr txBox="1"/>
          <p:nvPr/>
        </p:nvSpPr>
        <p:spPr>
          <a:xfrm>
            <a:off x="9171432" y="3822192"/>
            <a:ext cx="2093976" cy="104241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Capas cerámicas de protección superficial.</a:t>
            </a:r>
            <a:endParaRPr lang="en-US" sz="1300" dirty="0"/>
          </a:p>
        </p:txBody>
      </p:sp>
      <p:sp>
        <p:nvSpPr>
          <p:cNvPr id="34" name="Shape 31"/>
          <p:cNvSpPr/>
          <p:nvPr/>
        </p:nvSpPr>
        <p:spPr>
          <a:xfrm>
            <a:off x="658368" y="5559552"/>
            <a:ext cx="10872216" cy="420624"/>
          </a:xfrm>
          <a:prstGeom prst="rect">
            <a:avLst/>
          </a:prstGeom>
          <a:solidFill>
            <a:srgbClr val="E8F0F7"/>
          </a:solidFill>
          <a:ln/>
        </p:spPr>
      </p:sp>
      <p:sp>
        <p:nvSpPr>
          <p:cNvPr id="35" name="Shape 32"/>
          <p:cNvSpPr/>
          <p:nvPr/>
        </p:nvSpPr>
        <p:spPr>
          <a:xfrm>
            <a:off x="658368" y="5559552"/>
            <a:ext cx="54864" cy="420624"/>
          </a:xfrm>
          <a:prstGeom prst="rect">
            <a:avLst/>
          </a:prstGeom>
          <a:solidFill>
            <a:srgbClr val="004B85"/>
          </a:solidFill>
          <a:ln/>
        </p:spPr>
      </p:sp>
      <p:sp>
        <p:nvSpPr>
          <p:cNvPr id="36" name="Text 33"/>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La técnica se elige según el material base, el mecanismo de desgaste, la geometría de la pieza y las condiciones de servicio.</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TÉCNICAS PARA RECUPERACIÓN</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Las cuatro técnicas aplicadas en planta</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22a</a:t>
            </a:r>
          </a:p>
        </p:txBody>
      </p:sp>
      <p:sp>
        <p:nvSpPr>
          <p:cNvPr id="12" name="Rectangle 11"/>
          <p:cNvSpPr/>
          <p:nvPr/>
        </p:nvSpPr>
        <p:spPr>
          <a:xfrm>
            <a:off x="658368"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molde_despues.jpg"/>
          <p:cNvPicPr>
            <a:picLocks noChangeAspect="1"/>
          </p:cNvPicPr>
          <p:nvPr/>
        </p:nvPicPr>
        <p:blipFill>
          <a:blip r:embed="rId4"/>
          <a:srcRect t="13162" b="13162"/>
          <a:stretch>
            <a:fillRect/>
          </a:stretch>
        </p:blipFill>
        <p:spPr>
          <a:xfrm>
            <a:off x="658368" y="1728216"/>
            <a:ext cx="2567178" cy="2103120"/>
          </a:xfrm>
          <a:prstGeom prst="rect">
            <a:avLst/>
          </a:prstGeom>
        </p:spPr>
      </p:pic>
      <p:sp>
        <p:nvSpPr>
          <p:cNvPr id="15" name="TextBox 14"/>
          <p:cNvSpPr txBox="1"/>
          <p:nvPr/>
        </p:nvSpPr>
        <p:spPr>
          <a:xfrm>
            <a:off x="859536" y="3995927"/>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Soldadura</a:t>
            </a:r>
          </a:p>
        </p:txBody>
      </p:sp>
      <p:sp>
        <p:nvSpPr>
          <p:cNvPr id="16" name="TextBox 15"/>
          <p:cNvSpPr txBox="1"/>
          <p:nvPr/>
        </p:nvSpPr>
        <p:spPr>
          <a:xfrm>
            <a:off x="859536" y="4398264"/>
            <a:ext cx="2164842" cy="868680"/>
          </a:xfrm>
          <a:prstGeom prst="rect">
            <a:avLst/>
          </a:prstGeom>
          <a:noFill/>
        </p:spPr>
        <p:txBody>
          <a:bodyPr wrap="square" lIns="0" tIns="0" rIns="0" bIns="0" anchor="t">
            <a:spAutoFit/>
          </a:bodyPr>
          <a:lstStyle/>
          <a:p>
            <a:pPr algn="l">
              <a:lnSpc>
                <a:spcPct val="125000"/>
              </a:lnSpc>
              <a:spcAft>
                <a:spcPts val="0"/>
              </a:spcAft>
            </a:pPr>
            <a:r>
              <a:rPr sz="1200" b="0" i="0">
                <a:solidFill>
                  <a:srgbClr val="5C6B7A"/>
                </a:solidFill>
                <a:latin typeface="Segoe UI"/>
              </a:rPr>
              <a:t>Molde con grieta en la cavidad: biselado, aporte TIG y mecanizado final.</a:t>
            </a:r>
          </a:p>
        </p:txBody>
      </p:sp>
      <p:sp>
        <p:nvSpPr>
          <p:cNvPr id="17" name="Rectangle 16"/>
          <p:cNvSpPr/>
          <p:nvPr/>
        </p:nvSpPr>
        <p:spPr>
          <a:xfrm>
            <a:off x="3426714"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426714" y="1664208"/>
            <a:ext cx="2567178" cy="64008"/>
          </a:xfrm>
          <a:prstGeom prst="rect">
            <a:avLst/>
          </a:prstGeom>
          <a:solidFill>
            <a:srgbClr val="B88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metalizacion.jpg"/>
          <p:cNvPicPr>
            <a:picLocks noChangeAspect="1"/>
          </p:cNvPicPr>
          <p:nvPr/>
        </p:nvPicPr>
        <p:blipFill>
          <a:blip r:embed="rId5"/>
          <a:srcRect l="9351" r="9351"/>
          <a:stretch>
            <a:fillRect/>
          </a:stretch>
        </p:blipFill>
        <p:spPr>
          <a:xfrm>
            <a:off x="3426714" y="1728216"/>
            <a:ext cx="2567178" cy="2103120"/>
          </a:xfrm>
          <a:prstGeom prst="rect">
            <a:avLst/>
          </a:prstGeom>
        </p:spPr>
      </p:pic>
      <p:sp>
        <p:nvSpPr>
          <p:cNvPr id="20" name="TextBox 19"/>
          <p:cNvSpPr txBox="1"/>
          <p:nvPr/>
        </p:nvSpPr>
        <p:spPr>
          <a:xfrm>
            <a:off x="3627882" y="3995927"/>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Metalización</a:t>
            </a:r>
          </a:p>
        </p:txBody>
      </p:sp>
      <p:sp>
        <p:nvSpPr>
          <p:cNvPr id="21" name="TextBox 20"/>
          <p:cNvSpPr txBox="1"/>
          <p:nvPr/>
        </p:nvSpPr>
        <p:spPr>
          <a:xfrm>
            <a:off x="3627882" y="4398264"/>
            <a:ext cx="2164842" cy="868680"/>
          </a:xfrm>
          <a:prstGeom prst="rect">
            <a:avLst/>
          </a:prstGeom>
          <a:noFill/>
        </p:spPr>
        <p:txBody>
          <a:bodyPr wrap="square" lIns="0" tIns="0" rIns="0" bIns="0" anchor="t">
            <a:spAutoFit/>
          </a:bodyPr>
          <a:lstStyle/>
          <a:p>
            <a:pPr algn="l">
              <a:lnSpc>
                <a:spcPct val="125000"/>
              </a:lnSpc>
              <a:spcAft>
                <a:spcPts val="0"/>
              </a:spcAft>
            </a:pPr>
            <a:r>
              <a:rPr sz="1200" b="0" i="0">
                <a:solidFill>
                  <a:srgbClr val="5C6B7A"/>
                </a:solidFill>
                <a:latin typeface="Segoe UI"/>
              </a:rPr>
              <a:t>Proyección térmica para recuperar diámetro y proteger contra corrosión.</a:t>
            </a:r>
          </a:p>
        </p:txBody>
      </p:sp>
      <p:sp>
        <p:nvSpPr>
          <p:cNvPr id="22" name="Rectangle 21"/>
          <p:cNvSpPr/>
          <p:nvPr/>
        </p:nvSpPr>
        <p:spPr>
          <a:xfrm>
            <a:off x="6195060"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95060" y="1664208"/>
            <a:ext cx="2567178" cy="64008"/>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epoxico_tuberia.jpg"/>
          <p:cNvPicPr>
            <a:picLocks noChangeAspect="1"/>
          </p:cNvPicPr>
          <p:nvPr/>
        </p:nvPicPr>
        <p:blipFill>
          <a:blip r:embed="rId6"/>
          <a:srcRect t="5765" b="5765"/>
          <a:stretch>
            <a:fillRect/>
          </a:stretch>
        </p:blipFill>
        <p:spPr>
          <a:xfrm>
            <a:off x="6195060" y="1728216"/>
            <a:ext cx="2567178" cy="2103120"/>
          </a:xfrm>
          <a:prstGeom prst="rect">
            <a:avLst/>
          </a:prstGeom>
        </p:spPr>
      </p:pic>
      <p:sp>
        <p:nvSpPr>
          <p:cNvPr id="25" name="TextBox 24"/>
          <p:cNvSpPr txBox="1"/>
          <p:nvPr/>
        </p:nvSpPr>
        <p:spPr>
          <a:xfrm>
            <a:off x="6396228" y="3995927"/>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Adhesivos químicos</a:t>
            </a:r>
          </a:p>
        </p:txBody>
      </p:sp>
      <p:sp>
        <p:nvSpPr>
          <p:cNvPr id="26" name="TextBox 25"/>
          <p:cNvSpPr txBox="1"/>
          <p:nvPr/>
        </p:nvSpPr>
        <p:spPr>
          <a:xfrm>
            <a:off x="6396228" y="4398264"/>
            <a:ext cx="2164842" cy="868680"/>
          </a:xfrm>
          <a:prstGeom prst="rect">
            <a:avLst/>
          </a:prstGeom>
          <a:noFill/>
        </p:spPr>
        <p:txBody>
          <a:bodyPr wrap="square" lIns="0" tIns="0" rIns="0" bIns="0" anchor="t">
            <a:spAutoFit/>
          </a:bodyPr>
          <a:lstStyle/>
          <a:p>
            <a:pPr algn="l">
              <a:lnSpc>
                <a:spcPct val="125000"/>
              </a:lnSpc>
              <a:spcAft>
                <a:spcPts val="0"/>
              </a:spcAft>
            </a:pPr>
            <a:r>
              <a:rPr sz="1200" b="0" i="0">
                <a:solidFill>
                  <a:srgbClr val="5C6B7A"/>
                </a:solidFill>
                <a:latin typeface="Segoe UI"/>
              </a:rPr>
              <a:t>Compuesto epóxico con relleno metálico para sellar una fuga en tubería.</a:t>
            </a:r>
          </a:p>
        </p:txBody>
      </p:sp>
      <p:sp>
        <p:nvSpPr>
          <p:cNvPr id="27" name="Rectangle 26"/>
          <p:cNvSpPr/>
          <p:nvPr/>
        </p:nvSpPr>
        <p:spPr>
          <a:xfrm>
            <a:off x="8963406" y="1664208"/>
            <a:ext cx="2567178" cy="3712463"/>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963406" y="1664208"/>
            <a:ext cx="2567178" cy="64008"/>
          </a:xfrm>
          <a:prstGeom prst="rect">
            <a:avLst/>
          </a:prstGeom>
          <a:solidFill>
            <a:srgbClr val="B88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hute_epoxico.jpg"/>
          <p:cNvPicPr>
            <a:picLocks noChangeAspect="1"/>
          </p:cNvPicPr>
          <p:nvPr/>
        </p:nvPicPr>
        <p:blipFill>
          <a:blip r:embed="rId7"/>
          <a:srcRect l="13946" r="13946"/>
          <a:stretch>
            <a:fillRect/>
          </a:stretch>
        </p:blipFill>
        <p:spPr>
          <a:xfrm>
            <a:off x="8963406" y="1728216"/>
            <a:ext cx="2567178" cy="2103120"/>
          </a:xfrm>
          <a:prstGeom prst="rect">
            <a:avLst/>
          </a:prstGeom>
        </p:spPr>
      </p:pic>
      <p:sp>
        <p:nvSpPr>
          <p:cNvPr id="30" name="TextBox 29"/>
          <p:cNvSpPr txBox="1"/>
          <p:nvPr/>
        </p:nvSpPr>
        <p:spPr>
          <a:xfrm>
            <a:off x="9164574" y="3995927"/>
            <a:ext cx="2164842" cy="329184"/>
          </a:xfrm>
          <a:prstGeom prst="rect">
            <a:avLst/>
          </a:prstGeom>
          <a:noFill/>
        </p:spPr>
        <p:txBody>
          <a:bodyPr wrap="square" lIns="0" tIns="0" rIns="0" bIns="0" anchor="t">
            <a:spAutoFit/>
          </a:bodyPr>
          <a:lstStyle/>
          <a:p>
            <a:pPr algn="l">
              <a:lnSpc>
                <a:spcPct val="122000"/>
              </a:lnSpc>
              <a:spcAft>
                <a:spcPts val="0"/>
              </a:spcAft>
            </a:pPr>
            <a:r>
              <a:rPr sz="1700" b="1" i="0">
                <a:solidFill>
                  <a:srgbClr val="00335C"/>
                </a:solidFill>
                <a:latin typeface="Segoe UI"/>
              </a:rPr>
              <a:t>Cerámicos</a:t>
            </a:r>
          </a:p>
        </p:txBody>
      </p:sp>
      <p:sp>
        <p:nvSpPr>
          <p:cNvPr id="31" name="TextBox 30"/>
          <p:cNvSpPr txBox="1"/>
          <p:nvPr/>
        </p:nvSpPr>
        <p:spPr>
          <a:xfrm>
            <a:off x="9164574" y="4398264"/>
            <a:ext cx="2164842" cy="868680"/>
          </a:xfrm>
          <a:prstGeom prst="rect">
            <a:avLst/>
          </a:prstGeom>
          <a:noFill/>
        </p:spPr>
        <p:txBody>
          <a:bodyPr wrap="square" lIns="0" tIns="0" rIns="0" bIns="0" anchor="t">
            <a:spAutoFit/>
          </a:bodyPr>
          <a:lstStyle/>
          <a:p>
            <a:pPr algn="l">
              <a:lnSpc>
                <a:spcPct val="125000"/>
              </a:lnSpc>
              <a:spcAft>
                <a:spcPts val="0"/>
              </a:spcAft>
            </a:pPr>
            <a:r>
              <a:rPr sz="1200" b="0" i="0">
                <a:solidFill>
                  <a:srgbClr val="5C6B7A"/>
                </a:solidFill>
                <a:latin typeface="Segoe UI"/>
              </a:rPr>
              <a:t>Recubrimiento epóxico con perlas cerámicas sobre una canaleta sometida a abrasión.</a:t>
            </a:r>
          </a:p>
        </p:txBody>
      </p:sp>
      <p:sp>
        <p:nvSpPr>
          <p:cNvPr id="32" name="Rectangle 31"/>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La foto de cada técnica corresponde a casos presentados en los trabajos de recuperación de partes del curso.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TÉCNICA DE RECUPERACIÓN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Recubrimientos por metalización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23</a:t>
            </a:r>
            <a:endParaRPr lang="en-US" sz="1000" dirty="0"/>
          </a:p>
        </p:txBody>
      </p:sp>
      <p:pic>
        <p:nvPicPr>
          <p:cNvPr id="10" name="Image 1" descr="/home/claude/work/assets/fig_metalizacion.png"/>
          <p:cNvPicPr>
            <a:picLocks noChangeAspect="1"/>
          </p:cNvPicPr>
          <p:nvPr/>
        </p:nvPicPr>
        <p:blipFill>
          <a:blip r:embed="rId4"/>
          <a:stretch>
            <a:fillRect/>
          </a:stretch>
        </p:blipFill>
        <p:spPr>
          <a:xfrm>
            <a:off x="658368" y="1737360"/>
            <a:ext cx="5577840" cy="3675888"/>
          </a:xfrm>
          <a:prstGeom prst="rect">
            <a:avLst/>
          </a:prstGeom>
        </p:spPr>
      </p:pic>
      <p:sp>
        <p:nvSpPr>
          <p:cNvPr id="11" name="Text 7"/>
          <p:cNvSpPr txBox="1"/>
          <p:nvPr/>
        </p:nvSpPr>
        <p:spPr>
          <a:xfrm>
            <a:off x="6720840" y="1773936"/>
            <a:ext cx="4754880" cy="274320"/>
          </a:xfrm>
          <a:prstGeom prst="rect">
            <a:avLst/>
          </a:prstGeom>
          <a:noFill/>
          <a:ln/>
        </p:spPr>
        <p:txBody>
          <a:bodyPr wrap="square" lIns="0" tIns="0" rIns="0" bIns="0" rtlCol="0" anchor="ctr"/>
          <a:lstStyle/>
          <a:p>
            <a:pPr marL="0" indent="0">
              <a:buNone/>
            </a:pPr>
            <a:r>
              <a:rPr lang="en-US" sz="1200" b="1" kern="0" spc="100" dirty="0">
                <a:solidFill>
                  <a:srgbClr val="B88200"/>
                </a:solidFill>
                <a:latin typeface="Segoe UI" pitchFamily="34" charset="0"/>
                <a:ea typeface="Segoe UI" pitchFamily="34" charset="-122"/>
                <a:cs typeface="Segoe UI" pitchFamily="34" charset="-120"/>
              </a:rPr>
              <a:t>MATERIAL DE APOYO</a:t>
            </a:r>
            <a:endParaRPr lang="en-US" sz="1200" dirty="0"/>
          </a:p>
        </p:txBody>
      </p:sp>
      <p:sp>
        <p:nvSpPr>
          <p:cNvPr id="12" name="Shape 8"/>
          <p:cNvSpPr/>
          <p:nvPr/>
        </p:nvSpPr>
        <p:spPr>
          <a:xfrm>
            <a:off x="6720840" y="2212848"/>
            <a:ext cx="4809744" cy="566928"/>
          </a:xfrm>
          <a:prstGeom prst="rect">
            <a:avLst/>
          </a:prstGeom>
          <a:solidFill>
            <a:srgbClr val="F4F7FA"/>
          </a:solidFill>
          <a:ln w="9525">
            <a:solidFill>
              <a:srgbClr val="D5DDE5"/>
            </a:solidFill>
            <a:prstDash val="solid"/>
          </a:ln>
        </p:spPr>
      </p:sp>
      <p:sp>
        <p:nvSpPr>
          <p:cNvPr id="13" name="Shape 9"/>
          <p:cNvSpPr/>
          <p:nvPr/>
        </p:nvSpPr>
        <p:spPr>
          <a:xfrm>
            <a:off x="6720840" y="2212848"/>
            <a:ext cx="45720" cy="566928"/>
          </a:xfrm>
          <a:prstGeom prst="rect">
            <a:avLst/>
          </a:prstGeom>
          <a:solidFill>
            <a:srgbClr val="004B85"/>
          </a:solidFill>
          <a:ln/>
        </p:spPr>
      </p:sp>
      <p:sp>
        <p:nvSpPr>
          <p:cNvPr id="14" name="Text 10">
            <a:hlinkClick r:id="rId5"/>
          </p:cNvPr>
          <p:cNvSpPr txBox="1"/>
          <p:nvPr/>
        </p:nvSpPr>
        <p:spPr>
          <a:xfrm>
            <a:off x="6931152" y="2212848"/>
            <a:ext cx="4480560" cy="566928"/>
          </a:xfrm>
          <a:prstGeom prst="rect">
            <a:avLst/>
          </a:prstGeom>
          <a:noFill/>
          <a:ln/>
        </p:spPr>
        <p:txBody>
          <a:bodyPr wrap="square" lIns="0" tIns="0" rIns="0" bIns="0" rtlCol="0" anchor="ctr"/>
          <a:lstStyle/>
          <a:p>
            <a:pPr marL="0" indent="0">
              <a:buNone/>
            </a:pPr>
            <a:r>
              <a:rPr lang="en-US" sz="1200" u="sng" dirty="0">
                <a:solidFill>
                  <a:srgbClr val="004B85"/>
                </a:solidFill>
                <a:latin typeface="Segoe UI" pitchFamily="34" charset="0"/>
                <a:ea typeface="Segoe UI" pitchFamily="34" charset="-122"/>
                <a:cs typeface="Segoe UI" pitchFamily="34" charset="-120"/>
                <a:hlinkClick r:id="rId5">
                  <a:extLst>
                    <a:ext uri="{A12FA001-AC4F-418D-AE19-62706E023703}">
                      <ahyp:hlinkClr xmlns:ahyp="http://schemas.microsoft.com/office/drawing/2018/hyperlinkcolor" val="tx"/>
                    </a:ext>
                  </a:extLst>
                </a:hlinkClick>
              </a:rPr>
              <a:t>https://www.youtube.com/watch?v=rbuHbmqWxds</a:t>
            </a:r>
            <a:endParaRPr lang="en-US" sz="1200" dirty="0"/>
          </a:p>
        </p:txBody>
      </p:sp>
      <p:sp>
        <p:nvSpPr>
          <p:cNvPr id="15" name="Shape 11"/>
          <p:cNvSpPr/>
          <p:nvPr/>
        </p:nvSpPr>
        <p:spPr>
          <a:xfrm>
            <a:off x="6720840" y="2907792"/>
            <a:ext cx="4809744" cy="566928"/>
          </a:xfrm>
          <a:prstGeom prst="rect">
            <a:avLst/>
          </a:prstGeom>
          <a:solidFill>
            <a:srgbClr val="F4F7FA"/>
          </a:solidFill>
          <a:ln w="9525">
            <a:solidFill>
              <a:srgbClr val="D5DDE5"/>
            </a:solidFill>
            <a:prstDash val="solid"/>
          </a:ln>
        </p:spPr>
      </p:sp>
      <p:sp>
        <p:nvSpPr>
          <p:cNvPr id="16" name="Shape 12"/>
          <p:cNvSpPr/>
          <p:nvPr/>
        </p:nvSpPr>
        <p:spPr>
          <a:xfrm>
            <a:off x="6720840" y="2907792"/>
            <a:ext cx="45720" cy="566928"/>
          </a:xfrm>
          <a:prstGeom prst="rect">
            <a:avLst/>
          </a:prstGeom>
          <a:solidFill>
            <a:srgbClr val="004B85"/>
          </a:solidFill>
          <a:ln/>
        </p:spPr>
      </p:sp>
      <p:sp>
        <p:nvSpPr>
          <p:cNvPr id="17" name="Text 13">
            <a:hlinkClick r:id="rId6"/>
          </p:cNvPr>
          <p:cNvSpPr txBox="1"/>
          <p:nvPr/>
        </p:nvSpPr>
        <p:spPr>
          <a:xfrm>
            <a:off x="6931152" y="2907792"/>
            <a:ext cx="4480560" cy="566928"/>
          </a:xfrm>
          <a:prstGeom prst="rect">
            <a:avLst/>
          </a:prstGeom>
          <a:noFill/>
          <a:ln/>
        </p:spPr>
        <p:txBody>
          <a:bodyPr wrap="square" lIns="0" tIns="0" rIns="0" bIns="0" rtlCol="0" anchor="ctr"/>
          <a:lstStyle/>
          <a:p>
            <a:pPr marL="0" indent="0">
              <a:buNone/>
            </a:pPr>
            <a:r>
              <a:rPr lang="en-US" sz="1200" u="sng" dirty="0">
                <a:solidFill>
                  <a:srgbClr val="004B85"/>
                </a:solidFill>
                <a:latin typeface="Segoe UI" pitchFamily="34" charset="0"/>
                <a:ea typeface="Segoe UI" pitchFamily="34" charset="-122"/>
                <a:cs typeface="Segoe UI" pitchFamily="34" charset="-120"/>
                <a:hlinkClick r:id="rId6">
                  <a:extLst>
                    <a:ext uri="{A12FA001-AC4F-418D-AE19-62706E023703}">
                      <ahyp:hlinkClr xmlns:ahyp="http://schemas.microsoft.com/office/drawing/2018/hyperlinkcolor" val="tx"/>
                    </a:ext>
                  </a:extLst>
                </a:hlinkClick>
              </a:rPr>
              <a:t>https://www.youtube.com/watch?v=WHnacg19-cQ</a:t>
            </a:r>
            <a:endParaRPr lang="en-US" sz="1200" dirty="0"/>
          </a:p>
        </p:txBody>
      </p:sp>
      <p:sp>
        <p:nvSpPr>
          <p:cNvPr id="18" name="Shape 14"/>
          <p:cNvSpPr/>
          <p:nvPr/>
        </p:nvSpPr>
        <p:spPr>
          <a:xfrm>
            <a:off x="6720840" y="3602736"/>
            <a:ext cx="4809744" cy="566928"/>
          </a:xfrm>
          <a:prstGeom prst="rect">
            <a:avLst/>
          </a:prstGeom>
          <a:solidFill>
            <a:srgbClr val="F4F7FA"/>
          </a:solidFill>
          <a:ln w="9525">
            <a:solidFill>
              <a:srgbClr val="D5DDE5"/>
            </a:solidFill>
            <a:prstDash val="solid"/>
          </a:ln>
        </p:spPr>
      </p:sp>
      <p:sp>
        <p:nvSpPr>
          <p:cNvPr id="19" name="Shape 15"/>
          <p:cNvSpPr/>
          <p:nvPr/>
        </p:nvSpPr>
        <p:spPr>
          <a:xfrm>
            <a:off x="6720840" y="3602736"/>
            <a:ext cx="45720" cy="566928"/>
          </a:xfrm>
          <a:prstGeom prst="rect">
            <a:avLst/>
          </a:prstGeom>
          <a:solidFill>
            <a:srgbClr val="004B85"/>
          </a:solidFill>
          <a:ln/>
        </p:spPr>
      </p:sp>
      <p:sp>
        <p:nvSpPr>
          <p:cNvPr id="20" name="Text 16">
            <a:hlinkClick r:id="rId7"/>
          </p:cNvPr>
          <p:cNvSpPr txBox="1"/>
          <p:nvPr/>
        </p:nvSpPr>
        <p:spPr>
          <a:xfrm>
            <a:off x="6931152" y="3602736"/>
            <a:ext cx="4480560" cy="566928"/>
          </a:xfrm>
          <a:prstGeom prst="rect">
            <a:avLst/>
          </a:prstGeom>
          <a:noFill/>
          <a:ln/>
        </p:spPr>
        <p:txBody>
          <a:bodyPr wrap="square" lIns="0" tIns="0" rIns="0" bIns="0" rtlCol="0" anchor="ctr"/>
          <a:lstStyle/>
          <a:p>
            <a:pPr marL="0" indent="0">
              <a:buNone/>
            </a:pPr>
            <a:r>
              <a:rPr lang="en-US" sz="1200" u="sng" dirty="0">
                <a:solidFill>
                  <a:srgbClr val="004B85"/>
                </a:solidFill>
                <a:latin typeface="Segoe UI" pitchFamily="34" charset="0"/>
                <a:ea typeface="Segoe UI" pitchFamily="34" charset="-122"/>
                <a:cs typeface="Segoe UI" pitchFamily="34" charset="-120"/>
                <a:hlinkClick r:id="rId7">
                  <a:extLst>
                    <a:ext uri="{A12FA001-AC4F-418D-AE19-62706E023703}">
                      <ahyp:hlinkClr xmlns:ahyp="http://schemas.microsoft.com/office/drawing/2018/hyperlinkcolor" val="tx"/>
                    </a:ext>
                  </a:extLst>
                </a:hlinkClick>
              </a:rPr>
              <a:t>https://www.youtube.com/watch?v=BS10TaQK0ss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TÉCNICA DE RECUPERACIÓN</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Recubrimientos con adhesivos químicos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24</a:t>
            </a:r>
            <a:endParaRPr lang="en-US" sz="1000" dirty="0"/>
          </a:p>
        </p:txBody>
      </p:sp>
      <p:pic>
        <p:nvPicPr>
          <p:cNvPr id="10" name="Image 1" descr="/home/claude/work/assets/fig_adhesivos.png"/>
          <p:cNvPicPr>
            <a:picLocks noChangeAspect="1"/>
          </p:cNvPicPr>
          <p:nvPr/>
        </p:nvPicPr>
        <p:blipFill>
          <a:blip r:embed="rId4"/>
          <a:stretch>
            <a:fillRect/>
          </a:stretch>
        </p:blipFill>
        <p:spPr>
          <a:xfrm>
            <a:off x="6675120" y="2084832"/>
            <a:ext cx="4855464" cy="2807208"/>
          </a:xfrm>
          <a:prstGeom prst="rect">
            <a:avLst/>
          </a:prstGeom>
        </p:spPr>
      </p:pic>
      <p:sp>
        <p:nvSpPr>
          <p:cNvPr id="11" name="Text 7"/>
          <p:cNvSpPr txBox="1"/>
          <p:nvPr/>
        </p:nvSpPr>
        <p:spPr>
          <a:xfrm>
            <a:off x="658368" y="1719072"/>
            <a:ext cx="5486400" cy="274320"/>
          </a:xfrm>
          <a:prstGeom prst="rect">
            <a:avLst/>
          </a:prstGeom>
          <a:noFill/>
          <a:ln/>
        </p:spPr>
        <p:txBody>
          <a:bodyPr wrap="square" lIns="0" tIns="0" rIns="0" bIns="0" rtlCol="0" anchor="ctr"/>
          <a:lstStyle/>
          <a:p>
            <a:pPr marL="0" indent="0">
              <a:buNone/>
            </a:pPr>
            <a:r>
              <a:rPr lang="en-US" sz="1200" b="1" kern="0" spc="100" dirty="0">
                <a:solidFill>
                  <a:srgbClr val="B88200"/>
                </a:solidFill>
                <a:latin typeface="Segoe UI" pitchFamily="34" charset="0"/>
                <a:ea typeface="Segoe UI" pitchFamily="34" charset="-122"/>
                <a:cs typeface="Segoe UI" pitchFamily="34" charset="-120"/>
              </a:rPr>
              <a:t>APLICACIONES</a:t>
            </a:r>
            <a:endParaRPr lang="en-US" sz="1200" dirty="0"/>
          </a:p>
        </p:txBody>
      </p:sp>
      <p:sp>
        <p:nvSpPr>
          <p:cNvPr id="12" name="Shape 8"/>
          <p:cNvSpPr/>
          <p:nvPr/>
        </p:nvSpPr>
        <p:spPr>
          <a:xfrm>
            <a:off x="658368" y="2231136"/>
            <a:ext cx="109728" cy="109728"/>
          </a:xfrm>
          <a:prstGeom prst="rect">
            <a:avLst/>
          </a:prstGeom>
          <a:solidFill>
            <a:srgbClr val="FFB903"/>
          </a:solidFill>
          <a:ln/>
        </p:spPr>
      </p:sp>
      <p:sp>
        <p:nvSpPr>
          <p:cNvPr id="13" name="Text 9"/>
          <p:cNvSpPr txBox="1"/>
          <p:nvPr/>
        </p:nvSpPr>
        <p:spPr>
          <a:xfrm>
            <a:off x="932688" y="2121408"/>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Fijación de roscas</a:t>
            </a:r>
            <a:endParaRPr lang="en-US" sz="1250" dirty="0"/>
          </a:p>
        </p:txBody>
      </p:sp>
      <p:sp>
        <p:nvSpPr>
          <p:cNvPr id="14" name="Shape 10"/>
          <p:cNvSpPr/>
          <p:nvPr/>
        </p:nvSpPr>
        <p:spPr>
          <a:xfrm>
            <a:off x="658368" y="2798064"/>
            <a:ext cx="109728" cy="109728"/>
          </a:xfrm>
          <a:prstGeom prst="rect">
            <a:avLst/>
          </a:prstGeom>
          <a:solidFill>
            <a:srgbClr val="FFB903"/>
          </a:solidFill>
          <a:ln/>
        </p:spPr>
      </p:sp>
      <p:sp>
        <p:nvSpPr>
          <p:cNvPr id="15" name="Text 11"/>
          <p:cNvSpPr txBox="1"/>
          <p:nvPr/>
        </p:nvSpPr>
        <p:spPr>
          <a:xfrm>
            <a:off x="932688" y="2688336"/>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Sellado de roscas</a:t>
            </a:r>
            <a:endParaRPr lang="en-US" sz="1250" dirty="0"/>
          </a:p>
        </p:txBody>
      </p:sp>
      <p:sp>
        <p:nvSpPr>
          <p:cNvPr id="16" name="Shape 12"/>
          <p:cNvSpPr/>
          <p:nvPr/>
        </p:nvSpPr>
        <p:spPr>
          <a:xfrm>
            <a:off x="658368" y="3364992"/>
            <a:ext cx="109728" cy="109728"/>
          </a:xfrm>
          <a:prstGeom prst="rect">
            <a:avLst/>
          </a:prstGeom>
          <a:solidFill>
            <a:srgbClr val="FFB903"/>
          </a:solidFill>
          <a:ln/>
        </p:spPr>
      </p:sp>
      <p:sp>
        <p:nvSpPr>
          <p:cNvPr id="17" name="Text 13"/>
          <p:cNvSpPr txBox="1"/>
          <p:nvPr/>
        </p:nvSpPr>
        <p:spPr>
          <a:xfrm>
            <a:off x="932688" y="3255264"/>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Formación de juntas</a:t>
            </a:r>
            <a:endParaRPr lang="en-US" sz="1250" dirty="0"/>
          </a:p>
        </p:txBody>
      </p:sp>
      <p:sp>
        <p:nvSpPr>
          <p:cNvPr id="18" name="Shape 14"/>
          <p:cNvSpPr/>
          <p:nvPr/>
        </p:nvSpPr>
        <p:spPr>
          <a:xfrm>
            <a:off x="658368" y="3931920"/>
            <a:ext cx="109728" cy="109728"/>
          </a:xfrm>
          <a:prstGeom prst="rect">
            <a:avLst/>
          </a:prstGeom>
          <a:solidFill>
            <a:srgbClr val="FFB903"/>
          </a:solidFill>
          <a:ln/>
        </p:spPr>
      </p:sp>
      <p:sp>
        <p:nvSpPr>
          <p:cNvPr id="19" name="Text 15"/>
          <p:cNvSpPr txBox="1"/>
          <p:nvPr/>
        </p:nvSpPr>
        <p:spPr>
          <a:xfrm>
            <a:off x="932688" y="3822192"/>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Retención y obturación</a:t>
            </a:r>
            <a:endParaRPr lang="en-US" sz="1250" dirty="0"/>
          </a:p>
        </p:txBody>
      </p:sp>
      <p:sp>
        <p:nvSpPr>
          <p:cNvPr id="20" name="Shape 16"/>
          <p:cNvSpPr/>
          <p:nvPr/>
        </p:nvSpPr>
        <p:spPr>
          <a:xfrm>
            <a:off x="658368" y="4498848"/>
            <a:ext cx="109728" cy="109728"/>
          </a:xfrm>
          <a:prstGeom prst="rect">
            <a:avLst/>
          </a:prstGeom>
          <a:solidFill>
            <a:srgbClr val="FFB903"/>
          </a:solidFill>
          <a:ln/>
        </p:spPr>
      </p:sp>
      <p:sp>
        <p:nvSpPr>
          <p:cNvPr id="21" name="Text 17"/>
          <p:cNvSpPr txBox="1"/>
          <p:nvPr/>
        </p:nvSpPr>
        <p:spPr>
          <a:xfrm>
            <a:off x="932688" y="4389120"/>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Adhesivos instantáneos</a:t>
            </a:r>
            <a:endParaRPr lang="en-US" sz="1250" dirty="0"/>
          </a:p>
        </p:txBody>
      </p:sp>
      <p:sp>
        <p:nvSpPr>
          <p:cNvPr id="22" name="Shape 18"/>
          <p:cNvSpPr/>
          <p:nvPr/>
        </p:nvSpPr>
        <p:spPr>
          <a:xfrm>
            <a:off x="658368" y="5065776"/>
            <a:ext cx="109728" cy="109728"/>
          </a:xfrm>
          <a:prstGeom prst="rect">
            <a:avLst/>
          </a:prstGeom>
          <a:solidFill>
            <a:srgbClr val="FFB903"/>
          </a:solidFill>
          <a:ln/>
        </p:spPr>
      </p:sp>
      <p:sp>
        <p:nvSpPr>
          <p:cNvPr id="23" name="Text 19"/>
          <p:cNvSpPr txBox="1"/>
          <p:nvPr/>
        </p:nvSpPr>
        <p:spPr>
          <a:xfrm>
            <a:off x="932688" y="4956048"/>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Adhesivos de curado por luz</a:t>
            </a:r>
            <a:endParaRPr lang="en-US" sz="1250" dirty="0"/>
          </a:p>
        </p:txBody>
      </p:sp>
      <p:sp>
        <p:nvSpPr>
          <p:cNvPr id="24" name="Shape 20"/>
          <p:cNvSpPr/>
          <p:nvPr/>
        </p:nvSpPr>
        <p:spPr>
          <a:xfrm>
            <a:off x="3310128" y="2231136"/>
            <a:ext cx="109728" cy="109728"/>
          </a:xfrm>
          <a:prstGeom prst="rect">
            <a:avLst/>
          </a:prstGeom>
          <a:solidFill>
            <a:srgbClr val="FFB903"/>
          </a:solidFill>
          <a:ln/>
        </p:spPr>
      </p:sp>
      <p:sp>
        <p:nvSpPr>
          <p:cNvPr id="25" name="Text 21"/>
          <p:cNvSpPr txBox="1"/>
          <p:nvPr/>
        </p:nvSpPr>
        <p:spPr>
          <a:xfrm>
            <a:off x="3584448" y="2121408"/>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Compuestos y recubrimientos protectores</a:t>
            </a:r>
            <a:endParaRPr lang="en-US" sz="1250" dirty="0"/>
          </a:p>
        </p:txBody>
      </p:sp>
      <p:sp>
        <p:nvSpPr>
          <p:cNvPr id="26" name="Shape 22"/>
          <p:cNvSpPr/>
          <p:nvPr/>
        </p:nvSpPr>
        <p:spPr>
          <a:xfrm>
            <a:off x="3310128" y="2798064"/>
            <a:ext cx="109728" cy="109728"/>
          </a:xfrm>
          <a:prstGeom prst="rect">
            <a:avLst/>
          </a:prstGeom>
          <a:solidFill>
            <a:srgbClr val="FFB903"/>
          </a:solidFill>
          <a:ln/>
        </p:spPr>
      </p:sp>
      <p:sp>
        <p:nvSpPr>
          <p:cNvPr id="27" name="Text 23"/>
          <p:cNvSpPr txBox="1"/>
          <p:nvPr/>
        </p:nvSpPr>
        <p:spPr>
          <a:xfrm>
            <a:off x="3584448" y="2688336"/>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Uniones estructurales</a:t>
            </a:r>
            <a:endParaRPr lang="en-US" sz="1250" dirty="0"/>
          </a:p>
        </p:txBody>
      </p:sp>
      <p:sp>
        <p:nvSpPr>
          <p:cNvPr id="28" name="Shape 24"/>
          <p:cNvSpPr/>
          <p:nvPr/>
        </p:nvSpPr>
        <p:spPr>
          <a:xfrm>
            <a:off x="3310128" y="3364992"/>
            <a:ext cx="109728" cy="109728"/>
          </a:xfrm>
          <a:prstGeom prst="rect">
            <a:avLst/>
          </a:prstGeom>
          <a:solidFill>
            <a:srgbClr val="FFB903"/>
          </a:solidFill>
          <a:ln/>
        </p:spPr>
      </p:sp>
      <p:sp>
        <p:nvSpPr>
          <p:cNvPr id="29" name="Text 25"/>
          <p:cNvSpPr txBox="1"/>
          <p:nvPr/>
        </p:nvSpPr>
        <p:spPr>
          <a:xfrm>
            <a:off x="3584448" y="3255264"/>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Compuestos con rellenos metálicos</a:t>
            </a:r>
            <a:endParaRPr lang="en-US" sz="1250" dirty="0"/>
          </a:p>
        </p:txBody>
      </p:sp>
      <p:sp>
        <p:nvSpPr>
          <p:cNvPr id="30" name="Shape 26"/>
          <p:cNvSpPr/>
          <p:nvPr/>
        </p:nvSpPr>
        <p:spPr>
          <a:xfrm>
            <a:off x="3310128" y="3931920"/>
            <a:ext cx="109728" cy="109728"/>
          </a:xfrm>
          <a:prstGeom prst="rect">
            <a:avLst/>
          </a:prstGeom>
          <a:solidFill>
            <a:srgbClr val="FFB903"/>
          </a:solidFill>
          <a:ln/>
        </p:spPr>
      </p:sp>
      <p:sp>
        <p:nvSpPr>
          <p:cNvPr id="31" name="Text 27"/>
          <p:cNvSpPr txBox="1"/>
          <p:nvPr/>
        </p:nvSpPr>
        <p:spPr>
          <a:xfrm>
            <a:off x="3584448" y="3822192"/>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Lubricación y protección</a:t>
            </a:r>
            <a:endParaRPr lang="en-US" sz="1250" dirty="0"/>
          </a:p>
        </p:txBody>
      </p:sp>
      <p:sp>
        <p:nvSpPr>
          <p:cNvPr id="32" name="Shape 28"/>
          <p:cNvSpPr/>
          <p:nvPr/>
        </p:nvSpPr>
        <p:spPr>
          <a:xfrm>
            <a:off x="3310128" y="4498848"/>
            <a:ext cx="109728" cy="109728"/>
          </a:xfrm>
          <a:prstGeom prst="rect">
            <a:avLst/>
          </a:prstGeom>
          <a:solidFill>
            <a:srgbClr val="FFB903"/>
          </a:solidFill>
          <a:ln/>
        </p:spPr>
      </p:sp>
      <p:sp>
        <p:nvSpPr>
          <p:cNvPr id="33" name="Text 29"/>
          <p:cNvSpPr txBox="1"/>
          <p:nvPr/>
        </p:nvSpPr>
        <p:spPr>
          <a:xfrm>
            <a:off x="3584448" y="4389120"/>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Preparación de superficies</a:t>
            </a:r>
            <a:endParaRPr lang="en-US" sz="1250" dirty="0"/>
          </a:p>
        </p:txBody>
      </p:sp>
      <p:sp>
        <p:nvSpPr>
          <p:cNvPr id="34" name="Shape 30"/>
          <p:cNvSpPr/>
          <p:nvPr/>
        </p:nvSpPr>
        <p:spPr>
          <a:xfrm>
            <a:off x="3310128" y="5065776"/>
            <a:ext cx="109728" cy="109728"/>
          </a:xfrm>
          <a:prstGeom prst="rect">
            <a:avLst/>
          </a:prstGeom>
          <a:solidFill>
            <a:srgbClr val="FFB903"/>
          </a:solidFill>
          <a:ln/>
        </p:spPr>
      </p:sp>
      <p:sp>
        <p:nvSpPr>
          <p:cNvPr id="35" name="Text 31"/>
          <p:cNvSpPr txBox="1"/>
          <p:nvPr/>
        </p:nvSpPr>
        <p:spPr>
          <a:xfrm>
            <a:off x="3584448" y="4956048"/>
            <a:ext cx="2377440" cy="475488"/>
          </a:xfrm>
          <a:prstGeom prst="rect">
            <a:avLst/>
          </a:prstGeom>
          <a:noFill/>
          <a:ln/>
        </p:spPr>
        <p:txBody>
          <a:bodyPr wrap="square" lIns="0" tIns="0" rIns="0" bIns="0" rtlCol="0" anchor="ctr"/>
          <a:lstStyle/>
          <a:p>
            <a:pPr marL="0" indent="0">
              <a:lnSpc>
                <a:spcPts val="1600"/>
              </a:lnSpc>
              <a:buNone/>
            </a:pPr>
            <a:r>
              <a:rPr lang="en-US" sz="1250" dirty="0">
                <a:solidFill>
                  <a:srgbClr val="1B2430"/>
                </a:solidFill>
                <a:latin typeface="Segoe UI" pitchFamily="34" charset="0"/>
                <a:ea typeface="Segoe UI" pitchFamily="34" charset="-122"/>
                <a:cs typeface="Segoe UI" pitchFamily="34" charset="-120"/>
              </a:rPr>
              <a:t>Limpieza</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RECUPERACIÓN CON SOLDADURA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Aleaciones para los materiales de aporte</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25</a:t>
            </a:r>
            <a:endParaRPr lang="en-US" sz="1000" dirty="0"/>
          </a:p>
        </p:txBody>
      </p:sp>
      <p:sp>
        <p:nvSpPr>
          <p:cNvPr id="10" name="Text 7"/>
          <p:cNvSpPr txBox="1"/>
          <p:nvPr/>
        </p:nvSpPr>
        <p:spPr>
          <a:xfrm>
            <a:off x="658368" y="1719072"/>
            <a:ext cx="10872216" cy="1463040"/>
          </a:xfrm>
          <a:prstGeom prst="rect">
            <a:avLst/>
          </a:prstGeom>
          <a:noFill/>
          <a:ln/>
        </p:spPr>
        <p:txBody>
          <a:bodyPr wrap="square" lIns="0" tIns="0" rIns="0" bIns="0" rtlCol="0" anchor="ctr"/>
          <a:lstStyle/>
          <a:p>
            <a:pPr marL="0" indent="0">
              <a:lnSpc>
                <a:spcPts val="2300"/>
              </a:lnSpc>
              <a:buNone/>
            </a:pPr>
            <a:r>
              <a:rPr lang="en-US" sz="1600" dirty="0">
                <a:solidFill>
                  <a:srgbClr val="1B2430"/>
                </a:solidFill>
                <a:latin typeface="Segoe UI" pitchFamily="34" charset="0"/>
                <a:ea typeface="Segoe UI" pitchFamily="34" charset="-122"/>
                <a:cs typeface="Segoe UI" pitchFamily="34" charset="-120"/>
              </a:rPr>
              <a:t>Para el campo del mantenimiento —en el cual, y en muchos casos, las reparaciones se realizan en elementos cuyos materiales no son conocidos o están contaminados o fatigados, en posiciones difíciles o incómodas y con limitaciones en cuanto a la disponibilidad de equipos— se han desarrollado aleaciones para los materiales de aporte con mejores características, algunas de las cuales son:</a:t>
            </a:r>
            <a:endParaRPr lang="en-US" sz="1600" dirty="0"/>
          </a:p>
        </p:txBody>
      </p:sp>
      <p:sp>
        <p:nvSpPr>
          <p:cNvPr id="11" name="Shape 8"/>
          <p:cNvSpPr/>
          <p:nvPr/>
        </p:nvSpPr>
        <p:spPr>
          <a:xfrm>
            <a:off x="658368" y="3383280"/>
            <a:ext cx="10872216" cy="1975104"/>
          </a:xfrm>
          <a:prstGeom prst="rect">
            <a:avLst/>
          </a:prstGeom>
          <a:solidFill>
            <a:srgbClr val="F4F7FA"/>
          </a:solidFill>
          <a:ln w="9525">
            <a:solidFill>
              <a:srgbClr val="D5DDE5"/>
            </a:solidFill>
            <a:prstDash val="solid"/>
          </a:ln>
        </p:spPr>
      </p:sp>
      <p:sp>
        <p:nvSpPr>
          <p:cNvPr id="12" name="Shape 9"/>
          <p:cNvSpPr/>
          <p:nvPr/>
        </p:nvSpPr>
        <p:spPr>
          <a:xfrm>
            <a:off x="658368" y="3383280"/>
            <a:ext cx="10872216" cy="64008"/>
          </a:xfrm>
          <a:prstGeom prst="rect">
            <a:avLst/>
          </a:prstGeom>
          <a:solidFill>
            <a:srgbClr val="004B85"/>
          </a:solidFill>
          <a:ln/>
        </p:spPr>
      </p:sp>
      <p:sp>
        <p:nvSpPr>
          <p:cNvPr id="13" name="Shape 10"/>
          <p:cNvSpPr/>
          <p:nvPr/>
        </p:nvSpPr>
        <p:spPr>
          <a:xfrm>
            <a:off x="914400" y="3639312"/>
            <a:ext cx="384048" cy="384048"/>
          </a:xfrm>
          <a:prstGeom prst="rect">
            <a:avLst/>
          </a:prstGeom>
          <a:solidFill>
            <a:srgbClr val="004B85"/>
          </a:solidFill>
          <a:ln/>
        </p:spPr>
      </p:sp>
      <p:sp>
        <p:nvSpPr>
          <p:cNvPr id="14" name="Text 11"/>
          <p:cNvSpPr txBox="1"/>
          <p:nvPr/>
        </p:nvSpPr>
        <p:spPr>
          <a:xfrm>
            <a:off x="914400" y="3694176"/>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5" name="Text 12"/>
          <p:cNvSpPr txBox="1"/>
          <p:nvPr/>
        </p:nvSpPr>
        <p:spPr>
          <a:xfrm>
            <a:off x="914400" y="4187952"/>
            <a:ext cx="10360152"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Composición química balanceada</a:t>
            </a:r>
            <a:endParaRPr lang="en-US" sz="1900" dirty="0"/>
          </a:p>
        </p:txBody>
      </p:sp>
      <p:sp>
        <p:nvSpPr>
          <p:cNvPr id="16" name="Text 13"/>
          <p:cNvSpPr txBox="1"/>
          <p:nvPr/>
        </p:nvSpPr>
        <p:spPr>
          <a:xfrm>
            <a:off x="914400" y="4608576"/>
            <a:ext cx="10360152" cy="585216"/>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Con control de la estructura del depósito para el manejo de las características microestructurales, resistencia a la contaminación superficial, evitando porosidades, y resistencia al ataque corrosivo.</a:t>
            </a:r>
            <a:endParaRPr lang="en-US" sz="14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RECUPERACIÓN CON SOLDADURA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Características de las aleaciones desarrolladas</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26</a:t>
            </a:r>
            <a:endParaRPr lang="en-US" sz="1000" dirty="0"/>
          </a:p>
        </p:txBody>
      </p:sp>
      <p:sp>
        <p:nvSpPr>
          <p:cNvPr id="10" name="Shape 7"/>
          <p:cNvSpPr/>
          <p:nvPr/>
        </p:nvSpPr>
        <p:spPr>
          <a:xfrm>
            <a:off x="658368" y="1682496"/>
            <a:ext cx="3520440" cy="1975104"/>
          </a:xfrm>
          <a:prstGeom prst="rect">
            <a:avLst/>
          </a:prstGeom>
          <a:solidFill>
            <a:srgbClr val="F4F7FA"/>
          </a:solidFill>
          <a:ln w="9525">
            <a:solidFill>
              <a:srgbClr val="D5DDE5"/>
            </a:solidFill>
            <a:prstDash val="solid"/>
          </a:ln>
        </p:spPr>
      </p:sp>
      <p:sp>
        <p:nvSpPr>
          <p:cNvPr id="11" name="Shape 8"/>
          <p:cNvSpPr/>
          <p:nvPr/>
        </p:nvSpPr>
        <p:spPr>
          <a:xfrm>
            <a:off x="658368" y="1682496"/>
            <a:ext cx="3520440" cy="64008"/>
          </a:xfrm>
          <a:prstGeom prst="rect">
            <a:avLst/>
          </a:prstGeom>
          <a:solidFill>
            <a:srgbClr val="004B85"/>
          </a:solidFill>
          <a:ln/>
        </p:spPr>
      </p:sp>
      <p:sp>
        <p:nvSpPr>
          <p:cNvPr id="12" name="Shape 9"/>
          <p:cNvSpPr/>
          <p:nvPr/>
        </p:nvSpPr>
        <p:spPr>
          <a:xfrm>
            <a:off x="914400" y="1920240"/>
            <a:ext cx="347472" cy="347472"/>
          </a:xfrm>
          <a:prstGeom prst="rect">
            <a:avLst/>
          </a:prstGeom>
          <a:solidFill>
            <a:srgbClr val="004B85"/>
          </a:solidFill>
          <a:ln/>
        </p:spPr>
      </p:sp>
      <p:sp>
        <p:nvSpPr>
          <p:cNvPr id="13" name="Text 10"/>
          <p:cNvSpPr txBox="1"/>
          <p:nvPr/>
        </p:nvSpPr>
        <p:spPr>
          <a:xfrm>
            <a:off x="914400"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4" name="Text 11"/>
          <p:cNvSpPr txBox="1"/>
          <p:nvPr/>
        </p:nvSpPr>
        <p:spPr>
          <a:xfrm>
            <a:off x="1389888" y="1901952"/>
            <a:ext cx="2532888" cy="54864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Alta dureza del depósito</a:t>
            </a:r>
            <a:endParaRPr lang="en-US" sz="1600" dirty="0"/>
          </a:p>
        </p:txBody>
      </p:sp>
      <p:sp>
        <p:nvSpPr>
          <p:cNvPr id="15" name="Text 12"/>
          <p:cNvSpPr txBox="1"/>
          <p:nvPr/>
        </p:nvSpPr>
        <p:spPr>
          <a:xfrm>
            <a:off x="914400" y="2542032"/>
            <a:ext cx="3008376" cy="95097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Aleaciones para depósitos con alta dureza para el control de mecanismos de desgaste.</a:t>
            </a:r>
            <a:endParaRPr lang="en-US" sz="1300" dirty="0"/>
          </a:p>
        </p:txBody>
      </p:sp>
      <p:sp>
        <p:nvSpPr>
          <p:cNvPr id="16" name="Shape 13"/>
          <p:cNvSpPr/>
          <p:nvPr/>
        </p:nvSpPr>
        <p:spPr>
          <a:xfrm>
            <a:off x="4334256" y="1682496"/>
            <a:ext cx="3520440" cy="1975104"/>
          </a:xfrm>
          <a:prstGeom prst="rect">
            <a:avLst/>
          </a:prstGeom>
          <a:solidFill>
            <a:srgbClr val="F4F7FA"/>
          </a:solidFill>
          <a:ln w="9525">
            <a:solidFill>
              <a:srgbClr val="D5DDE5"/>
            </a:solidFill>
            <a:prstDash val="solid"/>
          </a:ln>
        </p:spPr>
      </p:sp>
      <p:sp>
        <p:nvSpPr>
          <p:cNvPr id="17" name="Shape 14"/>
          <p:cNvSpPr/>
          <p:nvPr/>
        </p:nvSpPr>
        <p:spPr>
          <a:xfrm>
            <a:off x="4334256" y="1682496"/>
            <a:ext cx="3520440" cy="64008"/>
          </a:xfrm>
          <a:prstGeom prst="rect">
            <a:avLst/>
          </a:prstGeom>
          <a:solidFill>
            <a:srgbClr val="004B85"/>
          </a:solidFill>
          <a:ln/>
        </p:spPr>
      </p:sp>
      <p:sp>
        <p:nvSpPr>
          <p:cNvPr id="18" name="Shape 15"/>
          <p:cNvSpPr/>
          <p:nvPr/>
        </p:nvSpPr>
        <p:spPr>
          <a:xfrm>
            <a:off x="4590288" y="1920240"/>
            <a:ext cx="347472" cy="347472"/>
          </a:xfrm>
          <a:prstGeom prst="rect">
            <a:avLst/>
          </a:prstGeom>
          <a:solidFill>
            <a:srgbClr val="004B85"/>
          </a:solidFill>
          <a:ln/>
        </p:spPr>
      </p:sp>
      <p:sp>
        <p:nvSpPr>
          <p:cNvPr id="19" name="Text 16"/>
          <p:cNvSpPr txBox="1"/>
          <p:nvPr/>
        </p:nvSpPr>
        <p:spPr>
          <a:xfrm>
            <a:off x="4590288"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0" name="Text 17"/>
          <p:cNvSpPr txBox="1"/>
          <p:nvPr/>
        </p:nvSpPr>
        <p:spPr>
          <a:xfrm>
            <a:off x="5065776" y="1901952"/>
            <a:ext cx="2532888" cy="54864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Baja entrada de calor</a:t>
            </a:r>
            <a:endParaRPr lang="en-US" sz="1600" dirty="0"/>
          </a:p>
        </p:txBody>
      </p:sp>
      <p:sp>
        <p:nvSpPr>
          <p:cNvPr id="21" name="Text 18"/>
          <p:cNvSpPr txBox="1"/>
          <p:nvPr/>
        </p:nvSpPr>
        <p:spPr>
          <a:xfrm>
            <a:off x="4590288" y="2542032"/>
            <a:ext cx="3008376" cy="95097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Evita deformaciones y distorsiones en el elemento intervenido.</a:t>
            </a:r>
            <a:endParaRPr lang="en-US" sz="1300" dirty="0"/>
          </a:p>
        </p:txBody>
      </p:sp>
      <p:sp>
        <p:nvSpPr>
          <p:cNvPr id="22" name="Shape 19"/>
          <p:cNvSpPr/>
          <p:nvPr/>
        </p:nvSpPr>
        <p:spPr>
          <a:xfrm>
            <a:off x="8010144" y="1682496"/>
            <a:ext cx="3520440" cy="1975104"/>
          </a:xfrm>
          <a:prstGeom prst="rect">
            <a:avLst/>
          </a:prstGeom>
          <a:solidFill>
            <a:srgbClr val="F4F7FA"/>
          </a:solidFill>
          <a:ln w="9525">
            <a:solidFill>
              <a:srgbClr val="D5DDE5"/>
            </a:solidFill>
            <a:prstDash val="solid"/>
          </a:ln>
        </p:spPr>
      </p:sp>
      <p:sp>
        <p:nvSpPr>
          <p:cNvPr id="23" name="Shape 20"/>
          <p:cNvSpPr/>
          <p:nvPr/>
        </p:nvSpPr>
        <p:spPr>
          <a:xfrm>
            <a:off x="8010144" y="1682496"/>
            <a:ext cx="3520440" cy="64008"/>
          </a:xfrm>
          <a:prstGeom prst="rect">
            <a:avLst/>
          </a:prstGeom>
          <a:solidFill>
            <a:srgbClr val="004B85"/>
          </a:solidFill>
          <a:ln/>
        </p:spPr>
      </p:sp>
      <p:sp>
        <p:nvSpPr>
          <p:cNvPr id="24" name="Shape 21"/>
          <p:cNvSpPr/>
          <p:nvPr/>
        </p:nvSpPr>
        <p:spPr>
          <a:xfrm>
            <a:off x="8266176" y="1920240"/>
            <a:ext cx="347472" cy="347472"/>
          </a:xfrm>
          <a:prstGeom prst="rect">
            <a:avLst/>
          </a:prstGeom>
          <a:solidFill>
            <a:srgbClr val="004B85"/>
          </a:solidFill>
          <a:ln/>
        </p:spPr>
      </p:sp>
      <p:sp>
        <p:nvSpPr>
          <p:cNvPr id="25" name="Text 22"/>
          <p:cNvSpPr txBox="1"/>
          <p:nvPr/>
        </p:nvSpPr>
        <p:spPr>
          <a:xfrm>
            <a:off x="8266176" y="1965960"/>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6" name="Text 23"/>
          <p:cNvSpPr txBox="1"/>
          <p:nvPr/>
        </p:nvSpPr>
        <p:spPr>
          <a:xfrm>
            <a:off x="8741664" y="1901952"/>
            <a:ext cx="2532888" cy="548640"/>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Alto porcentaje de depósito</a:t>
            </a:r>
            <a:endParaRPr lang="en-US" sz="1600" dirty="0"/>
          </a:p>
        </p:txBody>
      </p:sp>
      <p:sp>
        <p:nvSpPr>
          <p:cNvPr id="27" name="Text 24"/>
          <p:cNvSpPr txBox="1"/>
          <p:nvPr/>
        </p:nvSpPr>
        <p:spPr>
          <a:xfrm>
            <a:off x="8266176" y="2542032"/>
            <a:ext cx="3008376" cy="950976"/>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Optimiza los procesos de recuperación.</a:t>
            </a:r>
            <a:endParaRPr lang="en-US" sz="1300" dirty="0"/>
          </a:p>
        </p:txBody>
      </p:sp>
      <p:sp>
        <p:nvSpPr>
          <p:cNvPr id="28" name="Shape 25"/>
          <p:cNvSpPr/>
          <p:nvPr/>
        </p:nvSpPr>
        <p:spPr>
          <a:xfrm>
            <a:off x="658368" y="3803904"/>
            <a:ext cx="7196328" cy="1975104"/>
          </a:xfrm>
          <a:prstGeom prst="rect">
            <a:avLst/>
          </a:prstGeom>
          <a:solidFill>
            <a:srgbClr val="F4F7FA"/>
          </a:solidFill>
          <a:ln w="9525">
            <a:solidFill>
              <a:srgbClr val="D5DDE5"/>
            </a:solidFill>
            <a:prstDash val="solid"/>
          </a:ln>
        </p:spPr>
      </p:sp>
      <p:sp>
        <p:nvSpPr>
          <p:cNvPr id="29" name="Shape 26"/>
          <p:cNvSpPr/>
          <p:nvPr/>
        </p:nvSpPr>
        <p:spPr>
          <a:xfrm>
            <a:off x="658368" y="3803904"/>
            <a:ext cx="7196328" cy="64008"/>
          </a:xfrm>
          <a:prstGeom prst="rect">
            <a:avLst/>
          </a:prstGeom>
          <a:solidFill>
            <a:srgbClr val="FFB903"/>
          </a:solidFill>
          <a:ln/>
        </p:spPr>
      </p:sp>
      <p:sp>
        <p:nvSpPr>
          <p:cNvPr id="30" name="Shape 27"/>
          <p:cNvSpPr/>
          <p:nvPr/>
        </p:nvSpPr>
        <p:spPr>
          <a:xfrm>
            <a:off x="914400" y="4041648"/>
            <a:ext cx="347472" cy="347472"/>
          </a:xfrm>
          <a:prstGeom prst="rect">
            <a:avLst/>
          </a:prstGeom>
          <a:solidFill>
            <a:srgbClr val="FFB903"/>
          </a:solidFill>
          <a:ln/>
        </p:spPr>
      </p:sp>
      <p:sp>
        <p:nvSpPr>
          <p:cNvPr id="31" name="Text 28"/>
          <p:cNvSpPr txBox="1"/>
          <p:nvPr/>
        </p:nvSpPr>
        <p:spPr>
          <a:xfrm>
            <a:off x="914400" y="408736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2" name="Text 29"/>
          <p:cNvSpPr txBox="1"/>
          <p:nvPr/>
        </p:nvSpPr>
        <p:spPr>
          <a:xfrm>
            <a:off x="1389888" y="4023360"/>
            <a:ext cx="6208776" cy="329184"/>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Fácil uso</a:t>
            </a:r>
            <a:endParaRPr lang="en-US" sz="1600" dirty="0"/>
          </a:p>
        </p:txBody>
      </p:sp>
      <p:sp>
        <p:nvSpPr>
          <p:cNvPr id="33" name="Text 30"/>
          <p:cNvSpPr txBox="1"/>
          <p:nvPr/>
        </p:nvSpPr>
        <p:spPr>
          <a:xfrm>
            <a:off x="914400" y="4443984"/>
            <a:ext cx="6684264" cy="1170432"/>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Estabilidad en C. D. y C. A., escoria autodesprendible, soldabilidad en todas las posiciones, cordones de muy buen acabado y presentación.</a:t>
            </a:r>
            <a:endParaRPr lang="en-US" sz="1300" dirty="0"/>
          </a:p>
        </p:txBody>
      </p:sp>
      <p:sp>
        <p:nvSpPr>
          <p:cNvPr id="34" name="Shape 31"/>
          <p:cNvSpPr/>
          <p:nvPr/>
        </p:nvSpPr>
        <p:spPr>
          <a:xfrm>
            <a:off x="8010144" y="3803904"/>
            <a:ext cx="3520440" cy="1975104"/>
          </a:xfrm>
          <a:prstGeom prst="rect">
            <a:avLst/>
          </a:prstGeom>
          <a:solidFill>
            <a:srgbClr val="F4F7FA"/>
          </a:solidFill>
          <a:ln w="9525">
            <a:solidFill>
              <a:srgbClr val="D5DDE5"/>
            </a:solidFill>
            <a:prstDash val="solid"/>
          </a:ln>
        </p:spPr>
      </p:sp>
      <p:sp>
        <p:nvSpPr>
          <p:cNvPr id="35" name="Shape 32"/>
          <p:cNvSpPr/>
          <p:nvPr/>
        </p:nvSpPr>
        <p:spPr>
          <a:xfrm>
            <a:off x="8010144" y="3803904"/>
            <a:ext cx="3520440" cy="64008"/>
          </a:xfrm>
          <a:prstGeom prst="rect">
            <a:avLst/>
          </a:prstGeom>
          <a:solidFill>
            <a:srgbClr val="FFB903"/>
          </a:solidFill>
          <a:ln/>
        </p:spPr>
      </p:sp>
      <p:sp>
        <p:nvSpPr>
          <p:cNvPr id="36" name="Shape 33"/>
          <p:cNvSpPr/>
          <p:nvPr/>
        </p:nvSpPr>
        <p:spPr>
          <a:xfrm>
            <a:off x="8266176" y="4041648"/>
            <a:ext cx="347472" cy="347472"/>
          </a:xfrm>
          <a:prstGeom prst="rect">
            <a:avLst/>
          </a:prstGeom>
          <a:solidFill>
            <a:srgbClr val="FFB903"/>
          </a:solidFill>
          <a:ln/>
        </p:spPr>
      </p:sp>
      <p:sp>
        <p:nvSpPr>
          <p:cNvPr id="37" name="Text 34"/>
          <p:cNvSpPr txBox="1"/>
          <p:nvPr/>
        </p:nvSpPr>
        <p:spPr>
          <a:xfrm>
            <a:off x="8266176" y="408736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38" name="Text 35"/>
          <p:cNvSpPr txBox="1"/>
          <p:nvPr/>
        </p:nvSpPr>
        <p:spPr>
          <a:xfrm>
            <a:off x="8741664" y="4023360"/>
            <a:ext cx="2532888" cy="329184"/>
          </a:xfrm>
          <a:prstGeom prst="rect">
            <a:avLst/>
          </a:prstGeom>
          <a:noFill/>
          <a:ln/>
        </p:spPr>
        <p:txBody>
          <a:bodyPr wrap="square" lIns="0" tIns="0" rIns="0" bIns="0" rtlCol="0" anchor="ctr"/>
          <a:lstStyle/>
          <a:p>
            <a:pPr marL="0" indent="0">
              <a:lnSpc>
                <a:spcPts val="1952"/>
              </a:lnSpc>
              <a:buNone/>
            </a:pPr>
            <a:r>
              <a:rPr lang="en-US" sz="1600" b="1" dirty="0">
                <a:solidFill>
                  <a:srgbClr val="00335C"/>
                </a:solidFill>
                <a:latin typeface="Segoe UI" pitchFamily="34" charset="0"/>
                <a:ea typeface="Segoe UI" pitchFamily="34" charset="-122"/>
                <a:cs typeface="Segoe UI" pitchFamily="34" charset="-120"/>
              </a:rPr>
              <a:t>Alto margen de seguridad</a:t>
            </a:r>
            <a:endParaRPr lang="en-US" sz="1600" dirty="0"/>
          </a:p>
        </p:txBody>
      </p:sp>
      <p:sp>
        <p:nvSpPr>
          <p:cNvPr id="39" name="Text 36"/>
          <p:cNvSpPr txBox="1"/>
          <p:nvPr/>
        </p:nvSpPr>
        <p:spPr>
          <a:xfrm>
            <a:off x="8266176" y="4443984"/>
            <a:ext cx="3008376" cy="1170432"/>
          </a:xfrm>
          <a:prstGeom prst="rect">
            <a:avLst/>
          </a:prstGeom>
          <a:noFill/>
          <a:ln/>
        </p:spPr>
        <p:txBody>
          <a:bodyPr wrap="square" lIns="0" tIns="0" rIns="0" bIns="0" rtlCol="0" anchor="ctr"/>
          <a:lstStyle/>
          <a:p>
            <a:pPr marL="0" indent="0">
              <a:lnSpc>
                <a:spcPts val="1700"/>
              </a:lnSpc>
              <a:buNone/>
            </a:pPr>
            <a:r>
              <a:rPr lang="en-US" sz="1300" dirty="0">
                <a:solidFill>
                  <a:srgbClr val="5C6B7A"/>
                </a:solidFill>
                <a:latin typeface="Segoe UI" pitchFamily="34" charset="0"/>
                <a:ea typeface="Segoe UI" pitchFamily="34" charset="-122"/>
                <a:cs typeface="Segoe UI" pitchFamily="34" charset="-120"/>
              </a:rPr>
              <a:t>Y factor de prolongación de servicio.</a:t>
            </a:r>
            <a:endParaRPr lang="en-US" sz="1300" dirty="0"/>
          </a:p>
        </p:txBody>
      </p:sp>
      <p:pic>
        <p:nvPicPr>
          <p:cNvPr id="40" name="Imagen 39">
            <a:extLst>
              <a:ext uri="{FF2B5EF4-FFF2-40B4-BE49-F238E27FC236}">
                <a16:creationId xmlns:a16="http://schemas.microsoft.com/office/drawing/2014/main" id="{811E64F8-AFD7-A5C0-93AA-4F2E6BC7366D}"/>
              </a:ext>
            </a:extLst>
          </p:cNvPr>
          <p:cNvPicPr>
            <a:picLocks noChangeAspect="1"/>
          </p:cNvPicPr>
          <p:nvPr/>
        </p:nvPicPr>
        <p:blipFill>
          <a:blip r:embed="rId4"/>
          <a:stretch>
            <a:fillRect/>
          </a:stretch>
        </p:blipFill>
        <p:spPr>
          <a:xfrm>
            <a:off x="3239" y="0"/>
            <a:ext cx="12185522"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ACTIVIDADES PARA LA RECUPERACIÓN CON SOLDADURA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000" b="1" dirty="0">
                <a:solidFill>
                  <a:srgbClr val="00335C"/>
                </a:solidFill>
                <a:latin typeface="Segoe UI" pitchFamily="34" charset="0"/>
                <a:ea typeface="Segoe UI" pitchFamily="34" charset="-122"/>
                <a:cs typeface="Segoe UI" pitchFamily="34" charset="-120"/>
              </a:rPr>
              <a:t>Análisis de la falla e identificación del metal base</a:t>
            </a:r>
            <a:endParaRPr lang="en-US" sz="30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27</a:t>
            </a:r>
            <a:endParaRPr lang="en-US" sz="1000" dirty="0"/>
          </a:p>
        </p:txBody>
      </p:sp>
      <p:sp>
        <p:nvSpPr>
          <p:cNvPr id="10" name="Shape 7"/>
          <p:cNvSpPr/>
          <p:nvPr/>
        </p:nvSpPr>
        <p:spPr>
          <a:xfrm>
            <a:off x="658368" y="1700784"/>
            <a:ext cx="5294376" cy="1188720"/>
          </a:xfrm>
          <a:prstGeom prst="rect">
            <a:avLst/>
          </a:prstGeom>
          <a:solidFill>
            <a:srgbClr val="F4F7FA"/>
          </a:solidFill>
          <a:ln w="9525">
            <a:solidFill>
              <a:srgbClr val="D5DDE5"/>
            </a:solidFill>
            <a:prstDash val="solid"/>
          </a:ln>
        </p:spPr>
      </p:sp>
      <p:sp>
        <p:nvSpPr>
          <p:cNvPr id="11" name="Shape 8"/>
          <p:cNvSpPr/>
          <p:nvPr/>
        </p:nvSpPr>
        <p:spPr>
          <a:xfrm>
            <a:off x="658368" y="1700784"/>
            <a:ext cx="5294376" cy="64008"/>
          </a:xfrm>
          <a:prstGeom prst="rect">
            <a:avLst/>
          </a:prstGeom>
          <a:solidFill>
            <a:srgbClr val="004B85"/>
          </a:solidFill>
          <a:ln/>
        </p:spPr>
      </p:sp>
      <p:sp>
        <p:nvSpPr>
          <p:cNvPr id="12" name="Shape 9"/>
          <p:cNvSpPr/>
          <p:nvPr/>
        </p:nvSpPr>
        <p:spPr>
          <a:xfrm>
            <a:off x="914400" y="1938528"/>
            <a:ext cx="347472" cy="347472"/>
          </a:xfrm>
          <a:prstGeom prst="rect">
            <a:avLst/>
          </a:prstGeom>
          <a:solidFill>
            <a:srgbClr val="004B85"/>
          </a:solidFill>
          <a:ln/>
        </p:spPr>
      </p:sp>
      <p:sp>
        <p:nvSpPr>
          <p:cNvPr id="13" name="Text 10"/>
          <p:cNvSpPr txBox="1"/>
          <p:nvPr/>
        </p:nvSpPr>
        <p:spPr>
          <a:xfrm>
            <a:off x="914400" y="1984248"/>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4" name="Text 11"/>
          <p:cNvSpPr txBox="1"/>
          <p:nvPr/>
        </p:nvSpPr>
        <p:spPr>
          <a:xfrm>
            <a:off x="1389888" y="1920240"/>
            <a:ext cx="4306824"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Análisis de la falla</a:t>
            </a:r>
            <a:endParaRPr lang="en-US" sz="1900" dirty="0"/>
          </a:p>
        </p:txBody>
      </p:sp>
      <p:sp>
        <p:nvSpPr>
          <p:cNvPr id="15" name="Shape 12"/>
          <p:cNvSpPr/>
          <p:nvPr/>
        </p:nvSpPr>
        <p:spPr>
          <a:xfrm>
            <a:off x="658368" y="3108960"/>
            <a:ext cx="5294376" cy="2286000"/>
          </a:xfrm>
          <a:prstGeom prst="rect">
            <a:avLst/>
          </a:prstGeom>
          <a:solidFill>
            <a:srgbClr val="F4F7FA"/>
          </a:solidFill>
          <a:ln w="9525">
            <a:solidFill>
              <a:srgbClr val="D5DDE5"/>
            </a:solidFill>
            <a:prstDash val="solid"/>
          </a:ln>
        </p:spPr>
      </p:sp>
      <p:sp>
        <p:nvSpPr>
          <p:cNvPr id="16" name="Shape 13"/>
          <p:cNvSpPr/>
          <p:nvPr/>
        </p:nvSpPr>
        <p:spPr>
          <a:xfrm>
            <a:off x="658368" y="3108960"/>
            <a:ext cx="5294376" cy="64008"/>
          </a:xfrm>
          <a:prstGeom prst="rect">
            <a:avLst/>
          </a:prstGeom>
          <a:solidFill>
            <a:srgbClr val="004B85"/>
          </a:solidFill>
          <a:ln/>
        </p:spPr>
      </p:sp>
      <p:sp>
        <p:nvSpPr>
          <p:cNvPr id="17" name="Shape 14"/>
          <p:cNvSpPr/>
          <p:nvPr/>
        </p:nvSpPr>
        <p:spPr>
          <a:xfrm>
            <a:off x="914400" y="3346704"/>
            <a:ext cx="347472" cy="347472"/>
          </a:xfrm>
          <a:prstGeom prst="rect">
            <a:avLst/>
          </a:prstGeom>
          <a:solidFill>
            <a:srgbClr val="004B85"/>
          </a:solidFill>
          <a:ln/>
        </p:spPr>
      </p:sp>
      <p:sp>
        <p:nvSpPr>
          <p:cNvPr id="18" name="Text 15"/>
          <p:cNvSpPr txBox="1"/>
          <p:nvPr/>
        </p:nvSpPr>
        <p:spPr>
          <a:xfrm>
            <a:off x="914400" y="3392424"/>
            <a:ext cx="347472"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9" name="Text 16"/>
          <p:cNvSpPr txBox="1"/>
          <p:nvPr/>
        </p:nvSpPr>
        <p:spPr>
          <a:xfrm>
            <a:off x="1389888" y="3328416"/>
            <a:ext cx="4306824" cy="329184"/>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Identificación del metal base</a:t>
            </a:r>
            <a:endParaRPr lang="en-US" sz="1900" dirty="0"/>
          </a:p>
        </p:txBody>
      </p:sp>
      <p:sp>
        <p:nvSpPr>
          <p:cNvPr id="20" name="Shape 17"/>
          <p:cNvSpPr/>
          <p:nvPr/>
        </p:nvSpPr>
        <p:spPr>
          <a:xfrm>
            <a:off x="914400" y="4014216"/>
            <a:ext cx="109728" cy="109728"/>
          </a:xfrm>
          <a:prstGeom prst="rect">
            <a:avLst/>
          </a:prstGeom>
          <a:solidFill>
            <a:srgbClr val="FFB903"/>
          </a:solidFill>
          <a:ln/>
        </p:spPr>
      </p:sp>
      <p:sp>
        <p:nvSpPr>
          <p:cNvPr id="21" name="Text 18"/>
          <p:cNvSpPr txBox="1"/>
          <p:nvPr/>
        </p:nvSpPr>
        <p:spPr>
          <a:xfrm>
            <a:off x="1207008" y="3913632"/>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Información del fabricante.</a:t>
            </a:r>
            <a:endParaRPr lang="en-US" sz="1250" dirty="0"/>
          </a:p>
        </p:txBody>
      </p:sp>
      <p:sp>
        <p:nvSpPr>
          <p:cNvPr id="22" name="Shape 19"/>
          <p:cNvSpPr/>
          <p:nvPr/>
        </p:nvSpPr>
        <p:spPr>
          <a:xfrm>
            <a:off x="914400" y="4453128"/>
            <a:ext cx="109728" cy="109728"/>
          </a:xfrm>
          <a:prstGeom prst="rect">
            <a:avLst/>
          </a:prstGeom>
          <a:solidFill>
            <a:srgbClr val="FFB903"/>
          </a:solidFill>
          <a:ln/>
        </p:spPr>
      </p:sp>
      <p:sp>
        <p:nvSpPr>
          <p:cNvPr id="23" name="Text 20"/>
          <p:cNvSpPr txBox="1"/>
          <p:nvPr/>
        </p:nvSpPr>
        <p:spPr>
          <a:xfrm>
            <a:off x="1207008" y="4352544"/>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Pruebas de taller: tipo de viruta, chispa, imán, etc.</a:t>
            </a:r>
            <a:endParaRPr lang="en-US" sz="1250" dirty="0"/>
          </a:p>
        </p:txBody>
      </p:sp>
      <p:sp>
        <p:nvSpPr>
          <p:cNvPr id="24" name="Shape 21"/>
          <p:cNvSpPr/>
          <p:nvPr/>
        </p:nvSpPr>
        <p:spPr>
          <a:xfrm>
            <a:off x="914400" y="4892040"/>
            <a:ext cx="109728" cy="109728"/>
          </a:xfrm>
          <a:prstGeom prst="rect">
            <a:avLst/>
          </a:prstGeom>
          <a:solidFill>
            <a:srgbClr val="FFB903"/>
          </a:solidFill>
          <a:ln/>
        </p:spPr>
      </p:sp>
      <p:sp>
        <p:nvSpPr>
          <p:cNvPr id="25" name="Text 22"/>
          <p:cNvSpPr txBox="1"/>
          <p:nvPr/>
        </p:nvSpPr>
        <p:spPr>
          <a:xfrm>
            <a:off x="1207008" y="4791456"/>
            <a:ext cx="4553712" cy="310896"/>
          </a:xfrm>
          <a:prstGeom prst="rect">
            <a:avLst/>
          </a:prstGeom>
          <a:noFill/>
          <a:ln/>
        </p:spPr>
        <p:txBody>
          <a:bodyPr wrap="square" lIns="0" tIns="0" rIns="0" bIns="0" rtlCol="0" anchor="ctr"/>
          <a:lstStyle/>
          <a:p>
            <a:pPr marL="0" indent="0">
              <a:lnSpc>
                <a:spcPts val="1688"/>
              </a:lnSpc>
              <a:buNone/>
            </a:pPr>
            <a:r>
              <a:rPr lang="en-US" sz="1250" dirty="0">
                <a:solidFill>
                  <a:srgbClr val="5C6B7A"/>
                </a:solidFill>
                <a:latin typeface="Segoe UI" pitchFamily="34" charset="0"/>
                <a:ea typeface="Segoe UI" pitchFamily="34" charset="-122"/>
                <a:cs typeface="Segoe UI" pitchFamily="34" charset="-120"/>
              </a:rPr>
              <a:t>Pruebas de laboratorio: análisis químico, análisis metalográfico.</a:t>
            </a:r>
            <a:endParaRPr lang="en-US" sz="1250" dirty="0"/>
          </a:p>
        </p:txBody>
      </p:sp>
      <p:sp>
        <p:nvSpPr>
          <p:cNvPr id="26" name="Shape 23"/>
          <p:cNvSpPr/>
          <p:nvPr/>
        </p:nvSpPr>
        <p:spPr>
          <a:xfrm>
            <a:off x="6236208" y="1700784"/>
            <a:ext cx="5294376" cy="3694176"/>
          </a:xfrm>
          <a:prstGeom prst="rect">
            <a:avLst/>
          </a:prstGeom>
          <a:solidFill>
            <a:srgbClr val="F4F7FA"/>
          </a:solidFill>
          <a:ln w="9525">
            <a:solidFill>
              <a:srgbClr val="D5DDE5"/>
            </a:solidFill>
            <a:prstDash val="solid"/>
          </a:ln>
        </p:spPr>
      </p:sp>
      <p:sp>
        <p:nvSpPr>
          <p:cNvPr id="27" name="Shape 24"/>
          <p:cNvSpPr/>
          <p:nvPr/>
        </p:nvSpPr>
        <p:spPr>
          <a:xfrm>
            <a:off x="6236208" y="1700784"/>
            <a:ext cx="5294376" cy="64008"/>
          </a:xfrm>
          <a:prstGeom prst="rect">
            <a:avLst/>
          </a:prstGeom>
          <a:solidFill>
            <a:srgbClr val="FFB903"/>
          </a:solidFill>
          <a:ln/>
        </p:spPr>
      </p:sp>
      <p:sp>
        <p:nvSpPr>
          <p:cNvPr id="28" name="Text 25"/>
          <p:cNvSpPr txBox="1"/>
          <p:nvPr/>
        </p:nvSpPr>
        <p:spPr>
          <a:xfrm>
            <a:off x="6492240" y="1975104"/>
            <a:ext cx="4782312" cy="841248"/>
          </a:xfrm>
          <a:prstGeom prst="rect">
            <a:avLst/>
          </a:prstGeom>
          <a:noFill/>
          <a:ln/>
        </p:spPr>
        <p:txBody>
          <a:bodyPr wrap="square" lIns="0" tIns="0" rIns="0" bIns="0" rtlCol="0" anchor="ctr"/>
          <a:lstStyle/>
          <a:p>
            <a:pPr marL="0" indent="0">
              <a:lnSpc>
                <a:spcPts val="2318"/>
              </a:lnSpc>
              <a:buNone/>
            </a:pPr>
            <a:r>
              <a:rPr lang="en-US" sz="1900" b="1" dirty="0">
                <a:solidFill>
                  <a:srgbClr val="00335C"/>
                </a:solidFill>
                <a:latin typeface="Segoe UI" pitchFamily="34" charset="0"/>
                <a:ea typeface="Segoe UI" pitchFamily="34" charset="-122"/>
                <a:cs typeface="Segoe UI" pitchFamily="34" charset="-120"/>
              </a:rPr>
              <a:t>Análisis de la función que desempeña el elemento</a:t>
            </a:r>
            <a:endParaRPr lang="en-US" sz="1900" dirty="0"/>
          </a:p>
        </p:txBody>
      </p:sp>
      <p:sp>
        <p:nvSpPr>
          <p:cNvPr id="29" name="Text 26"/>
          <p:cNvSpPr txBox="1"/>
          <p:nvPr/>
        </p:nvSpPr>
        <p:spPr>
          <a:xfrm>
            <a:off x="6492240" y="2907792"/>
            <a:ext cx="4782312" cy="1097280"/>
          </a:xfrm>
          <a:prstGeom prst="rect">
            <a:avLst/>
          </a:prstGeom>
          <a:noFill/>
          <a:ln/>
        </p:spPr>
        <p:txBody>
          <a:bodyPr wrap="square" lIns="0" tIns="0" rIns="0" bIns="0" rtlCol="0" anchor="ctr"/>
          <a:lstStyle/>
          <a:p>
            <a:pPr marL="0" indent="0">
              <a:lnSpc>
                <a:spcPts val="2100"/>
              </a:lnSpc>
              <a:buNone/>
            </a:pPr>
            <a:r>
              <a:rPr lang="en-US" sz="1450" dirty="0">
                <a:solidFill>
                  <a:srgbClr val="5C6B7A"/>
                </a:solidFill>
                <a:latin typeface="Segoe UI" pitchFamily="34" charset="0"/>
                <a:ea typeface="Segoe UI" pitchFamily="34" charset="-122"/>
                <a:cs typeface="Segoe UI" pitchFamily="34" charset="-120"/>
              </a:rPr>
              <a:t>Tipo de trabajo, cargas, esfuerzos y demás condiciones de servicio que debe soportar la pieza recuperada.</a:t>
            </a:r>
            <a:endParaRPr lang="en-US" sz="1450" dirty="0"/>
          </a:p>
        </p:txBody>
      </p:sp>
      <p:pic>
        <p:nvPicPr>
          <p:cNvPr id="30" name="Imagen 29">
            <a:extLst>
              <a:ext uri="{FF2B5EF4-FFF2-40B4-BE49-F238E27FC236}">
                <a16:creationId xmlns:a16="http://schemas.microsoft.com/office/drawing/2014/main" id="{C9C32E35-FA51-719F-521A-5EADD3E4171A}"/>
              </a:ext>
            </a:extLst>
          </p:cNvPr>
          <p:cNvPicPr>
            <a:picLocks noChangeAspect="1"/>
          </p:cNvPicPr>
          <p:nvPr/>
        </p:nvPicPr>
        <p:blipFill>
          <a:blip r:embed="rId4"/>
          <a:stretch>
            <a:fillRect/>
          </a:stretch>
        </p:blipFill>
        <p:spPr>
          <a:xfrm>
            <a:off x="10527" y="0"/>
            <a:ext cx="12170946"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ACTIVIDADES PARA LA RECUPERACIÓN CON SOLDADURA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000" b="1" dirty="0">
                <a:solidFill>
                  <a:srgbClr val="00335C"/>
                </a:solidFill>
                <a:latin typeface="Segoe UI" pitchFamily="34" charset="0"/>
                <a:ea typeface="Segoe UI" pitchFamily="34" charset="-122"/>
                <a:cs typeface="Segoe UI" pitchFamily="34" charset="-120"/>
              </a:rPr>
              <a:t>Selección de la aleación y sistema de aplicación</a:t>
            </a:r>
            <a:endParaRPr lang="en-US" sz="30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28</a:t>
            </a:r>
            <a:endParaRPr lang="en-US" sz="1000" dirty="0"/>
          </a:p>
        </p:txBody>
      </p:sp>
      <p:sp>
        <p:nvSpPr>
          <p:cNvPr id="10" name="Shape 7"/>
          <p:cNvSpPr/>
          <p:nvPr/>
        </p:nvSpPr>
        <p:spPr>
          <a:xfrm>
            <a:off x="658368" y="1719072"/>
            <a:ext cx="5294376" cy="3602736"/>
          </a:xfrm>
          <a:prstGeom prst="rect">
            <a:avLst/>
          </a:prstGeom>
          <a:solidFill>
            <a:srgbClr val="F4F7FA"/>
          </a:solidFill>
          <a:ln w="9525">
            <a:solidFill>
              <a:srgbClr val="D5DDE5"/>
            </a:solidFill>
            <a:prstDash val="solid"/>
          </a:ln>
        </p:spPr>
      </p:sp>
      <p:sp>
        <p:nvSpPr>
          <p:cNvPr id="11" name="Shape 8"/>
          <p:cNvSpPr/>
          <p:nvPr/>
        </p:nvSpPr>
        <p:spPr>
          <a:xfrm>
            <a:off x="658368" y="1719072"/>
            <a:ext cx="5294376" cy="64008"/>
          </a:xfrm>
          <a:prstGeom prst="rect">
            <a:avLst/>
          </a:prstGeom>
          <a:solidFill>
            <a:srgbClr val="004B85"/>
          </a:solidFill>
          <a:ln/>
        </p:spPr>
      </p:sp>
      <p:sp>
        <p:nvSpPr>
          <p:cNvPr id="12" name="Shape 9"/>
          <p:cNvSpPr/>
          <p:nvPr/>
        </p:nvSpPr>
        <p:spPr>
          <a:xfrm>
            <a:off x="914400" y="1975104"/>
            <a:ext cx="384048" cy="384048"/>
          </a:xfrm>
          <a:prstGeom prst="rect">
            <a:avLst/>
          </a:prstGeom>
          <a:solidFill>
            <a:srgbClr val="004B85"/>
          </a:solidFill>
          <a:ln/>
        </p:spPr>
      </p:sp>
      <p:sp>
        <p:nvSpPr>
          <p:cNvPr id="13" name="Text 10"/>
          <p:cNvSpPr txBox="1"/>
          <p:nvPr/>
        </p:nvSpPr>
        <p:spPr>
          <a:xfrm>
            <a:off x="914400" y="202996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14" name="Text 11"/>
          <p:cNvSpPr txBox="1"/>
          <p:nvPr/>
        </p:nvSpPr>
        <p:spPr>
          <a:xfrm>
            <a:off x="914400" y="2523744"/>
            <a:ext cx="4782312" cy="32918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Selección de la aleación</a:t>
            </a:r>
            <a:endParaRPr lang="en-US" sz="2000" dirty="0"/>
          </a:p>
        </p:txBody>
      </p:sp>
      <p:sp>
        <p:nvSpPr>
          <p:cNvPr id="15" name="Shape 12"/>
          <p:cNvSpPr/>
          <p:nvPr/>
        </p:nvSpPr>
        <p:spPr>
          <a:xfrm>
            <a:off x="914400" y="3163824"/>
            <a:ext cx="109728" cy="109728"/>
          </a:xfrm>
          <a:prstGeom prst="rect">
            <a:avLst/>
          </a:prstGeom>
          <a:solidFill>
            <a:srgbClr val="FFB903"/>
          </a:solidFill>
          <a:ln/>
        </p:spPr>
      </p:sp>
      <p:sp>
        <p:nvSpPr>
          <p:cNvPr id="16" name="Text 13"/>
          <p:cNvSpPr txBox="1"/>
          <p:nvPr/>
        </p:nvSpPr>
        <p:spPr>
          <a:xfrm>
            <a:off x="1207008" y="3063240"/>
            <a:ext cx="4553712" cy="310896"/>
          </a:xfrm>
          <a:prstGeom prst="rect">
            <a:avLst/>
          </a:prstGeom>
          <a:noFill/>
          <a:ln/>
        </p:spPr>
        <p:txBody>
          <a:bodyPr wrap="square" lIns="0" tIns="0" rIns="0" bIns="0" rtlCol="0" anchor="ctr"/>
          <a:lstStyle/>
          <a:p>
            <a:pPr marL="0" indent="0">
              <a:lnSpc>
                <a:spcPts val="2025"/>
              </a:lnSpc>
              <a:buNone/>
            </a:pPr>
            <a:r>
              <a:rPr lang="en-US" sz="1500" dirty="0">
                <a:solidFill>
                  <a:srgbClr val="00335C"/>
                </a:solidFill>
                <a:latin typeface="Segoe UI" pitchFamily="34" charset="0"/>
                <a:ea typeface="Segoe UI" pitchFamily="34" charset="-122"/>
                <a:cs typeface="Segoe UI" pitchFamily="34" charset="-120"/>
              </a:rPr>
              <a:t>Propiedades mecánicas.</a:t>
            </a:r>
            <a:endParaRPr lang="en-US" sz="1500" dirty="0"/>
          </a:p>
        </p:txBody>
      </p:sp>
      <p:sp>
        <p:nvSpPr>
          <p:cNvPr id="17" name="Shape 14"/>
          <p:cNvSpPr/>
          <p:nvPr/>
        </p:nvSpPr>
        <p:spPr>
          <a:xfrm>
            <a:off x="914400" y="3675888"/>
            <a:ext cx="109728" cy="109728"/>
          </a:xfrm>
          <a:prstGeom prst="rect">
            <a:avLst/>
          </a:prstGeom>
          <a:solidFill>
            <a:srgbClr val="FFB903"/>
          </a:solidFill>
          <a:ln/>
        </p:spPr>
      </p:sp>
      <p:sp>
        <p:nvSpPr>
          <p:cNvPr id="18" name="Text 15"/>
          <p:cNvSpPr txBox="1"/>
          <p:nvPr/>
        </p:nvSpPr>
        <p:spPr>
          <a:xfrm>
            <a:off x="1207008" y="3575304"/>
            <a:ext cx="4553712" cy="310896"/>
          </a:xfrm>
          <a:prstGeom prst="rect">
            <a:avLst/>
          </a:prstGeom>
          <a:noFill/>
          <a:ln/>
        </p:spPr>
        <p:txBody>
          <a:bodyPr wrap="square" lIns="0" tIns="0" rIns="0" bIns="0" rtlCol="0" anchor="ctr"/>
          <a:lstStyle/>
          <a:p>
            <a:pPr marL="0" indent="0">
              <a:lnSpc>
                <a:spcPts val="2025"/>
              </a:lnSpc>
              <a:buNone/>
            </a:pPr>
            <a:r>
              <a:rPr lang="en-US" sz="1500" dirty="0">
                <a:solidFill>
                  <a:srgbClr val="00335C"/>
                </a:solidFill>
                <a:latin typeface="Segoe UI" pitchFamily="34" charset="0"/>
                <a:ea typeface="Segoe UI" pitchFamily="34" charset="-122"/>
                <a:cs typeface="Segoe UI" pitchFamily="34" charset="-120"/>
              </a:rPr>
              <a:t>Propiedades metalúrgicas.</a:t>
            </a:r>
            <a:endParaRPr lang="en-US" sz="1500" dirty="0"/>
          </a:p>
        </p:txBody>
      </p:sp>
      <p:sp>
        <p:nvSpPr>
          <p:cNvPr id="19" name="Shape 16"/>
          <p:cNvSpPr/>
          <p:nvPr/>
        </p:nvSpPr>
        <p:spPr>
          <a:xfrm>
            <a:off x="914400" y="4187952"/>
            <a:ext cx="109728" cy="109728"/>
          </a:xfrm>
          <a:prstGeom prst="rect">
            <a:avLst/>
          </a:prstGeom>
          <a:solidFill>
            <a:srgbClr val="FFB903"/>
          </a:solidFill>
          <a:ln/>
        </p:spPr>
      </p:sp>
      <p:sp>
        <p:nvSpPr>
          <p:cNvPr id="20" name="Text 17"/>
          <p:cNvSpPr txBox="1"/>
          <p:nvPr/>
        </p:nvSpPr>
        <p:spPr>
          <a:xfrm>
            <a:off x="1207008" y="4087368"/>
            <a:ext cx="4553712" cy="310896"/>
          </a:xfrm>
          <a:prstGeom prst="rect">
            <a:avLst/>
          </a:prstGeom>
          <a:noFill/>
          <a:ln/>
        </p:spPr>
        <p:txBody>
          <a:bodyPr wrap="square" lIns="0" tIns="0" rIns="0" bIns="0" rtlCol="0" anchor="ctr"/>
          <a:lstStyle/>
          <a:p>
            <a:pPr marL="0" indent="0">
              <a:lnSpc>
                <a:spcPts val="2025"/>
              </a:lnSpc>
              <a:buNone/>
            </a:pPr>
            <a:r>
              <a:rPr lang="en-US" sz="1500" dirty="0">
                <a:solidFill>
                  <a:srgbClr val="00335C"/>
                </a:solidFill>
                <a:latin typeface="Segoe UI" pitchFamily="34" charset="0"/>
                <a:ea typeface="Segoe UI" pitchFamily="34" charset="-122"/>
                <a:cs typeface="Segoe UI" pitchFamily="34" charset="-120"/>
              </a:rPr>
              <a:t>Resistencia al desgaste.</a:t>
            </a:r>
            <a:endParaRPr lang="en-US" sz="1500" dirty="0"/>
          </a:p>
        </p:txBody>
      </p:sp>
      <p:sp>
        <p:nvSpPr>
          <p:cNvPr id="21" name="Shape 18"/>
          <p:cNvSpPr/>
          <p:nvPr/>
        </p:nvSpPr>
        <p:spPr>
          <a:xfrm>
            <a:off x="6236208" y="1719072"/>
            <a:ext cx="5294376" cy="3602736"/>
          </a:xfrm>
          <a:prstGeom prst="rect">
            <a:avLst/>
          </a:prstGeom>
          <a:solidFill>
            <a:srgbClr val="F4F7FA"/>
          </a:solidFill>
          <a:ln w="9525">
            <a:solidFill>
              <a:srgbClr val="D5DDE5"/>
            </a:solidFill>
            <a:prstDash val="solid"/>
          </a:ln>
        </p:spPr>
      </p:sp>
      <p:sp>
        <p:nvSpPr>
          <p:cNvPr id="22" name="Shape 19"/>
          <p:cNvSpPr/>
          <p:nvPr/>
        </p:nvSpPr>
        <p:spPr>
          <a:xfrm>
            <a:off x="6236208" y="1719072"/>
            <a:ext cx="5294376" cy="64008"/>
          </a:xfrm>
          <a:prstGeom prst="rect">
            <a:avLst/>
          </a:prstGeom>
          <a:solidFill>
            <a:srgbClr val="FFB903"/>
          </a:solidFill>
          <a:ln/>
        </p:spPr>
      </p:sp>
      <p:sp>
        <p:nvSpPr>
          <p:cNvPr id="23" name="Shape 20"/>
          <p:cNvSpPr/>
          <p:nvPr/>
        </p:nvSpPr>
        <p:spPr>
          <a:xfrm>
            <a:off x="6492240" y="1975104"/>
            <a:ext cx="384048" cy="384048"/>
          </a:xfrm>
          <a:prstGeom prst="rect">
            <a:avLst/>
          </a:prstGeom>
          <a:solidFill>
            <a:srgbClr val="FFB903"/>
          </a:solidFill>
          <a:ln/>
        </p:spPr>
      </p:sp>
      <p:sp>
        <p:nvSpPr>
          <p:cNvPr id="24" name="Text 21"/>
          <p:cNvSpPr txBox="1"/>
          <p:nvPr/>
        </p:nvSpPr>
        <p:spPr>
          <a:xfrm>
            <a:off x="6492240" y="2029968"/>
            <a:ext cx="384048" cy="2743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25" name="Text 22"/>
          <p:cNvSpPr txBox="1"/>
          <p:nvPr/>
        </p:nvSpPr>
        <p:spPr>
          <a:xfrm>
            <a:off x="6492240" y="2523744"/>
            <a:ext cx="4782312" cy="329184"/>
          </a:xfrm>
          <a:prstGeom prst="rect">
            <a:avLst/>
          </a:prstGeom>
          <a:noFill/>
          <a:ln/>
        </p:spPr>
        <p:txBody>
          <a:bodyPr wrap="square" lIns="0" tIns="0" rIns="0" bIns="0" rtlCol="0" anchor="ctr"/>
          <a:lstStyle/>
          <a:p>
            <a:pPr marL="0" indent="0">
              <a:lnSpc>
                <a:spcPts val="2440"/>
              </a:lnSpc>
              <a:buNone/>
            </a:pPr>
            <a:r>
              <a:rPr lang="en-US" sz="2000" b="1" dirty="0">
                <a:solidFill>
                  <a:srgbClr val="00335C"/>
                </a:solidFill>
                <a:latin typeface="Segoe UI" pitchFamily="34" charset="0"/>
                <a:ea typeface="Segoe UI" pitchFamily="34" charset="-122"/>
                <a:cs typeface="Segoe UI" pitchFamily="34" charset="-120"/>
              </a:rPr>
              <a:t>Sistema de aplicación</a:t>
            </a:r>
            <a:endParaRPr lang="en-US" sz="2000" dirty="0"/>
          </a:p>
        </p:txBody>
      </p:sp>
      <p:sp>
        <p:nvSpPr>
          <p:cNvPr id="26" name="Shape 23"/>
          <p:cNvSpPr/>
          <p:nvPr/>
        </p:nvSpPr>
        <p:spPr>
          <a:xfrm>
            <a:off x="6492240" y="3163824"/>
            <a:ext cx="109728" cy="109728"/>
          </a:xfrm>
          <a:prstGeom prst="rect">
            <a:avLst/>
          </a:prstGeom>
          <a:solidFill>
            <a:srgbClr val="FFB903"/>
          </a:solidFill>
          <a:ln/>
        </p:spPr>
      </p:sp>
      <p:sp>
        <p:nvSpPr>
          <p:cNvPr id="27" name="Text 24"/>
          <p:cNvSpPr txBox="1"/>
          <p:nvPr/>
        </p:nvSpPr>
        <p:spPr>
          <a:xfrm>
            <a:off x="6784848" y="3063240"/>
            <a:ext cx="4553712" cy="310896"/>
          </a:xfrm>
          <a:prstGeom prst="rect">
            <a:avLst/>
          </a:prstGeom>
          <a:noFill/>
          <a:ln/>
        </p:spPr>
        <p:txBody>
          <a:bodyPr wrap="square" lIns="0" tIns="0" rIns="0" bIns="0" rtlCol="0" anchor="ctr"/>
          <a:lstStyle/>
          <a:p>
            <a:pPr marL="0" indent="0">
              <a:lnSpc>
                <a:spcPts val="2025"/>
              </a:lnSpc>
              <a:buNone/>
            </a:pPr>
            <a:r>
              <a:rPr lang="en-US" sz="1500" dirty="0">
                <a:solidFill>
                  <a:srgbClr val="00335C"/>
                </a:solidFill>
                <a:latin typeface="Segoe UI" pitchFamily="34" charset="0"/>
                <a:ea typeface="Segoe UI" pitchFamily="34" charset="-122"/>
                <a:cs typeface="Segoe UI" pitchFamily="34" charset="-120"/>
              </a:rPr>
              <a:t>Geometría y dimensiones del elemento.</a:t>
            </a:r>
            <a:endParaRPr lang="en-US" sz="1500" dirty="0"/>
          </a:p>
        </p:txBody>
      </p:sp>
      <p:sp>
        <p:nvSpPr>
          <p:cNvPr id="28" name="Shape 25"/>
          <p:cNvSpPr/>
          <p:nvPr/>
        </p:nvSpPr>
        <p:spPr>
          <a:xfrm>
            <a:off x="6492240" y="3675888"/>
            <a:ext cx="109728" cy="109728"/>
          </a:xfrm>
          <a:prstGeom prst="rect">
            <a:avLst/>
          </a:prstGeom>
          <a:solidFill>
            <a:srgbClr val="FFB903"/>
          </a:solidFill>
          <a:ln/>
        </p:spPr>
      </p:sp>
      <p:sp>
        <p:nvSpPr>
          <p:cNvPr id="29" name="Text 26"/>
          <p:cNvSpPr txBox="1"/>
          <p:nvPr/>
        </p:nvSpPr>
        <p:spPr>
          <a:xfrm>
            <a:off x="6784848" y="3575304"/>
            <a:ext cx="4553712" cy="310896"/>
          </a:xfrm>
          <a:prstGeom prst="rect">
            <a:avLst/>
          </a:prstGeom>
          <a:noFill/>
          <a:ln/>
        </p:spPr>
        <p:txBody>
          <a:bodyPr wrap="square" lIns="0" tIns="0" rIns="0" bIns="0" rtlCol="0" anchor="ctr"/>
          <a:lstStyle/>
          <a:p>
            <a:pPr marL="0" indent="0">
              <a:lnSpc>
                <a:spcPts val="2025"/>
              </a:lnSpc>
              <a:buNone/>
            </a:pPr>
            <a:r>
              <a:rPr lang="en-US" sz="1500" dirty="0">
                <a:solidFill>
                  <a:srgbClr val="00335C"/>
                </a:solidFill>
                <a:latin typeface="Segoe UI" pitchFamily="34" charset="0"/>
                <a:ea typeface="Segoe UI" pitchFamily="34" charset="-122"/>
                <a:cs typeface="Segoe UI" pitchFamily="34" charset="-120"/>
              </a:rPr>
              <a:t>Tratamiento térmico requerido.</a:t>
            </a:r>
            <a:endParaRPr lang="en-US" sz="1500" dirty="0"/>
          </a:p>
        </p:txBody>
      </p:sp>
      <p:pic>
        <p:nvPicPr>
          <p:cNvPr id="30" name="Imagen 29">
            <a:extLst>
              <a:ext uri="{FF2B5EF4-FFF2-40B4-BE49-F238E27FC236}">
                <a16:creationId xmlns:a16="http://schemas.microsoft.com/office/drawing/2014/main" id="{097CA954-4CC3-7BEF-947A-6AF438C98798}"/>
              </a:ext>
            </a:extLst>
          </p:cNvPr>
          <p:cNvPicPr>
            <a:picLocks noChangeAspect="1"/>
          </p:cNvPicPr>
          <p:nvPr/>
        </p:nvPicPr>
        <p:blipFill>
          <a:blip r:embed="rId4"/>
          <a:stretch>
            <a:fillRect/>
          </a:stretch>
        </p:blipFill>
        <p:spPr>
          <a:xfrm>
            <a:off x="6883" y="0"/>
            <a:ext cx="12178234"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58368" y="420624"/>
            <a:ext cx="10872216" cy="237744"/>
          </a:xfrm>
          <a:prstGeom prst="rect">
            <a:avLst/>
          </a:prstGeom>
          <a:noFill/>
          <a:ln/>
        </p:spPr>
        <p:txBody>
          <a:bodyPr wrap="square" lIns="0" tIns="0" rIns="0" bIns="0" rtlCol="0" anchor="ctr"/>
          <a:lstStyle/>
          <a:p>
            <a:pPr marL="0" indent="0">
              <a:buNone/>
            </a:pPr>
            <a:r>
              <a:rPr lang="en-US" sz="1150" b="1" kern="0" spc="100" dirty="0">
                <a:solidFill>
                  <a:srgbClr val="B88200"/>
                </a:solidFill>
                <a:latin typeface="Segoe UI" pitchFamily="34" charset="0"/>
                <a:ea typeface="Segoe UI" pitchFamily="34" charset="-122"/>
                <a:cs typeface="Segoe UI" pitchFamily="34" charset="-120"/>
              </a:rPr>
              <a:t>ACTIVIDAD 5 · RECUPERACIÓN CON SOLDADURA</a:t>
            </a:r>
            <a:endParaRPr lang="en-US" sz="1150" dirty="0"/>
          </a:p>
        </p:txBody>
      </p:sp>
      <p:sp>
        <p:nvSpPr>
          <p:cNvPr id="3" name="Text 1"/>
          <p:cNvSpPr txBox="1"/>
          <p:nvPr/>
        </p:nvSpPr>
        <p:spPr>
          <a:xfrm>
            <a:off x="658368" y="713232"/>
            <a:ext cx="10872216" cy="603504"/>
          </a:xfrm>
          <a:prstGeom prst="rect">
            <a:avLst/>
          </a:prstGeom>
          <a:noFill/>
          <a:ln/>
        </p:spPr>
        <p:txBody>
          <a:bodyPr wrap="square" lIns="0" tIns="0" rIns="0" bIns="0" rtlCol="0" anchor="ctr"/>
          <a:lstStyle/>
          <a:p>
            <a:pPr marL="0" indent="0">
              <a:lnSpc>
                <a:spcPts val="3600"/>
              </a:lnSpc>
              <a:buNone/>
            </a:pPr>
            <a:r>
              <a:rPr lang="en-US" sz="3200" b="1" dirty="0">
                <a:solidFill>
                  <a:srgbClr val="00335C"/>
                </a:solidFill>
                <a:latin typeface="Segoe UI" pitchFamily="34" charset="0"/>
                <a:ea typeface="Segoe UI" pitchFamily="34" charset="-122"/>
                <a:cs typeface="Segoe UI" pitchFamily="34" charset="-120"/>
              </a:rPr>
              <a:t>Técnica de aplicación</a:t>
            </a:r>
            <a:endParaRPr lang="en-US" sz="3200" dirty="0"/>
          </a:p>
        </p:txBody>
      </p:sp>
      <p:sp>
        <p:nvSpPr>
          <p:cNvPr id="4" name="Shape 2"/>
          <p:cNvSpPr/>
          <p:nvPr/>
        </p:nvSpPr>
        <p:spPr>
          <a:xfrm>
            <a:off x="658368" y="1444752"/>
            <a:ext cx="10872216" cy="10973"/>
          </a:xfrm>
          <a:prstGeom prst="rect">
            <a:avLst/>
          </a:prstGeom>
          <a:solidFill>
            <a:srgbClr val="D5DDE5"/>
          </a:solidFill>
          <a:ln/>
        </p:spPr>
      </p:sp>
      <p:sp>
        <p:nvSpPr>
          <p:cNvPr id="5" name="Shape 3"/>
          <p:cNvSpPr/>
          <p:nvPr/>
        </p:nvSpPr>
        <p:spPr>
          <a:xfrm>
            <a:off x="658368" y="1431036"/>
            <a:ext cx="1051560" cy="29261"/>
          </a:xfrm>
          <a:prstGeom prst="rect">
            <a:avLst/>
          </a:prstGeom>
          <a:solidFill>
            <a:srgbClr val="FFB903"/>
          </a:solidFill>
          <a:ln/>
        </p:spPr>
      </p:sp>
      <p:sp>
        <p:nvSpPr>
          <p:cNvPr id="6" name="Shape 4"/>
          <p:cNvSpPr/>
          <p:nvPr/>
        </p:nvSpPr>
        <p:spPr>
          <a:xfrm>
            <a:off x="658368" y="6144768"/>
            <a:ext cx="10872216" cy="10973"/>
          </a:xfrm>
          <a:prstGeom prst="rect">
            <a:avLst/>
          </a:prstGeom>
          <a:solidFill>
            <a:srgbClr val="D5DDE5"/>
          </a:solidFill>
          <a:ln/>
        </p:spPr>
      </p:sp>
      <p:pic>
        <p:nvPicPr>
          <p:cNvPr id="7" name="Image 0" descr="/home/claude/work/assets/logo_eafit_azul.png"/>
          <p:cNvPicPr>
            <a:picLocks noChangeAspect="1"/>
          </p:cNvPicPr>
          <p:nvPr/>
        </p:nvPicPr>
        <p:blipFill>
          <a:blip r:embed="rId3"/>
          <a:stretch>
            <a:fillRect/>
          </a:stretch>
        </p:blipFill>
        <p:spPr>
          <a:xfrm>
            <a:off x="658368" y="6254496"/>
            <a:ext cx="384048" cy="237744"/>
          </a:xfrm>
          <a:prstGeom prst="rect">
            <a:avLst/>
          </a:prstGeom>
        </p:spPr>
      </p:pic>
      <p:sp>
        <p:nvSpPr>
          <p:cNvPr id="8" name="Text 5"/>
          <p:cNvSpPr txBox="1"/>
          <p:nvPr/>
        </p:nvSpPr>
        <p:spPr>
          <a:xfrm>
            <a:off x="1243584" y="6291072"/>
            <a:ext cx="7680960" cy="256032"/>
          </a:xfrm>
          <a:prstGeom prst="rect">
            <a:avLst/>
          </a:prstGeom>
          <a:noFill/>
          <a:ln/>
        </p:spPr>
        <p:txBody>
          <a:bodyPr wrap="square" lIns="0" tIns="0" rIns="0" bIns="0" rtlCol="0" anchor="ctr"/>
          <a:lstStyle/>
          <a:p>
            <a:pPr marL="0" indent="0">
              <a:buNone/>
            </a:pPr>
            <a:r>
              <a:rPr lang="en-US" sz="950" dirty="0">
                <a:solidFill>
                  <a:srgbClr val="8A97A3"/>
                </a:solidFill>
                <a:latin typeface="Segoe UI" pitchFamily="34" charset="0"/>
                <a:ea typeface="Segoe UI" pitchFamily="34" charset="-122"/>
                <a:cs typeface="Segoe UI" pitchFamily="34" charset="-120"/>
              </a:rPr>
              <a:t>Acciones Correctivo-Modificativas   ·   Clase 4 · Acciones correctivas</a:t>
            </a:r>
            <a:endParaRPr lang="en-US" sz="950" dirty="0"/>
          </a:p>
        </p:txBody>
      </p:sp>
      <p:sp>
        <p:nvSpPr>
          <p:cNvPr id="9" name="Text 6"/>
          <p:cNvSpPr txBox="1"/>
          <p:nvPr/>
        </p:nvSpPr>
        <p:spPr>
          <a:xfrm>
            <a:off x="10250424" y="6291072"/>
            <a:ext cx="1280160" cy="256032"/>
          </a:xfrm>
          <a:prstGeom prst="rect">
            <a:avLst/>
          </a:prstGeom>
          <a:noFill/>
          <a:ln/>
        </p:spPr>
        <p:txBody>
          <a:bodyPr wrap="square" lIns="0" tIns="0" rIns="0" bIns="0" rtlCol="0" anchor="ctr"/>
          <a:lstStyle/>
          <a:p>
            <a:pPr marL="0" indent="0" algn="r">
              <a:buNone/>
            </a:pPr>
            <a:r>
              <a:rPr lang="en-US" sz="1000" b="1" dirty="0">
                <a:solidFill>
                  <a:srgbClr val="8A97A3"/>
                </a:solidFill>
                <a:latin typeface="Segoe UI" pitchFamily="34" charset="0"/>
                <a:ea typeface="Segoe UI" pitchFamily="34" charset="-122"/>
                <a:cs typeface="Segoe UI" pitchFamily="34" charset="-120"/>
              </a:rPr>
              <a:t>29</a:t>
            </a:r>
            <a:endParaRPr lang="en-US" sz="1000" dirty="0"/>
          </a:p>
        </p:txBody>
      </p:sp>
      <p:sp>
        <p:nvSpPr>
          <p:cNvPr id="10" name="Shape 7"/>
          <p:cNvSpPr/>
          <p:nvPr/>
        </p:nvSpPr>
        <p:spPr>
          <a:xfrm>
            <a:off x="658368" y="1874520"/>
            <a:ext cx="3493008" cy="2468880"/>
          </a:xfrm>
          <a:prstGeom prst="rect">
            <a:avLst/>
          </a:prstGeom>
          <a:solidFill>
            <a:srgbClr val="F4F7FA"/>
          </a:solidFill>
          <a:ln w="9525">
            <a:solidFill>
              <a:srgbClr val="D5DDE5"/>
            </a:solidFill>
            <a:prstDash val="solid"/>
          </a:ln>
        </p:spPr>
      </p:sp>
      <p:sp>
        <p:nvSpPr>
          <p:cNvPr id="11" name="Shape 8"/>
          <p:cNvSpPr/>
          <p:nvPr/>
        </p:nvSpPr>
        <p:spPr>
          <a:xfrm>
            <a:off x="658368" y="1874520"/>
            <a:ext cx="3493008" cy="64008"/>
          </a:xfrm>
          <a:prstGeom prst="rect">
            <a:avLst/>
          </a:prstGeom>
          <a:solidFill>
            <a:srgbClr val="004B85"/>
          </a:solidFill>
          <a:ln/>
        </p:spPr>
      </p:sp>
      <p:sp>
        <p:nvSpPr>
          <p:cNvPr id="12" name="Text 9"/>
          <p:cNvSpPr txBox="1"/>
          <p:nvPr/>
        </p:nvSpPr>
        <p:spPr>
          <a:xfrm>
            <a:off x="914400" y="2148840"/>
            <a:ext cx="2980944" cy="731520"/>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Preparación de la pieza</a:t>
            </a:r>
            <a:endParaRPr lang="en-US" sz="1800" dirty="0"/>
          </a:p>
        </p:txBody>
      </p:sp>
      <p:sp>
        <p:nvSpPr>
          <p:cNvPr id="13" name="Text 10"/>
          <p:cNvSpPr txBox="1"/>
          <p:nvPr/>
        </p:nvSpPr>
        <p:spPr>
          <a:xfrm>
            <a:off x="914400" y="2971800"/>
            <a:ext cx="2980944" cy="91440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Limpieza, biselado y demás adecuaciones previas al aporte.</a:t>
            </a:r>
            <a:endParaRPr lang="en-US" sz="1400" dirty="0"/>
          </a:p>
        </p:txBody>
      </p:sp>
      <p:sp>
        <p:nvSpPr>
          <p:cNvPr id="14" name="Shape 11"/>
          <p:cNvSpPr/>
          <p:nvPr/>
        </p:nvSpPr>
        <p:spPr>
          <a:xfrm>
            <a:off x="4352544" y="1874520"/>
            <a:ext cx="3493008" cy="2468880"/>
          </a:xfrm>
          <a:prstGeom prst="rect">
            <a:avLst/>
          </a:prstGeom>
          <a:solidFill>
            <a:srgbClr val="F4F7FA"/>
          </a:solidFill>
          <a:ln w="9525">
            <a:solidFill>
              <a:srgbClr val="D5DDE5"/>
            </a:solidFill>
            <a:prstDash val="solid"/>
          </a:ln>
        </p:spPr>
      </p:sp>
      <p:sp>
        <p:nvSpPr>
          <p:cNvPr id="15" name="Shape 12"/>
          <p:cNvSpPr/>
          <p:nvPr/>
        </p:nvSpPr>
        <p:spPr>
          <a:xfrm>
            <a:off x="4352544" y="1874520"/>
            <a:ext cx="3493008" cy="64008"/>
          </a:xfrm>
          <a:prstGeom prst="rect">
            <a:avLst/>
          </a:prstGeom>
          <a:solidFill>
            <a:srgbClr val="004B85"/>
          </a:solidFill>
          <a:ln/>
        </p:spPr>
      </p:sp>
      <p:sp>
        <p:nvSpPr>
          <p:cNvPr id="16" name="Text 13"/>
          <p:cNvSpPr txBox="1"/>
          <p:nvPr/>
        </p:nvSpPr>
        <p:spPr>
          <a:xfrm>
            <a:off x="4608576" y="2148840"/>
            <a:ext cx="2980944" cy="731520"/>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Precalentamiento y poscalentamiento</a:t>
            </a:r>
            <a:endParaRPr lang="en-US" sz="1800" dirty="0"/>
          </a:p>
        </p:txBody>
      </p:sp>
      <p:sp>
        <p:nvSpPr>
          <p:cNvPr id="17" name="Text 14"/>
          <p:cNvSpPr txBox="1"/>
          <p:nvPr/>
        </p:nvSpPr>
        <p:spPr>
          <a:xfrm>
            <a:off x="4608576" y="2971800"/>
            <a:ext cx="2980944" cy="91440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Procesos térmicos que acompañan la aplicación del material de aporte.</a:t>
            </a:r>
            <a:endParaRPr lang="en-US" sz="1400" dirty="0"/>
          </a:p>
        </p:txBody>
      </p:sp>
      <p:sp>
        <p:nvSpPr>
          <p:cNvPr id="18" name="Shape 15"/>
          <p:cNvSpPr/>
          <p:nvPr/>
        </p:nvSpPr>
        <p:spPr>
          <a:xfrm>
            <a:off x="8046720" y="1874520"/>
            <a:ext cx="3493008" cy="2468880"/>
          </a:xfrm>
          <a:prstGeom prst="rect">
            <a:avLst/>
          </a:prstGeom>
          <a:solidFill>
            <a:srgbClr val="F4F7FA"/>
          </a:solidFill>
          <a:ln w="9525">
            <a:solidFill>
              <a:srgbClr val="D5DDE5"/>
            </a:solidFill>
            <a:prstDash val="solid"/>
          </a:ln>
        </p:spPr>
      </p:sp>
      <p:sp>
        <p:nvSpPr>
          <p:cNvPr id="19" name="Shape 16"/>
          <p:cNvSpPr/>
          <p:nvPr/>
        </p:nvSpPr>
        <p:spPr>
          <a:xfrm>
            <a:off x="8046720" y="1874520"/>
            <a:ext cx="3493008" cy="64008"/>
          </a:xfrm>
          <a:prstGeom prst="rect">
            <a:avLst/>
          </a:prstGeom>
          <a:solidFill>
            <a:srgbClr val="FFB903"/>
          </a:solidFill>
          <a:ln/>
        </p:spPr>
      </p:sp>
      <p:sp>
        <p:nvSpPr>
          <p:cNvPr id="20" name="Text 17"/>
          <p:cNvSpPr txBox="1"/>
          <p:nvPr/>
        </p:nvSpPr>
        <p:spPr>
          <a:xfrm>
            <a:off x="8302752" y="2148840"/>
            <a:ext cx="2980944" cy="731520"/>
          </a:xfrm>
          <a:prstGeom prst="rect">
            <a:avLst/>
          </a:prstGeom>
          <a:noFill/>
          <a:ln/>
        </p:spPr>
        <p:txBody>
          <a:bodyPr wrap="square" lIns="0" tIns="0" rIns="0" bIns="0" rtlCol="0" anchor="ctr"/>
          <a:lstStyle/>
          <a:p>
            <a:pPr marL="0" indent="0">
              <a:lnSpc>
                <a:spcPts val="2196"/>
              </a:lnSpc>
              <a:buNone/>
            </a:pPr>
            <a:r>
              <a:rPr lang="en-US" sz="1800" b="1" dirty="0">
                <a:solidFill>
                  <a:srgbClr val="00335C"/>
                </a:solidFill>
                <a:latin typeface="Segoe UI" pitchFamily="34" charset="0"/>
                <a:ea typeface="Segoe UI" pitchFamily="34" charset="-122"/>
                <a:cs typeface="Segoe UI" pitchFamily="34" charset="-120"/>
              </a:rPr>
              <a:t>Velocidades de enfriamiento</a:t>
            </a:r>
            <a:endParaRPr lang="en-US" sz="1800" dirty="0"/>
          </a:p>
        </p:txBody>
      </p:sp>
      <p:sp>
        <p:nvSpPr>
          <p:cNvPr id="21" name="Text 18"/>
          <p:cNvSpPr txBox="1"/>
          <p:nvPr/>
        </p:nvSpPr>
        <p:spPr>
          <a:xfrm>
            <a:off x="8302752" y="2971800"/>
            <a:ext cx="2980944" cy="914400"/>
          </a:xfrm>
          <a:prstGeom prst="rect">
            <a:avLst/>
          </a:prstGeom>
          <a:noFill/>
          <a:ln/>
        </p:spPr>
        <p:txBody>
          <a:bodyPr wrap="square" lIns="0" tIns="0" rIns="0" bIns="0" rtlCol="0" anchor="ctr"/>
          <a:lstStyle/>
          <a:p>
            <a:pPr marL="0" indent="0">
              <a:lnSpc>
                <a:spcPts val="1900"/>
              </a:lnSpc>
              <a:buNone/>
            </a:pPr>
            <a:r>
              <a:rPr lang="en-US" sz="1400" dirty="0">
                <a:solidFill>
                  <a:srgbClr val="5C6B7A"/>
                </a:solidFill>
                <a:latin typeface="Segoe UI" pitchFamily="34" charset="0"/>
                <a:ea typeface="Segoe UI" pitchFamily="34" charset="-122"/>
                <a:cs typeface="Segoe UI" pitchFamily="34" charset="-120"/>
              </a:rPr>
              <a:t>Control del enfriamiento para evitar estructuras frágiles y tensiones residuales.</a:t>
            </a:r>
            <a:endParaRPr lang="en-US" sz="1400" dirty="0"/>
          </a:p>
        </p:txBody>
      </p:sp>
      <p:sp>
        <p:nvSpPr>
          <p:cNvPr id="22" name="Shape 19"/>
          <p:cNvSpPr/>
          <p:nvPr/>
        </p:nvSpPr>
        <p:spPr>
          <a:xfrm>
            <a:off x="658368" y="5559552"/>
            <a:ext cx="10872216" cy="420624"/>
          </a:xfrm>
          <a:prstGeom prst="rect">
            <a:avLst/>
          </a:prstGeom>
          <a:solidFill>
            <a:srgbClr val="E8F0F7"/>
          </a:solidFill>
          <a:ln/>
        </p:spPr>
      </p:sp>
      <p:sp>
        <p:nvSpPr>
          <p:cNvPr id="23" name="Shape 20"/>
          <p:cNvSpPr/>
          <p:nvPr/>
        </p:nvSpPr>
        <p:spPr>
          <a:xfrm>
            <a:off x="658368" y="5559552"/>
            <a:ext cx="54864" cy="420624"/>
          </a:xfrm>
          <a:prstGeom prst="rect">
            <a:avLst/>
          </a:prstGeom>
          <a:solidFill>
            <a:srgbClr val="004B85"/>
          </a:solidFill>
          <a:ln/>
        </p:spPr>
      </p:sp>
      <p:sp>
        <p:nvSpPr>
          <p:cNvPr id="24" name="Text 21"/>
          <p:cNvSpPr txBox="1"/>
          <p:nvPr/>
        </p:nvSpPr>
        <p:spPr>
          <a:xfrm>
            <a:off x="932688" y="5605272"/>
            <a:ext cx="10332720" cy="329184"/>
          </a:xfrm>
          <a:prstGeom prst="rect">
            <a:avLst/>
          </a:prstGeom>
          <a:noFill/>
          <a:ln/>
        </p:spPr>
        <p:txBody>
          <a:bodyPr wrap="square" lIns="0" tIns="0" rIns="0" bIns="0" rtlCol="0" anchor="ctr"/>
          <a:lstStyle/>
          <a:p>
            <a:pPr marL="0" indent="0">
              <a:buNone/>
            </a:pPr>
            <a:r>
              <a:rPr lang="en-US" sz="1150" dirty="0">
                <a:solidFill>
                  <a:srgbClr val="00335C"/>
                </a:solidFill>
                <a:latin typeface="Segoe UI" pitchFamily="34" charset="0"/>
                <a:ea typeface="Segoe UI" pitchFamily="34" charset="-122"/>
                <a:cs typeface="Segoe UI" pitchFamily="34" charset="-120"/>
              </a:rPr>
              <a:t>Con la técnica de aplicación definida se cierra el procedimiento de recuperación y se documenta en la guía de reparación.</a:t>
            </a:r>
            <a:endParaRPr lang="en-US" sz="1150" dirty="0"/>
          </a:p>
        </p:txBody>
      </p:sp>
      <p:pic>
        <p:nvPicPr>
          <p:cNvPr id="25" name="Imagen 24">
            <a:extLst>
              <a:ext uri="{FF2B5EF4-FFF2-40B4-BE49-F238E27FC236}">
                <a16:creationId xmlns:a16="http://schemas.microsoft.com/office/drawing/2014/main" id="{CA05D69B-C8EA-C87F-6ED3-4E10809A1899}"/>
              </a:ext>
            </a:extLst>
          </p:cNvPr>
          <p:cNvPicPr>
            <a:picLocks noChangeAspect="1"/>
          </p:cNvPicPr>
          <p:nvPr/>
        </p:nvPicPr>
        <p:blipFill>
          <a:blip r:embed="rId4"/>
          <a:srcRect l="-84" t="19259" r="-167" b="12732"/>
          <a:stretch>
            <a:fillRect/>
          </a:stretch>
        </p:blipFill>
        <p:spPr>
          <a:xfrm>
            <a:off x="226" y="1322669"/>
            <a:ext cx="12188541" cy="466404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420624"/>
            <a:ext cx="10872216" cy="237744"/>
          </a:xfrm>
          <a:prstGeom prst="rect">
            <a:avLst/>
          </a:prstGeom>
          <a:noFill/>
        </p:spPr>
        <p:txBody>
          <a:bodyPr wrap="square" lIns="0" tIns="0" rIns="0" bIns="0" anchor="t">
            <a:spAutoFit/>
          </a:bodyPr>
          <a:lstStyle/>
          <a:p>
            <a:pPr algn="l">
              <a:lnSpc>
                <a:spcPct val="122000"/>
              </a:lnSpc>
              <a:spcAft>
                <a:spcPts val="0"/>
              </a:spcAft>
            </a:pPr>
            <a:r>
              <a:rPr sz="1150" b="1" i="0">
                <a:solidFill>
                  <a:srgbClr val="B88200"/>
                </a:solidFill>
                <a:latin typeface="Segoe UI"/>
              </a:rPr>
              <a:t>EJEMPLO · RECUPERACIÓN CON SOLDADURA</a:t>
            </a:r>
          </a:p>
        </p:txBody>
      </p:sp>
      <p:sp>
        <p:nvSpPr>
          <p:cNvPr id="3" name="TextBox 2"/>
          <p:cNvSpPr txBox="1"/>
          <p:nvPr/>
        </p:nvSpPr>
        <p:spPr>
          <a:xfrm>
            <a:off x="658368" y="713232"/>
            <a:ext cx="9409176" cy="603504"/>
          </a:xfrm>
          <a:prstGeom prst="rect">
            <a:avLst/>
          </a:prstGeom>
          <a:noFill/>
        </p:spPr>
        <p:txBody>
          <a:bodyPr wrap="square" lIns="0" tIns="0" rIns="0" bIns="0" anchor="t">
            <a:spAutoFit/>
          </a:bodyPr>
          <a:lstStyle/>
          <a:p>
            <a:pPr algn="l">
              <a:lnSpc>
                <a:spcPct val="108000"/>
              </a:lnSpc>
              <a:spcAft>
                <a:spcPts val="0"/>
              </a:spcAft>
            </a:pPr>
            <a:r>
              <a:rPr sz="3200" b="1" i="0">
                <a:solidFill>
                  <a:srgbClr val="00335C"/>
                </a:solidFill>
                <a:latin typeface="Segoe UI"/>
              </a:rPr>
              <a:t>Caso: molde recuperado con soldadura</a:t>
            </a:r>
          </a:p>
        </p:txBody>
      </p:sp>
      <p:sp>
        <p:nvSpPr>
          <p:cNvPr id="4" name="Rectangle 3"/>
          <p:cNvSpPr/>
          <p:nvPr/>
        </p:nvSpPr>
        <p:spPr>
          <a:xfrm>
            <a:off x="658368" y="1444752"/>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26464"/>
            <a:ext cx="1051560" cy="30175"/>
          </a:xfrm>
          <a:prstGeom prst="rect">
            <a:avLst/>
          </a:prstGeom>
          <a:solidFill>
            <a:srgbClr val="FFB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326319" y="786384"/>
            <a:ext cx="1207008" cy="310896"/>
          </a:xfrm>
          <a:prstGeom prst="roundRect">
            <a:avLst>
              <a:gd name="adj" fmla="val 50000"/>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26319" y="827532"/>
            <a:ext cx="1207008" cy="237744"/>
          </a:xfrm>
          <a:prstGeom prst="rect">
            <a:avLst/>
          </a:prstGeom>
          <a:noFill/>
        </p:spPr>
        <p:txBody>
          <a:bodyPr wrap="square" lIns="0" tIns="0" rIns="0" bIns="0" anchor="t">
            <a:spAutoFit/>
          </a:bodyPr>
          <a:lstStyle/>
          <a:p>
            <a:pPr algn="ctr">
              <a:lnSpc>
                <a:spcPct val="122000"/>
              </a:lnSpc>
              <a:spcAft>
                <a:spcPts val="0"/>
              </a:spcAft>
            </a:pPr>
            <a:r>
              <a:rPr sz="1050" b="1" i="0">
                <a:solidFill>
                  <a:srgbClr val="004B85"/>
                </a:solidFill>
                <a:latin typeface="Segoe UI"/>
              </a:rPr>
              <a:t>EJEMPLO</a:t>
            </a:r>
          </a:p>
        </p:txBody>
      </p:sp>
      <p:sp>
        <p:nvSpPr>
          <p:cNvPr id="8" name="Rectangle 7"/>
          <p:cNvSpPr/>
          <p:nvPr/>
        </p:nvSpPr>
        <p:spPr>
          <a:xfrm>
            <a:off x="658368" y="6144768"/>
            <a:ext cx="10872216" cy="10058"/>
          </a:xfrm>
          <a:prstGeom prst="rect">
            <a:avLst/>
          </a:prstGeom>
          <a:solidFill>
            <a:srgbClr val="D5D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658368" y="6254496"/>
            <a:ext cx="383458" cy="237744"/>
          </a:xfrm>
          <a:prstGeom prst="rect">
            <a:avLst/>
          </a:prstGeom>
        </p:spPr>
      </p:pic>
      <p:sp>
        <p:nvSpPr>
          <p:cNvPr id="10" name="TextBox 9"/>
          <p:cNvSpPr txBox="1"/>
          <p:nvPr/>
        </p:nvSpPr>
        <p:spPr>
          <a:xfrm>
            <a:off x="1243584" y="6291072"/>
            <a:ext cx="7680960" cy="256032"/>
          </a:xfrm>
          <a:prstGeom prst="rect">
            <a:avLst/>
          </a:prstGeom>
          <a:noFill/>
        </p:spPr>
        <p:txBody>
          <a:bodyPr wrap="square" lIns="0" tIns="0" rIns="0" bIns="0" anchor="t">
            <a:spAutoFit/>
          </a:bodyPr>
          <a:lstStyle/>
          <a:p>
            <a:pPr algn="l">
              <a:lnSpc>
                <a:spcPct val="122000"/>
              </a:lnSpc>
              <a:spcAft>
                <a:spcPts val="0"/>
              </a:spcAft>
            </a:pPr>
            <a:r>
              <a:rPr sz="950" b="0" i="0">
                <a:solidFill>
                  <a:srgbClr val="8A97A3"/>
                </a:solidFill>
                <a:latin typeface="Segoe UI"/>
              </a:rPr>
              <a:t>Acciones Correctivo-Modificativas   ·   Clase 4 · Acciones correctivas</a:t>
            </a:r>
          </a:p>
        </p:txBody>
      </p:sp>
      <p:sp>
        <p:nvSpPr>
          <p:cNvPr id="11" name="TextBox 10"/>
          <p:cNvSpPr txBox="1"/>
          <p:nvPr/>
        </p:nvSpPr>
        <p:spPr>
          <a:xfrm>
            <a:off x="10250424" y="6291072"/>
            <a:ext cx="1280160" cy="256032"/>
          </a:xfrm>
          <a:prstGeom prst="rect">
            <a:avLst/>
          </a:prstGeom>
          <a:noFill/>
        </p:spPr>
        <p:txBody>
          <a:bodyPr wrap="square" lIns="0" tIns="0" rIns="0" bIns="0" anchor="t">
            <a:spAutoFit/>
          </a:bodyPr>
          <a:lstStyle/>
          <a:p>
            <a:pPr algn="r">
              <a:lnSpc>
                <a:spcPct val="122000"/>
              </a:lnSpc>
              <a:spcAft>
                <a:spcPts val="0"/>
              </a:spcAft>
            </a:pPr>
            <a:r>
              <a:rPr sz="1000" b="1" i="0">
                <a:solidFill>
                  <a:srgbClr val="8A97A3"/>
                </a:solidFill>
                <a:latin typeface="Segoe UI"/>
              </a:rPr>
              <a:t>29a</a:t>
            </a:r>
          </a:p>
        </p:txBody>
      </p:sp>
      <p:pic>
        <p:nvPicPr>
          <p:cNvPr id="12" name="Picture 11" descr="molde_antes.jpg"/>
          <p:cNvPicPr>
            <a:picLocks noChangeAspect="1"/>
          </p:cNvPicPr>
          <p:nvPr/>
        </p:nvPicPr>
        <p:blipFill>
          <a:blip r:embed="rId4"/>
          <a:srcRect l="12493" r="12493"/>
          <a:stretch>
            <a:fillRect/>
          </a:stretch>
        </p:blipFill>
        <p:spPr>
          <a:xfrm>
            <a:off x="658368" y="1664208"/>
            <a:ext cx="2331720" cy="3291840"/>
          </a:xfrm>
          <a:prstGeom prst="rect">
            <a:avLst/>
          </a:prstGeom>
          <a:ln w="9525">
            <a:solidFill>
              <a:srgbClr val="D5DDE5"/>
            </a:solidFill>
          </a:ln>
        </p:spPr>
      </p:pic>
      <p:sp>
        <p:nvSpPr>
          <p:cNvPr id="13" name="TextBox 12"/>
          <p:cNvSpPr txBox="1"/>
          <p:nvPr/>
        </p:nvSpPr>
        <p:spPr>
          <a:xfrm>
            <a:off x="658368" y="5029200"/>
            <a:ext cx="2331720" cy="274320"/>
          </a:xfrm>
          <a:prstGeom prst="rect">
            <a:avLst/>
          </a:prstGeom>
          <a:noFill/>
        </p:spPr>
        <p:txBody>
          <a:bodyPr wrap="square" lIns="0" tIns="0" rIns="0" bIns="0" anchor="t">
            <a:spAutoFit/>
          </a:bodyPr>
          <a:lstStyle/>
          <a:p>
            <a:pPr algn="l">
              <a:lnSpc>
                <a:spcPct val="122000"/>
              </a:lnSpc>
              <a:spcAft>
                <a:spcPts val="0"/>
              </a:spcAft>
            </a:pPr>
            <a:r>
              <a:rPr sz="1000" b="0" i="1">
                <a:solidFill>
                  <a:srgbClr val="8A97A3"/>
                </a:solidFill>
                <a:latin typeface="Segoe UI"/>
              </a:rPr>
              <a:t>Antes: grieta en la cavidad</a:t>
            </a:r>
          </a:p>
        </p:txBody>
      </p:sp>
      <p:pic>
        <p:nvPicPr>
          <p:cNvPr id="14" name="Picture 13" descr="molde_despues.jpg"/>
          <p:cNvPicPr>
            <a:picLocks noChangeAspect="1"/>
          </p:cNvPicPr>
          <p:nvPr/>
        </p:nvPicPr>
        <p:blipFill>
          <a:blip r:embed="rId5"/>
          <a:srcRect l="10619" r="10619"/>
          <a:stretch>
            <a:fillRect/>
          </a:stretch>
        </p:blipFill>
        <p:spPr>
          <a:xfrm>
            <a:off x="3172968" y="1664208"/>
            <a:ext cx="2331720" cy="3291840"/>
          </a:xfrm>
          <a:prstGeom prst="rect">
            <a:avLst/>
          </a:prstGeom>
          <a:ln w="9525">
            <a:solidFill>
              <a:srgbClr val="D5DDE5"/>
            </a:solidFill>
          </a:ln>
        </p:spPr>
      </p:pic>
      <p:sp>
        <p:nvSpPr>
          <p:cNvPr id="15" name="TextBox 14"/>
          <p:cNvSpPr txBox="1"/>
          <p:nvPr/>
        </p:nvSpPr>
        <p:spPr>
          <a:xfrm>
            <a:off x="3172968" y="5029200"/>
            <a:ext cx="2331720" cy="274320"/>
          </a:xfrm>
          <a:prstGeom prst="rect">
            <a:avLst/>
          </a:prstGeom>
          <a:noFill/>
        </p:spPr>
        <p:txBody>
          <a:bodyPr wrap="square" lIns="0" tIns="0" rIns="0" bIns="0" anchor="t">
            <a:spAutoFit/>
          </a:bodyPr>
          <a:lstStyle/>
          <a:p>
            <a:pPr algn="l">
              <a:lnSpc>
                <a:spcPct val="122000"/>
              </a:lnSpc>
              <a:spcAft>
                <a:spcPts val="0"/>
              </a:spcAft>
            </a:pPr>
            <a:r>
              <a:rPr sz="1000" b="0" i="1">
                <a:solidFill>
                  <a:srgbClr val="8A97A3"/>
                </a:solidFill>
                <a:latin typeface="Segoe UI"/>
              </a:rPr>
              <a:t>Después: zona recargada</a:t>
            </a:r>
          </a:p>
        </p:txBody>
      </p:sp>
      <p:sp>
        <p:nvSpPr>
          <p:cNvPr id="16" name="Rectangle 15"/>
          <p:cNvSpPr/>
          <p:nvPr/>
        </p:nvSpPr>
        <p:spPr>
          <a:xfrm>
            <a:off x="5824727" y="1664208"/>
            <a:ext cx="5705856"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989319" y="1841601"/>
            <a:ext cx="329184" cy="329184"/>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89319" y="1887687"/>
            <a:ext cx="329184" cy="237012"/>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1</a:t>
            </a:r>
          </a:p>
        </p:txBody>
      </p:sp>
      <p:sp>
        <p:nvSpPr>
          <p:cNvPr id="19" name="TextBox 18"/>
          <p:cNvSpPr txBox="1"/>
          <p:nvPr/>
        </p:nvSpPr>
        <p:spPr>
          <a:xfrm>
            <a:off x="6464807" y="1728216"/>
            <a:ext cx="1600200" cy="555955"/>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Análisis de la falla</a:t>
            </a:r>
          </a:p>
        </p:txBody>
      </p:sp>
      <p:sp>
        <p:nvSpPr>
          <p:cNvPr id="20" name="TextBox 19"/>
          <p:cNvSpPr txBox="1"/>
          <p:nvPr/>
        </p:nvSpPr>
        <p:spPr>
          <a:xfrm>
            <a:off x="8110727" y="1709928"/>
            <a:ext cx="3282696"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Grieta por fatiga térmica en una esquina de la cavidad.</a:t>
            </a:r>
          </a:p>
        </p:txBody>
      </p:sp>
      <p:sp>
        <p:nvSpPr>
          <p:cNvPr id="21" name="Rectangle 20"/>
          <p:cNvSpPr/>
          <p:nvPr/>
        </p:nvSpPr>
        <p:spPr>
          <a:xfrm>
            <a:off x="5824727" y="2421331"/>
            <a:ext cx="5705856"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989319" y="2598724"/>
            <a:ext cx="329184" cy="329184"/>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89319" y="2644810"/>
            <a:ext cx="329184" cy="237012"/>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2</a:t>
            </a:r>
          </a:p>
        </p:txBody>
      </p:sp>
      <p:sp>
        <p:nvSpPr>
          <p:cNvPr id="24" name="TextBox 23"/>
          <p:cNvSpPr txBox="1"/>
          <p:nvPr/>
        </p:nvSpPr>
        <p:spPr>
          <a:xfrm>
            <a:off x="6464807" y="2485339"/>
            <a:ext cx="1600200" cy="555955"/>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Metal base</a:t>
            </a:r>
          </a:p>
        </p:txBody>
      </p:sp>
      <p:sp>
        <p:nvSpPr>
          <p:cNvPr id="25" name="TextBox 24"/>
          <p:cNvSpPr txBox="1"/>
          <p:nvPr/>
        </p:nvSpPr>
        <p:spPr>
          <a:xfrm>
            <a:off x="8110727" y="2467051"/>
            <a:ext cx="3282696"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Acero para moldes (tipo P20), dato del fabricante del molde.</a:t>
            </a:r>
          </a:p>
        </p:txBody>
      </p:sp>
      <p:sp>
        <p:nvSpPr>
          <p:cNvPr id="26" name="Rectangle 25"/>
          <p:cNvSpPr/>
          <p:nvPr/>
        </p:nvSpPr>
        <p:spPr>
          <a:xfrm>
            <a:off x="5824727" y="3178454"/>
            <a:ext cx="5705856"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989319" y="3355848"/>
            <a:ext cx="329184" cy="329184"/>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89319" y="3401933"/>
            <a:ext cx="329184" cy="237012"/>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3</a:t>
            </a:r>
          </a:p>
        </p:txBody>
      </p:sp>
      <p:sp>
        <p:nvSpPr>
          <p:cNvPr id="29" name="TextBox 28"/>
          <p:cNvSpPr txBox="1"/>
          <p:nvPr/>
        </p:nvSpPr>
        <p:spPr>
          <a:xfrm>
            <a:off x="6464807" y="3242462"/>
            <a:ext cx="1600200" cy="555955"/>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Aleación</a:t>
            </a:r>
          </a:p>
        </p:txBody>
      </p:sp>
      <p:sp>
        <p:nvSpPr>
          <p:cNvPr id="30" name="TextBox 29"/>
          <p:cNvSpPr txBox="1"/>
          <p:nvPr/>
        </p:nvSpPr>
        <p:spPr>
          <a:xfrm>
            <a:off x="8110727" y="3224174"/>
            <a:ext cx="3282696"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Aporte compatible con el acero del molde, que admita mecanizado.</a:t>
            </a:r>
          </a:p>
        </p:txBody>
      </p:sp>
      <p:sp>
        <p:nvSpPr>
          <p:cNvPr id="31" name="Rectangle 30"/>
          <p:cNvSpPr/>
          <p:nvPr/>
        </p:nvSpPr>
        <p:spPr>
          <a:xfrm>
            <a:off x="5824727" y="3935577"/>
            <a:ext cx="5705856"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989319" y="4112971"/>
            <a:ext cx="329184" cy="329184"/>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89319" y="4159056"/>
            <a:ext cx="329184" cy="237012"/>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4</a:t>
            </a:r>
          </a:p>
        </p:txBody>
      </p:sp>
      <p:sp>
        <p:nvSpPr>
          <p:cNvPr id="34" name="TextBox 33"/>
          <p:cNvSpPr txBox="1"/>
          <p:nvPr/>
        </p:nvSpPr>
        <p:spPr>
          <a:xfrm>
            <a:off x="6464807" y="3999585"/>
            <a:ext cx="1600200" cy="555955"/>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Preparación</a:t>
            </a:r>
          </a:p>
        </p:txBody>
      </p:sp>
      <p:sp>
        <p:nvSpPr>
          <p:cNvPr id="35" name="TextBox 34"/>
          <p:cNvSpPr txBox="1"/>
          <p:nvPr/>
        </p:nvSpPr>
        <p:spPr>
          <a:xfrm>
            <a:off x="8110727" y="3981297"/>
            <a:ext cx="3282696"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Ranurado de la grieta hasta su raíz, limpieza y precalentamiento (≈ 250–320 °C).</a:t>
            </a:r>
          </a:p>
        </p:txBody>
      </p:sp>
      <p:sp>
        <p:nvSpPr>
          <p:cNvPr id="36" name="Rectangle 35"/>
          <p:cNvSpPr/>
          <p:nvPr/>
        </p:nvSpPr>
        <p:spPr>
          <a:xfrm>
            <a:off x="5824727" y="4692700"/>
            <a:ext cx="5705856" cy="683971"/>
          </a:xfrm>
          <a:prstGeom prst="rect">
            <a:avLst/>
          </a:prstGeom>
          <a:solidFill>
            <a:srgbClr val="F4F7FA"/>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989319" y="4870094"/>
            <a:ext cx="329184" cy="329184"/>
          </a:xfrm>
          <a:prstGeom prst="ellipse">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89319" y="4916180"/>
            <a:ext cx="329184" cy="237012"/>
          </a:xfrm>
          <a:prstGeom prst="rect">
            <a:avLst/>
          </a:prstGeom>
          <a:noFill/>
        </p:spPr>
        <p:txBody>
          <a:bodyPr wrap="square" lIns="0" tIns="0" rIns="0" bIns="0" anchor="t">
            <a:spAutoFit/>
          </a:bodyPr>
          <a:lstStyle/>
          <a:p>
            <a:pPr algn="ctr">
              <a:lnSpc>
                <a:spcPct val="122000"/>
              </a:lnSpc>
              <a:spcAft>
                <a:spcPts val="0"/>
              </a:spcAft>
            </a:pPr>
            <a:r>
              <a:rPr sz="1200" b="1" i="0">
                <a:solidFill>
                  <a:srgbClr val="FFFFFF"/>
                </a:solidFill>
                <a:latin typeface="Segoe UI"/>
              </a:rPr>
              <a:t>5</a:t>
            </a:r>
          </a:p>
        </p:txBody>
      </p:sp>
      <p:sp>
        <p:nvSpPr>
          <p:cNvPr id="39" name="TextBox 38"/>
          <p:cNvSpPr txBox="1"/>
          <p:nvPr/>
        </p:nvSpPr>
        <p:spPr>
          <a:xfrm>
            <a:off x="6464807" y="4756708"/>
            <a:ext cx="1600200" cy="555955"/>
          </a:xfrm>
          <a:prstGeom prst="rect">
            <a:avLst/>
          </a:prstGeom>
          <a:noFill/>
        </p:spPr>
        <p:txBody>
          <a:bodyPr wrap="square" lIns="0" tIns="0" rIns="0" bIns="0" anchor="ctr">
            <a:spAutoFit/>
          </a:bodyPr>
          <a:lstStyle/>
          <a:p>
            <a:pPr algn="l">
              <a:lnSpc>
                <a:spcPct val="110000"/>
              </a:lnSpc>
              <a:spcAft>
                <a:spcPts val="0"/>
              </a:spcAft>
            </a:pPr>
            <a:r>
              <a:rPr sz="1200" b="1" i="0">
                <a:solidFill>
                  <a:srgbClr val="00335C"/>
                </a:solidFill>
                <a:latin typeface="Segoe UI"/>
              </a:rPr>
              <a:t>Aplicación y acabado</a:t>
            </a:r>
          </a:p>
        </p:txBody>
      </p:sp>
      <p:sp>
        <p:nvSpPr>
          <p:cNvPr id="40" name="TextBox 39"/>
          <p:cNvSpPr txBox="1"/>
          <p:nvPr/>
        </p:nvSpPr>
        <p:spPr>
          <a:xfrm>
            <a:off x="8110727" y="4738420"/>
            <a:ext cx="3282696" cy="592531"/>
          </a:xfrm>
          <a:prstGeom prst="rect">
            <a:avLst/>
          </a:prstGeom>
          <a:noFill/>
        </p:spPr>
        <p:txBody>
          <a:bodyPr wrap="square" lIns="0" tIns="0" rIns="0" bIns="0" anchor="ctr">
            <a:spAutoFit/>
          </a:bodyPr>
          <a:lstStyle/>
          <a:p>
            <a:pPr algn="l">
              <a:lnSpc>
                <a:spcPct val="115000"/>
              </a:lnSpc>
              <a:spcAft>
                <a:spcPts val="0"/>
              </a:spcAft>
            </a:pPr>
            <a:r>
              <a:rPr sz="1050" b="0" i="0">
                <a:solidFill>
                  <a:srgbClr val="5C6B7A"/>
                </a:solidFill>
                <a:latin typeface="Segoe UI"/>
              </a:rPr>
              <a:t>Aporte TIG por pases cortos, enfriamiento lento, mecanizado y pulido.</a:t>
            </a:r>
          </a:p>
        </p:txBody>
      </p:sp>
      <p:sp>
        <p:nvSpPr>
          <p:cNvPr id="41" name="Rectangle 40"/>
          <p:cNvSpPr/>
          <p:nvPr/>
        </p:nvSpPr>
        <p:spPr>
          <a:xfrm>
            <a:off x="658368" y="5559552"/>
            <a:ext cx="10872216" cy="420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58368" y="5559552"/>
            <a:ext cx="54864" cy="420624"/>
          </a:xfrm>
          <a:prstGeom prst="rect">
            <a:avLst/>
          </a:prstGeom>
          <a:solidFill>
            <a:srgbClr val="004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5605272"/>
            <a:ext cx="10332720" cy="329184"/>
          </a:xfrm>
          <a:prstGeom prst="rect">
            <a:avLst/>
          </a:prstGeom>
          <a:noFill/>
        </p:spPr>
        <p:txBody>
          <a:bodyPr wrap="square" lIns="0" tIns="0" rIns="0" bIns="0" anchor="ctr">
            <a:spAutoFit/>
          </a:bodyPr>
          <a:lstStyle/>
          <a:p>
            <a:pPr algn="l">
              <a:lnSpc>
                <a:spcPct val="122000"/>
              </a:lnSpc>
              <a:spcAft>
                <a:spcPts val="0"/>
              </a:spcAft>
            </a:pPr>
            <a:r>
              <a:rPr sz="1150" b="0" i="0">
                <a:solidFill>
                  <a:srgbClr val="00335C"/>
                </a:solidFill>
                <a:latin typeface="Segoe UI"/>
              </a:rPr>
              <a:t>Terminada la recuperación, se verifica con líquidos penetrantes y se registra el procedimiento en la guía de reparación.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E5026D2E0FE88488153A29B3DFF52EB" ma:contentTypeVersion="3" ma:contentTypeDescription="Crear nuevo documento." ma:contentTypeScope="" ma:versionID="21910e2e0e3d3a18c69eafede869fe81">
  <xsd:schema xmlns:xsd="http://www.w3.org/2001/XMLSchema" xmlns:xs="http://www.w3.org/2001/XMLSchema" xmlns:p="http://schemas.microsoft.com/office/2006/metadata/properties" xmlns:ns2="732eacde-151a-4416-9e6c-b7f18d69a314" targetNamespace="http://schemas.microsoft.com/office/2006/metadata/properties" ma:root="true" ma:fieldsID="3f4e17f172f069d4f2e8bcfdf8bab442" ns2:_="">
    <xsd:import namespace="732eacde-151a-4416-9e6c-b7f18d69a31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2eacde-151a-4416-9e6c-b7f18d69a3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FD8F5C-FEF9-4D83-AE42-DBD823DCFAD3}">
  <ds:schemaRefs>
    <ds:schemaRef ds:uri="http://schemas.microsoft.com/sharepoint/v3/contenttype/forms"/>
  </ds:schemaRefs>
</ds:datastoreItem>
</file>

<file path=customXml/itemProps2.xml><?xml version="1.0" encoding="utf-8"?>
<ds:datastoreItem xmlns:ds="http://schemas.openxmlformats.org/officeDocument/2006/customXml" ds:itemID="{FD4A1A76-5BF5-40FE-95CA-DA0E53B9F56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9D2EF9B-A317-47E9-A246-72156DDC73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2eacde-151a-4416-9e6c-b7f18d69a3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48</Slides>
  <Notes>48</Notes>
  <HiddenSlides>0</HiddenSlides>
  <MMClips>0</MMClips>
  <ScaleCrop>false</ScaleCrop>
  <HeadingPairs>
    <vt:vector size="4" baseType="variant">
      <vt:variant>
        <vt:lpstr>Tema</vt:lpstr>
      </vt:variant>
      <vt:variant>
        <vt:i4>1</vt:i4>
      </vt:variant>
      <vt:variant>
        <vt:lpstr>Títulos de diapositiva</vt:lpstr>
      </vt:variant>
      <vt:variant>
        <vt:i4>48</vt:i4>
      </vt:variant>
    </vt:vector>
  </HeadingPairs>
  <TitlesOfParts>
    <vt:vector size="49"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EAFIT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Acciones correctivas y técnicas de recuperación</dc:title>
  <dc:subject>PptxGenJS Presentation</dc:subject>
  <dc:creator>Jaime Leonardo Barbosa Pérez</dc:creator>
  <cp:lastModifiedBy>Jaime Leonardo Barbosa Pérez</cp:lastModifiedBy>
  <cp:revision>16</cp:revision>
  <dcterms:created xsi:type="dcterms:W3CDTF">2026-09-14T15:10:15Z</dcterms:created>
  <dcterms:modified xsi:type="dcterms:W3CDTF">2026-10-02T04:23:22Z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0x0101008E5026D2E0FE88488153A29B3DFF52EB</vt:lpwstr>
  </property>
</Properties>
</file>