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0"/>
  </p:notesMasterIdLst>
  <p:sldIdLst>
    <p:sldId id="257" r:id="rId2"/>
    <p:sldId id="525" r:id="rId3"/>
    <p:sldId id="526" r:id="rId4"/>
    <p:sldId id="527" r:id="rId5"/>
    <p:sldId id="528" r:id="rId6"/>
    <p:sldId id="262" r:id="rId7"/>
    <p:sldId id="263" r:id="rId8"/>
    <p:sldId id="269" r:id="rId9"/>
    <p:sldId id="554" r:id="rId10"/>
    <p:sldId id="265" r:id="rId11"/>
    <p:sldId id="270" r:id="rId12"/>
    <p:sldId id="271" r:id="rId13"/>
    <p:sldId id="548" r:id="rId14"/>
    <p:sldId id="287" r:id="rId15"/>
    <p:sldId id="285" r:id="rId16"/>
    <p:sldId id="288" r:id="rId17"/>
    <p:sldId id="289" r:id="rId18"/>
    <p:sldId id="290" r:id="rId19"/>
    <p:sldId id="291" r:id="rId20"/>
    <p:sldId id="292" r:id="rId21"/>
    <p:sldId id="341" r:id="rId22"/>
    <p:sldId id="344" r:id="rId23"/>
    <p:sldId id="345" r:id="rId24"/>
    <p:sldId id="346" r:id="rId25"/>
    <p:sldId id="347" r:id="rId26"/>
    <p:sldId id="348" r:id="rId27"/>
    <p:sldId id="349" r:id="rId28"/>
    <p:sldId id="350" r:id="rId29"/>
    <p:sldId id="352" r:id="rId30"/>
    <p:sldId id="354" r:id="rId31"/>
    <p:sldId id="351" r:id="rId32"/>
    <p:sldId id="355" r:id="rId33"/>
    <p:sldId id="356" r:id="rId34"/>
    <p:sldId id="357" r:id="rId35"/>
    <p:sldId id="358" r:id="rId36"/>
    <p:sldId id="359" r:id="rId37"/>
    <p:sldId id="365" r:id="rId38"/>
    <p:sldId id="550" r:id="rId39"/>
    <p:sldId id="366" r:id="rId40"/>
    <p:sldId id="368" r:id="rId41"/>
    <p:sldId id="353" r:id="rId42"/>
    <p:sldId id="370" r:id="rId43"/>
    <p:sldId id="371" r:id="rId44"/>
    <p:sldId id="372" r:id="rId45"/>
    <p:sldId id="373" r:id="rId46"/>
    <p:sldId id="374" r:id="rId47"/>
    <p:sldId id="376" r:id="rId48"/>
    <p:sldId id="377" r:id="rId49"/>
    <p:sldId id="378" r:id="rId50"/>
    <p:sldId id="379" r:id="rId51"/>
    <p:sldId id="380" r:id="rId52"/>
    <p:sldId id="381" r:id="rId53"/>
    <p:sldId id="382" r:id="rId54"/>
    <p:sldId id="383" r:id="rId55"/>
    <p:sldId id="384" r:id="rId56"/>
    <p:sldId id="385" r:id="rId57"/>
    <p:sldId id="386" r:id="rId58"/>
    <p:sldId id="387" r:id="rId59"/>
    <p:sldId id="388" r:id="rId60"/>
    <p:sldId id="389" r:id="rId61"/>
    <p:sldId id="390" r:id="rId62"/>
    <p:sldId id="391" r:id="rId63"/>
    <p:sldId id="392" r:id="rId64"/>
    <p:sldId id="393" r:id="rId65"/>
    <p:sldId id="394" r:id="rId66"/>
    <p:sldId id="395" r:id="rId67"/>
    <p:sldId id="396" r:id="rId68"/>
    <p:sldId id="397" r:id="rId69"/>
  </p:sldIdLst>
  <p:sldSz cx="12192000" cy="6858000"/>
  <p:notesSz cx="6985000" cy="92837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customXml" Target="../customXml/item2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notesMaster" Target="notesMasters/notesMaster1.xml"/><Relationship Id="rId75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78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customXml" Target="../customXml/item1.xml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ime Leonardo Barbosa Perez" userId="3291dd0c0a50a603" providerId="LiveId" clId="{215C019D-1D12-470B-93BD-6A7D069EA818}"/>
    <pc:docChg chg="delSld modSld sldOrd">
      <pc:chgData name="Jaime Leonardo Barbosa Perez" userId="3291dd0c0a50a603" providerId="LiveId" clId="{215C019D-1D12-470B-93BD-6A7D069EA818}" dt="2026-04-29T19:17:42.406" v="24" actId="1076"/>
      <pc:docMkLst>
        <pc:docMk/>
      </pc:docMkLst>
      <pc:sldChg chg="modSp mod">
        <pc:chgData name="Jaime Leonardo Barbosa Perez" userId="3291dd0c0a50a603" providerId="LiveId" clId="{215C019D-1D12-470B-93BD-6A7D069EA818}" dt="2026-04-29T19:11:11.055" v="5" actId="20577"/>
        <pc:sldMkLst>
          <pc:docMk/>
          <pc:sldMk cId="3632598554" sldId="257"/>
        </pc:sldMkLst>
        <pc:spChg chg="mod">
          <ac:chgData name="Jaime Leonardo Barbosa Perez" userId="3291dd0c0a50a603" providerId="LiveId" clId="{215C019D-1D12-470B-93BD-6A7D069EA818}" dt="2026-04-29T19:11:11.055" v="5" actId="20577"/>
          <ac:spMkLst>
            <pc:docMk/>
            <pc:sldMk cId="3632598554" sldId="257"/>
            <ac:spMk id="4" creationId="{00000000-0000-0000-0000-000000000000}"/>
          </ac:spMkLst>
        </pc:spChg>
      </pc:sldChg>
      <pc:sldChg chg="del ord">
        <pc:chgData name="Jaime Leonardo Barbosa Perez" userId="3291dd0c0a50a603" providerId="LiveId" clId="{215C019D-1D12-470B-93BD-6A7D069EA818}" dt="2026-04-29T19:11:26.157" v="8" actId="47"/>
        <pc:sldMkLst>
          <pc:docMk/>
          <pc:sldMk cId="3194240845" sldId="258"/>
        </pc:sldMkLst>
      </pc:sldChg>
      <pc:sldChg chg="del">
        <pc:chgData name="Jaime Leonardo Barbosa Perez" userId="3291dd0c0a50a603" providerId="LiveId" clId="{215C019D-1D12-470B-93BD-6A7D069EA818}" dt="2026-04-29T19:11:26.157" v="8" actId="47"/>
        <pc:sldMkLst>
          <pc:docMk/>
          <pc:sldMk cId="1228325553" sldId="259"/>
        </pc:sldMkLst>
      </pc:sldChg>
      <pc:sldChg chg="del">
        <pc:chgData name="Jaime Leonardo Barbosa Perez" userId="3291dd0c0a50a603" providerId="LiveId" clId="{215C019D-1D12-470B-93BD-6A7D069EA818}" dt="2026-04-29T19:11:26.157" v="8" actId="47"/>
        <pc:sldMkLst>
          <pc:docMk/>
          <pc:sldMk cId="2973324831" sldId="260"/>
        </pc:sldMkLst>
      </pc:sldChg>
      <pc:sldChg chg="del">
        <pc:chgData name="Jaime Leonardo Barbosa Perez" userId="3291dd0c0a50a603" providerId="LiveId" clId="{215C019D-1D12-470B-93BD-6A7D069EA818}" dt="2026-04-29T19:11:26.157" v="8" actId="47"/>
        <pc:sldMkLst>
          <pc:docMk/>
          <pc:sldMk cId="488838673" sldId="261"/>
        </pc:sldMkLst>
      </pc:sldChg>
      <pc:sldChg chg="del">
        <pc:chgData name="Jaime Leonardo Barbosa Perez" userId="3291dd0c0a50a603" providerId="LiveId" clId="{215C019D-1D12-470B-93BD-6A7D069EA818}" dt="2026-04-29T19:12:44.377" v="10" actId="47"/>
        <pc:sldMkLst>
          <pc:docMk/>
          <pc:sldMk cId="3806171533" sldId="264"/>
        </pc:sldMkLst>
      </pc:sldChg>
      <pc:sldChg chg="del">
        <pc:chgData name="Jaime Leonardo Barbosa Perez" userId="3291dd0c0a50a603" providerId="LiveId" clId="{215C019D-1D12-470B-93BD-6A7D069EA818}" dt="2026-04-29T19:12:48.219" v="11" actId="47"/>
        <pc:sldMkLst>
          <pc:docMk/>
          <pc:sldMk cId="3263730342" sldId="266"/>
        </pc:sldMkLst>
      </pc:sldChg>
      <pc:sldChg chg="del">
        <pc:chgData name="Jaime Leonardo Barbosa Perez" userId="3291dd0c0a50a603" providerId="LiveId" clId="{215C019D-1D12-470B-93BD-6A7D069EA818}" dt="2026-04-29T19:12:52.943" v="12" actId="47"/>
        <pc:sldMkLst>
          <pc:docMk/>
          <pc:sldMk cId="529870024" sldId="267"/>
        </pc:sldMkLst>
      </pc:sldChg>
      <pc:sldChg chg="del">
        <pc:chgData name="Jaime Leonardo Barbosa Perez" userId="3291dd0c0a50a603" providerId="LiveId" clId="{215C019D-1D12-470B-93BD-6A7D069EA818}" dt="2026-04-29T19:12:55.010" v="13" actId="47"/>
        <pc:sldMkLst>
          <pc:docMk/>
          <pc:sldMk cId="3117262303" sldId="26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737682235" sldId="27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04030462" sldId="27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741705527" sldId="27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488004092" sldId="27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392968495" sldId="27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694016734" sldId="27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236617269" sldId="27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615312204" sldId="27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286265331" sldId="28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898443094" sldId="28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622838663" sldId="29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930498760" sldId="29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49243691" sldId="29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63284718" sldId="29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232305363" sldId="29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280434779" sldId="29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773957642" sldId="30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595096022" sldId="30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36741520" sldId="30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918939011" sldId="30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22156046" sldId="30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650569093" sldId="30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738637017" sldId="30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104441726" sldId="30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558134854" sldId="30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033573077" sldId="31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008541452" sldId="31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07516831" sldId="31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046408978" sldId="31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945716981" sldId="31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322583309" sldId="31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545023706" sldId="31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698745205" sldId="31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39116301" sldId="31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9997255" sldId="31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626742400" sldId="32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625594030" sldId="32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510507345" sldId="32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086598372" sldId="32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312438314" sldId="32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390681566" sldId="32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056965885" sldId="32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509122897" sldId="32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904578013" sldId="32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104325780" sldId="32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062466247" sldId="33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77142332" sldId="33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2769054" sldId="33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113822891" sldId="33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174066279" sldId="33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041380418" sldId="33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634852966" sldId="33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251529442" sldId="33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058868044" sldId="339"/>
        </pc:sldMkLst>
      </pc:sldChg>
      <pc:sldChg chg="del">
        <pc:chgData name="Jaime Leonardo Barbosa Perez" userId="3291dd0c0a50a603" providerId="LiveId" clId="{215C019D-1D12-470B-93BD-6A7D069EA818}" dt="2026-04-29T19:14:48.482" v="15" actId="47"/>
        <pc:sldMkLst>
          <pc:docMk/>
          <pc:sldMk cId="2638809673" sldId="342"/>
        </pc:sldMkLst>
      </pc:sldChg>
      <pc:sldChg chg="del">
        <pc:chgData name="Jaime Leonardo Barbosa Perez" userId="3291dd0c0a50a603" providerId="LiveId" clId="{215C019D-1D12-470B-93BD-6A7D069EA818}" dt="2026-04-29T19:14:38.728" v="14" actId="47"/>
        <pc:sldMkLst>
          <pc:docMk/>
          <pc:sldMk cId="2499835105" sldId="343"/>
        </pc:sldMkLst>
      </pc:sldChg>
      <pc:sldChg chg="modSp mod">
        <pc:chgData name="Jaime Leonardo Barbosa Perez" userId="3291dd0c0a50a603" providerId="LiveId" clId="{215C019D-1D12-470B-93BD-6A7D069EA818}" dt="2026-04-29T19:15:50.998" v="17" actId="14734"/>
        <pc:sldMkLst>
          <pc:docMk/>
          <pc:sldMk cId="3129217442" sldId="355"/>
        </pc:sldMkLst>
        <pc:graphicFrameChg chg="modGraphic">
          <ac:chgData name="Jaime Leonardo Barbosa Perez" userId="3291dd0c0a50a603" providerId="LiveId" clId="{215C019D-1D12-470B-93BD-6A7D069EA818}" dt="2026-04-29T19:15:50.998" v="17" actId="14734"/>
          <ac:graphicFrameMkLst>
            <pc:docMk/>
            <pc:sldMk cId="3129217442" sldId="355"/>
            <ac:graphicFrameMk id="90124" creationId="{00000000-0000-0000-0000-000000000000}"/>
          </ac:graphicFrameMkLst>
        </pc:graphicFrameChg>
      </pc:sldChg>
      <pc:sldChg chg="modSp mod">
        <pc:chgData name="Jaime Leonardo Barbosa Perez" userId="3291dd0c0a50a603" providerId="LiveId" clId="{215C019D-1D12-470B-93BD-6A7D069EA818}" dt="2026-04-29T19:16:01.334" v="18" actId="14734"/>
        <pc:sldMkLst>
          <pc:docMk/>
          <pc:sldMk cId="217318401" sldId="356"/>
        </pc:sldMkLst>
        <pc:graphicFrameChg chg="modGraphic">
          <ac:chgData name="Jaime Leonardo Barbosa Perez" userId="3291dd0c0a50a603" providerId="LiveId" clId="{215C019D-1D12-470B-93BD-6A7D069EA818}" dt="2026-04-29T19:16:01.334" v="18" actId="14734"/>
          <ac:graphicFrameMkLst>
            <pc:docMk/>
            <pc:sldMk cId="217318401" sldId="356"/>
            <ac:graphicFrameMk id="91150" creationId="{00000000-0000-0000-0000-000000000000}"/>
          </ac:graphicFrameMkLst>
        </pc:graphicFrameChg>
      </pc:sldChg>
      <pc:sldChg chg="del">
        <pc:chgData name="Jaime Leonardo Barbosa Perez" userId="3291dd0c0a50a603" providerId="LiveId" clId="{215C019D-1D12-470B-93BD-6A7D069EA818}" dt="2026-04-29T19:16:27.319" v="19" actId="47"/>
        <pc:sldMkLst>
          <pc:docMk/>
          <pc:sldMk cId="1982205233" sldId="360"/>
        </pc:sldMkLst>
      </pc:sldChg>
      <pc:sldChg chg="del">
        <pc:chgData name="Jaime Leonardo Barbosa Perez" userId="3291dd0c0a50a603" providerId="LiveId" clId="{215C019D-1D12-470B-93BD-6A7D069EA818}" dt="2026-04-29T19:16:29.225" v="20" actId="47"/>
        <pc:sldMkLst>
          <pc:docMk/>
          <pc:sldMk cId="2442527569" sldId="361"/>
        </pc:sldMkLst>
      </pc:sldChg>
      <pc:sldChg chg="del">
        <pc:chgData name="Jaime Leonardo Barbosa Perez" userId="3291dd0c0a50a603" providerId="LiveId" clId="{215C019D-1D12-470B-93BD-6A7D069EA818}" dt="2026-04-29T19:16:32.074" v="21" actId="47"/>
        <pc:sldMkLst>
          <pc:docMk/>
          <pc:sldMk cId="548467126" sldId="362"/>
        </pc:sldMkLst>
      </pc:sldChg>
      <pc:sldChg chg="del">
        <pc:chgData name="Jaime Leonardo Barbosa Perez" userId="3291dd0c0a50a603" providerId="LiveId" clId="{215C019D-1D12-470B-93BD-6A7D069EA818}" dt="2026-04-29T19:16:33.235" v="22" actId="47"/>
        <pc:sldMkLst>
          <pc:docMk/>
          <pc:sldMk cId="1311927382" sldId="36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586297690" sldId="36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348338773" sldId="36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947932540" sldId="375"/>
        </pc:sldMkLst>
      </pc:sldChg>
      <pc:sldChg chg="modSp mod">
        <pc:chgData name="Jaime Leonardo Barbosa Perez" userId="3291dd0c0a50a603" providerId="LiveId" clId="{215C019D-1D12-470B-93BD-6A7D069EA818}" dt="2026-04-29T19:17:42.406" v="24" actId="1076"/>
        <pc:sldMkLst>
          <pc:docMk/>
          <pc:sldMk cId="882609348" sldId="397"/>
        </pc:sldMkLst>
        <pc:picChg chg="mod">
          <ac:chgData name="Jaime Leonardo Barbosa Perez" userId="3291dd0c0a50a603" providerId="LiveId" clId="{215C019D-1D12-470B-93BD-6A7D069EA818}" dt="2026-04-29T19:17:42.406" v="24" actId="1076"/>
          <ac:picMkLst>
            <pc:docMk/>
            <pc:sldMk cId="882609348" sldId="397"/>
            <ac:picMk id="154627" creationId="{00000000-0000-0000-0000-000000000000}"/>
          </ac:picMkLst>
        </pc:picChg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124347347" sldId="39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54257340" sldId="40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74070708" sldId="40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885708351" sldId="40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888871458" sldId="40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579800854" sldId="40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43338075" sldId="40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355096338" sldId="41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9976560" sldId="41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4250324" sldId="41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563206083" sldId="41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626222571" sldId="41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70781276" sldId="41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359457984" sldId="41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99599950" sldId="41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58979399" sldId="41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161557179" sldId="41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414982652" sldId="42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987085766" sldId="42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34013998" sldId="42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97546424" sldId="42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505681711" sldId="42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249033889" sldId="42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768483221" sldId="43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80714425" sldId="43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351206057" sldId="43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66026681" sldId="43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529062316" sldId="43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585268982" sldId="43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58646789" sldId="43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50065721" sldId="43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025134017" sldId="43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86423886" sldId="44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266584029" sldId="44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741836365" sldId="44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223692631" sldId="44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58156327" sldId="44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04349069" sldId="44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540252739" sldId="44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421729736" sldId="44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5029906" sldId="44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226870685" sldId="45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879797878" sldId="45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927549" sldId="45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7557916" sldId="45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118263097" sldId="45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905175952" sldId="45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56586495" sldId="45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172746031" sldId="45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893576958" sldId="45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765139757" sldId="45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148115879" sldId="46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171037467" sldId="46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674769569" sldId="46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984991100" sldId="46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69875792" sldId="46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002266139" sldId="46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000437884" sldId="46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122687646" sldId="46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285245812" sldId="46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2326229" sldId="46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787905752" sldId="47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12018478" sldId="47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94001487" sldId="47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833471765" sldId="47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200519862" sldId="47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306837112" sldId="47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052951813" sldId="47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573581788" sldId="47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456916047" sldId="47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632316642" sldId="47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199759741" sldId="48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938611014" sldId="48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649711917" sldId="48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614633637" sldId="48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302386796" sldId="48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167779036" sldId="48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64782197" sldId="48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461759023" sldId="48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630993116" sldId="48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457228804" sldId="48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712293479" sldId="49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11838335" sldId="49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20328836" sldId="49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38737488" sldId="49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702990079" sldId="49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67062128" sldId="49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139509183" sldId="49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906803936" sldId="49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29542585" sldId="50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771768656" sldId="50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661998545" sldId="50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178376728" sldId="50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543396571" sldId="50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356525890" sldId="50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511373299" sldId="50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920998545" sldId="50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91107545" sldId="50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354464932" sldId="50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361183213" sldId="51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830925694" sldId="51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0192439" sldId="51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146684510" sldId="51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20301810" sldId="51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38011300" sldId="51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34747265" sldId="51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18947136" sldId="51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683885397" sldId="51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705609414" sldId="51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297513596" sldId="52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39953389" sldId="52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265126453" sldId="52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367172391" sldId="523"/>
        </pc:sldMkLst>
      </pc:sldChg>
      <pc:sldChg chg="del">
        <pc:chgData name="Jaime Leonardo Barbosa Perez" userId="3291dd0c0a50a603" providerId="LiveId" clId="{215C019D-1D12-470B-93BD-6A7D069EA818}" dt="2026-04-29T19:11:26.157" v="8" actId="47"/>
        <pc:sldMkLst>
          <pc:docMk/>
          <pc:sldMk cId="1220152384" sldId="52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278426478" sldId="52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775721772" sldId="53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661843729" sldId="53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044677695" sldId="53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568004768" sldId="53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514984535" sldId="53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795271553" sldId="53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703630712" sldId="53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53954678" sldId="53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520730185" sldId="538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867238423" sldId="53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698273593" sldId="540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104320473" sldId="54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2938029868" sldId="54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312818202" sldId="543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23577586" sldId="544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1296955" sldId="545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010185204" sldId="546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72240570" sldId="547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1996437785" sldId="549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3284925212" sldId="551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4060632040" sldId="552"/>
        </pc:sldMkLst>
      </pc:sldChg>
      <pc:sldChg chg="del">
        <pc:chgData name="Jaime Leonardo Barbosa Perez" userId="3291dd0c0a50a603" providerId="LiveId" clId="{215C019D-1D12-470B-93BD-6A7D069EA818}" dt="2026-04-29T19:17:30.630" v="23" actId="47"/>
        <pc:sldMkLst>
          <pc:docMk/>
          <pc:sldMk cId="890869243" sldId="553"/>
        </pc:sldMkLst>
      </pc:sldChg>
      <pc:sldChg chg="del">
        <pc:chgData name="Jaime Leonardo Barbosa Perez" userId="3291dd0c0a50a603" providerId="LiveId" clId="{215C019D-1D12-470B-93BD-6A7D069EA818}" dt="2026-04-29T19:11:50.210" v="9" actId="47"/>
        <pc:sldMkLst>
          <pc:docMk/>
          <pc:sldMk cId="2932763127" sldId="55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56550" y="0"/>
            <a:ext cx="3026833" cy="465797"/>
          </a:xfrm>
          <a:prstGeom prst="rect">
            <a:avLst/>
          </a:prstGeom>
        </p:spPr>
        <p:txBody>
          <a:bodyPr vert="horz" lIns="92958" tIns="46479" rIns="92958" bIns="46479" rtlCol="0"/>
          <a:lstStyle>
            <a:lvl1pPr algn="r">
              <a:defRPr sz="1200"/>
            </a:lvl1pPr>
          </a:lstStyle>
          <a:p>
            <a:fld id="{FAA9CDD0-40B0-47B1-9CA1-D888E0B9FE01}" type="datetimeFigureOut">
              <a:rPr lang="es-CO" smtClean="0"/>
              <a:t>29/04/2026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06438" y="1160463"/>
            <a:ext cx="5572125" cy="3133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58" tIns="46479" rIns="92958" bIns="46479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98500" y="4467781"/>
            <a:ext cx="5588000" cy="3655457"/>
          </a:xfrm>
          <a:prstGeom prst="rect">
            <a:avLst/>
          </a:prstGeom>
        </p:spPr>
        <p:txBody>
          <a:bodyPr vert="horz" lIns="92958" tIns="46479" rIns="92958" bIns="46479" rtlCol="0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56550" y="8817904"/>
            <a:ext cx="3026833" cy="465796"/>
          </a:xfrm>
          <a:prstGeom prst="rect">
            <a:avLst/>
          </a:prstGeom>
        </p:spPr>
        <p:txBody>
          <a:bodyPr vert="horz" lIns="92958" tIns="46479" rIns="92958" bIns="46479" rtlCol="0" anchor="b"/>
          <a:lstStyle>
            <a:lvl1pPr algn="r">
              <a:defRPr sz="1200"/>
            </a:lvl1pPr>
          </a:lstStyle>
          <a:p>
            <a:fld id="{71468045-0AD8-46AF-81C9-4754479C94B8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38830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Editar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4/29/2026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Dd_YBQI-gU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youtube.com/watch?v=1ijFove42Kw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emf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image" Target="../media/image38.wmf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3 CuadroTexto"/>
          <p:cNvSpPr txBox="1">
            <a:spLocks noChangeArrowheads="1"/>
          </p:cNvSpPr>
          <p:nvPr/>
        </p:nvSpPr>
        <p:spPr bwMode="auto">
          <a:xfrm>
            <a:off x="525710" y="1896629"/>
            <a:ext cx="11140579" cy="4031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sz="3200" dirty="0"/>
              <a:t>Jaime Leonardo Barbosa Pérez</a:t>
            </a:r>
          </a:p>
          <a:p>
            <a:pPr algn="ctr" eaLnBrk="1" hangingPunct="1"/>
            <a:r>
              <a:rPr lang="es-CO" sz="3200" dirty="0"/>
              <a:t>Ingeniero Mecánico</a:t>
            </a:r>
          </a:p>
          <a:p>
            <a:pPr algn="ctr" eaLnBrk="1" hangingPunct="1"/>
            <a:r>
              <a:rPr lang="es-CO" sz="3200" dirty="0"/>
              <a:t>Especialista en diseño mecánico</a:t>
            </a:r>
          </a:p>
          <a:p>
            <a:pPr algn="ctr" eaLnBrk="1" hangingPunct="1"/>
            <a:r>
              <a:rPr lang="es-CO" sz="3200" dirty="0"/>
              <a:t>Magister en ingeniería</a:t>
            </a:r>
          </a:p>
          <a:p>
            <a:pPr algn="ctr" eaLnBrk="1" hangingPunct="1"/>
            <a:r>
              <a:rPr lang="es-ES" sz="3200" dirty="0"/>
              <a:t>P</a:t>
            </a:r>
            <a:r>
              <a:rPr lang="es-CO" sz="3200" dirty="0" err="1"/>
              <a:t>rofesor</a:t>
            </a:r>
            <a:r>
              <a:rPr lang="es-CO" sz="3200" dirty="0"/>
              <a:t> Titular Escuela de Ciencias Aplicadas e Ingeniería</a:t>
            </a:r>
          </a:p>
          <a:p>
            <a:pPr algn="ctr" eaLnBrk="1" hangingPunct="1"/>
            <a:r>
              <a:rPr lang="es-ES" sz="3200" dirty="0"/>
              <a:t>Jefe </a:t>
            </a:r>
            <a:r>
              <a:rPr lang="es-CO" sz="3200" dirty="0"/>
              <a:t>Pregrado Ingeniería Mecánica</a:t>
            </a:r>
          </a:p>
          <a:p>
            <a:pPr algn="ctr" eaLnBrk="1" hangingPunct="1"/>
            <a:r>
              <a:rPr lang="es-CO" sz="3200" dirty="0"/>
              <a:t>Director de Ingeniería Programa Kratos</a:t>
            </a:r>
            <a:endParaRPr lang="es-ES" sz="3200" dirty="0"/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90439" y="284669"/>
            <a:ext cx="7640279" cy="1248296"/>
          </a:xfrm>
          <a:prstGeom prst="rect">
            <a:avLst/>
          </a:prstGeom>
        </p:spPr>
        <p:txBody>
          <a:bodyPr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 cap="all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s-CO" sz="2400" dirty="0"/>
              <a:t>ACCIONES CORRECTIVO MODIFICATIVAS 2026-1</a:t>
            </a:r>
            <a:br>
              <a:rPr lang="es-CO" sz="2400" dirty="0"/>
            </a:br>
            <a:r>
              <a:rPr lang="es-CO" sz="2400" dirty="0"/>
              <a:t>ESPECIALIZACIÓN EN MANTENIMIENTO INDUSTRIAL</a:t>
            </a:r>
          </a:p>
          <a:p>
            <a:r>
              <a:rPr lang="es-ES" sz="2400" dirty="0"/>
              <a:t>L</a:t>
            </a:r>
            <a:r>
              <a:rPr lang="es-CO" sz="2400" dirty="0" err="1"/>
              <a:t>Ínea</a:t>
            </a:r>
            <a:r>
              <a:rPr lang="es-CO" sz="2400" dirty="0"/>
              <a:t> de énfasis en mantenimiento industrial</a:t>
            </a: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95"/>
          <a:stretch/>
        </p:blipFill>
        <p:spPr>
          <a:xfrm>
            <a:off x="10535986" y="189780"/>
            <a:ext cx="1502665" cy="67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5985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1"/>
          <p:cNvSpPr txBox="1">
            <a:spLocks noChangeArrowheads="1"/>
          </p:cNvSpPr>
          <p:nvPr/>
        </p:nvSpPr>
        <p:spPr bwMode="auto">
          <a:xfrm>
            <a:off x="1057835" y="2928934"/>
            <a:ext cx="10399059" cy="310854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s-MX" sz="2800" dirty="0"/>
              <a:t>Estudiar, analizar y evaluar aspectos que permitan desarrollar o mejorar un plan de acciones de mantenimiento basadas en reparaciones (acciones correctivas o modificativas) en máquinas, equipos o servicios, para restablecer (recuperar) sus funciones o mejorar su mantenibilidad, disponibilidad o confiabilidad al mínimo costo posible.</a:t>
            </a:r>
          </a:p>
        </p:txBody>
      </p:sp>
      <p:sp>
        <p:nvSpPr>
          <p:cNvPr id="29699" name="Rectangle 2"/>
          <p:cNvSpPr txBox="1">
            <a:spLocks noChangeArrowheads="1"/>
          </p:cNvSpPr>
          <p:nvPr/>
        </p:nvSpPr>
        <p:spPr bwMode="auto">
          <a:xfrm>
            <a:off x="1421405" y="1065205"/>
            <a:ext cx="9506309" cy="591067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es-MX" sz="3200" b="1" dirty="0"/>
              <a:t>ACCIONES CORRECTIVO - MODIFICATIVAS</a:t>
            </a:r>
          </a:p>
        </p:txBody>
      </p:sp>
      <p:sp>
        <p:nvSpPr>
          <p:cNvPr id="29700" name="Rectangle 2"/>
          <p:cNvSpPr txBox="1">
            <a:spLocks noChangeArrowheads="1"/>
          </p:cNvSpPr>
          <p:nvPr/>
        </p:nvSpPr>
        <p:spPr bwMode="auto">
          <a:xfrm>
            <a:off x="3095603" y="1932240"/>
            <a:ext cx="6157912" cy="7207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es-MX" sz="3200" b="1" dirty="0"/>
              <a:t>OBJETIVO GENERAL</a:t>
            </a:r>
          </a:p>
        </p:txBody>
      </p:sp>
    </p:spTree>
    <p:extLst>
      <p:ext uri="{BB962C8B-B14F-4D97-AF65-F5344CB8AC3E}">
        <p14:creationId xmlns:p14="http://schemas.microsoft.com/office/powerpoint/2010/main" val="1055501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Box 21"/>
          <p:cNvSpPr txBox="1">
            <a:spLocks noChangeArrowheads="1"/>
          </p:cNvSpPr>
          <p:nvPr/>
        </p:nvSpPr>
        <p:spPr bwMode="auto">
          <a:xfrm>
            <a:off x="871269" y="1889093"/>
            <a:ext cx="10731846" cy="37548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Detectar las fallas en los equipos.</a:t>
            </a:r>
          </a:p>
          <a:p>
            <a:pPr algn="just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Identificar (reconocer) las condiciones y características previas a la falla (condiciones estándares de funcionalidad) del elemento o máquina.</a:t>
            </a:r>
          </a:p>
          <a:p>
            <a:pPr algn="just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Decidir el tipo de reparación a realizar.</a:t>
            </a:r>
          </a:p>
          <a:p>
            <a:pPr algn="just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2800" dirty="0"/>
              <a:t>Establecer procedimientos y ejecutar la reparación (acción correctiva o modificativa).</a:t>
            </a:r>
          </a:p>
        </p:txBody>
      </p:sp>
      <p:sp>
        <p:nvSpPr>
          <p:cNvPr id="30723" name="Rectangle 2"/>
          <p:cNvSpPr txBox="1">
            <a:spLocks noChangeArrowheads="1"/>
          </p:cNvSpPr>
          <p:nvPr/>
        </p:nvSpPr>
        <p:spPr bwMode="auto">
          <a:xfrm>
            <a:off x="3381356" y="928671"/>
            <a:ext cx="5602300" cy="7207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es-MX" sz="3200" dirty="0"/>
              <a:t>OBJETIVOS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1429974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1"/>
          <p:cNvSpPr txBox="1">
            <a:spLocks noChangeArrowheads="1"/>
          </p:cNvSpPr>
          <p:nvPr/>
        </p:nvSpPr>
        <p:spPr bwMode="auto">
          <a:xfrm>
            <a:off x="1071353" y="1857623"/>
            <a:ext cx="10049294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514350" indent="-514350" algn="just">
              <a:spcBef>
                <a:spcPct val="50000"/>
              </a:spcBef>
            </a:pPr>
            <a:r>
              <a:rPr lang="es-MX" sz="2200" dirty="0"/>
              <a:t>1.  Conceptos generales. Agrupación por niveles. Nivel de acciones posibles a realizar y su impacto en los 3 elementos básicos: producción, máquinas y mantenimiento.</a:t>
            </a:r>
          </a:p>
          <a:p>
            <a:pPr marL="514350" indent="-514350" algn="just">
              <a:spcBef>
                <a:spcPct val="50000"/>
              </a:spcBef>
            </a:pPr>
            <a:r>
              <a:rPr lang="es-MX" sz="2200" dirty="0"/>
              <a:t>2.  Análisis de la máquina y sus componentes. Diferenciación de sus partes. Clasificación y especificación de los diferentes componentes. Análisis sistémico o por subsistemas.</a:t>
            </a:r>
          </a:p>
          <a:p>
            <a:pPr marL="514350" indent="-514350" algn="just">
              <a:spcBef>
                <a:spcPct val="50000"/>
              </a:spcBef>
            </a:pPr>
            <a:r>
              <a:rPr lang="es-MX" sz="2200" dirty="0"/>
              <a:t>3.  Conceptos básicos de: Funciones, fallas, identificación de fallas, consecuencias de las fallas.</a:t>
            </a:r>
          </a:p>
          <a:p>
            <a:pPr marL="514350" indent="-514350" algn="just">
              <a:spcBef>
                <a:spcPct val="50000"/>
              </a:spcBef>
            </a:pPr>
            <a:r>
              <a:rPr lang="es-MX" sz="2200" dirty="0"/>
              <a:t>	Clasificación de las posibles acciones a realizar.</a:t>
            </a:r>
          </a:p>
          <a:p>
            <a:pPr marL="514350" indent="-514350" algn="just">
              <a:spcBef>
                <a:spcPct val="50000"/>
              </a:spcBef>
            </a:pPr>
            <a:endParaRPr lang="es-MX" sz="2200" dirty="0"/>
          </a:p>
        </p:txBody>
      </p:sp>
      <p:sp>
        <p:nvSpPr>
          <p:cNvPr id="31747" name="Rectangle 2"/>
          <p:cNvSpPr txBox="1">
            <a:spLocks noChangeArrowheads="1"/>
          </p:cNvSpPr>
          <p:nvPr/>
        </p:nvSpPr>
        <p:spPr bwMode="auto">
          <a:xfrm>
            <a:off x="4295800" y="764705"/>
            <a:ext cx="3714776" cy="7207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es-MX" sz="3600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21997780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ext Box 21"/>
          <p:cNvSpPr txBox="1">
            <a:spLocks noChangeArrowheads="1"/>
          </p:cNvSpPr>
          <p:nvPr/>
        </p:nvSpPr>
        <p:spPr bwMode="auto">
          <a:xfrm>
            <a:off x="1416168" y="2253527"/>
            <a:ext cx="9359661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es-MX" sz="2400" dirty="0"/>
              <a:t>4. Conceptualización de acciones correctivas y acciones modificativas. Aspectos a considerar para decidir el tipo de acción a ejecutar según aspectos técnicos, económicos, de seguridad, ambientales, etc.</a:t>
            </a:r>
          </a:p>
          <a:p>
            <a:pPr algn="just" eaLnBrk="1" hangingPunct="1">
              <a:spcBef>
                <a:spcPct val="50000"/>
              </a:spcBef>
            </a:pPr>
            <a:r>
              <a:rPr lang="es-MX" sz="2400" dirty="0"/>
              <a:t>5. Aspectos a considerar en el desarrollo de procedimientos para ejecutar acciones correctivas y acciones modificativas.</a:t>
            </a:r>
          </a:p>
        </p:txBody>
      </p:sp>
      <p:sp>
        <p:nvSpPr>
          <p:cNvPr id="32771" name="Rectangle 2"/>
          <p:cNvSpPr txBox="1">
            <a:spLocks noChangeArrowheads="1"/>
          </p:cNvSpPr>
          <p:nvPr/>
        </p:nvSpPr>
        <p:spPr bwMode="auto">
          <a:xfrm>
            <a:off x="3917140" y="1110177"/>
            <a:ext cx="4357718" cy="7207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spcBef>
                <a:spcPct val="50000"/>
              </a:spcBef>
            </a:pPr>
            <a:r>
              <a:rPr lang="es-MX" sz="3600" dirty="0"/>
              <a:t>CONTENIDO</a:t>
            </a:r>
          </a:p>
        </p:txBody>
      </p:sp>
    </p:spTree>
    <p:extLst>
      <p:ext uri="{BB962C8B-B14F-4D97-AF65-F5344CB8AC3E}">
        <p14:creationId xmlns:p14="http://schemas.microsoft.com/office/powerpoint/2010/main" val="33275813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1 CuadroTexto"/>
          <p:cNvSpPr txBox="1">
            <a:spLocks noChangeArrowheads="1"/>
          </p:cNvSpPr>
          <p:nvPr/>
        </p:nvSpPr>
        <p:spPr bwMode="auto">
          <a:xfrm>
            <a:off x="4497508" y="1269346"/>
            <a:ext cx="3030538" cy="64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eaLnBrk="1" hangingPunct="1"/>
            <a:r>
              <a:rPr lang="es-CO" sz="3600" dirty="0"/>
              <a:t>ACTIVIDAD 1</a:t>
            </a:r>
          </a:p>
        </p:txBody>
      </p:sp>
      <p:sp>
        <p:nvSpPr>
          <p:cNvPr id="13315" name="2 CuadroTexto"/>
          <p:cNvSpPr txBox="1">
            <a:spLocks noChangeArrowheads="1"/>
          </p:cNvSpPr>
          <p:nvPr/>
        </p:nvSpPr>
        <p:spPr bwMode="auto">
          <a:xfrm>
            <a:off x="2340464" y="2348776"/>
            <a:ext cx="7344626" cy="26776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eaLnBrk="1" hangingPunct="1"/>
            <a:r>
              <a:rPr lang="es-CO" sz="2400" dirty="0"/>
              <a:t>Que es el mantenimiento?</a:t>
            </a:r>
          </a:p>
          <a:p>
            <a:pPr algn="ctr" eaLnBrk="1" hangingPunct="1"/>
            <a:endParaRPr lang="es-CO" sz="2400" dirty="0"/>
          </a:p>
          <a:p>
            <a:pPr algn="ctr" eaLnBrk="1" hangingPunct="1"/>
            <a:r>
              <a:rPr lang="es-CO" sz="2400" dirty="0"/>
              <a:t>Cual es el objetivo del mantenimiento?</a:t>
            </a:r>
          </a:p>
          <a:p>
            <a:pPr algn="ctr" eaLnBrk="1" hangingPunct="1"/>
            <a:endParaRPr lang="es-CO" sz="2400" dirty="0"/>
          </a:p>
          <a:p>
            <a:pPr algn="ctr"/>
            <a:r>
              <a:rPr lang="es-ES" sz="2400" dirty="0"/>
              <a:t>C</a:t>
            </a:r>
            <a:r>
              <a:rPr lang="es-CO" sz="2400" dirty="0" err="1"/>
              <a:t>uales</a:t>
            </a:r>
            <a:r>
              <a:rPr lang="es-CO" sz="2400" dirty="0"/>
              <a:t> son los niveles del mantenimiento?</a:t>
            </a:r>
          </a:p>
          <a:p>
            <a:pPr algn="ctr"/>
            <a:endParaRPr lang="es-ES" sz="2400" dirty="0"/>
          </a:p>
          <a:p>
            <a:pPr algn="ctr" eaLnBrk="1" hangingPunct="1"/>
            <a:r>
              <a:rPr lang="es-ES" sz="2400" dirty="0"/>
              <a:t>C</a:t>
            </a:r>
            <a:r>
              <a:rPr lang="es-CO" sz="2400" dirty="0" err="1"/>
              <a:t>omo</a:t>
            </a:r>
            <a:r>
              <a:rPr lang="es-CO" sz="2400" dirty="0"/>
              <a:t> ha sido la evolución del mantenimiento?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210623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1 Rectángulo"/>
          <p:cNvSpPr>
            <a:spLocks noChangeArrowheads="1"/>
          </p:cNvSpPr>
          <p:nvPr/>
        </p:nvSpPr>
        <p:spPr bwMode="auto">
          <a:xfrm>
            <a:off x="1565842" y="1429998"/>
            <a:ext cx="9060316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/>
            <a:r>
              <a:rPr lang="es-CO" sz="2400" dirty="0"/>
              <a:t>¿Que es el mantenimiento?: Es la acción que permite intervenir un equipo o sistema para su correcto funcionamiento.</a:t>
            </a:r>
          </a:p>
          <a:p>
            <a:pPr algn="just" eaLnBrk="1" hangingPunct="1"/>
            <a:endParaRPr lang="es-CO" sz="2400" dirty="0"/>
          </a:p>
          <a:p>
            <a:pPr algn="just" eaLnBrk="1" hangingPunct="1"/>
            <a:r>
              <a:rPr lang="es-ES" sz="2400" dirty="0"/>
              <a:t>¿Cuál es el objetivo del mantenimiento?</a:t>
            </a:r>
            <a:r>
              <a:rPr lang="es-CO" sz="2400" dirty="0"/>
              <a:t>: Garantizar y mantener el principio para el cual fue diseñado un equipo, máquina, sistema o servicio.</a:t>
            </a:r>
          </a:p>
          <a:p>
            <a:pPr algn="just" eaLnBrk="1" hangingPunct="1"/>
            <a:endParaRPr lang="es-ES" sz="2400" dirty="0"/>
          </a:p>
          <a:p>
            <a:pPr algn="just" eaLnBrk="1" hangingPunct="1"/>
            <a:r>
              <a:rPr lang="es-ES" sz="2400" dirty="0"/>
              <a:t>Los niveles del mantenimiento son: Estratégico, Táctico, Operacional e Instrumental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36382477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8D14BEDC-7FE5-463A-9CB7-47BB062B204D}"/>
              </a:ext>
            </a:extLst>
          </p:cNvPr>
          <p:cNvSpPr txBox="1"/>
          <p:nvPr/>
        </p:nvSpPr>
        <p:spPr>
          <a:xfrm>
            <a:off x="2832679" y="842135"/>
            <a:ext cx="6845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i="1" dirty="0"/>
              <a:t>EVOLUCIÓN DEL MANTENIMIENTO</a:t>
            </a:r>
            <a:endParaRPr lang="es-CO" sz="3200" b="1" i="1" dirty="0"/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637CF395-B001-45CB-AFFC-3DDA0209E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6032244"/>
              </p:ext>
            </p:extLst>
          </p:nvPr>
        </p:nvGraphicFramePr>
        <p:xfrm>
          <a:off x="922642" y="1830680"/>
          <a:ext cx="10665489" cy="377038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71357">
                  <a:extLst>
                    <a:ext uri="{9D8B030D-6E8A-4147-A177-3AD203B41FA5}">
                      <a16:colId xmlns:a16="http://schemas.microsoft.com/office/drawing/2014/main" val="2955432365"/>
                    </a:ext>
                  </a:extLst>
                </a:gridCol>
                <a:gridCol w="1572349">
                  <a:extLst>
                    <a:ext uri="{9D8B030D-6E8A-4147-A177-3AD203B41FA5}">
                      <a16:colId xmlns:a16="http://schemas.microsoft.com/office/drawing/2014/main" val="2574491307"/>
                    </a:ext>
                  </a:extLst>
                </a:gridCol>
                <a:gridCol w="2126036">
                  <a:extLst>
                    <a:ext uri="{9D8B030D-6E8A-4147-A177-3AD203B41FA5}">
                      <a16:colId xmlns:a16="http://schemas.microsoft.com/office/drawing/2014/main" val="930518044"/>
                    </a:ext>
                  </a:extLst>
                </a:gridCol>
                <a:gridCol w="2065249">
                  <a:extLst>
                    <a:ext uri="{9D8B030D-6E8A-4147-A177-3AD203B41FA5}">
                      <a16:colId xmlns:a16="http://schemas.microsoft.com/office/drawing/2014/main" val="2996563479"/>
                    </a:ext>
                  </a:extLst>
                </a:gridCol>
                <a:gridCol w="2065249">
                  <a:extLst>
                    <a:ext uri="{9D8B030D-6E8A-4147-A177-3AD203B41FA5}">
                      <a16:colId xmlns:a16="http://schemas.microsoft.com/office/drawing/2014/main" val="4045414958"/>
                    </a:ext>
                  </a:extLst>
                </a:gridCol>
                <a:gridCol w="2065249">
                  <a:extLst>
                    <a:ext uri="{9D8B030D-6E8A-4147-A177-3AD203B41FA5}">
                      <a16:colId xmlns:a16="http://schemas.microsoft.com/office/drawing/2014/main" val="1732923504"/>
                    </a:ext>
                  </a:extLst>
                </a:gridCol>
              </a:tblGrid>
              <a:tr h="33781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Etapa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sucede aproximadamente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Producción -Manufactura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BR" sz="1200" u="none" strike="noStrike" dirty="0">
                          <a:effectLst/>
                        </a:rPr>
                        <a:t>Mantenimento e Ingeniería de Fábricas</a:t>
                      </a:r>
                      <a:endParaRPr lang="pt-BR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9844214"/>
                  </a:ext>
                </a:extLst>
              </a:tr>
              <a:tr h="33781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Orientación hacia ….....</a:t>
                      </a:r>
                      <a:endParaRPr lang="es-CO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Necesidad específica</a:t>
                      </a:r>
                      <a:endParaRPr lang="es-CO" sz="12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Orientación hacia ….....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Necesidad específica</a:t>
                      </a:r>
                      <a:endParaRPr lang="es-CO" sz="1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6136458"/>
                  </a:ext>
                </a:extLst>
              </a:tr>
              <a:tr h="507986"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u="none" strike="noStrike" dirty="0">
                          <a:effectLst/>
                        </a:rPr>
                        <a:t>I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u="none" strike="noStrike" dirty="0">
                          <a:effectLst/>
                        </a:rPr>
                        <a:t>antes de 1950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u="none" strike="noStrike" dirty="0">
                          <a:effectLst/>
                        </a:rPr>
                        <a:t>el producto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u="none" strike="noStrike" dirty="0">
                          <a:effectLst/>
                        </a:rPr>
                        <a:t>generar el producto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u="none" strike="noStrike" dirty="0">
                          <a:effectLst/>
                        </a:rPr>
                        <a:t>hacer acciones correctivas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u="none" strike="noStrike" dirty="0">
                          <a:effectLst/>
                        </a:rPr>
                        <a:t>reparar fallos imprevistos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4877467"/>
                  </a:ext>
                </a:extLst>
              </a:tr>
              <a:tr h="50798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II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entre 1950 y 1959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la producción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s-CO" sz="1200" u="none" strike="noStrike" dirty="0">
                          <a:effectLst/>
                        </a:rPr>
                        <a:t>estructurar un sistema productivo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aplicar acciones planeadas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</a:rPr>
                        <a:t>prevenir, predecir y reparar fallos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17632849"/>
                  </a:ext>
                </a:extLst>
              </a:tr>
              <a:tr h="50798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III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entre 1960 y 1980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la productividad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optimizar la producción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establecer tácticas de mantenimiento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</a:rPr>
                        <a:t>gestar y operar bajo un sistema organizado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097679"/>
                  </a:ext>
                </a:extLst>
              </a:tr>
              <a:tr h="50798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IV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entre 1981 y 1995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la competitividad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mejorar índices mundiales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implementar una estrategia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</a:rPr>
                        <a:t>medir costos, CMD, comparar, predecir, índices, etc.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31753874"/>
                  </a:ext>
                </a:extLst>
              </a:tr>
              <a:tr h="50798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V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entre 1996 y 2003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la innovación tecnológica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>
                          <a:effectLst/>
                        </a:rPr>
                        <a:t>hacer la producción ajustada a la demanda</a:t>
                      </a:r>
                      <a:endParaRPr lang="es-ES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 dirty="0">
                          <a:effectLst/>
                        </a:rPr>
                        <a:t>desarrollar habilidades y competencias</a:t>
                      </a:r>
                      <a:endParaRPr lang="es-CO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</a:rPr>
                        <a:t>aplicar ciencia y tecnología de punta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3006571"/>
                  </a:ext>
                </a:extLst>
              </a:tr>
              <a:tr h="507986"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VI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CO" sz="1200" u="none" strike="noStrike">
                          <a:effectLst/>
                        </a:rPr>
                        <a:t>desde 2004</a:t>
                      </a:r>
                      <a:endParaRPr lang="es-CO" sz="12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s-ES" sz="1200" u="none" strike="noStrike" dirty="0">
                          <a:effectLst/>
                        </a:rPr>
                        <a:t>Gestión y operación de activos en forma coordinada entre ambas dependencias. Anticiparse a las necesidades de los equipos y de los clientes de mantenimientos - predicciones - pronósticos - gestión de activos</a:t>
                      </a:r>
                      <a:endParaRPr lang="es-ES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192" marR="6192" marT="6192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2179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7644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1FC3D3A9-49A7-7F17-9BA4-24A124DB6D2F}"/>
              </a:ext>
            </a:extLst>
          </p:cNvPr>
          <p:cNvSpPr txBox="1"/>
          <p:nvPr/>
        </p:nvSpPr>
        <p:spPr>
          <a:xfrm>
            <a:off x="2841643" y="653876"/>
            <a:ext cx="684541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3200" b="1" i="1" dirty="0"/>
              <a:t>EVOLUCIÓN DEL MANTENIMIENTO</a:t>
            </a:r>
            <a:endParaRPr lang="es-CO" sz="3200" b="1" i="1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8AF247A-64B0-BC1C-B0C7-D24C44D71F61}"/>
              </a:ext>
            </a:extLst>
          </p:cNvPr>
          <p:cNvSpPr txBox="1"/>
          <p:nvPr/>
        </p:nvSpPr>
        <p:spPr>
          <a:xfrm>
            <a:off x="1578483" y="1481916"/>
            <a:ext cx="916123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s-ES" b="0" i="0" dirty="0">
                <a:solidFill>
                  <a:srgbClr val="4C455F"/>
                </a:solidFill>
                <a:effectLst/>
                <a:latin typeface="Red Hat Text"/>
              </a:rPr>
              <a:t>En la actualidad se implementan los softwares de mantenimiento y las tácticas más innovadoras para facilitar todas las operaciones en las máquinas y servicios.</a:t>
            </a:r>
          </a:p>
          <a:p>
            <a:pPr algn="l" fontAlgn="base"/>
            <a:endParaRPr lang="es-ES" dirty="0">
              <a:solidFill>
                <a:srgbClr val="4C455F"/>
              </a:solidFill>
              <a:latin typeface="Red Hat Text"/>
            </a:endParaRPr>
          </a:p>
          <a:p>
            <a:pPr algn="l" fontAlgn="base"/>
            <a:r>
              <a:rPr lang="es-ES" b="0" i="0" dirty="0">
                <a:solidFill>
                  <a:srgbClr val="4C455F"/>
                </a:solidFill>
                <a:effectLst/>
                <a:latin typeface="Red Hat Text"/>
              </a:rPr>
              <a:t>Los </a:t>
            </a: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Software de Mantenimiento</a:t>
            </a:r>
            <a:r>
              <a:rPr lang="es-ES" b="0" i="0" dirty="0">
                <a:solidFill>
                  <a:srgbClr val="4C455F"/>
                </a:solidFill>
                <a:effectLst/>
                <a:latin typeface="Red Hat Text"/>
              </a:rPr>
              <a:t> te permitirán:</a:t>
            </a:r>
          </a:p>
          <a:p>
            <a:pPr algn="l" fontAlgn="base"/>
            <a:endParaRPr lang="es-ES" b="0" i="0" dirty="0">
              <a:solidFill>
                <a:srgbClr val="4C455F"/>
              </a:solidFill>
              <a:effectLst/>
              <a:latin typeface="Red Hat Tex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 Gestionar los procesos de mantenimiento en tu negocio.</a:t>
            </a:r>
            <a:endParaRPr lang="es-ES" b="0" i="0" dirty="0">
              <a:solidFill>
                <a:srgbClr val="4C455F"/>
              </a:solidFill>
              <a:effectLst/>
              <a:latin typeface="Red Hat Tex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 Asignar tareas.</a:t>
            </a:r>
            <a:endParaRPr lang="es-ES" b="0" i="0" dirty="0">
              <a:solidFill>
                <a:srgbClr val="4C455F"/>
              </a:solidFill>
              <a:effectLst/>
              <a:latin typeface="Red Hat Tex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 Realizar monitoreos y diagnósticos</a:t>
            </a:r>
            <a:r>
              <a:rPr lang="es-ES" b="0" i="0" dirty="0">
                <a:solidFill>
                  <a:srgbClr val="4C455F"/>
                </a:solidFill>
                <a:effectLst/>
                <a:latin typeface="Red Hat Text"/>
              </a:rPr>
              <a:t> </a:t>
            </a: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de fallas.</a:t>
            </a:r>
            <a:endParaRPr lang="es-ES" b="0" i="0" dirty="0">
              <a:solidFill>
                <a:srgbClr val="4C455F"/>
              </a:solidFill>
              <a:effectLst/>
              <a:latin typeface="Red Hat Tex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 Identificar las prácticas óptimas.</a:t>
            </a:r>
            <a:endParaRPr lang="es-ES" b="0" i="0" dirty="0">
              <a:solidFill>
                <a:srgbClr val="4C455F"/>
              </a:solidFill>
              <a:effectLst/>
              <a:latin typeface="Red Hat Tex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 Mejorar el desempeño a futuro.</a:t>
            </a:r>
            <a:endParaRPr lang="es-ES" b="0" i="0" dirty="0">
              <a:solidFill>
                <a:srgbClr val="4C455F"/>
              </a:solidFill>
              <a:effectLst/>
              <a:latin typeface="Red Hat Tex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 Controlar el cumplimiento de tareas asignadas.</a:t>
            </a:r>
            <a:endParaRPr lang="es-ES" b="0" i="0" dirty="0">
              <a:solidFill>
                <a:srgbClr val="4C455F"/>
              </a:solidFill>
              <a:effectLst/>
              <a:latin typeface="Red Hat Tex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 Registrar el historial de fallas.</a:t>
            </a:r>
            <a:endParaRPr lang="es-ES" b="0" i="0" dirty="0">
              <a:solidFill>
                <a:srgbClr val="4C455F"/>
              </a:solidFill>
              <a:effectLst/>
              <a:latin typeface="Red Hat Text"/>
            </a:endParaRPr>
          </a:p>
          <a:p>
            <a:pPr algn="l" fontAlgn="base">
              <a:buFont typeface="Arial" panose="020B0604020202020204" pitchFamily="34" charset="0"/>
              <a:buChar char="•"/>
            </a:pPr>
            <a:r>
              <a:rPr lang="es-ES" b="1" i="0" dirty="0">
                <a:solidFill>
                  <a:srgbClr val="4C455F"/>
                </a:solidFill>
                <a:effectLst/>
                <a:latin typeface="Red Hat Text"/>
              </a:rPr>
              <a:t> Generar informes con resultados de la inspección.</a:t>
            </a:r>
          </a:p>
        </p:txBody>
      </p:sp>
    </p:spTree>
    <p:extLst>
      <p:ext uri="{BB962C8B-B14F-4D97-AF65-F5344CB8AC3E}">
        <p14:creationId xmlns:p14="http://schemas.microsoft.com/office/powerpoint/2010/main" val="16233865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0"/>
          <p:cNvSpPr>
            <a:spLocks noChangeArrowheads="1"/>
          </p:cNvSpPr>
          <p:nvPr/>
        </p:nvSpPr>
        <p:spPr bwMode="auto">
          <a:xfrm>
            <a:off x="2829333" y="298542"/>
            <a:ext cx="6673870" cy="3516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400" b="1" dirty="0"/>
              <a:t>Sistema integral de mantenimiento</a:t>
            </a:r>
            <a:endParaRPr lang="es-ES" sz="2400" b="1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8F4794CF-9500-47AF-801D-9316673CB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4624" y="865833"/>
            <a:ext cx="6662751" cy="5465428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2AC21171-9A0C-4E9A-86E5-27CBD4DF9C2A}"/>
              </a:ext>
            </a:extLst>
          </p:cNvPr>
          <p:cNvSpPr txBox="1"/>
          <p:nvPr/>
        </p:nvSpPr>
        <p:spPr>
          <a:xfrm>
            <a:off x="5809744" y="6436347"/>
            <a:ext cx="36934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000" dirty="0"/>
              <a:t>Mantenimiento industrial efectivo, Alberto Mora G, 2020</a:t>
            </a:r>
            <a:endParaRPr lang="es-CO" sz="1000" dirty="0"/>
          </a:p>
        </p:txBody>
      </p:sp>
    </p:spTree>
    <p:extLst>
      <p:ext uri="{BB962C8B-B14F-4D97-AF65-F5344CB8AC3E}">
        <p14:creationId xmlns:p14="http://schemas.microsoft.com/office/powerpoint/2010/main" val="17223602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458" name="30 Conector recto"/>
          <p:cNvCxnSpPr>
            <a:cxnSpLocks noChangeShapeType="1"/>
          </p:cNvCxnSpPr>
          <p:nvPr/>
        </p:nvCxnSpPr>
        <p:spPr bwMode="auto">
          <a:xfrm rot="5400000">
            <a:off x="5923806" y="1416025"/>
            <a:ext cx="539750" cy="12700"/>
          </a:xfrm>
          <a:prstGeom prst="line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459" name="21 Conector recto de flecha"/>
          <p:cNvCxnSpPr>
            <a:cxnSpLocks noChangeShapeType="1"/>
            <a:endCxn id="10248" idx="0"/>
          </p:cNvCxnSpPr>
          <p:nvPr/>
        </p:nvCxnSpPr>
        <p:spPr bwMode="auto">
          <a:xfrm rot="10800000" flipV="1">
            <a:off x="5158631" y="2158976"/>
            <a:ext cx="1049338" cy="811213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460" name="17 Conector recto de flecha"/>
          <p:cNvCxnSpPr>
            <a:cxnSpLocks noChangeShapeType="1"/>
          </p:cNvCxnSpPr>
          <p:nvPr/>
        </p:nvCxnSpPr>
        <p:spPr bwMode="auto">
          <a:xfrm>
            <a:off x="6157170" y="2120876"/>
            <a:ext cx="998537" cy="854075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19461" name="5 Conector recto de flecha"/>
          <p:cNvCxnSpPr>
            <a:cxnSpLocks noChangeShapeType="1"/>
          </p:cNvCxnSpPr>
          <p:nvPr/>
        </p:nvCxnSpPr>
        <p:spPr bwMode="auto">
          <a:xfrm rot="10800000" flipV="1">
            <a:off x="3002807" y="2152625"/>
            <a:ext cx="2339975" cy="79533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46" name="8 Elipse"/>
          <p:cNvSpPr>
            <a:spLocks noChangeArrowheads="1"/>
          </p:cNvSpPr>
          <p:nvPr/>
        </p:nvSpPr>
        <p:spPr bwMode="auto">
          <a:xfrm>
            <a:off x="4799857" y="620688"/>
            <a:ext cx="2786063" cy="571500"/>
          </a:xfrm>
          <a:prstGeom prst="ellipse">
            <a:avLst/>
          </a:prstGeom>
          <a:solidFill>
            <a:schemeClr val="bg2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endParaRPr lang="es-CO" b="1" dirty="0"/>
          </a:p>
        </p:txBody>
      </p:sp>
      <p:sp>
        <p:nvSpPr>
          <p:cNvPr id="10247" name="15 Rectángulo redondeado"/>
          <p:cNvSpPr>
            <a:spLocks noChangeArrowheads="1"/>
          </p:cNvSpPr>
          <p:nvPr/>
        </p:nvSpPr>
        <p:spPr bwMode="auto">
          <a:xfrm>
            <a:off x="2156669" y="2974950"/>
            <a:ext cx="1854200" cy="278923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endParaRPr lang="es-CO" sz="1400" b="1" u="sng" dirty="0"/>
          </a:p>
          <a:p>
            <a:pPr algn="ctr" eaLnBrk="1" hangingPunct="1">
              <a:defRPr/>
            </a:pPr>
            <a:r>
              <a:rPr lang="es-CO" sz="1400" b="1" dirty="0"/>
              <a:t>Comprende las metodologías que se desarrollan con el fin de evaluar el éxito alcanzado con las tácticas desarrollas. Establecimiento de índices comparativos: </a:t>
            </a:r>
            <a:br>
              <a:rPr lang="es-CO" sz="1400" b="1" dirty="0"/>
            </a:br>
            <a:r>
              <a:rPr lang="es-CO" sz="1400" b="1" dirty="0"/>
              <a:t>C- M-D</a:t>
            </a:r>
          </a:p>
        </p:txBody>
      </p:sp>
      <p:sp>
        <p:nvSpPr>
          <p:cNvPr id="10248" name="19 Rectángulo redondeado"/>
          <p:cNvSpPr>
            <a:spLocks noChangeArrowheads="1"/>
          </p:cNvSpPr>
          <p:nvPr/>
        </p:nvSpPr>
        <p:spPr bwMode="auto">
          <a:xfrm>
            <a:off x="4231531" y="2970189"/>
            <a:ext cx="1854200" cy="2790825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endParaRPr lang="es-CO" sz="1400" b="1" u="sng" dirty="0"/>
          </a:p>
          <a:p>
            <a:pPr algn="ctr" eaLnBrk="1" hangingPunct="1">
              <a:defRPr/>
            </a:pPr>
            <a:r>
              <a:rPr lang="es-CO" sz="1400" b="1" dirty="0"/>
              <a:t>Comprende el conjunto de acciones que se aplican a un caso específico (un equipo o conjunto de ellos) para alcanzar un fin: TPM, RCM…</a:t>
            </a:r>
          </a:p>
        </p:txBody>
      </p:sp>
      <p:sp>
        <p:nvSpPr>
          <p:cNvPr id="10249" name="20 Rectángulo redondeado"/>
          <p:cNvSpPr>
            <a:spLocks noChangeArrowheads="1"/>
          </p:cNvSpPr>
          <p:nvPr/>
        </p:nvSpPr>
        <p:spPr bwMode="auto">
          <a:xfrm>
            <a:off x="6300044" y="2974950"/>
            <a:ext cx="1854200" cy="2789238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endParaRPr lang="es-CO" sz="1400" b="1"/>
          </a:p>
          <a:p>
            <a:pPr algn="ctr" eaLnBrk="1" hangingPunct="1"/>
            <a:r>
              <a:rPr lang="es-CO" sz="1400" b="1"/>
              <a:t>Comprende todas las acciones posibles a realizar (</a:t>
            </a:r>
            <a:r>
              <a:rPr lang="es-CO" sz="1600" b="1">
                <a:solidFill>
                  <a:srgbClr val="C00000"/>
                </a:solidFill>
              </a:rPr>
              <a:t>antes de la falla o después de la falla</a:t>
            </a:r>
            <a:r>
              <a:rPr lang="es-CO" sz="1400" b="1"/>
              <a:t>)</a:t>
            </a:r>
          </a:p>
        </p:txBody>
      </p:sp>
      <p:sp>
        <p:nvSpPr>
          <p:cNvPr id="10250" name="21 Rectángulo redondeado"/>
          <p:cNvSpPr>
            <a:spLocks noChangeArrowheads="1"/>
          </p:cNvSpPr>
          <p:nvPr/>
        </p:nvSpPr>
        <p:spPr bwMode="auto">
          <a:xfrm>
            <a:off x="8300294" y="2974950"/>
            <a:ext cx="1854200" cy="278923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endParaRPr lang="es-CO" sz="1400" b="1" dirty="0"/>
          </a:p>
          <a:p>
            <a:pPr algn="ctr" eaLnBrk="1" hangingPunct="1">
              <a:defRPr/>
            </a:pPr>
            <a:r>
              <a:rPr lang="es-CO" sz="1400" b="1" dirty="0"/>
              <a:t>Comprende todos los elementos reales requeridos para que exista mantenimiento: información, recursos, máquinas…</a:t>
            </a:r>
          </a:p>
        </p:txBody>
      </p:sp>
      <p:cxnSp>
        <p:nvCxnSpPr>
          <p:cNvPr id="19467" name="5 Conector recto de flecha"/>
          <p:cNvCxnSpPr>
            <a:cxnSpLocks noChangeShapeType="1"/>
          </p:cNvCxnSpPr>
          <p:nvPr/>
        </p:nvCxnSpPr>
        <p:spPr bwMode="auto">
          <a:xfrm>
            <a:off x="7063632" y="2143100"/>
            <a:ext cx="2125663" cy="801688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52" name="14 Rectángulo redondeado"/>
          <p:cNvSpPr>
            <a:spLocks noChangeArrowheads="1"/>
          </p:cNvSpPr>
          <p:nvPr/>
        </p:nvSpPr>
        <p:spPr bwMode="auto">
          <a:xfrm>
            <a:off x="5276107" y="1692251"/>
            <a:ext cx="1857375" cy="500063"/>
          </a:xfrm>
          <a:prstGeom prst="roundRect">
            <a:avLst>
              <a:gd name="adj" fmla="val 16667"/>
            </a:avLst>
          </a:prstGeom>
          <a:solidFill>
            <a:schemeClr val="tx2">
              <a:lumMod val="60000"/>
              <a:lumOff val="40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es-CO" sz="1400" b="1" dirty="0"/>
              <a:t>NIVELES</a:t>
            </a:r>
          </a:p>
        </p:txBody>
      </p:sp>
      <p:sp>
        <p:nvSpPr>
          <p:cNvPr id="19469" name="24 CuadroTexto"/>
          <p:cNvSpPr txBox="1">
            <a:spLocks noChangeArrowheads="1"/>
          </p:cNvSpPr>
          <p:nvPr/>
        </p:nvSpPr>
        <p:spPr bwMode="auto">
          <a:xfrm>
            <a:off x="1942357" y="3027338"/>
            <a:ext cx="8215313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s-CO" sz="1400" b="1" dirty="0"/>
              <a:t>          </a:t>
            </a:r>
            <a:r>
              <a:rPr lang="es-CO" sz="1400" b="1" u="sng" dirty="0"/>
              <a:t>ESTRATÉGICO</a:t>
            </a:r>
            <a:r>
              <a:rPr lang="es-CO" sz="1400" b="1" dirty="0"/>
              <a:t>                     </a:t>
            </a:r>
            <a:r>
              <a:rPr lang="es-CO" sz="1400" b="1" u="sng" dirty="0"/>
              <a:t>TÁCTICO</a:t>
            </a:r>
            <a:r>
              <a:rPr lang="es-CO" sz="1400" b="1" dirty="0"/>
              <a:t>                       </a:t>
            </a:r>
            <a:r>
              <a:rPr lang="es-CO" sz="1400" b="1" u="sng" dirty="0"/>
              <a:t>OPERACIONAL</a:t>
            </a:r>
            <a:r>
              <a:rPr lang="es-CO" sz="1400" b="1" dirty="0"/>
              <a:t>                 </a:t>
            </a:r>
            <a:r>
              <a:rPr lang="es-CO" sz="1400" b="1" u="sng" dirty="0"/>
              <a:t>INSTRUMENTAL</a:t>
            </a:r>
          </a:p>
        </p:txBody>
      </p:sp>
      <p:sp>
        <p:nvSpPr>
          <p:cNvPr id="19470" name="12 CuadroTexto"/>
          <p:cNvSpPr txBox="1">
            <a:spLocks noChangeArrowheads="1"/>
          </p:cNvSpPr>
          <p:nvPr/>
        </p:nvSpPr>
        <p:spPr bwMode="auto">
          <a:xfrm>
            <a:off x="5158631" y="620635"/>
            <a:ext cx="21431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s-CO" sz="1600" b="1" dirty="0"/>
              <a:t>MANTENIMIENTO</a:t>
            </a:r>
            <a:br>
              <a:rPr lang="es-CO" sz="1600" b="1" dirty="0"/>
            </a:br>
            <a:r>
              <a:rPr lang="es-CO" sz="1600" b="1" dirty="0"/>
              <a:t>INDUSTRIAL</a:t>
            </a:r>
          </a:p>
        </p:txBody>
      </p:sp>
    </p:spTree>
    <p:extLst>
      <p:ext uri="{BB962C8B-B14F-4D97-AF65-F5344CB8AC3E}">
        <p14:creationId xmlns:p14="http://schemas.microsoft.com/office/powerpoint/2010/main" val="295801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50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50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49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49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0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02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248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248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2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247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247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2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7" grpId="0" build="allAtOnce" animBg="1"/>
      <p:bldP spid="10248" grpId="0" build="allAtOnce" animBg="1"/>
      <p:bldP spid="10249" grpId="0" build="allAtOnce" animBg="1"/>
      <p:bldP spid="10250" grpId="0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70 Conector recto"/>
          <p:cNvCxnSpPr>
            <a:cxnSpLocks noChangeShapeType="1"/>
          </p:cNvCxnSpPr>
          <p:nvPr/>
        </p:nvCxnSpPr>
        <p:spPr bwMode="auto">
          <a:xfrm rot="10800000" flipV="1">
            <a:off x="8273059" y="4377284"/>
            <a:ext cx="598487" cy="296862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3" name="92 Conector recto"/>
          <p:cNvCxnSpPr>
            <a:cxnSpLocks noChangeShapeType="1"/>
          </p:cNvCxnSpPr>
          <p:nvPr/>
        </p:nvCxnSpPr>
        <p:spPr bwMode="auto">
          <a:xfrm rot="5400000">
            <a:off x="5700514" y="4473327"/>
            <a:ext cx="819150" cy="661988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70" name="69 Conector recto"/>
          <p:cNvCxnSpPr>
            <a:cxnSpLocks noChangeShapeType="1"/>
          </p:cNvCxnSpPr>
          <p:nvPr/>
        </p:nvCxnSpPr>
        <p:spPr bwMode="auto">
          <a:xfrm>
            <a:off x="8868370" y="4407447"/>
            <a:ext cx="533400" cy="2571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6" name="65 Conector recto"/>
          <p:cNvCxnSpPr>
            <a:cxnSpLocks noChangeShapeType="1"/>
          </p:cNvCxnSpPr>
          <p:nvPr/>
        </p:nvCxnSpPr>
        <p:spPr bwMode="auto">
          <a:xfrm>
            <a:off x="8141295" y="3407322"/>
            <a:ext cx="717550" cy="46672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7" name="66 Conector recto"/>
          <p:cNvCxnSpPr>
            <a:cxnSpLocks noChangeShapeType="1"/>
          </p:cNvCxnSpPr>
          <p:nvPr/>
        </p:nvCxnSpPr>
        <p:spPr bwMode="auto">
          <a:xfrm rot="10800000" flipV="1">
            <a:off x="6425209" y="3407322"/>
            <a:ext cx="1716087" cy="4603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487" name="67 Conector recto"/>
          <p:cNvCxnSpPr>
            <a:cxnSpLocks noChangeShapeType="1"/>
          </p:cNvCxnSpPr>
          <p:nvPr/>
        </p:nvCxnSpPr>
        <p:spPr bwMode="auto">
          <a:xfrm rot="5400000">
            <a:off x="7882533" y="2651672"/>
            <a:ext cx="503238" cy="142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92" name="91 Conector recto"/>
          <p:cNvCxnSpPr>
            <a:cxnSpLocks noChangeShapeType="1"/>
          </p:cNvCxnSpPr>
          <p:nvPr/>
        </p:nvCxnSpPr>
        <p:spPr bwMode="auto">
          <a:xfrm rot="16200000" flipH="1">
            <a:off x="6342658" y="4458247"/>
            <a:ext cx="827088" cy="63023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61" name="60 Conector recto"/>
          <p:cNvCxnSpPr>
            <a:cxnSpLocks noChangeShapeType="1"/>
          </p:cNvCxnSpPr>
          <p:nvPr/>
        </p:nvCxnSpPr>
        <p:spPr bwMode="auto">
          <a:xfrm>
            <a:off x="3366096" y="3394622"/>
            <a:ext cx="773113" cy="5111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58" name="57 Conector recto"/>
          <p:cNvCxnSpPr>
            <a:cxnSpLocks noChangeShapeType="1"/>
          </p:cNvCxnSpPr>
          <p:nvPr/>
        </p:nvCxnSpPr>
        <p:spPr bwMode="auto">
          <a:xfrm rot="10800000" flipV="1">
            <a:off x="2564409" y="3394622"/>
            <a:ext cx="801687" cy="473075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cxnSp>
        <p:nvCxnSpPr>
          <p:cNvPr id="20491" name="5 Conector recto de flecha"/>
          <p:cNvCxnSpPr>
            <a:cxnSpLocks noChangeShapeType="1"/>
          </p:cNvCxnSpPr>
          <p:nvPr/>
        </p:nvCxnSpPr>
        <p:spPr bwMode="auto">
          <a:xfrm rot="10800000" flipV="1">
            <a:off x="3291484" y="1321346"/>
            <a:ext cx="2789237" cy="59055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47" name="15 Rectángulo redondeado"/>
          <p:cNvSpPr>
            <a:spLocks noChangeArrowheads="1"/>
          </p:cNvSpPr>
          <p:nvPr/>
        </p:nvSpPr>
        <p:spPr bwMode="auto">
          <a:xfrm>
            <a:off x="2438995" y="1938885"/>
            <a:ext cx="1854200" cy="50323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es-CO" sz="1400" b="1" dirty="0"/>
              <a:t>ANTES DE LA FALLA</a:t>
            </a:r>
          </a:p>
        </p:txBody>
      </p:sp>
      <p:cxnSp>
        <p:nvCxnSpPr>
          <p:cNvPr id="20493" name="5 Conector recto de flecha"/>
          <p:cNvCxnSpPr>
            <a:cxnSpLocks noChangeShapeType="1"/>
          </p:cNvCxnSpPr>
          <p:nvPr/>
        </p:nvCxnSpPr>
        <p:spPr bwMode="auto">
          <a:xfrm>
            <a:off x="6036271" y="1323574"/>
            <a:ext cx="2070100" cy="584200"/>
          </a:xfrm>
          <a:prstGeom prst="straightConnector1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10252" name="14 Rectángulo redondeado"/>
          <p:cNvSpPr>
            <a:spLocks noChangeArrowheads="1"/>
          </p:cNvSpPr>
          <p:nvPr/>
        </p:nvSpPr>
        <p:spPr bwMode="auto">
          <a:xfrm>
            <a:off x="4367808" y="692696"/>
            <a:ext cx="3429000" cy="642938"/>
          </a:xfrm>
          <a:prstGeom prst="roundRect">
            <a:avLst>
              <a:gd name="adj" fmla="val 16667"/>
            </a:avLst>
          </a:prstGeom>
          <a:solidFill>
            <a:schemeClr val="bg2">
              <a:lumMod val="75000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es-CO" b="1" dirty="0"/>
              <a:t>NIVEL OPERACIONAL</a:t>
            </a:r>
          </a:p>
          <a:p>
            <a:pPr algn="ctr" eaLnBrk="1" hangingPunct="1">
              <a:defRPr/>
            </a:pPr>
            <a:r>
              <a:rPr lang="es-CO" b="1" dirty="0"/>
              <a:t>Posibles acciones a ejecutar</a:t>
            </a:r>
          </a:p>
        </p:txBody>
      </p:sp>
      <p:sp>
        <p:nvSpPr>
          <p:cNvPr id="28" name="15 Rectángulo redondeado"/>
          <p:cNvSpPr>
            <a:spLocks noChangeArrowheads="1"/>
          </p:cNvSpPr>
          <p:nvPr/>
        </p:nvSpPr>
        <p:spPr bwMode="auto">
          <a:xfrm>
            <a:off x="2445345" y="2907260"/>
            <a:ext cx="1854200" cy="50323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es-CO" sz="1400" b="1" dirty="0"/>
              <a:t>MANTENIMIENTO</a:t>
            </a:r>
          </a:p>
        </p:txBody>
      </p:sp>
      <p:sp>
        <p:nvSpPr>
          <p:cNvPr id="30" name="15 Rectángulo redondeado"/>
          <p:cNvSpPr>
            <a:spLocks noChangeArrowheads="1"/>
          </p:cNvSpPr>
          <p:nvPr/>
        </p:nvSpPr>
        <p:spPr bwMode="auto">
          <a:xfrm>
            <a:off x="1867495" y="3907385"/>
            <a:ext cx="1428750" cy="503237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es-CO" sz="1400" b="1" dirty="0"/>
              <a:t>ACCIONES PREVENTIVAS</a:t>
            </a:r>
          </a:p>
        </p:txBody>
      </p:sp>
      <p:sp>
        <p:nvSpPr>
          <p:cNvPr id="31" name="15 Rectángulo redondeado"/>
          <p:cNvSpPr>
            <a:spLocks noChangeArrowheads="1"/>
          </p:cNvSpPr>
          <p:nvPr/>
        </p:nvSpPr>
        <p:spPr bwMode="auto">
          <a:xfrm>
            <a:off x="3439120" y="3918496"/>
            <a:ext cx="1428750" cy="503238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>
              <a:defRPr/>
            </a:pPr>
            <a:r>
              <a:rPr lang="es-CO" sz="1400" b="1" dirty="0"/>
              <a:t>ACCIONES PREDICTIVAS</a:t>
            </a:r>
          </a:p>
        </p:txBody>
      </p:sp>
      <p:cxnSp>
        <p:nvCxnSpPr>
          <p:cNvPr id="20498" name="56 Conector recto"/>
          <p:cNvCxnSpPr>
            <a:cxnSpLocks noChangeShapeType="1"/>
            <a:stCxn id="10247" idx="2"/>
            <a:endCxn id="28" idx="0"/>
          </p:cNvCxnSpPr>
          <p:nvPr/>
        </p:nvCxnSpPr>
        <p:spPr bwMode="auto">
          <a:xfrm rot="5400000">
            <a:off x="3122415" y="2671516"/>
            <a:ext cx="473075" cy="14287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 type="triangle" w="med" len="med"/>
          </a:ln>
        </p:spPr>
      </p:cxnSp>
      <p:sp>
        <p:nvSpPr>
          <p:cNvPr id="38" name="15 Rectángulo redondeado"/>
          <p:cNvSpPr>
            <a:spLocks noChangeArrowheads="1"/>
          </p:cNvSpPr>
          <p:nvPr/>
        </p:nvSpPr>
        <p:spPr bwMode="auto">
          <a:xfrm>
            <a:off x="7725371" y="4693196"/>
            <a:ext cx="1071563" cy="357188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s-CO" sz="1400" b="1"/>
              <a:t>REDISEÑO</a:t>
            </a:r>
          </a:p>
        </p:txBody>
      </p:sp>
      <p:sp>
        <p:nvSpPr>
          <p:cNvPr id="20500" name="15 Rectángulo redondeado"/>
          <p:cNvSpPr>
            <a:spLocks noChangeArrowheads="1"/>
          </p:cNvSpPr>
          <p:nvPr/>
        </p:nvSpPr>
        <p:spPr bwMode="auto">
          <a:xfrm>
            <a:off x="7228483" y="1930946"/>
            <a:ext cx="1854200" cy="503238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s-CO" sz="1400" b="1"/>
              <a:t>DESPUÉS DE LA FALLA</a:t>
            </a:r>
          </a:p>
        </p:txBody>
      </p:sp>
      <p:sp>
        <p:nvSpPr>
          <p:cNvPr id="20501" name="15 Rectángulo redondeado"/>
          <p:cNvSpPr>
            <a:spLocks noChangeArrowheads="1"/>
          </p:cNvSpPr>
          <p:nvPr/>
        </p:nvSpPr>
        <p:spPr bwMode="auto">
          <a:xfrm>
            <a:off x="7236420" y="2915196"/>
            <a:ext cx="1854200" cy="503238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s-CO" sz="1400" b="1"/>
              <a:t>REPARACIONES</a:t>
            </a:r>
          </a:p>
        </p:txBody>
      </p:sp>
      <p:sp>
        <p:nvSpPr>
          <p:cNvPr id="32" name="15 Rectángulo redondeado"/>
          <p:cNvSpPr>
            <a:spLocks noChangeArrowheads="1"/>
          </p:cNvSpPr>
          <p:nvPr/>
        </p:nvSpPr>
        <p:spPr bwMode="auto">
          <a:xfrm>
            <a:off x="5653683" y="3912146"/>
            <a:ext cx="1547812" cy="503238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s-CO" sz="1400" b="1"/>
              <a:t>ACCIONES CORRECTIVAS</a:t>
            </a:r>
          </a:p>
        </p:txBody>
      </p:sp>
      <p:sp>
        <p:nvSpPr>
          <p:cNvPr id="35" name="15 Rectángulo redondeado"/>
          <p:cNvSpPr>
            <a:spLocks noChangeArrowheads="1"/>
          </p:cNvSpPr>
          <p:nvPr/>
        </p:nvSpPr>
        <p:spPr bwMode="auto">
          <a:xfrm>
            <a:off x="6414096" y="5226597"/>
            <a:ext cx="1357313" cy="823913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s-CO" sz="1400" b="1"/>
              <a:t>REPARACIÓN CORRECTA Y DEFINITIVA</a:t>
            </a:r>
          </a:p>
        </p:txBody>
      </p:sp>
      <p:sp>
        <p:nvSpPr>
          <p:cNvPr id="33" name="15 Rectángulo redondeado"/>
          <p:cNvSpPr>
            <a:spLocks noChangeArrowheads="1"/>
          </p:cNvSpPr>
          <p:nvPr/>
        </p:nvSpPr>
        <p:spPr bwMode="auto">
          <a:xfrm>
            <a:off x="8082558" y="3907385"/>
            <a:ext cx="1547812" cy="503237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s-CO" sz="1400" b="1"/>
              <a:t>ACCIONES MODIFICATIVAS</a:t>
            </a:r>
          </a:p>
        </p:txBody>
      </p:sp>
      <p:sp>
        <p:nvSpPr>
          <p:cNvPr id="36" name="15 Rectángulo redondeado"/>
          <p:cNvSpPr>
            <a:spLocks noChangeArrowheads="1"/>
          </p:cNvSpPr>
          <p:nvPr/>
        </p:nvSpPr>
        <p:spPr bwMode="auto">
          <a:xfrm>
            <a:off x="4939308" y="5226597"/>
            <a:ext cx="1365250" cy="823913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s-CO" sz="1400" b="1"/>
              <a:t>REPARACIÓN PROVISIONAL (DESVARE)</a:t>
            </a:r>
          </a:p>
        </p:txBody>
      </p:sp>
      <p:sp>
        <p:nvSpPr>
          <p:cNvPr id="37" name="15 Rectángulo redondeado"/>
          <p:cNvSpPr>
            <a:spLocks noChangeArrowheads="1"/>
          </p:cNvSpPr>
          <p:nvPr/>
        </p:nvSpPr>
        <p:spPr bwMode="auto">
          <a:xfrm>
            <a:off x="8868371" y="4693196"/>
            <a:ext cx="1071563" cy="357188"/>
          </a:xfrm>
          <a:prstGeom prst="roundRect">
            <a:avLst>
              <a:gd name="adj" fmla="val 16667"/>
            </a:avLst>
          </a:prstGeom>
          <a:solidFill>
            <a:srgbClr val="F7B47D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 anchorCtr="1"/>
          <a:lstStyle/>
          <a:p>
            <a:pPr algn="ctr" eaLnBrk="1" hangingPunct="1"/>
            <a:r>
              <a:rPr lang="es-CO" sz="1400" b="1"/>
              <a:t>MEJORA</a:t>
            </a:r>
          </a:p>
        </p:txBody>
      </p:sp>
    </p:spTree>
    <p:extLst>
      <p:ext uri="{BB962C8B-B14F-4D97-AF65-F5344CB8AC3E}">
        <p14:creationId xmlns:p14="http://schemas.microsoft.com/office/powerpoint/2010/main" val="78880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8" grpId="0" animBg="1"/>
      <p:bldP spid="32" grpId="0" animBg="1"/>
      <p:bldP spid="35" grpId="0" animBg="1"/>
      <p:bldP spid="33" grpId="0" animBg="1"/>
      <p:bldP spid="36" grpId="0" animBg="1"/>
      <p:bldP spid="3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655740" y="2709501"/>
            <a:ext cx="10880520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0363" indent="-360363" algn="ctr">
              <a:defRPr/>
            </a:pP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Que es una máquina?</a:t>
            </a:r>
          </a:p>
          <a:p>
            <a:pPr marL="360363" indent="-360363" algn="ctr">
              <a:defRPr/>
            </a:pPr>
            <a:endParaRPr lang="es-ES" sz="3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60363" indent="-360363" algn="ctr">
              <a:defRPr/>
            </a:pP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Clasificación de las funciones en las máquinas?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345781" y="1428751"/>
            <a:ext cx="3500438" cy="7207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s-MX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ACTIVIDAD 2</a:t>
            </a:r>
          </a:p>
        </p:txBody>
      </p:sp>
    </p:spTree>
    <p:extLst>
      <p:ext uri="{BB962C8B-B14F-4D97-AF65-F5344CB8AC3E}">
        <p14:creationId xmlns:p14="http://schemas.microsoft.com/office/powerpoint/2010/main" val="1908580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ChangeArrowheads="1"/>
          </p:cNvSpPr>
          <p:nvPr/>
        </p:nvSpPr>
        <p:spPr bwMode="auto">
          <a:xfrm>
            <a:off x="1549424" y="1417331"/>
            <a:ext cx="9557847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/>
            <a:r>
              <a:rPr lang="es-MX" sz="2400" dirty="0"/>
              <a:t>Combinación de elementos o partes y mecanismos o dispositivos que transforman, transmiten o emplean energía, carga o movimiento para unos propósitos específicos (</a:t>
            </a:r>
            <a:r>
              <a:rPr lang="es-MX" sz="2400" i="1" dirty="0"/>
              <a:t>funciones</a:t>
            </a:r>
            <a:r>
              <a:rPr lang="es-MX" sz="2400" dirty="0"/>
              <a:t>).</a:t>
            </a:r>
            <a:endParaRPr lang="es-ES" sz="2400" dirty="0"/>
          </a:p>
        </p:txBody>
      </p:sp>
      <p:sp>
        <p:nvSpPr>
          <p:cNvPr id="36867" name="Rectangle 4"/>
          <p:cNvSpPr>
            <a:spLocks noChangeArrowheads="1"/>
          </p:cNvSpPr>
          <p:nvPr/>
        </p:nvSpPr>
        <p:spPr bwMode="auto">
          <a:xfrm>
            <a:off x="2602956" y="505418"/>
            <a:ext cx="6572268" cy="7647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000" b="1" dirty="0"/>
              <a:t>La máquina: definición</a:t>
            </a:r>
            <a:endParaRPr lang="es-ES" sz="4000" b="1" dirty="0"/>
          </a:p>
        </p:txBody>
      </p:sp>
      <p:pic>
        <p:nvPicPr>
          <p:cNvPr id="36868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27875" y="3281411"/>
            <a:ext cx="4322430" cy="32516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245131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818" name="2 Grupo"/>
          <p:cNvGrpSpPr>
            <a:grpSpLocks/>
          </p:cNvGrpSpPr>
          <p:nvPr/>
        </p:nvGrpSpPr>
        <p:grpSpPr bwMode="auto">
          <a:xfrm>
            <a:off x="2456481" y="572290"/>
            <a:ext cx="6351089" cy="5492080"/>
            <a:chOff x="1835134" y="1285860"/>
            <a:chExt cx="5594386" cy="5076840"/>
          </a:xfrm>
        </p:grpSpPr>
        <p:cxnSp>
          <p:nvCxnSpPr>
            <p:cNvPr id="34819" name="13 Conector recto de flecha"/>
            <p:cNvCxnSpPr>
              <a:cxnSpLocks noChangeShapeType="1"/>
            </p:cNvCxnSpPr>
            <p:nvPr/>
          </p:nvCxnSpPr>
          <p:spPr bwMode="auto">
            <a:xfrm rot="5400000">
              <a:off x="3032198" y="4752901"/>
              <a:ext cx="792000" cy="1587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none" w="lg" len="lg"/>
            </a:ln>
          </p:spPr>
        </p:cxnSp>
        <p:cxnSp>
          <p:nvCxnSpPr>
            <p:cNvPr id="34820" name="21 Conector recto de flecha"/>
            <p:cNvCxnSpPr>
              <a:cxnSpLocks noChangeShapeType="1"/>
            </p:cNvCxnSpPr>
            <p:nvPr/>
          </p:nvCxnSpPr>
          <p:spPr bwMode="auto">
            <a:xfrm rot="5400000">
              <a:off x="6498346" y="3144140"/>
              <a:ext cx="432000" cy="1588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none" w="lg" len="lg"/>
            </a:ln>
          </p:spPr>
        </p:cxnSp>
        <p:cxnSp>
          <p:nvCxnSpPr>
            <p:cNvPr id="34821" name="27 Conector recto de flecha"/>
            <p:cNvCxnSpPr>
              <a:cxnSpLocks noChangeShapeType="1"/>
            </p:cNvCxnSpPr>
            <p:nvPr/>
          </p:nvCxnSpPr>
          <p:spPr bwMode="auto">
            <a:xfrm flipH="1">
              <a:off x="3786190" y="4214813"/>
              <a:ext cx="648000" cy="1587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cxnSp>
          <p:nvCxnSpPr>
            <p:cNvPr id="34822" name="4 Conector recto de flecha"/>
            <p:cNvCxnSpPr>
              <a:cxnSpLocks noChangeShapeType="1"/>
            </p:cNvCxnSpPr>
            <p:nvPr/>
          </p:nvCxnSpPr>
          <p:spPr bwMode="auto">
            <a:xfrm rot="16200000" flipH="1">
              <a:off x="4723484" y="2080286"/>
              <a:ext cx="540000" cy="14287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sp>
          <p:nvSpPr>
            <p:cNvPr id="8" name="6 Rectángulo redondeado"/>
            <p:cNvSpPr>
              <a:spLocks noChangeArrowheads="1"/>
            </p:cNvSpPr>
            <p:nvPr/>
          </p:nvSpPr>
          <p:spPr bwMode="auto">
            <a:xfrm>
              <a:off x="4572002" y="2417763"/>
              <a:ext cx="855663" cy="296862"/>
            </a:xfrm>
            <a:prstGeom prst="roundRect">
              <a:avLst>
                <a:gd name="adj" fmla="val 16667"/>
              </a:avLst>
            </a:prstGeom>
            <a:gradFill flip="none" rotWithShape="0">
              <a:gsLst>
                <a:gs pos="27000">
                  <a:srgbClr val="AFCDFF">
                    <a:alpha val="65098"/>
                  </a:srgbClr>
                </a:gs>
                <a:gs pos="39999">
                  <a:srgbClr val="85C2FF">
                    <a:alpha val="12000"/>
                  </a:srgbClr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  <a:tileRect r="-100000" b="-100000"/>
            </a:gradFill>
            <a:ln w="31750" cap="flat" cmpd="sng" algn="ctr">
              <a:solidFill>
                <a:srgbClr val="272590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6200000">
                <a:srgbClr val="BDEEEF">
                  <a:alpha val="49804"/>
                </a:srgbClr>
              </a:inn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Funciones</a:t>
              </a:r>
            </a:p>
          </p:txBody>
        </p:sp>
        <p:sp>
          <p:nvSpPr>
            <p:cNvPr id="9" name="7 Rectángulo redondeado"/>
            <p:cNvSpPr>
              <a:spLocks noChangeArrowheads="1"/>
            </p:cNvSpPr>
            <p:nvPr/>
          </p:nvSpPr>
          <p:spPr bwMode="auto">
            <a:xfrm>
              <a:off x="6000752" y="2143117"/>
              <a:ext cx="1428768" cy="809634"/>
            </a:xfrm>
            <a:prstGeom prst="roundRect">
              <a:avLst>
                <a:gd name="adj" fmla="val 16667"/>
              </a:avLst>
            </a:prstGeom>
            <a:gradFill flip="none" rotWithShape="0">
              <a:gsLst>
                <a:gs pos="27000">
                  <a:srgbClr val="AFCDFF">
                    <a:alpha val="65098"/>
                  </a:srgbClr>
                </a:gs>
                <a:gs pos="39999">
                  <a:srgbClr val="85C2FF">
                    <a:alpha val="12000"/>
                  </a:srgbClr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  <a:tileRect r="-100000" b="-100000"/>
            </a:gradFill>
            <a:ln w="31750" cap="flat" cmpd="sng" algn="ctr">
              <a:solidFill>
                <a:srgbClr val="272590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6200000">
                <a:srgbClr val="BDEEEF">
                  <a:alpha val="49804"/>
                </a:srgbClr>
              </a:inn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es-CO" sz="1100" b="1" dirty="0"/>
                <a:t>ACCIONES</a:t>
              </a:r>
            </a:p>
            <a:p>
              <a:pPr algn="ctr" eaLnBrk="1" hangingPunct="1">
                <a:defRPr/>
              </a:pPr>
              <a:r>
                <a:rPr lang="es-CO" sz="1200" b="1" dirty="0">
                  <a:solidFill>
                    <a:srgbClr val="FF6200"/>
                  </a:solidFill>
                </a:rPr>
                <a:t>MANTENIMIENTO</a:t>
              </a:r>
            </a:p>
            <a:p>
              <a:pPr eaLnBrk="1" hangingPunct="1">
                <a:buFont typeface="Arial" charset="0"/>
                <a:buChar char="−"/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Preventivas</a:t>
              </a:r>
            </a:p>
            <a:p>
              <a:pPr eaLnBrk="1" hangingPunct="1">
                <a:buFont typeface="Arial" charset="0"/>
                <a:buChar char="−"/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Predictivas</a:t>
              </a:r>
            </a:p>
          </p:txBody>
        </p:sp>
        <p:cxnSp>
          <p:nvCxnSpPr>
            <p:cNvPr id="34825" name="12 Conector recto de flecha"/>
            <p:cNvCxnSpPr>
              <a:cxnSpLocks noChangeShapeType="1"/>
            </p:cNvCxnSpPr>
            <p:nvPr/>
          </p:nvCxnSpPr>
          <p:spPr bwMode="auto">
            <a:xfrm>
              <a:off x="2571736" y="2562225"/>
              <a:ext cx="1944000" cy="1588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cxnSp>
          <p:nvCxnSpPr>
            <p:cNvPr id="34826" name="13 Conector recto de flecha"/>
            <p:cNvCxnSpPr>
              <a:cxnSpLocks noChangeShapeType="1"/>
            </p:cNvCxnSpPr>
            <p:nvPr/>
          </p:nvCxnSpPr>
          <p:spPr bwMode="auto">
            <a:xfrm rot="5400000">
              <a:off x="754842" y="4361656"/>
              <a:ext cx="3635375" cy="1587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none" w="lg" len="lg"/>
            </a:ln>
          </p:spPr>
        </p:cxnSp>
        <p:cxnSp>
          <p:nvCxnSpPr>
            <p:cNvPr id="34827" name="14 Conector recto de flecha"/>
            <p:cNvCxnSpPr>
              <a:cxnSpLocks noChangeShapeType="1"/>
            </p:cNvCxnSpPr>
            <p:nvPr/>
          </p:nvCxnSpPr>
          <p:spPr bwMode="auto">
            <a:xfrm>
              <a:off x="2571736" y="6181725"/>
              <a:ext cx="1980000" cy="1588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none" w="lg" len="lg"/>
            </a:ln>
          </p:spPr>
        </p:cxnSp>
        <p:cxnSp>
          <p:nvCxnSpPr>
            <p:cNvPr id="34828" name="20 Conector recto de flecha"/>
            <p:cNvCxnSpPr>
              <a:cxnSpLocks noChangeShapeType="1"/>
            </p:cNvCxnSpPr>
            <p:nvPr/>
          </p:nvCxnSpPr>
          <p:spPr bwMode="auto">
            <a:xfrm rot="16200000" flipH="1">
              <a:off x="4777483" y="2923477"/>
              <a:ext cx="432000" cy="14287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cxnSp>
          <p:nvCxnSpPr>
            <p:cNvPr id="34829" name="22 Conector recto de flecha"/>
            <p:cNvCxnSpPr>
              <a:cxnSpLocks noChangeShapeType="1"/>
            </p:cNvCxnSpPr>
            <p:nvPr/>
          </p:nvCxnSpPr>
          <p:spPr bwMode="auto">
            <a:xfrm flipH="1">
              <a:off x="5349877" y="3355975"/>
              <a:ext cx="1368000" cy="1588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sp>
          <p:nvSpPr>
            <p:cNvPr id="15" name="23 Rectángulo redondeado"/>
            <p:cNvSpPr>
              <a:spLocks noChangeArrowheads="1"/>
            </p:cNvSpPr>
            <p:nvPr/>
          </p:nvSpPr>
          <p:spPr bwMode="auto">
            <a:xfrm>
              <a:off x="4681538" y="3179762"/>
              <a:ext cx="641350" cy="296863"/>
            </a:xfrm>
            <a:prstGeom prst="roundRect">
              <a:avLst>
                <a:gd name="adj" fmla="val 16667"/>
              </a:avLst>
            </a:prstGeom>
            <a:gradFill flip="none" rotWithShape="0">
              <a:gsLst>
                <a:gs pos="27000">
                  <a:srgbClr val="AFCDFF">
                    <a:alpha val="65098"/>
                  </a:srgbClr>
                </a:gs>
                <a:gs pos="39999">
                  <a:srgbClr val="85C2FF">
                    <a:alpha val="12000"/>
                  </a:srgbClr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  <a:tileRect r="-100000" b="-100000"/>
            </a:gradFill>
            <a:ln w="31750" cap="flat" cmpd="sng" algn="ctr">
              <a:solidFill>
                <a:srgbClr val="272590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6200000">
                <a:srgbClr val="BDEEEF">
                  <a:alpha val="49804"/>
                </a:srgbClr>
              </a:inn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Fallas</a:t>
              </a:r>
            </a:p>
          </p:txBody>
        </p:sp>
        <p:cxnSp>
          <p:nvCxnSpPr>
            <p:cNvPr id="34831" name="24 Conector recto de flecha"/>
            <p:cNvCxnSpPr>
              <a:cxnSpLocks noChangeShapeType="1"/>
            </p:cNvCxnSpPr>
            <p:nvPr/>
          </p:nvCxnSpPr>
          <p:spPr bwMode="auto">
            <a:xfrm rot="16200000" flipH="1">
              <a:off x="4737770" y="3763295"/>
              <a:ext cx="540000" cy="14288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sp>
          <p:nvSpPr>
            <p:cNvPr id="17" name="25 Rectángulo redondeado"/>
            <p:cNvSpPr>
              <a:spLocks noChangeArrowheads="1"/>
            </p:cNvSpPr>
            <p:nvPr/>
          </p:nvSpPr>
          <p:spPr bwMode="auto">
            <a:xfrm>
              <a:off x="4429127" y="4071938"/>
              <a:ext cx="1143000" cy="296862"/>
            </a:xfrm>
            <a:prstGeom prst="roundRect">
              <a:avLst>
                <a:gd name="adj" fmla="val 16667"/>
              </a:avLst>
            </a:prstGeom>
            <a:gradFill flip="none" rotWithShape="0">
              <a:gsLst>
                <a:gs pos="27000">
                  <a:srgbClr val="AFCDFF">
                    <a:alpha val="65098"/>
                  </a:srgbClr>
                </a:gs>
                <a:gs pos="39999">
                  <a:srgbClr val="85C2FF">
                    <a:alpha val="12000"/>
                  </a:srgbClr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  <a:tileRect r="-100000" b="-100000"/>
            </a:gradFill>
            <a:ln w="31750" cap="flat" cmpd="sng" algn="ctr">
              <a:solidFill>
                <a:srgbClr val="272590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6200000">
                <a:srgbClr val="BDEEEF">
                  <a:alpha val="49804"/>
                </a:srgbClr>
              </a:inn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Consecuencias</a:t>
              </a:r>
            </a:p>
          </p:txBody>
        </p:sp>
        <p:sp>
          <p:nvSpPr>
            <p:cNvPr id="18" name="26 Rectángulo redondeado"/>
            <p:cNvSpPr>
              <a:spLocks noChangeArrowheads="1"/>
            </p:cNvSpPr>
            <p:nvPr/>
          </p:nvSpPr>
          <p:spPr bwMode="auto">
            <a:xfrm>
              <a:off x="3071815" y="4071938"/>
              <a:ext cx="714375" cy="296862"/>
            </a:xfrm>
            <a:prstGeom prst="roundRect">
              <a:avLst>
                <a:gd name="adj" fmla="val 16667"/>
              </a:avLst>
            </a:prstGeom>
            <a:gradFill flip="none" rotWithShape="0">
              <a:gsLst>
                <a:gs pos="27000">
                  <a:srgbClr val="AFCDFF">
                    <a:alpha val="65098"/>
                  </a:srgbClr>
                </a:gs>
                <a:gs pos="39999">
                  <a:srgbClr val="85C2FF">
                    <a:alpha val="12000"/>
                  </a:srgbClr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  <a:tileRect r="-100000" b="-100000"/>
            </a:gradFill>
            <a:ln w="31750" cap="flat" cmpd="sng" algn="ctr">
              <a:solidFill>
                <a:srgbClr val="272590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6200000">
                <a:srgbClr val="BDEEEF">
                  <a:alpha val="49804"/>
                </a:srgbClr>
              </a:inn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Causas</a:t>
              </a:r>
            </a:p>
          </p:txBody>
        </p:sp>
        <p:cxnSp>
          <p:nvCxnSpPr>
            <p:cNvPr id="34834" name="28 Conector recto de flecha"/>
            <p:cNvCxnSpPr>
              <a:cxnSpLocks noChangeShapeType="1"/>
            </p:cNvCxnSpPr>
            <p:nvPr/>
          </p:nvCxnSpPr>
          <p:spPr bwMode="auto">
            <a:xfrm rot="16200000" flipH="1">
              <a:off x="4810127" y="4548188"/>
              <a:ext cx="395287" cy="14288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sp>
          <p:nvSpPr>
            <p:cNvPr id="20" name="34 Rectángulo redondeado"/>
            <p:cNvSpPr>
              <a:spLocks noChangeArrowheads="1"/>
            </p:cNvSpPr>
            <p:nvPr/>
          </p:nvSpPr>
          <p:spPr bwMode="auto">
            <a:xfrm>
              <a:off x="4095750" y="4773612"/>
              <a:ext cx="1857385" cy="727090"/>
            </a:xfrm>
            <a:prstGeom prst="roundRect">
              <a:avLst>
                <a:gd name="adj" fmla="val 16667"/>
              </a:avLst>
            </a:prstGeom>
            <a:gradFill flip="none" rotWithShape="0">
              <a:gsLst>
                <a:gs pos="27000">
                  <a:srgbClr val="AFCDFF">
                    <a:alpha val="65098"/>
                  </a:srgbClr>
                </a:gs>
                <a:gs pos="39999">
                  <a:srgbClr val="85C2FF">
                    <a:alpha val="12000"/>
                  </a:srgbClr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  <a:tileRect r="-100000" b="-100000"/>
            </a:gradFill>
            <a:ln w="31750" cap="flat" cmpd="sng" algn="ctr">
              <a:solidFill>
                <a:srgbClr val="272590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6200000">
                <a:srgbClr val="BDEEEF">
                  <a:alpha val="49804"/>
                </a:srgbClr>
              </a:inn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es-CO" sz="1100" b="1" dirty="0"/>
                <a:t>ACCIONES</a:t>
              </a:r>
            </a:p>
            <a:p>
              <a:pPr algn="ctr" eaLnBrk="1" hangingPunct="1">
                <a:defRPr/>
              </a:pPr>
              <a:r>
                <a:rPr lang="es-CO" sz="1200" b="1" dirty="0">
                  <a:solidFill>
                    <a:srgbClr val="FF6200"/>
                  </a:solidFill>
                </a:rPr>
                <a:t>REPARACIONES</a:t>
              </a:r>
            </a:p>
            <a:p>
              <a:pPr eaLnBrk="1" hangingPunct="1">
                <a:buFont typeface="Arial" charset="0"/>
                <a:buChar char="−"/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Acciones correctivas</a:t>
              </a:r>
            </a:p>
            <a:p>
              <a:pPr eaLnBrk="1" hangingPunct="1">
                <a:buFont typeface="Arial" charset="0"/>
                <a:buChar char="−"/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Acciones modificativas</a:t>
              </a:r>
            </a:p>
          </p:txBody>
        </p:sp>
        <p:cxnSp>
          <p:nvCxnSpPr>
            <p:cNvPr id="34836" name="38 Conector recto de flecha"/>
            <p:cNvCxnSpPr>
              <a:cxnSpLocks noChangeShapeType="1"/>
            </p:cNvCxnSpPr>
            <p:nvPr/>
          </p:nvCxnSpPr>
          <p:spPr bwMode="auto">
            <a:xfrm rot="16200000" flipH="1">
              <a:off x="4749920" y="5777044"/>
              <a:ext cx="576000" cy="14287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sp>
          <p:nvSpPr>
            <p:cNvPr id="22" name="39 Rectángulo redondeado"/>
            <p:cNvSpPr>
              <a:spLocks noChangeArrowheads="1"/>
            </p:cNvSpPr>
            <p:nvPr/>
          </p:nvSpPr>
          <p:spPr bwMode="auto">
            <a:xfrm>
              <a:off x="4568813" y="6064250"/>
              <a:ext cx="855663" cy="298450"/>
            </a:xfrm>
            <a:prstGeom prst="roundRect">
              <a:avLst>
                <a:gd name="adj" fmla="val 16667"/>
              </a:avLst>
            </a:prstGeom>
            <a:gradFill flip="none" rotWithShape="0">
              <a:gsLst>
                <a:gs pos="27000">
                  <a:srgbClr val="AFCDFF">
                    <a:alpha val="65098"/>
                  </a:srgbClr>
                </a:gs>
                <a:gs pos="39999">
                  <a:srgbClr val="85C2FF">
                    <a:alpha val="12000"/>
                  </a:srgbClr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  <a:tileRect r="-100000" b="-100000"/>
            </a:gradFill>
            <a:ln w="31750" cap="flat" cmpd="sng" algn="ctr">
              <a:solidFill>
                <a:srgbClr val="272590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6200000">
                <a:srgbClr val="BDEEEF">
                  <a:alpha val="49804"/>
                </a:srgbClr>
              </a:inn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es-CO" sz="1100" b="1" dirty="0">
                  <a:solidFill>
                    <a:srgbClr val="FF6200"/>
                  </a:solidFill>
                </a:rPr>
                <a:t>Registros</a:t>
              </a:r>
            </a:p>
          </p:txBody>
        </p:sp>
        <p:sp>
          <p:nvSpPr>
            <p:cNvPr id="23" name="22 Rectángulo redondeado"/>
            <p:cNvSpPr/>
            <p:nvPr/>
          </p:nvSpPr>
          <p:spPr bwMode="auto">
            <a:xfrm>
              <a:off x="1835134" y="2607458"/>
              <a:ext cx="357190" cy="3214710"/>
            </a:xfrm>
            <a:prstGeom prst="roundRect">
              <a:avLst/>
            </a:prstGeom>
            <a:noFill/>
            <a:ln w="31750" cap="flat" cmpd="sng" algn="ctr">
              <a:solidFill>
                <a:schemeClr val="accent1">
                  <a:lumMod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wordArtVert" lIns="0" tIns="0" rIns="0" bIns="0" anchor="ctr" anchorCtr="1"/>
            <a:lstStyle/>
            <a:p>
              <a:pPr algn="ctr" eaLnBrk="1" hangingPunct="1">
                <a:defRPr/>
              </a:pPr>
              <a:r>
                <a:rPr lang="en-US" sz="1050" b="1" dirty="0">
                  <a:latin typeface="+mj-lt"/>
                  <a:ea typeface="+mj-ea"/>
                  <a:cs typeface="+mj-cs"/>
                </a:rPr>
                <a:t>NIVEL</a:t>
              </a:r>
              <a:r>
                <a:rPr lang="en-US" sz="1050" b="1" dirty="0"/>
                <a:t> </a:t>
              </a:r>
              <a:r>
                <a:rPr lang="en-US" sz="1050" b="1" dirty="0">
                  <a:latin typeface="+mj-lt"/>
                  <a:ea typeface="+mj-ea"/>
                  <a:cs typeface="+mj-cs"/>
                </a:rPr>
                <a:t>OPERACIONAL</a:t>
              </a:r>
              <a:endParaRPr lang="es-CO" sz="1050" b="1" dirty="0">
                <a:latin typeface="+mj-lt"/>
                <a:ea typeface="+mj-ea"/>
                <a:cs typeface="+mj-cs"/>
              </a:endParaRPr>
            </a:p>
          </p:txBody>
        </p:sp>
        <p:cxnSp>
          <p:nvCxnSpPr>
            <p:cNvPr id="34839" name="29 Conector recto de flecha"/>
            <p:cNvCxnSpPr>
              <a:cxnSpLocks noChangeShapeType="1"/>
            </p:cNvCxnSpPr>
            <p:nvPr/>
          </p:nvCxnSpPr>
          <p:spPr bwMode="auto">
            <a:xfrm>
              <a:off x="5429252" y="2571750"/>
              <a:ext cx="539750" cy="1588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  <p:sp>
          <p:nvSpPr>
            <p:cNvPr id="25" name="24 Rectángulo redondeado"/>
            <p:cNvSpPr/>
            <p:nvPr/>
          </p:nvSpPr>
          <p:spPr bwMode="auto">
            <a:xfrm>
              <a:off x="4071933" y="1285860"/>
              <a:ext cx="1883195" cy="542603"/>
            </a:xfrm>
            <a:prstGeom prst="roundRect">
              <a:avLst/>
            </a:prstGeom>
            <a:gradFill flip="none" rotWithShape="0">
              <a:gsLst>
                <a:gs pos="27000">
                  <a:srgbClr val="AFCDFF">
                    <a:alpha val="65098"/>
                  </a:srgbClr>
                </a:gs>
                <a:gs pos="39999">
                  <a:srgbClr val="85C2FF">
                    <a:alpha val="12000"/>
                  </a:srgbClr>
                </a:gs>
                <a:gs pos="70000">
                  <a:srgbClr val="C4D6EB"/>
                </a:gs>
                <a:gs pos="100000">
                  <a:srgbClr val="FFEBFA"/>
                </a:gs>
              </a:gsLst>
              <a:lin ang="5400000" scaled="0"/>
              <a:tileRect r="-100000" b="-100000"/>
            </a:gradFill>
            <a:ln w="31750" cap="flat" cmpd="sng" algn="ctr">
              <a:solidFill>
                <a:srgbClr val="272590"/>
              </a:solidFill>
              <a:prstDash val="solid"/>
              <a:round/>
              <a:headEnd type="none" w="med" len="med"/>
              <a:tailEnd type="none" w="med" len="med"/>
            </a:ln>
            <a:effectLst>
              <a:innerShdw blurRad="63500" dist="50800" dir="16200000">
                <a:srgbClr val="BDEEEF">
                  <a:alpha val="49804"/>
                </a:srgbClr>
              </a:innerShdw>
            </a:effectLst>
            <a:scene3d>
              <a:camera prst="orthographicFront">
                <a:rot lat="0" lon="0" rev="0"/>
              </a:camera>
              <a:lightRig rig="threePt" dir="t"/>
            </a:scene3d>
          </p:spPr>
          <p:style>
            <a:lnRef idx="0">
              <a:scrgbClr r="0" g="0" b="0"/>
            </a:lnRef>
            <a:fillRef idx="1001">
              <a:schemeClr val="lt1"/>
            </a:fillRef>
            <a:effectRef idx="0">
              <a:scrgbClr r="0" g="0" b="0"/>
            </a:effectRef>
            <a:fontRef idx="major"/>
          </p:style>
          <p:txBody>
            <a:bodyPr lIns="0" tIns="0" rIns="0" bIns="0" anchor="ctr" anchorCtr="1"/>
            <a:lstStyle/>
            <a:p>
              <a:pPr algn="ctr" eaLnBrk="1" hangingPunct="1">
                <a:defRPr/>
              </a:pPr>
              <a:r>
                <a:rPr lang="es-CO" sz="1400" b="1" dirty="0">
                  <a:solidFill>
                    <a:srgbClr val="FF6200"/>
                  </a:solidFill>
                </a:rPr>
                <a:t>MÁQUINAS</a:t>
              </a:r>
            </a:p>
            <a:p>
              <a:pPr algn="ctr" eaLnBrk="1" hangingPunct="1">
                <a:defRPr/>
              </a:pPr>
              <a:r>
                <a:rPr lang="es-CO" sz="1400" b="1" dirty="0">
                  <a:solidFill>
                    <a:srgbClr val="FF6200"/>
                  </a:solidFill>
                  <a:effectLst>
                    <a:glow rad="63500">
                      <a:schemeClr val="bg1">
                        <a:alpha val="40000"/>
                      </a:schemeClr>
                    </a:glow>
                  </a:effectLst>
                </a:rPr>
                <a:t>Sistemas Técnicos</a:t>
              </a:r>
            </a:p>
          </p:txBody>
        </p:sp>
        <p:cxnSp>
          <p:nvCxnSpPr>
            <p:cNvPr id="34841" name="29 Conector recto de flecha"/>
            <p:cNvCxnSpPr>
              <a:cxnSpLocks noChangeShapeType="1"/>
            </p:cNvCxnSpPr>
            <p:nvPr/>
          </p:nvCxnSpPr>
          <p:spPr bwMode="auto">
            <a:xfrm>
              <a:off x="3425823" y="5143500"/>
              <a:ext cx="648000" cy="1588"/>
            </a:xfrm>
            <a:prstGeom prst="straightConnector1">
              <a:avLst/>
            </a:prstGeom>
            <a:noFill/>
            <a:ln w="31750" algn="ctr">
              <a:solidFill>
                <a:srgbClr val="272590"/>
              </a:solidFill>
              <a:round/>
              <a:headEnd/>
              <a:tailEnd type="triangle" w="lg" len="lg"/>
            </a:ln>
          </p:spPr>
        </p:cxnSp>
      </p:grpSp>
    </p:spTree>
    <p:extLst>
      <p:ext uri="{BB962C8B-B14F-4D97-AF65-F5344CB8AC3E}">
        <p14:creationId xmlns:p14="http://schemas.microsoft.com/office/powerpoint/2010/main" val="3483966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"/>
          <p:cNvSpPr>
            <a:spLocks noChangeArrowheads="1"/>
          </p:cNvSpPr>
          <p:nvPr/>
        </p:nvSpPr>
        <p:spPr bwMode="auto">
          <a:xfrm>
            <a:off x="2309786" y="1285860"/>
            <a:ext cx="8072438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000" b="1" dirty="0"/>
              <a:t>Funciones- clasificación o tipos</a:t>
            </a:r>
            <a:endParaRPr lang="es-ES" sz="4000" b="1" dirty="0"/>
          </a:p>
        </p:txBody>
      </p:sp>
      <p:sp>
        <p:nvSpPr>
          <p:cNvPr id="33795" name="Text Box 21"/>
          <p:cNvSpPr txBox="1">
            <a:spLocks noChangeArrowheads="1"/>
          </p:cNvSpPr>
          <p:nvPr/>
        </p:nvSpPr>
        <p:spPr bwMode="auto">
          <a:xfrm>
            <a:off x="2595538" y="2428869"/>
            <a:ext cx="7072312" cy="3138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3600" dirty="0"/>
              <a:t> Primarias</a:t>
            </a:r>
          </a:p>
          <a:p>
            <a:pPr algn="ctr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3600" dirty="0"/>
              <a:t> Secundarias</a:t>
            </a:r>
          </a:p>
          <a:p>
            <a:pPr algn="ctr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3600" dirty="0"/>
              <a:t> De protección </a:t>
            </a:r>
          </a:p>
          <a:p>
            <a:pPr algn="ctr" eaLnBrk="1" hangingPunct="1">
              <a:spcBef>
                <a:spcPct val="50000"/>
              </a:spcBef>
              <a:buFont typeface="Arial" charset="0"/>
              <a:buChar char="•"/>
            </a:pPr>
            <a:r>
              <a:rPr lang="es-MX" sz="3600" dirty="0"/>
              <a:t> Superfluas</a:t>
            </a:r>
            <a:endParaRPr lang="es-ES" sz="3600" dirty="0"/>
          </a:p>
        </p:txBody>
      </p:sp>
    </p:spTree>
    <p:extLst>
      <p:ext uri="{BB962C8B-B14F-4D97-AF65-F5344CB8AC3E}">
        <p14:creationId xmlns:p14="http://schemas.microsoft.com/office/powerpoint/2010/main" val="35042657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7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7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5" grpId="0" build="allAtOnce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0"/>
          <p:cNvSpPr>
            <a:spLocks noChangeArrowheads="1"/>
          </p:cNvSpPr>
          <p:nvPr/>
        </p:nvSpPr>
        <p:spPr bwMode="auto">
          <a:xfrm>
            <a:off x="2238349" y="500042"/>
            <a:ext cx="8072437" cy="865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Funciones Primarias</a:t>
            </a:r>
            <a:endParaRPr lang="es-ES" sz="3600" b="1" dirty="0"/>
          </a:p>
        </p:txBody>
      </p:sp>
      <p:sp>
        <p:nvSpPr>
          <p:cNvPr id="34819" name="Text Box 21"/>
          <p:cNvSpPr txBox="1">
            <a:spLocks noChangeArrowheads="1"/>
          </p:cNvSpPr>
          <p:nvPr/>
        </p:nvSpPr>
        <p:spPr bwMode="auto">
          <a:xfrm>
            <a:off x="1433458" y="1695287"/>
            <a:ext cx="9858124" cy="12464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MX" sz="2500" dirty="0"/>
              <a:t>Las funciones </a:t>
            </a:r>
            <a:r>
              <a:rPr lang="es-MX" sz="2500" b="1" dirty="0"/>
              <a:t>primarias</a:t>
            </a:r>
            <a:r>
              <a:rPr lang="es-MX" sz="2500" dirty="0"/>
              <a:t> son la razón de ser o el propósito específico de la máquina. En muchos casos se asocia con su denominación: transportar, cortar, moler agitar, secar, etc.</a:t>
            </a:r>
            <a:endParaRPr lang="es-ES" sz="2500" dirty="0"/>
          </a:p>
        </p:txBody>
      </p:sp>
      <p:pic>
        <p:nvPicPr>
          <p:cNvPr id="38916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076893" y="3271837"/>
            <a:ext cx="2924175" cy="281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891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02133" y="3571875"/>
            <a:ext cx="4324350" cy="22145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96038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8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819" grpId="0" build="allAtOnce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0"/>
          <p:cNvSpPr>
            <a:spLocks noChangeArrowheads="1"/>
          </p:cNvSpPr>
          <p:nvPr/>
        </p:nvSpPr>
        <p:spPr bwMode="auto">
          <a:xfrm>
            <a:off x="2279577" y="849300"/>
            <a:ext cx="8072437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Funciones Secundarias</a:t>
            </a:r>
            <a:endParaRPr lang="es-ES" sz="3600" b="1" dirty="0"/>
          </a:p>
        </p:txBody>
      </p:sp>
      <p:sp>
        <p:nvSpPr>
          <p:cNvPr id="39939" name="Text Box 21"/>
          <p:cNvSpPr txBox="1">
            <a:spLocks noChangeArrowheads="1"/>
          </p:cNvSpPr>
          <p:nvPr/>
        </p:nvSpPr>
        <p:spPr bwMode="auto">
          <a:xfrm>
            <a:off x="1266888" y="1642787"/>
            <a:ext cx="10097813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MX" sz="2400" dirty="0"/>
              <a:t>Las funciones </a:t>
            </a:r>
            <a:r>
              <a:rPr lang="es-MX" sz="2400" b="1" dirty="0"/>
              <a:t>secundarias</a:t>
            </a:r>
            <a:r>
              <a:rPr lang="es-MX" sz="2400" dirty="0"/>
              <a:t> no son tan evidentes como las primarias, pero son igualmente importantes: control, contención, integridad estructural, seguridad, comodidad, apariencia, cumplimiento de regulaciones ambientales, etc.</a:t>
            </a:r>
            <a:endParaRPr lang="es-ES" sz="2400" dirty="0"/>
          </a:p>
        </p:txBody>
      </p:sp>
      <p:pic>
        <p:nvPicPr>
          <p:cNvPr id="39940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43337" y="3528722"/>
            <a:ext cx="4505325" cy="27384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1888737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0"/>
          <p:cNvSpPr>
            <a:spLocks noChangeArrowheads="1"/>
          </p:cNvSpPr>
          <p:nvPr/>
        </p:nvSpPr>
        <p:spPr bwMode="auto">
          <a:xfrm>
            <a:off x="1086893" y="1446667"/>
            <a:ext cx="5987714" cy="10239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Funciones de Protección</a:t>
            </a:r>
            <a:endParaRPr lang="es-ES" sz="3600" b="1" dirty="0"/>
          </a:p>
        </p:txBody>
      </p:sp>
      <p:sp>
        <p:nvSpPr>
          <p:cNvPr id="40963" name="Text Box 21"/>
          <p:cNvSpPr txBox="1">
            <a:spLocks noChangeArrowheads="1"/>
          </p:cNvSpPr>
          <p:nvPr/>
        </p:nvSpPr>
        <p:spPr bwMode="auto">
          <a:xfrm>
            <a:off x="494456" y="2767108"/>
            <a:ext cx="7172588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MX" sz="2800" dirty="0"/>
              <a:t>Las funciones de protección protegen contra riesgos en la operación de la máquina o eliminan o reducen las consecuencias de las fallas.</a:t>
            </a:r>
            <a:endParaRPr lang="es-ES" sz="2800" dirty="0"/>
          </a:p>
        </p:txBody>
      </p:sp>
      <p:pic>
        <p:nvPicPr>
          <p:cNvPr id="40964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30103" y="1553356"/>
            <a:ext cx="2928938" cy="4243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045308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0"/>
          <p:cNvSpPr>
            <a:spLocks noChangeArrowheads="1"/>
          </p:cNvSpPr>
          <p:nvPr/>
        </p:nvSpPr>
        <p:spPr bwMode="auto">
          <a:xfrm>
            <a:off x="2765375" y="712216"/>
            <a:ext cx="6307137" cy="728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4000" b="1" dirty="0"/>
              <a:t>Funciones Superfluas</a:t>
            </a:r>
            <a:endParaRPr lang="es-ES" sz="4000" b="1" dirty="0"/>
          </a:p>
        </p:txBody>
      </p:sp>
      <p:sp>
        <p:nvSpPr>
          <p:cNvPr id="41987" name="Text Box 21"/>
          <p:cNvSpPr txBox="1">
            <a:spLocks noChangeArrowheads="1"/>
          </p:cNvSpPr>
          <p:nvPr/>
        </p:nvSpPr>
        <p:spPr bwMode="auto">
          <a:xfrm>
            <a:off x="750071" y="2007138"/>
            <a:ext cx="10691857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es-MX" sz="2800" dirty="0"/>
              <a:t>Las funciones superfluas (innecesarias) se dan en máquinas con especificaciones innecesariamente complejas o por determinadas variaciones en las condiciones de operación de la máquina o equipo. (vidrios eléctricos, aire acondicionado, </a:t>
            </a:r>
            <a:r>
              <a:rPr lang="es-MX" sz="2800" dirty="0" err="1"/>
              <a:t>etc</a:t>
            </a:r>
            <a:r>
              <a:rPr lang="es-MX" sz="2800" dirty="0"/>
              <a:t>)</a:t>
            </a:r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12335980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1349063" y="2787881"/>
            <a:ext cx="9851062" cy="17543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0363" indent="-360363" algn="just">
              <a:defRPr/>
            </a:pPr>
            <a:r>
              <a:rPr lang="es-ES" sz="36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	Para una determinada máquina especifique su función primaria y elabore su estructura general. 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345781" y="1428751"/>
            <a:ext cx="3500438" cy="7207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s-MX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ACTIVIDAD 3</a:t>
            </a:r>
          </a:p>
        </p:txBody>
      </p:sp>
    </p:spTree>
    <p:extLst>
      <p:ext uri="{BB962C8B-B14F-4D97-AF65-F5344CB8AC3E}">
        <p14:creationId xmlns:p14="http://schemas.microsoft.com/office/powerpoint/2010/main" val="296982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37"/>
          <p:cNvSpPr>
            <a:spLocks noChangeArrowheads="1"/>
          </p:cNvSpPr>
          <p:nvPr/>
        </p:nvSpPr>
        <p:spPr bwMode="auto">
          <a:xfrm>
            <a:off x="2423318" y="1714160"/>
            <a:ext cx="7345363" cy="469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endParaRPr lang="es-ES" sz="2400" b="1" dirty="0"/>
          </a:p>
        </p:txBody>
      </p:sp>
      <p:sp>
        <p:nvSpPr>
          <p:cNvPr id="97283" name="Rectangle 3"/>
          <p:cNvSpPr>
            <a:spLocks noChangeArrowheads="1"/>
          </p:cNvSpPr>
          <p:nvPr/>
        </p:nvSpPr>
        <p:spPr bwMode="auto">
          <a:xfrm>
            <a:off x="2423318" y="562751"/>
            <a:ext cx="7640608" cy="11514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Componentes de las máquinas</a:t>
            </a:r>
            <a:endParaRPr lang="es-ES" sz="3600" b="1" dirty="0"/>
          </a:p>
        </p:txBody>
      </p:sp>
      <p:graphicFrame>
        <p:nvGraphicFramePr>
          <p:cNvPr id="40998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358364"/>
              </p:ext>
            </p:extLst>
          </p:nvPr>
        </p:nvGraphicFramePr>
        <p:xfrm>
          <a:off x="3048000" y="2119357"/>
          <a:ext cx="6096000" cy="3888261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82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ELEMENTOS O PARTES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MECANISMOS O DISPOSITIVOS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2426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2298699" y="671737"/>
            <a:ext cx="7777163" cy="1128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Características de los componentes de las máquinas</a:t>
            </a:r>
            <a:endParaRPr lang="es-ES" sz="3600" b="1" dirty="0"/>
          </a:p>
        </p:txBody>
      </p:sp>
      <p:sp>
        <p:nvSpPr>
          <p:cNvPr id="98307" name="Text Box 3"/>
          <p:cNvSpPr txBox="1">
            <a:spLocks noChangeArrowheads="1"/>
          </p:cNvSpPr>
          <p:nvPr/>
        </p:nvSpPr>
        <p:spPr bwMode="auto">
          <a:xfrm>
            <a:off x="2874961" y="2267907"/>
            <a:ext cx="6624637" cy="3538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3200" dirty="0"/>
              <a:t> Mecánicas</a:t>
            </a:r>
          </a:p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3200" dirty="0"/>
              <a:t> Neumáticas</a:t>
            </a:r>
          </a:p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3200" dirty="0"/>
              <a:t> Hidráulicas</a:t>
            </a:r>
          </a:p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3200" dirty="0"/>
              <a:t> Eléctricas</a:t>
            </a:r>
          </a:p>
          <a:p>
            <a:pPr algn="ctr" eaLnBrk="1" hangingPunct="1">
              <a:spcBef>
                <a:spcPct val="50000"/>
              </a:spcBef>
              <a:buFontTx/>
              <a:buChar char="•"/>
            </a:pPr>
            <a:r>
              <a:rPr lang="es-MX" sz="3200" dirty="0"/>
              <a:t> Electrónicas</a:t>
            </a:r>
            <a:endParaRPr lang="es-ES" sz="3200" b="1" i="1" dirty="0"/>
          </a:p>
        </p:txBody>
      </p:sp>
    </p:spTree>
    <p:extLst>
      <p:ext uri="{BB962C8B-B14F-4D97-AF65-F5344CB8AC3E}">
        <p14:creationId xmlns:p14="http://schemas.microsoft.com/office/powerpoint/2010/main" val="23285906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1" name="Rectangle 4"/>
          <p:cNvSpPr>
            <a:spLocks noChangeArrowheads="1"/>
          </p:cNvSpPr>
          <p:nvPr/>
        </p:nvSpPr>
        <p:spPr bwMode="auto">
          <a:xfrm>
            <a:off x="2145428" y="739296"/>
            <a:ext cx="8101013" cy="9364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graphicFrame>
        <p:nvGraphicFramePr>
          <p:cNvPr id="43056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013048"/>
              </p:ext>
            </p:extLst>
          </p:nvPr>
        </p:nvGraphicFramePr>
        <p:xfrm>
          <a:off x="2416968" y="2033529"/>
          <a:ext cx="7358064" cy="4187900"/>
        </p:xfrm>
        <a:graphic>
          <a:graphicData uri="http://schemas.openxmlformats.org/drawingml/2006/table">
            <a:tbl>
              <a:tblPr/>
              <a:tblGrid>
                <a:gridCol w="29140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1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88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3053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adquisición, transformación o generación y transmisión de la energía motriz.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También se denominan Sistemas de Transmisión de Potencia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4" marB="4569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transmisión y conversión de movimientos y fuerzas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Conducen a la realización del trabajo (función primaria de la máquina) 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4" marB="456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control</a:t>
                      </a:r>
                      <a:endParaRPr kumimoji="0" lang="es-E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4" marB="456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3603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lubricación</a:t>
                      </a:r>
                      <a:endParaRPr kumimoji="0" lang="es-E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4" marB="456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742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intercambio calórico</a:t>
                      </a:r>
                      <a:endParaRPr kumimoji="0" lang="es-E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4" marB="456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8131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protección</a:t>
                      </a:r>
                      <a:endParaRPr kumimoji="0" lang="es-E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94" marB="4569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283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auto">
          <a:xfrm>
            <a:off x="1991545" y="1908276"/>
            <a:ext cx="5904656" cy="512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lang="es-MX" sz="2400" b="1" dirty="0"/>
              <a:t>MÁQUINA: VENTILADOR CENTRÍFUGO</a:t>
            </a:r>
            <a:endParaRPr lang="es-ES" sz="2400" b="1" dirty="0"/>
          </a:p>
        </p:txBody>
      </p:sp>
      <p:sp>
        <p:nvSpPr>
          <p:cNvPr id="100355" name="Rectangle 4"/>
          <p:cNvSpPr>
            <a:spLocks noChangeArrowheads="1"/>
          </p:cNvSpPr>
          <p:nvPr/>
        </p:nvSpPr>
        <p:spPr bwMode="auto">
          <a:xfrm>
            <a:off x="1991545" y="791762"/>
            <a:ext cx="8447714" cy="918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graphicFrame>
        <p:nvGraphicFramePr>
          <p:cNvPr id="43056" name="Group 48"/>
          <p:cNvGraphicFramePr>
            <a:graphicFrameLocks noGrp="1"/>
          </p:cNvGraphicFramePr>
          <p:nvPr/>
        </p:nvGraphicFramePr>
        <p:xfrm>
          <a:off x="1847529" y="2780928"/>
          <a:ext cx="6521449" cy="2517776"/>
        </p:xfrm>
        <a:graphic>
          <a:graphicData uri="http://schemas.openxmlformats.org/drawingml/2006/table">
            <a:tbl>
              <a:tblPr/>
              <a:tblGrid>
                <a:gridCol w="31048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03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62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412">
                <a:tc rowSpan="4">
                  <a:txBody>
                    <a:bodyPr/>
                    <a:lstStyle/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Motor eléctrico </a:t>
                      </a: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Mecanismo de transmisión por poleas y bandas</a:t>
                      </a:r>
                    </a:p>
                  </a:txBody>
                  <a:tcPr marL="91441" marR="91441" marT="45714" marB="4571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7829E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Eje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Soportes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Rotor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Carcasa</a:t>
                      </a:r>
                    </a:p>
                  </a:txBody>
                  <a:tcPr marL="91441" marR="9144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Interruptor on/off</a:t>
                      </a:r>
                    </a:p>
                  </a:txBody>
                  <a:tcPr marL="91441" marR="9144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141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Puntos específicos</a:t>
                      </a:r>
                    </a:p>
                  </a:txBody>
                  <a:tcPr marL="91441" marR="9144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54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7829E"/>
                        </a:solidFill>
                        <a:effectLst/>
                        <a:latin typeface="Arial" charset="0"/>
                      </a:endParaRPr>
                    </a:p>
                  </a:txBody>
                  <a:tcPr marL="91441" marR="9144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141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Guarda de protección</a:t>
                      </a:r>
                    </a:p>
                  </a:txBody>
                  <a:tcPr marL="91441" marR="91441" marT="45714" marB="45714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00372" name="Picture 2"/>
          <p:cNvPicPr>
            <a:picLocks noChangeAspect="1" noChangeArrowheads="1"/>
          </p:cNvPicPr>
          <p:nvPr/>
        </p:nvPicPr>
        <p:blipFill>
          <a:blip r:embed="rId2"/>
          <a:srcRect l="2263" t="2193" r="4298"/>
          <a:stretch>
            <a:fillRect/>
          </a:stretch>
        </p:blipFill>
        <p:spPr bwMode="auto">
          <a:xfrm>
            <a:off x="9126632" y="2977778"/>
            <a:ext cx="1966913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54227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ChangeArrowheads="1"/>
          </p:cNvSpPr>
          <p:nvPr/>
        </p:nvSpPr>
        <p:spPr bwMode="auto">
          <a:xfrm>
            <a:off x="2063552" y="1442877"/>
            <a:ext cx="7929562" cy="3887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lang="es-MX" sz="2400" b="1" dirty="0"/>
              <a:t>MÁQUINA: TRANSPORTADOR DE TORNILLO SINFÍN</a:t>
            </a:r>
            <a:endParaRPr lang="es-ES" sz="2400" b="1" dirty="0"/>
          </a:p>
        </p:txBody>
      </p:sp>
      <p:sp>
        <p:nvSpPr>
          <p:cNvPr id="101379" name="Rectangle 4"/>
          <p:cNvSpPr>
            <a:spLocks noChangeArrowheads="1"/>
          </p:cNvSpPr>
          <p:nvPr/>
        </p:nvSpPr>
        <p:spPr bwMode="auto">
          <a:xfrm>
            <a:off x="1510719" y="257747"/>
            <a:ext cx="8617729" cy="1080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pic>
        <p:nvPicPr>
          <p:cNvPr id="101380" name="Picture 23" descr="Transportador de tornillo"/>
          <p:cNvPicPr>
            <a:picLocks noChangeAspect="1" noChangeArrowheads="1"/>
          </p:cNvPicPr>
          <p:nvPr/>
        </p:nvPicPr>
        <p:blipFill>
          <a:blip r:embed="rId2"/>
          <a:srcRect l="1871" t="6995" r="3392" b="6087"/>
          <a:stretch>
            <a:fillRect/>
          </a:stretch>
        </p:blipFill>
        <p:spPr bwMode="auto">
          <a:xfrm>
            <a:off x="7099155" y="4535101"/>
            <a:ext cx="4495800" cy="216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1381" name="Picture 24" descr="Transportador-seccion"/>
          <p:cNvPicPr>
            <a:picLocks noChangeAspect="1" noChangeArrowheads="1"/>
          </p:cNvPicPr>
          <p:nvPr/>
        </p:nvPicPr>
        <p:blipFill>
          <a:blip r:embed="rId3"/>
          <a:srcRect b="2812"/>
          <a:stretch>
            <a:fillRect/>
          </a:stretch>
        </p:blipFill>
        <p:spPr bwMode="auto">
          <a:xfrm>
            <a:off x="926115" y="5016113"/>
            <a:ext cx="1214437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aphicFrame>
        <p:nvGraphicFramePr>
          <p:cNvPr id="8" name="Group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7016574"/>
              </p:ext>
            </p:extLst>
          </p:nvPr>
        </p:nvGraphicFramePr>
        <p:xfrm>
          <a:off x="2140552" y="2122092"/>
          <a:ext cx="7358061" cy="2516190"/>
        </p:xfrm>
        <a:graphic>
          <a:graphicData uri="http://schemas.openxmlformats.org/drawingml/2006/table">
            <a:tbl>
              <a:tblPr/>
              <a:tblGrid>
                <a:gridCol w="2914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5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88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969">
                <a:tc rowSpan="4">
                  <a:txBody>
                    <a:bodyPr/>
                    <a:lstStyle/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Motor eléctrico </a:t>
                      </a: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Mecanismo de transmisión por poleas y bandas</a:t>
                      </a:r>
                    </a:p>
                    <a:p>
                      <a:pPr marL="182563" marR="0" lvl="0" indent="-182563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Caja reductora de velocidad</a:t>
                      </a:r>
                    </a:p>
                  </a:txBody>
                  <a:tcPr marL="91439" marR="91439" marT="45685" marB="4568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7829E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Eje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Soportes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Hélice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Carcasa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E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Apoyos</a:t>
                      </a:r>
                    </a:p>
                  </a:txBody>
                  <a:tcPr marL="91439" marR="91439" marT="45685" marB="45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Interruptor on/off</a:t>
                      </a:r>
                    </a:p>
                  </a:txBody>
                  <a:tcPr marL="91439" marR="91439" marT="45685" marB="45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6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Puntos específicos</a:t>
                      </a:r>
                    </a:p>
                  </a:txBody>
                  <a:tcPr marL="91439" marR="91439" marT="45685" marB="45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328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E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37829E"/>
                        </a:solidFill>
                        <a:effectLst/>
                        <a:latin typeface="Arial" charset="0"/>
                      </a:endParaRPr>
                    </a:p>
                  </a:txBody>
                  <a:tcPr marL="91439" marR="91439" marT="45685" marB="45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096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Guarda de protección</a:t>
                      </a:r>
                    </a:p>
                  </a:txBody>
                  <a:tcPr marL="91439" marR="91439" marT="45685" marB="4568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79671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4"/>
          <p:cNvSpPr>
            <a:spLocks noChangeArrowheads="1"/>
          </p:cNvSpPr>
          <p:nvPr/>
        </p:nvSpPr>
        <p:spPr bwMode="auto">
          <a:xfrm>
            <a:off x="1988192" y="533991"/>
            <a:ext cx="8397378" cy="7830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graphicFrame>
        <p:nvGraphicFramePr>
          <p:cNvPr id="64593" name="Group 81"/>
          <p:cNvGraphicFramePr>
            <a:graphicFrameLocks noGrp="1"/>
          </p:cNvGraphicFramePr>
          <p:nvPr/>
        </p:nvGraphicFramePr>
        <p:xfrm>
          <a:off x="2351584" y="1700808"/>
          <a:ext cx="7488238" cy="4407294"/>
        </p:xfrm>
        <a:graphic>
          <a:graphicData uri="http://schemas.openxmlformats.org/drawingml/2006/table">
            <a:tbl>
              <a:tblPr/>
              <a:tblGrid>
                <a:gridCol w="29373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50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 de transmisión de potencia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33" marR="91433" marT="45663" marB="4566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Es el sistema principal de impulsión y generalmente en él se originan los movimientos de entrada a la máquina.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Según las características de sus elementos se clasifican en sistemas: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Mecánicos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Hidráulicos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Char char="§"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Neumáticos</a:t>
                      </a:r>
                    </a:p>
                  </a:txBody>
                  <a:tcPr marL="91433" marR="91433" marT="45663" marB="4566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860102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6437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38359"/>
              </p:ext>
            </p:extLst>
          </p:nvPr>
        </p:nvGraphicFramePr>
        <p:xfrm>
          <a:off x="2567609" y="899929"/>
          <a:ext cx="7347356" cy="5348353"/>
        </p:xfrm>
        <a:graphic>
          <a:graphicData uri="http://schemas.openxmlformats.org/drawingml/2006/table">
            <a:tbl>
              <a:tblPr/>
              <a:tblGrid>
                <a:gridCol w="23940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08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24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2522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transmisión de potencia de características mecánicas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9" marR="91449" marT="45721" marB="45721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37829E"/>
                        </a:solidFill>
                        <a:effectLst/>
                        <a:latin typeface="Arial" charset="0"/>
                      </a:endParaRPr>
                    </a:p>
                  </a:txBody>
                  <a:tcPr marL="91449" marR="91449" marT="45721" marB="4572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619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37829E"/>
                        </a:solidFill>
                        <a:effectLst/>
                        <a:latin typeface="Arial" charset="0"/>
                      </a:endParaRPr>
                    </a:p>
                  </a:txBody>
                  <a:tcPr marL="91449" marR="91449" marT="45721" marB="4572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CO" sz="1600" b="1" i="0" u="none" strike="noStrike" cap="none" normalizeH="0" baseline="0" dirty="0">
                        <a:ln>
                          <a:noFill/>
                        </a:ln>
                        <a:solidFill>
                          <a:srgbClr val="37829E"/>
                        </a:solidFill>
                        <a:effectLst/>
                        <a:latin typeface="Arial" charset="0"/>
                      </a:endParaRPr>
                    </a:p>
                  </a:txBody>
                  <a:tcPr marL="91449" marR="91449" marT="45721" marB="45721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964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lang="es-MX" sz="2000" b="1" u="sng" dirty="0">
                        <a:solidFill>
                          <a:schemeClr val="tx1"/>
                        </a:solidFill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s-MX" sz="2000" b="1" u="sng" dirty="0">
                          <a:solidFill>
                            <a:schemeClr val="tx1"/>
                          </a:solidFill>
                        </a:rPr>
                        <a:t>Con velocidad única:</a:t>
                      </a:r>
                      <a:endParaRPr kumimoji="0" lang="es-CO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s-CO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Motor eléctrico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s-CO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Moto reductor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s-CO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Moto reductor en   cascada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s-CO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Moto vibrador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CO" sz="20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Combinaciones con variador de velocidad para obtener rangos de operación</a:t>
                      </a:r>
                    </a:p>
                  </a:txBody>
                  <a:tcPr marL="91449" marR="91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Rígidos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s-MX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s-MX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Flexibles</a:t>
                      </a:r>
                      <a:endParaRPr kumimoji="0" lang="es-E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L="91449" marR="91449" marT="45721" marB="45721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3441" name="Text Box 20"/>
          <p:cNvSpPr txBox="1">
            <a:spLocks noChangeArrowheads="1"/>
          </p:cNvSpPr>
          <p:nvPr/>
        </p:nvSpPr>
        <p:spPr bwMode="auto">
          <a:xfrm>
            <a:off x="4874652" y="840164"/>
            <a:ext cx="5040313" cy="7064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2000" b="1" dirty="0"/>
              <a:t>En estos se origina el movimiento de entrada a la máquina.</a:t>
            </a:r>
            <a:endParaRPr lang="es-ES" sz="2000" b="1" dirty="0"/>
          </a:p>
        </p:txBody>
      </p:sp>
      <p:sp>
        <p:nvSpPr>
          <p:cNvPr id="103442" name="Text Box 21"/>
          <p:cNvSpPr txBox="1">
            <a:spLocks noChangeArrowheads="1"/>
          </p:cNvSpPr>
          <p:nvPr/>
        </p:nvSpPr>
        <p:spPr bwMode="auto">
          <a:xfrm>
            <a:off x="4976636" y="1701179"/>
            <a:ext cx="2801937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s-MX" sz="2000" b="1" dirty="0"/>
              <a:t>Dispositivo Motriz</a:t>
            </a:r>
            <a:endParaRPr lang="es-ES" sz="2000" b="1" dirty="0"/>
          </a:p>
        </p:txBody>
      </p:sp>
      <p:sp>
        <p:nvSpPr>
          <p:cNvPr id="103443" name="Text Box 22"/>
          <p:cNvSpPr txBox="1">
            <a:spLocks noChangeArrowheads="1"/>
          </p:cNvSpPr>
          <p:nvPr/>
        </p:nvSpPr>
        <p:spPr bwMode="auto">
          <a:xfrm>
            <a:off x="7799490" y="1608310"/>
            <a:ext cx="1901825" cy="585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es-MX" sz="1600" b="1" dirty="0"/>
              <a:t>Elementos de Transmisión</a:t>
            </a:r>
            <a:endParaRPr lang="es-ES" sz="1600" b="1" dirty="0"/>
          </a:p>
        </p:txBody>
      </p:sp>
    </p:spTree>
    <p:extLst>
      <p:ext uri="{BB962C8B-B14F-4D97-AF65-F5344CB8AC3E}">
        <p14:creationId xmlns:p14="http://schemas.microsoft.com/office/powerpoint/2010/main" val="1491907933"/>
      </p:ext>
    </p:extLst>
  </p:cSld>
  <p:clrMapOvr>
    <a:masterClrMapping/>
  </p:clrMapOvr>
  <p:transition advClick="0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7461" name="Group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57949318"/>
              </p:ext>
            </p:extLst>
          </p:nvPr>
        </p:nvGraphicFramePr>
        <p:xfrm>
          <a:off x="2351585" y="1196752"/>
          <a:ext cx="7561263" cy="4684712"/>
        </p:xfrm>
        <a:graphic>
          <a:graphicData uri="http://schemas.openxmlformats.org/drawingml/2006/table">
            <a:tbl>
              <a:tblPr/>
              <a:tblGrid>
                <a:gridCol w="2089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3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2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60734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transmisión de potencia.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Elementos de transmisión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Elementos Rígidos</a:t>
                      </a:r>
                      <a:endParaRPr kumimoji="0" lang="es-E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Convencionales</a:t>
                      </a: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Engranajes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Cilíndricos: rectos, helicoidales, doble helicoidales, helicoidales cruzados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Cónicos: rectos, helicoidales (espirales), hipoidales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E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Sin-fin y Corona</a:t>
                      </a: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15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No convencionales</a:t>
                      </a: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 Ciclo (Cyclo)</a:t>
                      </a: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13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Elementos Flexibles</a:t>
                      </a:r>
                      <a:endParaRPr kumimoji="0" lang="es-E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Poleas y Bandas</a:t>
                      </a: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Planas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En “V”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 sincronización</a:t>
                      </a: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68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Piñones y cadena</a:t>
                      </a: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s-MX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Multiramales</a:t>
                      </a:r>
                      <a:endParaRPr kumimoji="0" lang="es-MX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Silenciosa</a:t>
                      </a:r>
                      <a:endParaRPr kumimoji="0" lang="es-ES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9818461"/>
      </p:ext>
    </p:extLst>
  </p:cSld>
  <p:clrMapOvr>
    <a:masterClrMapping/>
  </p:clrMapOvr>
  <p:transition advClick="0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1 Título"/>
          <p:cNvSpPr>
            <a:spLocks noGrp="1"/>
          </p:cNvSpPr>
          <p:nvPr>
            <p:ph type="title" idx="4294967295"/>
          </p:nvPr>
        </p:nvSpPr>
        <p:spPr bwMode="auto">
          <a:xfrm>
            <a:off x="4353233" y="565556"/>
            <a:ext cx="3354455" cy="588962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0000"/>
          </a:bodyPr>
          <a:lstStyle/>
          <a:p>
            <a:pPr>
              <a:defRPr/>
            </a:pPr>
            <a:r>
              <a:rPr lang="es-ES" b="1" dirty="0">
                <a:ea typeface="+mn-ea"/>
                <a:cs typeface="+mn-cs"/>
              </a:rPr>
              <a:t>Sistema ciclo</a:t>
            </a:r>
          </a:p>
        </p:txBody>
      </p:sp>
      <p:pic>
        <p:nvPicPr>
          <p:cNvPr id="108547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82138" y="1600498"/>
            <a:ext cx="8427724" cy="3257251"/>
          </a:xfrm>
          <a:noFill/>
          <a:ln>
            <a:miter lim="800000"/>
            <a:headEnd/>
            <a:tailEnd/>
          </a:ln>
        </p:spPr>
      </p:pic>
      <p:sp>
        <p:nvSpPr>
          <p:cNvPr id="5" name="CuadroTexto 4">
            <a:hlinkClick r:id="rId3"/>
          </p:cNvPr>
          <p:cNvSpPr txBox="1"/>
          <p:nvPr/>
        </p:nvSpPr>
        <p:spPr>
          <a:xfrm>
            <a:off x="2776847" y="5389347"/>
            <a:ext cx="650722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400" dirty="0">
                <a:hlinkClick r:id="rId4"/>
              </a:rPr>
              <a:t>(1) </a:t>
            </a:r>
            <a:r>
              <a:rPr lang="es-CO" sz="1400" dirty="0" err="1">
                <a:hlinkClick r:id="rId4"/>
              </a:rPr>
              <a:t>Animation</a:t>
            </a:r>
            <a:r>
              <a:rPr lang="es-CO" sz="1400" dirty="0">
                <a:hlinkClick r:id="rId4"/>
              </a:rPr>
              <a:t> CYCLO </a:t>
            </a:r>
            <a:r>
              <a:rPr lang="es-CO" sz="1400" dirty="0" err="1">
                <a:hlinkClick r:id="rId4"/>
              </a:rPr>
              <a:t>Principle</a:t>
            </a:r>
            <a:r>
              <a:rPr lang="es-CO" sz="1400" dirty="0">
                <a:hlinkClick r:id="rId4"/>
              </a:rPr>
              <a:t> - Sumitomo Drive Technologies - YouTube</a:t>
            </a:r>
            <a:endParaRPr lang="es-CO" sz="1400" dirty="0"/>
          </a:p>
        </p:txBody>
      </p:sp>
    </p:spTree>
    <p:extLst>
      <p:ext uri="{BB962C8B-B14F-4D97-AF65-F5344CB8AC3E}">
        <p14:creationId xmlns:p14="http://schemas.microsoft.com/office/powerpoint/2010/main" val="19763260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1522809" y="2049566"/>
            <a:ext cx="9146381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0363" indent="-360363" algn="just">
              <a:spcBef>
                <a:spcPct val="50000"/>
              </a:spcBef>
              <a:defRPr/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Para algunos dispositivos o grupos de elementos establezca: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Función principal.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Clasificación, clases o tipos.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Materiales usualmente usados para su fabricación.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Especificación técnica.</a:t>
            </a:r>
          </a:p>
          <a:p>
            <a:pPr marL="514350" indent="-514350" algn="just">
              <a:spcBef>
                <a:spcPct val="50000"/>
              </a:spcBef>
              <a:buFont typeface="+mj-lt"/>
              <a:buAutoNum type="alphaLcParenR"/>
              <a:defRPr/>
            </a:pPr>
            <a:r>
              <a:rPr lang="es-ES" sz="2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Fallas o daños típicos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063043" y="980729"/>
            <a:ext cx="3689142" cy="720725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s-MX" sz="4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ACTIVIDAD 4</a:t>
            </a:r>
          </a:p>
        </p:txBody>
      </p:sp>
    </p:spTree>
    <p:extLst>
      <p:ext uri="{BB962C8B-B14F-4D97-AF65-F5344CB8AC3E}">
        <p14:creationId xmlns:p14="http://schemas.microsoft.com/office/powerpoint/2010/main" val="123406502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/>
          <p:cNvSpPr>
            <a:spLocks noChangeArrowheads="1"/>
          </p:cNvSpPr>
          <p:nvPr/>
        </p:nvSpPr>
        <p:spPr bwMode="auto">
          <a:xfrm>
            <a:off x="2135561" y="1484785"/>
            <a:ext cx="8101013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graphicFrame>
        <p:nvGraphicFramePr>
          <p:cNvPr id="90124" name="Group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1360896"/>
              </p:ext>
            </p:extLst>
          </p:nvPr>
        </p:nvGraphicFramePr>
        <p:xfrm>
          <a:off x="2452689" y="2571751"/>
          <a:ext cx="7345363" cy="2225675"/>
        </p:xfrm>
        <a:graphic>
          <a:graphicData uri="http://schemas.openxmlformats.org/drawingml/2006/table">
            <a:tbl>
              <a:tblPr/>
              <a:tblGrid>
                <a:gridCol w="35858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59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256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transmisión y conversión de movimientos y fuerzas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Son los que conducen en última instancia a la realización del trabajo de la máquina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3" marB="45733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921744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auto">
          <a:xfrm>
            <a:off x="1919537" y="1412777"/>
            <a:ext cx="8101013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graphicFrame>
        <p:nvGraphicFramePr>
          <p:cNvPr id="91150" name="Group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2224446"/>
              </p:ext>
            </p:extLst>
          </p:nvPr>
        </p:nvGraphicFramePr>
        <p:xfrm>
          <a:off x="2217272" y="2856715"/>
          <a:ext cx="7345362" cy="1920875"/>
        </p:xfrm>
        <a:graphic>
          <a:graphicData uri="http://schemas.openxmlformats.org/drawingml/2006/table">
            <a:tbl>
              <a:tblPr/>
              <a:tblGrid>
                <a:gridCol w="30275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17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208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lubricación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Permiten disminuir los rozamientos y desgastes entre los elementos en contacto y con movimiento relativo entre ellos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35" marB="4573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3184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/>
          <p:cNvSpPr>
            <a:spLocks noChangeArrowheads="1"/>
          </p:cNvSpPr>
          <p:nvPr/>
        </p:nvSpPr>
        <p:spPr bwMode="auto">
          <a:xfrm>
            <a:off x="2207568" y="1484784"/>
            <a:ext cx="8101012" cy="7921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graphicFrame>
        <p:nvGraphicFramePr>
          <p:cNvPr id="92171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785784"/>
              </p:ext>
            </p:extLst>
          </p:nvPr>
        </p:nvGraphicFramePr>
        <p:xfrm>
          <a:off x="2567609" y="2780928"/>
          <a:ext cx="7345363" cy="1417638"/>
        </p:xfrm>
        <a:graphic>
          <a:graphicData uri="http://schemas.openxmlformats.org/drawingml/2006/table">
            <a:tbl>
              <a:tblPr/>
              <a:tblGrid>
                <a:gridCol w="2881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176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control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Permiten dirigir y controlar la potencia y los movimientos de la máquina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268547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ChangeArrowheads="1"/>
          </p:cNvSpPr>
          <p:nvPr/>
        </p:nvSpPr>
        <p:spPr bwMode="auto">
          <a:xfrm>
            <a:off x="2207569" y="1628801"/>
            <a:ext cx="8101013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graphicFrame>
        <p:nvGraphicFramePr>
          <p:cNvPr id="93195" name="Group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733417"/>
              </p:ext>
            </p:extLst>
          </p:nvPr>
        </p:nvGraphicFramePr>
        <p:xfrm>
          <a:off x="2639617" y="2996952"/>
          <a:ext cx="7463607" cy="1700350"/>
        </p:xfrm>
        <a:graphic>
          <a:graphicData uri="http://schemas.openxmlformats.org/drawingml/2006/table">
            <a:tbl>
              <a:tblPr/>
              <a:tblGrid>
                <a:gridCol w="281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658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0021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intercambio calórico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503" marB="45503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Permiten controlar la temperatura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Refrigeración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Calefacción</a:t>
                      </a: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503" marB="45503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783308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/>
          <p:cNvSpPr>
            <a:spLocks noChangeArrowheads="1"/>
          </p:cNvSpPr>
          <p:nvPr/>
        </p:nvSpPr>
        <p:spPr bwMode="auto">
          <a:xfrm>
            <a:off x="2279577" y="476672"/>
            <a:ext cx="8101013" cy="11524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Estructura general de las máquinas</a:t>
            </a:r>
            <a:endParaRPr lang="es-ES" sz="3600" b="1" dirty="0"/>
          </a:p>
        </p:txBody>
      </p:sp>
      <p:graphicFrame>
        <p:nvGraphicFramePr>
          <p:cNvPr id="94227" name="Group 19"/>
          <p:cNvGraphicFramePr>
            <a:graphicFrameLocks noGrp="1"/>
          </p:cNvGraphicFramePr>
          <p:nvPr/>
        </p:nvGraphicFramePr>
        <p:xfrm>
          <a:off x="2711625" y="1772816"/>
          <a:ext cx="7345363" cy="4407196"/>
        </p:xfrm>
        <a:graphic>
          <a:graphicData uri="http://schemas.openxmlformats.org/drawingml/2006/table">
            <a:tbl>
              <a:tblPr/>
              <a:tblGrid>
                <a:gridCol w="28813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640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069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Sistemas de protección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14" marB="45614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Se emplean para: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Proteger a las personas contra riesgos durante la operación de la máquina (velar por la integridad y salud de los trabajadores)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Proteger a las personas y la máquina contra las consecuencias de las fallas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r>
                        <a:rPr kumimoji="0" lang="es-MX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Control ambiental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Char char="•"/>
                        <a:tabLst/>
                      </a:pPr>
                      <a:endParaRPr kumimoji="0" lang="es-E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14" marB="45614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73211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37"/>
          <p:cNvSpPr>
            <a:spLocks noChangeArrowheads="1"/>
          </p:cNvSpPr>
          <p:nvPr/>
        </p:nvSpPr>
        <p:spPr bwMode="auto">
          <a:xfrm>
            <a:off x="1894063" y="3717032"/>
            <a:ext cx="1656184" cy="4320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/>
          <a:lstStyle/>
          <a:p>
            <a:pPr eaLnBrk="1" hangingPunct="1"/>
            <a:r>
              <a:rPr lang="es-MX" sz="2400" b="1" dirty="0"/>
              <a:t>MÁQUINA</a:t>
            </a:r>
            <a:endParaRPr lang="es-ES" sz="2400" b="1" dirty="0"/>
          </a:p>
        </p:txBody>
      </p:sp>
      <p:sp>
        <p:nvSpPr>
          <p:cNvPr id="121859" name="Rectangle 3"/>
          <p:cNvSpPr>
            <a:spLocks noChangeArrowheads="1"/>
          </p:cNvSpPr>
          <p:nvPr/>
        </p:nvSpPr>
        <p:spPr bwMode="auto">
          <a:xfrm>
            <a:off x="2186730" y="576156"/>
            <a:ext cx="7818540" cy="10799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3600" b="1" dirty="0"/>
              <a:t>Componentes de las máquinas</a:t>
            </a:r>
            <a:endParaRPr lang="es-ES" sz="3600" b="1" dirty="0"/>
          </a:p>
        </p:txBody>
      </p:sp>
      <p:graphicFrame>
        <p:nvGraphicFramePr>
          <p:cNvPr id="40998" name="Group 38"/>
          <p:cNvGraphicFramePr>
            <a:graphicFrameLocks noGrp="1"/>
          </p:cNvGraphicFramePr>
          <p:nvPr/>
        </p:nvGraphicFramePr>
        <p:xfrm>
          <a:off x="3863752" y="1988840"/>
          <a:ext cx="6096000" cy="3903662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0366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ELEMENTOS O PARTES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s-MX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MECANISMOS O DISPOSITIVOS</a:t>
                      </a:r>
                      <a:endParaRPr kumimoji="0" lang="es-E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12519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1"/>
          <p:cNvSpPr txBox="1">
            <a:spLocks noChangeArrowheads="1"/>
          </p:cNvSpPr>
          <p:nvPr/>
        </p:nvSpPr>
        <p:spPr bwMode="auto">
          <a:xfrm>
            <a:off x="913082" y="2584526"/>
            <a:ext cx="9731229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60363" indent="-360363" algn="ctr">
              <a:defRPr/>
            </a:pPr>
            <a:r>
              <a:rPr lang="es-ES" sz="28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Como se clasifican los elementos o partes de una máquina (según su función)</a:t>
            </a: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4503846" y="1479119"/>
            <a:ext cx="3184307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  <a:defRPr/>
            </a:pPr>
            <a:r>
              <a:rPr lang="es-MX" sz="3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ACTIVIDAD 5</a:t>
            </a:r>
          </a:p>
        </p:txBody>
      </p:sp>
    </p:spTree>
    <p:extLst>
      <p:ext uri="{BB962C8B-B14F-4D97-AF65-F5344CB8AC3E}">
        <p14:creationId xmlns:p14="http://schemas.microsoft.com/office/powerpoint/2010/main" val="375332602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2" name="Rectangle 4"/>
          <p:cNvSpPr>
            <a:spLocks noChangeArrowheads="1"/>
          </p:cNvSpPr>
          <p:nvPr/>
        </p:nvSpPr>
        <p:spPr bwMode="auto">
          <a:xfrm>
            <a:off x="2188790" y="544946"/>
            <a:ext cx="8243888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</a:t>
            </a:r>
          </a:p>
          <a:p>
            <a:pPr algn="ctr" eaLnBrk="1" hangingPunct="1"/>
            <a:r>
              <a:rPr lang="es-MX" sz="2800" b="1" dirty="0"/>
              <a:t>Elementos o partes</a:t>
            </a:r>
            <a:endParaRPr lang="es-ES" sz="2800" b="1" dirty="0"/>
          </a:p>
        </p:txBody>
      </p:sp>
      <p:sp>
        <p:nvSpPr>
          <p:cNvPr id="122883" name="Line 5"/>
          <p:cNvSpPr>
            <a:spLocks noChangeShapeType="1"/>
          </p:cNvSpPr>
          <p:nvPr/>
        </p:nvSpPr>
        <p:spPr bwMode="auto">
          <a:xfrm flipH="1" flipV="1">
            <a:off x="4223173" y="2729806"/>
            <a:ext cx="936625" cy="576262"/>
          </a:xfrm>
          <a:prstGeom prst="line">
            <a:avLst/>
          </a:prstGeom>
          <a:noFill/>
          <a:ln w="76200">
            <a:solidFill>
              <a:srgbClr val="37829E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22885" name="Line 7"/>
          <p:cNvSpPr>
            <a:spLocks noChangeShapeType="1"/>
          </p:cNvSpPr>
          <p:nvPr/>
        </p:nvSpPr>
        <p:spPr bwMode="auto">
          <a:xfrm>
            <a:off x="7752184" y="3620446"/>
            <a:ext cx="720725" cy="0"/>
          </a:xfrm>
          <a:prstGeom prst="line">
            <a:avLst/>
          </a:prstGeom>
          <a:noFill/>
          <a:ln w="76200">
            <a:solidFill>
              <a:srgbClr val="37829E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20838" name="Oval 8"/>
          <p:cNvSpPr>
            <a:spLocks noChangeArrowheads="1"/>
          </p:cNvSpPr>
          <p:nvPr/>
        </p:nvSpPr>
        <p:spPr bwMode="auto">
          <a:xfrm>
            <a:off x="5015334" y="2586932"/>
            <a:ext cx="2592388" cy="1800225"/>
          </a:xfrm>
          <a:prstGeom prst="ellipse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9525">
            <a:solidFill>
              <a:srgbClr val="FFFF00"/>
            </a:solidFill>
            <a:round/>
            <a:headEnd/>
            <a:tailEnd/>
          </a:ln>
          <a:effectLst>
            <a:outerShdw dist="107763" dir="2700000" algn="ctr" rotWithShape="0">
              <a:schemeClr val="hlink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s-MX" sz="2000" b="1" dirty="0">
                <a:solidFill>
                  <a:srgbClr val="37829E"/>
                </a:solidFill>
              </a:rPr>
              <a:t>ELEMENTOS</a:t>
            </a:r>
          </a:p>
          <a:p>
            <a:pPr algn="ctr" eaLnBrk="1" hangingPunct="1">
              <a:defRPr/>
            </a:pPr>
            <a:r>
              <a:rPr lang="es-MX" sz="2000" b="1" dirty="0">
                <a:solidFill>
                  <a:srgbClr val="37829E"/>
                </a:solidFill>
              </a:rPr>
              <a:t> O PARTES</a:t>
            </a:r>
          </a:p>
          <a:p>
            <a:pPr algn="ctr" eaLnBrk="1" hangingPunct="1">
              <a:defRPr/>
            </a:pPr>
            <a:r>
              <a:rPr lang="es-MX" sz="2000" b="1" dirty="0">
                <a:solidFill>
                  <a:srgbClr val="37829E"/>
                </a:solidFill>
              </a:rPr>
              <a:t>DE LA MÁQUINA</a:t>
            </a:r>
            <a:endParaRPr lang="es-ES" sz="2000" b="1" dirty="0">
              <a:solidFill>
                <a:srgbClr val="37829E"/>
              </a:solidFill>
            </a:endParaRPr>
          </a:p>
        </p:txBody>
      </p:sp>
      <p:sp>
        <p:nvSpPr>
          <p:cNvPr id="122887" name="Text Box 9"/>
          <p:cNvSpPr txBox="1">
            <a:spLocks noChangeArrowheads="1"/>
          </p:cNvSpPr>
          <p:nvPr/>
        </p:nvSpPr>
        <p:spPr bwMode="auto">
          <a:xfrm>
            <a:off x="3646909" y="1866206"/>
            <a:ext cx="1727200" cy="738664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1400" b="1" dirty="0">
                <a:solidFill>
                  <a:srgbClr val="37829E"/>
                </a:solidFill>
              </a:rPr>
              <a:t>De transmisión de </a:t>
            </a:r>
            <a:r>
              <a:rPr lang="es-MX" sz="1400" b="1" dirty="0">
                <a:solidFill>
                  <a:schemeClr val="accent2"/>
                </a:solidFill>
              </a:rPr>
              <a:t>movimiento rotatorio</a:t>
            </a:r>
            <a:endParaRPr lang="es-ES" sz="1400" b="1" dirty="0">
              <a:solidFill>
                <a:schemeClr val="accent2"/>
              </a:solidFill>
            </a:endParaRPr>
          </a:p>
        </p:txBody>
      </p:sp>
      <p:sp>
        <p:nvSpPr>
          <p:cNvPr id="122888" name="Text Box 10"/>
          <p:cNvSpPr txBox="1">
            <a:spLocks noChangeArrowheads="1"/>
          </p:cNvSpPr>
          <p:nvPr/>
        </p:nvSpPr>
        <p:spPr bwMode="auto">
          <a:xfrm>
            <a:off x="7175922" y="1794768"/>
            <a:ext cx="1727200" cy="523220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1400" b="1" dirty="0">
                <a:solidFill>
                  <a:srgbClr val="37829E"/>
                </a:solidFill>
              </a:rPr>
              <a:t>De transmisión de </a:t>
            </a:r>
            <a:r>
              <a:rPr lang="es-MX" sz="1400" b="1" dirty="0">
                <a:solidFill>
                  <a:schemeClr val="accent2"/>
                </a:solidFill>
              </a:rPr>
              <a:t>movimiento lineal</a:t>
            </a:r>
            <a:endParaRPr lang="es-ES" sz="1400" b="1" dirty="0">
              <a:solidFill>
                <a:schemeClr val="accent2"/>
              </a:solidFill>
            </a:endParaRPr>
          </a:p>
        </p:txBody>
      </p:sp>
      <p:sp>
        <p:nvSpPr>
          <p:cNvPr id="122889" name="Text Box 11"/>
          <p:cNvSpPr txBox="1">
            <a:spLocks noChangeArrowheads="1"/>
          </p:cNvSpPr>
          <p:nvPr/>
        </p:nvSpPr>
        <p:spPr bwMode="auto">
          <a:xfrm>
            <a:off x="8760247" y="3521968"/>
            <a:ext cx="1727200" cy="304800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1400" b="1">
                <a:solidFill>
                  <a:srgbClr val="37829E"/>
                </a:solidFill>
              </a:rPr>
              <a:t>De fijación/ unión</a:t>
            </a:r>
            <a:endParaRPr lang="es-ES" sz="1400" b="1">
              <a:solidFill>
                <a:srgbClr val="37829E"/>
              </a:solidFill>
            </a:endParaRPr>
          </a:p>
        </p:txBody>
      </p:sp>
      <p:sp>
        <p:nvSpPr>
          <p:cNvPr id="122890" name="Text Box 12"/>
          <p:cNvSpPr txBox="1">
            <a:spLocks noChangeArrowheads="1"/>
          </p:cNvSpPr>
          <p:nvPr/>
        </p:nvSpPr>
        <p:spPr bwMode="auto">
          <a:xfrm>
            <a:off x="2495972" y="3450531"/>
            <a:ext cx="1727200" cy="523220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1400" b="1">
                <a:solidFill>
                  <a:srgbClr val="37829E"/>
                </a:solidFill>
              </a:rPr>
              <a:t>De soporte y apoyo</a:t>
            </a:r>
            <a:endParaRPr lang="es-ES" sz="1400" b="1">
              <a:solidFill>
                <a:srgbClr val="37829E"/>
              </a:solidFill>
            </a:endParaRPr>
          </a:p>
        </p:txBody>
      </p:sp>
      <p:sp>
        <p:nvSpPr>
          <p:cNvPr id="122891" name="Text Box 13"/>
          <p:cNvSpPr txBox="1">
            <a:spLocks noChangeArrowheads="1"/>
          </p:cNvSpPr>
          <p:nvPr/>
        </p:nvSpPr>
        <p:spPr bwMode="auto">
          <a:xfrm>
            <a:off x="2783309" y="4674493"/>
            <a:ext cx="1727200" cy="523220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1400" b="1" dirty="0">
                <a:solidFill>
                  <a:srgbClr val="37829E"/>
                </a:solidFill>
              </a:rPr>
              <a:t>De obturación y sellado</a:t>
            </a:r>
            <a:endParaRPr lang="es-ES" sz="1400" b="1" dirty="0">
              <a:solidFill>
                <a:srgbClr val="37829E"/>
              </a:solidFill>
            </a:endParaRPr>
          </a:p>
        </p:txBody>
      </p:sp>
      <p:sp>
        <p:nvSpPr>
          <p:cNvPr id="122892" name="Text Box 14"/>
          <p:cNvSpPr txBox="1">
            <a:spLocks noChangeArrowheads="1"/>
          </p:cNvSpPr>
          <p:nvPr/>
        </p:nvSpPr>
        <p:spPr bwMode="auto">
          <a:xfrm>
            <a:off x="5447134" y="5322194"/>
            <a:ext cx="1727200" cy="1169551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1400" b="1">
                <a:solidFill>
                  <a:srgbClr val="37829E"/>
                </a:solidFill>
              </a:rPr>
              <a:t>De amortiguación y almacenamiento/ absorción de energía</a:t>
            </a:r>
            <a:endParaRPr lang="es-ES" sz="1400" b="1">
              <a:solidFill>
                <a:srgbClr val="37829E"/>
              </a:solidFill>
            </a:endParaRPr>
          </a:p>
        </p:txBody>
      </p:sp>
      <p:sp>
        <p:nvSpPr>
          <p:cNvPr id="122893" name="Text Box 15"/>
          <p:cNvSpPr txBox="1">
            <a:spLocks noChangeArrowheads="1"/>
          </p:cNvSpPr>
          <p:nvPr/>
        </p:nvSpPr>
        <p:spPr bwMode="auto">
          <a:xfrm>
            <a:off x="8328447" y="4387156"/>
            <a:ext cx="1727200" cy="738664"/>
          </a:xfrm>
          <a:prstGeom prst="rect">
            <a:avLst/>
          </a:prstGeom>
          <a:gradFill rotWithShape="1">
            <a:gsLst>
              <a:gs pos="0">
                <a:srgbClr val="767600"/>
              </a:gs>
              <a:gs pos="50000">
                <a:srgbClr val="FFFF00"/>
              </a:gs>
              <a:gs pos="100000">
                <a:srgbClr val="767600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lang="es-MX" sz="1400" b="1">
                <a:solidFill>
                  <a:srgbClr val="37829E"/>
                </a:solidFill>
              </a:rPr>
              <a:t> De los mecanismos de control</a:t>
            </a:r>
            <a:endParaRPr lang="es-ES" sz="1400" b="1">
              <a:solidFill>
                <a:srgbClr val="37829E"/>
              </a:solidFill>
            </a:endParaRPr>
          </a:p>
        </p:txBody>
      </p:sp>
      <p:sp>
        <p:nvSpPr>
          <p:cNvPr id="122894" name="Line 17"/>
          <p:cNvSpPr>
            <a:spLocks noChangeShapeType="1"/>
          </p:cNvSpPr>
          <p:nvPr/>
        </p:nvSpPr>
        <p:spPr bwMode="auto">
          <a:xfrm flipH="1">
            <a:off x="4439072" y="3739456"/>
            <a:ext cx="576262" cy="0"/>
          </a:xfrm>
          <a:prstGeom prst="line">
            <a:avLst/>
          </a:prstGeom>
          <a:noFill/>
          <a:ln w="76200">
            <a:solidFill>
              <a:srgbClr val="37829E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22895" name="Line 18"/>
          <p:cNvSpPr>
            <a:spLocks noChangeShapeType="1"/>
          </p:cNvSpPr>
          <p:nvPr/>
        </p:nvSpPr>
        <p:spPr bwMode="auto">
          <a:xfrm>
            <a:off x="7247359" y="4242693"/>
            <a:ext cx="865188" cy="431800"/>
          </a:xfrm>
          <a:prstGeom prst="line">
            <a:avLst/>
          </a:prstGeom>
          <a:noFill/>
          <a:ln w="76200">
            <a:solidFill>
              <a:srgbClr val="37829E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22896" name="Line 20"/>
          <p:cNvSpPr>
            <a:spLocks noChangeShapeType="1"/>
          </p:cNvSpPr>
          <p:nvPr/>
        </p:nvSpPr>
        <p:spPr bwMode="auto">
          <a:xfrm flipH="1">
            <a:off x="4654972" y="4242693"/>
            <a:ext cx="792162" cy="647700"/>
          </a:xfrm>
          <a:prstGeom prst="line">
            <a:avLst/>
          </a:prstGeom>
          <a:noFill/>
          <a:ln w="76200">
            <a:solidFill>
              <a:srgbClr val="37829E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22897" name="Line 21"/>
          <p:cNvSpPr>
            <a:spLocks noChangeShapeType="1"/>
          </p:cNvSpPr>
          <p:nvPr/>
        </p:nvSpPr>
        <p:spPr bwMode="auto">
          <a:xfrm>
            <a:off x="6312322" y="4458594"/>
            <a:ext cx="0" cy="792163"/>
          </a:xfrm>
          <a:prstGeom prst="line">
            <a:avLst/>
          </a:prstGeom>
          <a:noFill/>
          <a:ln w="76200">
            <a:solidFill>
              <a:srgbClr val="37829E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  <p:sp>
        <p:nvSpPr>
          <p:cNvPr id="18" name="Line 18">
            <a:extLst>
              <a:ext uri="{FF2B5EF4-FFF2-40B4-BE49-F238E27FC236}">
                <a16:creationId xmlns:a16="http://schemas.microsoft.com/office/drawing/2014/main" id="{C8339B43-EE04-42F7-A660-FB84BB0B8F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59268" y="2343969"/>
            <a:ext cx="801733" cy="672402"/>
          </a:xfrm>
          <a:prstGeom prst="line">
            <a:avLst/>
          </a:prstGeom>
          <a:noFill/>
          <a:ln w="76200">
            <a:solidFill>
              <a:srgbClr val="37829E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7833207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30" name="Rectangle 3"/>
          <p:cNvSpPr>
            <a:spLocks noChangeArrowheads="1"/>
          </p:cNvSpPr>
          <p:nvPr/>
        </p:nvSpPr>
        <p:spPr bwMode="auto">
          <a:xfrm>
            <a:off x="1136708" y="566557"/>
            <a:ext cx="9918584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elementos o partes</a:t>
            </a:r>
            <a:endParaRPr lang="es-ES" sz="2800" b="1" dirty="0"/>
          </a:p>
        </p:txBody>
      </p:sp>
      <p:pic>
        <p:nvPicPr>
          <p:cNvPr id="124931" name="Picture 20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3552" y="1805070"/>
            <a:ext cx="7832614" cy="4486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57509099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774010" y="188053"/>
            <a:ext cx="9019067" cy="1007839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sz="2800" b="1" dirty="0">
                <a:ea typeface="+mn-ea"/>
                <a:cs typeface="+mn-cs"/>
              </a:rPr>
              <a:t>Elementos de transmisión convencionales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4605A90-7B30-482D-A461-70C77DD365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05" y="1070057"/>
            <a:ext cx="5184906" cy="5184906"/>
          </a:xfrm>
          <a:prstGeom prst="rect">
            <a:avLst/>
          </a:prstGeom>
        </p:spPr>
      </p:pic>
      <p:pic>
        <p:nvPicPr>
          <p:cNvPr id="2052" name="Picture 4" descr="https://4.bp.blogspot.com/-WtsoZt6OANw/VzCIo9B1gZI/AAAAAAAAAsY/hOBWLiUR5YsncXLjITy21_5DoXbBjFJWwCLcB/s1600/Figura%2B2.jpg">
            <a:extLst>
              <a:ext uri="{FF2B5EF4-FFF2-40B4-BE49-F238E27FC236}">
                <a16:creationId xmlns:a16="http://schemas.microsoft.com/office/drawing/2014/main" id="{18547B5D-7C14-479C-ADBA-240E075D4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8916" y="961000"/>
            <a:ext cx="3533775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44440F2B-2EE4-4EA9-8FA4-1A860CDC6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41390" y="3351182"/>
            <a:ext cx="5068305" cy="3081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3870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3 CuadroTexto"/>
          <p:cNvSpPr txBox="1">
            <a:spLocks noChangeArrowheads="1"/>
          </p:cNvSpPr>
          <p:nvPr/>
        </p:nvSpPr>
        <p:spPr bwMode="auto">
          <a:xfrm>
            <a:off x="1131296" y="668217"/>
            <a:ext cx="1054496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3200" dirty="0"/>
              <a:t>Materiales empleados en elementos de máquinas</a:t>
            </a:r>
            <a:endParaRPr lang="es-ES" sz="3200" dirty="0"/>
          </a:p>
        </p:txBody>
      </p:sp>
      <p:pic>
        <p:nvPicPr>
          <p:cNvPr id="126979" name="Picture 2"/>
          <p:cNvPicPr>
            <a:picLocks noChangeAspect="1" noChangeArrowheads="1"/>
          </p:cNvPicPr>
          <p:nvPr/>
        </p:nvPicPr>
        <p:blipFill>
          <a:blip r:embed="rId2"/>
          <a:srcRect r="3125"/>
          <a:stretch>
            <a:fillRect/>
          </a:stretch>
        </p:blipFill>
        <p:spPr bwMode="auto">
          <a:xfrm>
            <a:off x="3071551" y="1676371"/>
            <a:ext cx="6664449" cy="47582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279425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2" name="3 CuadroTexto"/>
          <p:cNvSpPr txBox="1">
            <a:spLocks noChangeArrowheads="1"/>
          </p:cNvSpPr>
          <p:nvPr/>
        </p:nvSpPr>
        <p:spPr bwMode="auto">
          <a:xfrm>
            <a:off x="838210" y="676605"/>
            <a:ext cx="10515579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CO" sz="3200" dirty="0"/>
              <a:t>Materiales empleados en elementos de máquinas</a:t>
            </a:r>
            <a:endParaRPr lang="es-ES" sz="3200" dirty="0"/>
          </a:p>
        </p:txBody>
      </p:sp>
      <p:pic>
        <p:nvPicPr>
          <p:cNvPr id="12800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5216" y="1682705"/>
            <a:ext cx="7623139" cy="46780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0610757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026" name="Picture 1" descr="D:\CARLOS MARIO BUSTAMANTE\Plasticos de Ingenieria (marzo-2011)\especificaciones técnicas.JPG"/>
          <p:cNvPicPr>
            <a:picLocks noChangeAspect="1" noChangeArrowheads="1"/>
          </p:cNvPicPr>
          <p:nvPr/>
        </p:nvPicPr>
        <p:blipFill>
          <a:blip r:embed="rId2"/>
          <a:srcRect l="3050" t="1985" r="3931" b="56956"/>
          <a:stretch>
            <a:fillRect/>
          </a:stretch>
        </p:blipFill>
        <p:spPr bwMode="auto">
          <a:xfrm>
            <a:off x="1542445" y="340423"/>
            <a:ext cx="9107109" cy="61771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982767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050" name="Picture 2" descr="D:\CARLOS MARIO BUSTAMANTE\Plasticos de Ingenieria (marzo-2011)\especificaciones técnicas.JPG"/>
          <p:cNvPicPr>
            <a:picLocks noChangeAspect="1" noChangeArrowheads="1"/>
          </p:cNvPicPr>
          <p:nvPr/>
        </p:nvPicPr>
        <p:blipFill rotWithShape="1">
          <a:blip r:embed="rId2"/>
          <a:srcRect l="7571" t="44293" r="3819" b="3143"/>
          <a:stretch/>
        </p:blipFill>
        <p:spPr bwMode="auto">
          <a:xfrm>
            <a:off x="2599950" y="241669"/>
            <a:ext cx="6992100" cy="63746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4605018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3962400" y="755650"/>
            <a:ext cx="8229600" cy="590550"/>
          </a:xfrm>
        </p:spPr>
        <p:txBody>
          <a:bodyPr/>
          <a:lstStyle/>
          <a:p>
            <a:pPr>
              <a:defRPr/>
            </a:pPr>
            <a:r>
              <a:rPr lang="es-ES" sz="2800" b="1" dirty="0">
                <a:ea typeface="+mn-ea"/>
                <a:cs typeface="+mn-cs"/>
              </a:rPr>
              <a:t>Plásticos en ingeniería</a:t>
            </a:r>
          </a:p>
        </p:txBody>
      </p:sp>
      <p:sp>
        <p:nvSpPr>
          <p:cNvPr id="131075" name="Rectangle 5"/>
          <p:cNvSpPr>
            <a:spLocks noChangeArrowheads="1"/>
          </p:cNvSpPr>
          <p:nvPr/>
        </p:nvSpPr>
        <p:spPr bwMode="auto">
          <a:xfrm>
            <a:off x="6003635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es-ES_tradnl"/>
          </a:p>
        </p:txBody>
      </p:sp>
      <p:pic>
        <p:nvPicPr>
          <p:cNvPr id="131076" name="Picture 5" descr="D:\CARLOS MARIO BUSTAMANTE\Plasticos de Ingenieria (marzo-2011)\Canjilones\100-0062_IMG.JPG"/>
          <p:cNvPicPr>
            <a:picLocks noChangeAspect="1" noChangeArrowheads="1"/>
          </p:cNvPicPr>
          <p:nvPr/>
        </p:nvPicPr>
        <p:blipFill>
          <a:blip r:embed="rId2"/>
          <a:srcRect l="9981" t="6885" r="4634" b="2039"/>
          <a:stretch>
            <a:fillRect/>
          </a:stretch>
        </p:blipFill>
        <p:spPr bwMode="auto">
          <a:xfrm>
            <a:off x="2441574" y="1700809"/>
            <a:ext cx="2819400" cy="2255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77" name="Picture 6" descr="D:\CARLOS MARIO BUSTAMANTE\Plasticos de Ingenieria (marzo-2011)\Bujes\102-0225_IMG.JPG"/>
          <p:cNvPicPr>
            <a:picLocks noChangeAspect="1" noChangeArrowheads="1"/>
          </p:cNvPicPr>
          <p:nvPr/>
        </p:nvPicPr>
        <p:blipFill>
          <a:blip r:embed="rId3"/>
          <a:srcRect l="17044" t="8348" r="27235" b="18610"/>
          <a:stretch>
            <a:fillRect/>
          </a:stretch>
        </p:blipFill>
        <p:spPr bwMode="auto">
          <a:xfrm>
            <a:off x="6574431" y="1578570"/>
            <a:ext cx="2738438" cy="26922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78" name="Picture 7" descr="D:\CARLOS MARIO BUSTAMANTE\Plasticos de Ingenieria (marzo-2011)\Sinfines Embotelladoras\IMG_0118.JPG"/>
          <p:cNvPicPr>
            <a:picLocks noChangeAspect="1" noChangeArrowheads="1"/>
          </p:cNvPicPr>
          <p:nvPr/>
        </p:nvPicPr>
        <p:blipFill>
          <a:blip r:embed="rId4"/>
          <a:srcRect t="31010" r="1102" b="26421"/>
          <a:stretch>
            <a:fillRect/>
          </a:stretch>
        </p:blipFill>
        <p:spPr bwMode="auto">
          <a:xfrm>
            <a:off x="6574431" y="4965504"/>
            <a:ext cx="2738438" cy="884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1079" name="Picture 8" descr="D:\CARLOS MARIO BUSTAMANTE\Plasticos de Ingenieria (marzo-2011)\Pinon TableTop\IMG_0110.JPG"/>
          <p:cNvPicPr>
            <a:picLocks noChangeAspect="1" noChangeArrowheads="1"/>
          </p:cNvPicPr>
          <p:nvPr/>
        </p:nvPicPr>
        <p:blipFill>
          <a:blip r:embed="rId5"/>
          <a:srcRect l="1680" t="22305" r="2071" b="28944"/>
          <a:stretch>
            <a:fillRect/>
          </a:stretch>
        </p:blipFill>
        <p:spPr bwMode="auto">
          <a:xfrm>
            <a:off x="2441574" y="4249749"/>
            <a:ext cx="2819400" cy="1903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8948465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3546020" y="841770"/>
            <a:ext cx="5100359" cy="5000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" sz="2800" b="1" dirty="0">
                <a:ea typeface="+mn-ea"/>
                <a:cs typeface="+mn-cs"/>
              </a:rPr>
              <a:t>Especificaciones de piñones</a:t>
            </a:r>
          </a:p>
        </p:txBody>
      </p:sp>
      <p:sp>
        <p:nvSpPr>
          <p:cNvPr id="133123" name="2 Marcador de contenido"/>
          <p:cNvSpPr>
            <a:spLocks noGrp="1"/>
          </p:cNvSpPr>
          <p:nvPr>
            <p:ph idx="4294967295"/>
          </p:nvPr>
        </p:nvSpPr>
        <p:spPr bwMode="auto">
          <a:xfrm>
            <a:off x="1130060" y="2593466"/>
            <a:ext cx="4684143" cy="3582987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Número de dientes</a:t>
            </a:r>
          </a:p>
          <a:p>
            <a:r>
              <a:rPr lang="es-ES" dirty="0">
                <a:solidFill>
                  <a:schemeClr val="tx1"/>
                </a:solidFill>
              </a:rPr>
              <a:t>Tipo de manzana</a:t>
            </a:r>
          </a:p>
          <a:p>
            <a:r>
              <a:rPr lang="es-ES" dirty="0">
                <a:solidFill>
                  <a:schemeClr val="tx1"/>
                </a:solidFill>
              </a:rPr>
              <a:t>Número de la cadena</a:t>
            </a:r>
          </a:p>
          <a:p>
            <a:r>
              <a:rPr lang="es-ES" dirty="0">
                <a:solidFill>
                  <a:schemeClr val="tx1"/>
                </a:solidFill>
              </a:rPr>
              <a:t>Número de ramales</a:t>
            </a:r>
          </a:p>
          <a:p>
            <a:pPr algn="ctr">
              <a:buFontTx/>
              <a:buNone/>
            </a:pPr>
            <a:endParaRPr lang="es-ES" dirty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s-ES" sz="4400" dirty="0">
                <a:solidFill>
                  <a:schemeClr val="tx1"/>
                </a:solidFill>
              </a:rPr>
              <a:t>Piñón 19B80-2</a:t>
            </a:r>
          </a:p>
        </p:txBody>
      </p:sp>
      <p:sp>
        <p:nvSpPr>
          <p:cNvPr id="4" name="1 Título"/>
          <p:cNvSpPr txBox="1">
            <a:spLocks/>
          </p:cNvSpPr>
          <p:nvPr/>
        </p:nvSpPr>
        <p:spPr>
          <a:xfrm>
            <a:off x="3913965" y="1571817"/>
            <a:ext cx="3800475" cy="500062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rPr lang="es-ES" sz="2800" b="1" dirty="0">
                <a:latin typeface="+mj-lt"/>
              </a:rPr>
              <a:t>Normas ISO – ANSI</a:t>
            </a:r>
          </a:p>
        </p:txBody>
      </p:sp>
      <p:pic>
        <p:nvPicPr>
          <p:cNvPr id="133125" name="Picture 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28049" y="2301864"/>
            <a:ext cx="3297237" cy="312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3758638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E393620-455D-42AE-BB0D-DA828F273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962" y="349633"/>
            <a:ext cx="10506075" cy="615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6224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1831675" y="561653"/>
            <a:ext cx="9158377" cy="127577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s-ES" sz="3200" b="1" dirty="0">
                <a:ea typeface="+mn-ea"/>
                <a:cs typeface="+mn-cs"/>
              </a:rPr>
              <a:t>Especificaciones de correas o bandas</a:t>
            </a:r>
          </a:p>
        </p:txBody>
      </p:sp>
      <p:sp>
        <p:nvSpPr>
          <p:cNvPr id="135171" name="2 Marcador de contenido"/>
          <p:cNvSpPr>
            <a:spLocks noGrp="1"/>
          </p:cNvSpPr>
          <p:nvPr>
            <p:ph idx="4294967295"/>
          </p:nvPr>
        </p:nvSpPr>
        <p:spPr bwMode="auto">
          <a:xfrm>
            <a:off x="1853492" y="2030371"/>
            <a:ext cx="4242508" cy="3254913"/>
          </a:xfr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s-ES" dirty="0">
                <a:solidFill>
                  <a:schemeClr val="tx1"/>
                </a:solidFill>
              </a:rPr>
              <a:t>Sección</a:t>
            </a:r>
          </a:p>
          <a:p>
            <a:r>
              <a:rPr lang="es-ES" dirty="0">
                <a:solidFill>
                  <a:schemeClr val="tx1"/>
                </a:solidFill>
              </a:rPr>
              <a:t>Longitud</a:t>
            </a:r>
          </a:p>
          <a:p>
            <a:pPr>
              <a:buFontTx/>
              <a:buNone/>
            </a:pPr>
            <a:r>
              <a:rPr lang="es-ES" dirty="0">
                <a:solidFill>
                  <a:schemeClr val="tx1"/>
                </a:solidFill>
              </a:rPr>
              <a:t>A50, B80, 3V250</a:t>
            </a:r>
          </a:p>
          <a:p>
            <a:pPr>
              <a:buFontTx/>
              <a:buNone/>
            </a:pPr>
            <a:r>
              <a:rPr lang="es-ES" dirty="0">
                <a:solidFill>
                  <a:schemeClr val="tx1"/>
                </a:solidFill>
              </a:rPr>
              <a:t>Secciones clásicas:</a:t>
            </a:r>
          </a:p>
          <a:p>
            <a:pPr>
              <a:buFontTx/>
              <a:buNone/>
            </a:pPr>
            <a:r>
              <a:rPr lang="es-ES" dirty="0">
                <a:solidFill>
                  <a:schemeClr val="tx1"/>
                </a:solidFill>
              </a:rPr>
              <a:t>A, B, C, D, E</a:t>
            </a:r>
          </a:p>
          <a:p>
            <a:pPr>
              <a:buFontTx/>
              <a:buNone/>
            </a:pPr>
            <a:r>
              <a:rPr lang="es-ES" dirty="0">
                <a:solidFill>
                  <a:schemeClr val="tx1"/>
                </a:solidFill>
              </a:rPr>
              <a:t>Secciones de alto rendimiento:</a:t>
            </a:r>
          </a:p>
          <a:p>
            <a:pPr>
              <a:buFontTx/>
              <a:buNone/>
            </a:pPr>
            <a:r>
              <a:rPr lang="es-ES" dirty="0">
                <a:solidFill>
                  <a:schemeClr val="tx1"/>
                </a:solidFill>
              </a:rPr>
              <a:t>3V, 5V, 8V</a:t>
            </a:r>
          </a:p>
        </p:txBody>
      </p:sp>
      <p:pic>
        <p:nvPicPr>
          <p:cNvPr id="3074" name="Picture 2" descr="TRANSMISIÓN POR CORREAS">
            <a:extLst>
              <a:ext uri="{FF2B5EF4-FFF2-40B4-BE49-F238E27FC236}">
                <a16:creationId xmlns:a16="http://schemas.microsoft.com/office/drawing/2014/main" id="{450F65B3-1C41-4A9E-A954-70D061F47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329" y="2030371"/>
            <a:ext cx="3905896" cy="3254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4040414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 idx="4294967295"/>
          </p:nvPr>
        </p:nvSpPr>
        <p:spPr>
          <a:xfrm>
            <a:off x="5996407" y="1946006"/>
            <a:ext cx="4789487" cy="1104900"/>
          </a:xfrm>
        </p:spPr>
        <p:txBody>
          <a:bodyPr/>
          <a:lstStyle/>
          <a:p>
            <a:pPr algn="ctr">
              <a:defRPr/>
            </a:pPr>
            <a:r>
              <a:rPr lang="es-ES" sz="3200" b="1" dirty="0">
                <a:ea typeface="+mn-ea"/>
                <a:cs typeface="+mn-cs"/>
              </a:rPr>
              <a:t>Especificaciones de </a:t>
            </a:r>
            <a:br>
              <a:rPr lang="es-ES" sz="3200" b="1" dirty="0">
                <a:ea typeface="+mn-ea"/>
                <a:cs typeface="+mn-cs"/>
              </a:rPr>
            </a:br>
            <a:r>
              <a:rPr lang="es-ES" sz="3200" b="1" dirty="0">
                <a:ea typeface="+mn-ea"/>
                <a:cs typeface="+mn-cs"/>
              </a:rPr>
              <a:t>correas o bandas</a:t>
            </a:r>
          </a:p>
        </p:txBody>
      </p:sp>
      <p:sp>
        <p:nvSpPr>
          <p:cNvPr id="136195" name="4 Rectángulo"/>
          <p:cNvSpPr>
            <a:spLocks noChangeArrowheads="1"/>
          </p:cNvSpPr>
          <p:nvPr/>
        </p:nvSpPr>
        <p:spPr bwMode="auto">
          <a:xfrm>
            <a:off x="6107501" y="3717032"/>
            <a:ext cx="4295955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s-ES" sz="3200" b="1" dirty="0" err="1"/>
              <a:t>Tensímetro</a:t>
            </a:r>
            <a:r>
              <a:rPr lang="es-ES" sz="3200" b="1" dirty="0"/>
              <a:t> simple</a:t>
            </a:r>
            <a:endParaRPr lang="es-ES" sz="3200" dirty="0"/>
          </a:p>
        </p:txBody>
      </p:sp>
      <p:pic>
        <p:nvPicPr>
          <p:cNvPr id="13619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59371" y="1068695"/>
            <a:ext cx="4392488" cy="52966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9842335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18" name="Rectangle 3"/>
          <p:cNvSpPr>
            <a:spLocks noChangeArrowheads="1"/>
          </p:cNvSpPr>
          <p:nvPr/>
        </p:nvSpPr>
        <p:spPr bwMode="auto">
          <a:xfrm>
            <a:off x="1553361" y="502440"/>
            <a:ext cx="9085277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elementos o partes</a:t>
            </a:r>
            <a:endParaRPr lang="es-ES" sz="2800" b="1" dirty="0"/>
          </a:p>
        </p:txBody>
      </p:sp>
      <p:pic>
        <p:nvPicPr>
          <p:cNvPr id="137219" name="Picture 1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296" y="1442238"/>
            <a:ext cx="7632847" cy="46113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3894189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3"/>
          <p:cNvSpPr>
            <a:spLocks noChangeArrowheads="1"/>
          </p:cNvSpPr>
          <p:nvPr/>
        </p:nvSpPr>
        <p:spPr bwMode="auto">
          <a:xfrm>
            <a:off x="1335906" y="487868"/>
            <a:ext cx="9202723" cy="10078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elementos o partes</a:t>
            </a:r>
            <a:endParaRPr lang="es-ES" sz="2800" b="1" dirty="0"/>
          </a:p>
        </p:txBody>
      </p:sp>
      <p:pic>
        <p:nvPicPr>
          <p:cNvPr id="138243" name="Picture 2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54428" y="1698718"/>
            <a:ext cx="7165677" cy="42959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9258458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3351721" y="842826"/>
            <a:ext cx="5924550" cy="700087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" sz="3200" b="1" dirty="0">
                <a:ea typeface="+mn-ea"/>
                <a:cs typeface="+mn-cs"/>
              </a:rPr>
              <a:t>Especificación de tornillos</a:t>
            </a:r>
          </a:p>
        </p:txBody>
      </p:sp>
      <p:sp>
        <p:nvSpPr>
          <p:cNvPr id="70659" name="2 Marcador de contenido"/>
          <p:cNvSpPr>
            <a:spLocks noGrp="1"/>
          </p:cNvSpPr>
          <p:nvPr>
            <p:ph idx="4294967295"/>
          </p:nvPr>
        </p:nvSpPr>
        <p:spPr bwMode="auto">
          <a:xfrm>
            <a:off x="1638563" y="1993268"/>
            <a:ext cx="9350867" cy="3959225"/>
          </a:xfrm>
          <a:ln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algn="just">
              <a:defRPr/>
            </a:pPr>
            <a:r>
              <a:rPr lang="es-ES" sz="2400" dirty="0">
                <a:solidFill>
                  <a:schemeClr val="tx1"/>
                </a:solidFill>
              </a:rPr>
              <a:t>Tipo de cabeza, diámetro, tipo de rosca, longitud, especificación de resistencia, accesorios, tratamiento, acabado o material especial.</a:t>
            </a:r>
          </a:p>
          <a:p>
            <a:pPr algn="just">
              <a:spcBef>
                <a:spcPct val="0"/>
              </a:spcBef>
              <a:buFontTx/>
              <a:buNone/>
              <a:defRPr/>
            </a:pPr>
            <a:endParaRPr lang="es-ES" sz="2400" dirty="0">
              <a:solidFill>
                <a:schemeClr val="tx1"/>
              </a:solidFill>
              <a:latin typeface="+mj-lt"/>
            </a:endParaRPr>
          </a:p>
          <a:p>
            <a:pPr algn="just">
              <a:spcBef>
                <a:spcPct val="0"/>
              </a:spcBef>
              <a:buFontTx/>
              <a:buNone/>
              <a:defRPr/>
            </a:pPr>
            <a:r>
              <a:rPr lang="es-ES" sz="2400" dirty="0">
                <a:solidFill>
                  <a:schemeClr val="tx1"/>
                </a:solidFill>
                <a:latin typeface="+mj-lt"/>
              </a:rPr>
              <a:t>    Torque de apriete para ensamble.</a:t>
            </a:r>
          </a:p>
          <a:p>
            <a:pPr algn="just">
              <a:spcBef>
                <a:spcPct val="0"/>
              </a:spcBef>
              <a:buFontTx/>
              <a:buNone/>
              <a:defRPr/>
            </a:pPr>
            <a:endParaRPr lang="es-ES" sz="2400" dirty="0">
              <a:solidFill>
                <a:schemeClr val="tx1"/>
              </a:solidFill>
              <a:latin typeface="+mj-lt"/>
            </a:endParaRPr>
          </a:p>
          <a:p>
            <a:pPr algn="just">
              <a:defRPr/>
            </a:pPr>
            <a:r>
              <a:rPr lang="es-ES" sz="2400" dirty="0">
                <a:solidFill>
                  <a:schemeClr val="tx1"/>
                </a:solidFill>
              </a:rPr>
              <a:t>Tornillo cabeza hexagonal de 5/8”UNCx3” SAE grado 5, con tuerca y arandela plana, galvanizado.</a:t>
            </a:r>
          </a:p>
          <a:p>
            <a:pPr algn="just">
              <a:buFontTx/>
              <a:buNone/>
              <a:defRPr/>
            </a:pPr>
            <a:endParaRPr lang="es-ES" sz="2400" dirty="0">
              <a:solidFill>
                <a:schemeClr val="tx1"/>
              </a:solidFill>
            </a:endParaRPr>
          </a:p>
          <a:p>
            <a:pPr algn="just">
              <a:buFontTx/>
              <a:buNone/>
              <a:defRPr/>
            </a:pPr>
            <a:r>
              <a:rPr lang="es-ES" sz="2400" dirty="0">
                <a:solidFill>
                  <a:schemeClr val="tx1"/>
                </a:solidFill>
              </a:rPr>
              <a:t>    Torque de apriete 90 lb x pie.</a:t>
            </a:r>
          </a:p>
        </p:txBody>
      </p:sp>
    </p:spTree>
    <p:extLst>
      <p:ext uri="{BB962C8B-B14F-4D97-AF65-F5344CB8AC3E}">
        <p14:creationId xmlns:p14="http://schemas.microsoft.com/office/powerpoint/2010/main" val="40231477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ChangeArrowheads="1"/>
          </p:cNvSpPr>
          <p:nvPr/>
        </p:nvSpPr>
        <p:spPr bwMode="auto">
          <a:xfrm>
            <a:off x="2424114" y="1052514"/>
            <a:ext cx="824388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es-CO" sz="3600" b="1">
              <a:solidFill>
                <a:srgbClr val="F88D02"/>
              </a:solidFill>
            </a:endParaRPr>
          </a:p>
        </p:txBody>
      </p:sp>
      <p:pic>
        <p:nvPicPr>
          <p:cNvPr id="140291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10079" y="660674"/>
            <a:ext cx="8171842" cy="5673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2243344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2424114" y="1052514"/>
            <a:ext cx="8243887" cy="936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endParaRPr lang="es-CO" sz="3600" b="1">
              <a:solidFill>
                <a:srgbClr val="F88D02"/>
              </a:solidFill>
            </a:endParaRPr>
          </a:p>
        </p:txBody>
      </p:sp>
      <p:pic>
        <p:nvPicPr>
          <p:cNvPr id="14131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4376" y="502779"/>
            <a:ext cx="8323248" cy="5869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3053489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338" name="Rectangle 3"/>
          <p:cNvSpPr>
            <a:spLocks noChangeArrowheads="1"/>
          </p:cNvSpPr>
          <p:nvPr/>
        </p:nvSpPr>
        <p:spPr bwMode="auto">
          <a:xfrm>
            <a:off x="1561750" y="627305"/>
            <a:ext cx="9068500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elementos o partes</a:t>
            </a:r>
            <a:endParaRPr lang="es-ES" sz="2800" b="1" dirty="0"/>
          </a:p>
        </p:txBody>
      </p:sp>
      <p:pic>
        <p:nvPicPr>
          <p:cNvPr id="142339" name="Picture 16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91618" y="1807322"/>
            <a:ext cx="7848600" cy="435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49903434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3"/>
          <p:cNvSpPr>
            <a:spLocks noChangeArrowheads="1"/>
          </p:cNvSpPr>
          <p:nvPr/>
        </p:nvSpPr>
        <p:spPr bwMode="auto">
          <a:xfrm>
            <a:off x="1275127" y="553000"/>
            <a:ext cx="9026554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elementos o partes</a:t>
            </a:r>
            <a:endParaRPr lang="es-ES" sz="2800" b="1" dirty="0"/>
          </a:p>
        </p:txBody>
      </p:sp>
      <p:pic>
        <p:nvPicPr>
          <p:cNvPr id="143363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83744" y="1766824"/>
            <a:ext cx="7083425" cy="460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059841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3"/>
          <p:cNvSpPr>
            <a:spLocks noChangeArrowheads="1"/>
          </p:cNvSpPr>
          <p:nvPr/>
        </p:nvSpPr>
        <p:spPr bwMode="auto">
          <a:xfrm>
            <a:off x="1537029" y="379497"/>
            <a:ext cx="9278224" cy="936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elementos o partes</a:t>
            </a:r>
            <a:endParaRPr lang="es-ES" sz="2800" b="1" dirty="0"/>
          </a:p>
        </p:txBody>
      </p:sp>
      <p:pic>
        <p:nvPicPr>
          <p:cNvPr id="144387" name="Picture 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13716" y="1493174"/>
            <a:ext cx="7524850" cy="46705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0928248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410" name="Rectangle 3"/>
          <p:cNvSpPr>
            <a:spLocks noChangeArrowheads="1"/>
          </p:cNvSpPr>
          <p:nvPr/>
        </p:nvSpPr>
        <p:spPr bwMode="auto">
          <a:xfrm>
            <a:off x="1230386" y="518237"/>
            <a:ext cx="9731228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elementos o partes</a:t>
            </a:r>
            <a:endParaRPr lang="es-ES" sz="2800" b="1" dirty="0"/>
          </a:p>
        </p:txBody>
      </p:sp>
      <p:pic>
        <p:nvPicPr>
          <p:cNvPr id="145411" name="Picture 2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61459" y="1593932"/>
            <a:ext cx="6906247" cy="47458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5621307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>
            <a:off x="3428999" y="426958"/>
            <a:ext cx="5334000" cy="500063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s-ES" sz="2800" b="1" dirty="0">
                <a:ea typeface="+mn-ea"/>
                <a:cs typeface="+mn-cs"/>
              </a:rPr>
              <a:t>Designación de rodamientos</a:t>
            </a:r>
          </a:p>
        </p:txBody>
      </p:sp>
      <p:graphicFrame>
        <p:nvGraphicFramePr>
          <p:cNvPr id="5" name="4 Tabla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7637"/>
              </p:ext>
            </p:extLst>
          </p:nvPr>
        </p:nvGraphicFramePr>
        <p:xfrm>
          <a:off x="1471612" y="1724105"/>
          <a:ext cx="9248775" cy="400835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95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92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65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62312: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Designación básica</a:t>
                      </a: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6: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Rodamiento rígido de bolas</a:t>
                      </a: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623: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Serie</a:t>
                      </a: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12 x 5 = 60: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Diámetro interior</a:t>
                      </a: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r>
                        <a:rPr lang="es-CO" sz="1600" b="1" dirty="0">
                          <a:solidFill>
                            <a:schemeClr val="tx1"/>
                          </a:solidFill>
                        </a:rPr>
                        <a:t>SUFIJOS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endParaRPr lang="es-CO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RS1: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Obturación rozante a un lado</a:t>
                      </a: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NR: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Ranura para anillo elástico</a:t>
                      </a: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1058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TN9: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Jaula de poliamida 6.6 moldeada y reforzada con fibra de vidrio</a:t>
                      </a: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8633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P63: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Precisión dimensional y de giro según</a:t>
                      </a:r>
                      <a:r>
                        <a:rPr lang="es-CO" sz="1600" baseline="0" dirty="0">
                          <a:solidFill>
                            <a:schemeClr val="tx1"/>
                          </a:solidFill>
                        </a:rPr>
                        <a:t> ISO clase 6, y juego interno C3</a:t>
                      </a:r>
                      <a:endParaRPr lang="es-CO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LT20C: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Llena</a:t>
                      </a:r>
                      <a:r>
                        <a:rPr lang="es-CO" sz="1600" baseline="0" dirty="0">
                          <a:solidFill>
                            <a:schemeClr val="tx1"/>
                          </a:solidFill>
                        </a:rPr>
                        <a:t>do completo de grasa para bajas temperaturas </a:t>
                      </a:r>
                      <a:endParaRPr lang="es-CO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65"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VB123:</a:t>
                      </a:r>
                    </a:p>
                  </a:txBody>
                  <a:tcPr marL="91436" marR="91436" marT="45723" marB="45723"/>
                </a:tc>
                <a:tc>
                  <a:txBody>
                    <a:bodyPr/>
                    <a:lstStyle/>
                    <a:p>
                      <a:r>
                        <a:rPr lang="es-CO" sz="1600" dirty="0">
                          <a:solidFill>
                            <a:schemeClr val="tx1"/>
                          </a:solidFill>
                        </a:rPr>
                        <a:t>Dimensión</a:t>
                      </a:r>
                      <a:r>
                        <a:rPr lang="es-CO" sz="1600" baseline="0" dirty="0">
                          <a:solidFill>
                            <a:schemeClr val="tx1"/>
                          </a:solidFill>
                        </a:rPr>
                        <a:t> externa modificada</a:t>
                      </a:r>
                      <a:endParaRPr lang="es-CO" sz="1600" dirty="0">
                        <a:solidFill>
                          <a:schemeClr val="tx1"/>
                        </a:solidFill>
                      </a:endParaRPr>
                    </a:p>
                  </a:txBody>
                  <a:tcPr marL="91436" marR="91436" marT="45723" marB="45723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146458" name="5 CuadroTexto"/>
          <p:cNvSpPr txBox="1">
            <a:spLocks noChangeArrowheads="1"/>
          </p:cNvSpPr>
          <p:nvPr/>
        </p:nvSpPr>
        <p:spPr bwMode="auto">
          <a:xfrm>
            <a:off x="3827747" y="1125538"/>
            <a:ext cx="4536504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/>
            <a:r>
              <a:rPr lang="es-CO" sz="2000" b="1" dirty="0"/>
              <a:t>62312 - RS1NRTN9/P63LT20CVB123</a:t>
            </a:r>
          </a:p>
        </p:txBody>
      </p:sp>
    </p:spTree>
    <p:extLst>
      <p:ext uri="{BB962C8B-B14F-4D97-AF65-F5344CB8AC3E}">
        <p14:creationId xmlns:p14="http://schemas.microsoft.com/office/powerpoint/2010/main" val="34567552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58" name="Rectangle 4"/>
          <p:cNvSpPr>
            <a:spLocks noChangeArrowheads="1"/>
          </p:cNvSpPr>
          <p:nvPr/>
        </p:nvSpPr>
        <p:spPr bwMode="auto">
          <a:xfrm>
            <a:off x="1054216" y="410964"/>
            <a:ext cx="10083567" cy="862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mecanismos o dispositivos</a:t>
            </a:r>
            <a:endParaRPr lang="es-ES" sz="2800" b="1" dirty="0"/>
          </a:p>
        </p:txBody>
      </p:sp>
      <p:pic>
        <p:nvPicPr>
          <p:cNvPr id="147459" name="Picture 17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6528" y="1867707"/>
            <a:ext cx="8016875" cy="431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452521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3"/>
          <p:cNvSpPr>
            <a:spLocks noChangeArrowheads="1"/>
          </p:cNvSpPr>
          <p:nvPr/>
        </p:nvSpPr>
        <p:spPr bwMode="auto">
          <a:xfrm>
            <a:off x="1188440" y="515124"/>
            <a:ext cx="9815119" cy="73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mecanismos o dispositivos</a:t>
            </a:r>
            <a:endParaRPr lang="es-ES" sz="2800" b="1" dirty="0"/>
          </a:p>
        </p:txBody>
      </p:sp>
      <p:pic>
        <p:nvPicPr>
          <p:cNvPr id="148483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693306" y="1628800"/>
            <a:ext cx="6984776" cy="45292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1236882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3"/>
          <p:cNvSpPr>
            <a:spLocks noChangeArrowheads="1"/>
          </p:cNvSpPr>
          <p:nvPr/>
        </p:nvSpPr>
        <p:spPr bwMode="auto">
          <a:xfrm>
            <a:off x="1048624" y="364429"/>
            <a:ext cx="9873841" cy="731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mecanismos o dispositivos</a:t>
            </a:r>
            <a:endParaRPr lang="es-ES" sz="2800" b="1" dirty="0"/>
          </a:p>
        </p:txBody>
      </p:sp>
      <p:pic>
        <p:nvPicPr>
          <p:cNvPr id="149507" name="Picture 1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60636" y="1377131"/>
            <a:ext cx="8085870" cy="50409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0504870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530" name="14 Grupo"/>
          <p:cNvGrpSpPr>
            <a:grpSpLocks/>
          </p:cNvGrpSpPr>
          <p:nvPr/>
        </p:nvGrpSpPr>
        <p:grpSpPr bwMode="auto">
          <a:xfrm>
            <a:off x="940965" y="660965"/>
            <a:ext cx="10310070" cy="5132157"/>
            <a:chOff x="-583160" y="267005"/>
            <a:chExt cx="10311027" cy="5132435"/>
          </a:xfrm>
        </p:grpSpPr>
        <p:sp>
          <p:nvSpPr>
            <p:cNvPr id="150531" name="Rectangle 3"/>
            <p:cNvSpPr>
              <a:spLocks noChangeArrowheads="1"/>
            </p:cNvSpPr>
            <p:nvPr/>
          </p:nvSpPr>
          <p:spPr bwMode="auto">
            <a:xfrm>
              <a:off x="-583160" y="267005"/>
              <a:ext cx="10311027" cy="9697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/>
            <a:lstStyle/>
            <a:p>
              <a:pPr algn="ctr" eaLnBrk="1" hangingPunct="1"/>
              <a:r>
                <a:rPr lang="es-MX" sz="2800" b="1" dirty="0"/>
                <a:t>La máquina como sistema: mecanismos o dispositivos</a:t>
              </a:r>
              <a:endParaRPr lang="es-ES" sz="2800" b="1" dirty="0"/>
            </a:p>
          </p:txBody>
        </p:sp>
        <p:grpSp>
          <p:nvGrpSpPr>
            <p:cNvPr id="150532" name="13 Grupo"/>
            <p:cNvGrpSpPr>
              <a:grpSpLocks/>
            </p:cNvGrpSpPr>
            <p:nvPr/>
          </p:nvGrpSpPr>
          <p:grpSpPr bwMode="auto">
            <a:xfrm>
              <a:off x="755576" y="1900330"/>
              <a:ext cx="7991549" cy="3499110"/>
              <a:chOff x="755576" y="1900330"/>
              <a:chExt cx="7991549" cy="3499110"/>
            </a:xfrm>
          </p:grpSpPr>
          <p:sp>
            <p:nvSpPr>
              <p:cNvPr id="150533" name="Text Box 5"/>
              <p:cNvSpPr txBox="1">
                <a:spLocks noChangeArrowheads="1"/>
              </p:cNvSpPr>
              <p:nvPr/>
            </p:nvSpPr>
            <p:spPr bwMode="auto">
              <a:xfrm>
                <a:off x="6516688" y="1989138"/>
                <a:ext cx="2159000" cy="307794"/>
              </a:xfrm>
              <a:prstGeom prst="rect">
                <a:avLst/>
              </a:prstGeom>
              <a:gradFill rotWithShape="1">
                <a:gsLst>
                  <a:gs pos="0">
                    <a:srgbClr val="76762F"/>
                  </a:gs>
                  <a:gs pos="100000">
                    <a:srgbClr val="FFFF66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s-MX" sz="1400" b="1" dirty="0"/>
                  <a:t>Embragues</a:t>
                </a:r>
              </a:p>
            </p:txBody>
          </p:sp>
          <p:sp>
            <p:nvSpPr>
              <p:cNvPr id="150534" name="Text Box 6"/>
              <p:cNvSpPr txBox="1">
                <a:spLocks noChangeArrowheads="1"/>
              </p:cNvSpPr>
              <p:nvPr/>
            </p:nvSpPr>
            <p:spPr bwMode="auto">
              <a:xfrm>
                <a:off x="755576" y="1900330"/>
                <a:ext cx="1873250" cy="307794"/>
              </a:xfrm>
              <a:prstGeom prst="rect">
                <a:avLst/>
              </a:prstGeom>
              <a:gradFill rotWithShape="1">
                <a:gsLst>
                  <a:gs pos="0">
                    <a:srgbClr val="76762F"/>
                  </a:gs>
                  <a:gs pos="100000">
                    <a:srgbClr val="FFFF66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s-MX" sz="1400" b="1" dirty="0"/>
                  <a:t>Frenos</a:t>
                </a:r>
              </a:p>
            </p:txBody>
          </p:sp>
          <p:sp>
            <p:nvSpPr>
              <p:cNvPr id="150535" name="Line 11"/>
              <p:cNvSpPr>
                <a:spLocks noChangeShapeType="1"/>
              </p:cNvSpPr>
              <p:nvPr/>
            </p:nvSpPr>
            <p:spPr bwMode="auto">
              <a:xfrm>
                <a:off x="6156325" y="4149725"/>
                <a:ext cx="720725" cy="0"/>
              </a:xfrm>
              <a:prstGeom prst="line">
                <a:avLst/>
              </a:prstGeom>
              <a:noFill/>
              <a:ln w="76200">
                <a:solidFill>
                  <a:srgbClr val="37829E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s-ES"/>
              </a:p>
            </p:txBody>
          </p:sp>
          <p:sp>
            <p:nvSpPr>
              <p:cNvPr id="150536" name="Text Box 13"/>
              <p:cNvSpPr txBox="1">
                <a:spLocks noChangeArrowheads="1"/>
              </p:cNvSpPr>
              <p:nvPr/>
            </p:nvSpPr>
            <p:spPr bwMode="auto">
              <a:xfrm>
                <a:off x="7019925" y="3789363"/>
                <a:ext cx="1727200" cy="954159"/>
              </a:xfrm>
              <a:prstGeom prst="rect">
                <a:avLst/>
              </a:prstGeom>
              <a:gradFill rotWithShape="1">
                <a:gsLst>
                  <a:gs pos="0">
                    <a:srgbClr val="767600"/>
                  </a:gs>
                  <a:gs pos="50000">
                    <a:srgbClr val="FFFF00"/>
                  </a:gs>
                  <a:gs pos="100000">
                    <a:srgbClr val="767600"/>
                  </a:gs>
                </a:gsLst>
                <a:lin ang="5400000" scaled="1"/>
              </a:gradFill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 eaLnBrk="1" hangingPunct="1">
                  <a:spcBef>
                    <a:spcPct val="50000"/>
                  </a:spcBef>
                </a:pPr>
                <a:r>
                  <a:rPr lang="es-MX" sz="1400" b="1">
                    <a:solidFill>
                      <a:srgbClr val="37829E"/>
                    </a:solidFill>
                  </a:rPr>
                  <a:t>Dispositivos para acople, desacople y frenado</a:t>
                </a:r>
                <a:endParaRPr lang="es-ES" sz="1400" b="1">
                  <a:solidFill>
                    <a:srgbClr val="37829E"/>
                  </a:solidFill>
                </a:endParaRPr>
              </a:p>
            </p:txBody>
          </p:sp>
          <p:sp>
            <p:nvSpPr>
              <p:cNvPr id="144393" name="Oval 14"/>
              <p:cNvSpPr>
                <a:spLocks noChangeArrowheads="1"/>
              </p:cNvSpPr>
              <p:nvPr/>
            </p:nvSpPr>
            <p:spPr bwMode="auto">
              <a:xfrm>
                <a:off x="3258628" y="1989305"/>
                <a:ext cx="2521184" cy="1654265"/>
              </a:xfrm>
              <a:prstGeom prst="ellipse">
                <a:avLst/>
              </a:prstGeom>
              <a:gradFill rotWithShape="1">
                <a:gsLst>
                  <a:gs pos="0">
                    <a:srgbClr val="767600"/>
                  </a:gs>
                  <a:gs pos="50000">
                    <a:srgbClr val="FFFF00"/>
                  </a:gs>
                  <a:gs pos="100000">
                    <a:srgbClr val="767600"/>
                  </a:gs>
                </a:gsLst>
                <a:lin ang="5400000" scaled="1"/>
              </a:gradFill>
              <a:ln w="9525">
                <a:solidFill>
                  <a:srgbClr val="FFFF00"/>
                </a:solidFill>
                <a:round/>
                <a:headEnd/>
                <a:tailEnd/>
              </a:ln>
              <a:effectLst>
                <a:outerShdw dist="107763" dir="2700000" algn="ctr" rotWithShape="0">
                  <a:schemeClr val="hlink"/>
                </a:outerShdw>
              </a:effectLst>
            </p:spPr>
            <p:txBody>
              <a:bodyPr wrap="none" anchor="ctr"/>
              <a:lstStyle/>
              <a:p>
                <a:pPr algn="ctr" eaLnBrk="1" hangingPunct="1">
                  <a:defRPr/>
                </a:pPr>
                <a:r>
                  <a:rPr lang="es-MX" sz="2000" b="1" dirty="0">
                    <a:solidFill>
                      <a:srgbClr val="37829E"/>
                    </a:solidFill>
                  </a:rPr>
                  <a:t>MECANISMOS</a:t>
                </a:r>
              </a:p>
              <a:p>
                <a:pPr algn="ctr" eaLnBrk="1" hangingPunct="1">
                  <a:defRPr/>
                </a:pPr>
                <a:r>
                  <a:rPr lang="es-MX" sz="2000" b="1" dirty="0">
                    <a:solidFill>
                      <a:srgbClr val="37829E"/>
                    </a:solidFill>
                  </a:rPr>
                  <a:t>O DISPOSITIVOS </a:t>
                </a:r>
              </a:p>
              <a:p>
                <a:pPr algn="ctr" eaLnBrk="1" hangingPunct="1">
                  <a:defRPr/>
                </a:pPr>
                <a:r>
                  <a:rPr lang="es-MX" sz="2000" b="1" dirty="0">
                    <a:solidFill>
                      <a:srgbClr val="37829E"/>
                    </a:solidFill>
                  </a:rPr>
                  <a:t>DE LA MÁQUINA</a:t>
                </a:r>
                <a:endParaRPr lang="es-ES" sz="2000" b="1" dirty="0">
                  <a:solidFill>
                    <a:srgbClr val="37829E"/>
                  </a:solidFill>
                </a:endParaRPr>
              </a:p>
            </p:txBody>
          </p:sp>
          <p:pic>
            <p:nvPicPr>
              <p:cNvPr id="150538" name="Picture 16"/>
              <p:cNvPicPr>
                <a:picLocks noChangeAspect="1" noChangeArrowheads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 bwMode="auto">
              <a:xfrm>
                <a:off x="7740650" y="2276475"/>
                <a:ext cx="955675" cy="14525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0539" name="Picture 17"/>
              <p:cNvPicPr>
                <a:picLocks noChangeAspect="1" noChangeArrowheads="1"/>
              </p:cNvPicPr>
              <p:nvPr/>
            </p:nvPicPr>
            <p:blipFill>
              <a:blip r:embed="rId3"/>
              <a:srcRect/>
              <a:stretch>
                <a:fillRect/>
              </a:stretch>
            </p:blipFill>
            <p:spPr bwMode="auto">
              <a:xfrm>
                <a:off x="6516688" y="2565400"/>
                <a:ext cx="1150937" cy="87947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0540" name="Picture 18"/>
              <p:cNvPicPr>
                <a:picLocks noChangeAspect="1" noChangeArrowheads="1"/>
              </p:cNvPicPr>
              <p:nvPr/>
            </p:nvPicPr>
            <p:blipFill>
              <a:blip r:embed="rId4"/>
              <a:srcRect/>
              <a:stretch>
                <a:fillRect/>
              </a:stretch>
            </p:blipFill>
            <p:spPr bwMode="auto">
              <a:xfrm>
                <a:off x="790575" y="2565400"/>
                <a:ext cx="1728788" cy="168275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0541" name="Picture 20" descr="tambor"/>
              <p:cNvPicPr>
                <a:picLocks noChangeAspect="1" noChangeArrowheads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 bwMode="auto">
              <a:xfrm>
                <a:off x="3807643" y="3959577"/>
                <a:ext cx="1420813" cy="14398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</p:grpSp>
      </p:grpSp>
    </p:spTree>
    <p:extLst>
      <p:ext uri="{BB962C8B-B14F-4D97-AF65-F5344CB8AC3E}">
        <p14:creationId xmlns:p14="http://schemas.microsoft.com/office/powerpoint/2010/main" val="178212138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3"/>
          <p:cNvSpPr>
            <a:spLocks noChangeArrowheads="1"/>
          </p:cNvSpPr>
          <p:nvPr/>
        </p:nvSpPr>
        <p:spPr bwMode="auto">
          <a:xfrm>
            <a:off x="1117134" y="473179"/>
            <a:ext cx="9957732" cy="9368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mecanismos o dispositivos</a:t>
            </a:r>
            <a:endParaRPr lang="es-ES" sz="2800" b="1" dirty="0"/>
          </a:p>
        </p:txBody>
      </p:sp>
      <p:pic>
        <p:nvPicPr>
          <p:cNvPr id="151555" name="Picture 2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722521" y="1689186"/>
            <a:ext cx="7066235" cy="4588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37714947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3"/>
          <p:cNvSpPr>
            <a:spLocks noChangeArrowheads="1"/>
          </p:cNvSpPr>
          <p:nvPr/>
        </p:nvSpPr>
        <p:spPr bwMode="auto">
          <a:xfrm>
            <a:off x="817162" y="681156"/>
            <a:ext cx="10503016" cy="791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mecanismos o dispositivos</a:t>
            </a:r>
            <a:endParaRPr lang="es-ES" sz="2800" b="1" dirty="0"/>
          </a:p>
        </p:txBody>
      </p:sp>
      <p:pic>
        <p:nvPicPr>
          <p:cNvPr id="152579" name="Picture 1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20595" y="1985844"/>
            <a:ext cx="729615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039435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3 Rectángulo"/>
          <p:cNvSpPr>
            <a:spLocks noChangeArrowheads="1"/>
          </p:cNvSpPr>
          <p:nvPr/>
        </p:nvSpPr>
        <p:spPr bwMode="auto">
          <a:xfrm>
            <a:off x="2024063" y="2286000"/>
            <a:ext cx="2571750" cy="95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s-ES" sz="2800" b="1"/>
              <a:t>Esquema hidráulico</a:t>
            </a:r>
            <a:endParaRPr lang="es-ES" sz="2800"/>
          </a:p>
        </p:txBody>
      </p:sp>
      <p:pic>
        <p:nvPicPr>
          <p:cNvPr id="153603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95801" y="764705"/>
            <a:ext cx="4261369" cy="53400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6725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Rectangle 3"/>
          <p:cNvSpPr>
            <a:spLocks noChangeArrowheads="1"/>
          </p:cNvSpPr>
          <p:nvPr/>
        </p:nvSpPr>
        <p:spPr bwMode="auto">
          <a:xfrm>
            <a:off x="1328294" y="1027570"/>
            <a:ext cx="9805626" cy="79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 eaLnBrk="1" hangingPunct="1"/>
            <a:r>
              <a:rPr lang="es-MX" sz="2800" b="1" dirty="0"/>
              <a:t>La máquina como sistema: mecanismos o dispositivos</a:t>
            </a:r>
            <a:endParaRPr lang="es-ES" sz="2800" b="1" dirty="0"/>
          </a:p>
        </p:txBody>
      </p:sp>
      <p:pic>
        <p:nvPicPr>
          <p:cNvPr id="154627" name="Picture 8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8449" y="2234927"/>
            <a:ext cx="8445316" cy="33516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82609348"/>
      </p:ext>
    </p:extLst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lice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8E5026D2E0FE88488153A29B3DFF52EB" ma:contentTypeVersion="0" ma:contentTypeDescription="Crear nuevo documento." ma:contentTypeScope="" ma:versionID="2741dcfb37821b3aca211a9937fee4a1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037ac2621b9b9c8cd06b50fac5857c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562A66-5BEC-4BCB-987A-258283266425}"/>
</file>

<file path=customXml/itemProps2.xml><?xml version="1.0" encoding="utf-8"?>
<ds:datastoreItem xmlns:ds="http://schemas.openxmlformats.org/officeDocument/2006/customXml" ds:itemID="{760FDAE8-5E03-4D90-903D-D9B3B1377E85}"/>
</file>

<file path=customXml/itemProps3.xml><?xml version="1.0" encoding="utf-8"?>
<ds:datastoreItem xmlns:ds="http://schemas.openxmlformats.org/officeDocument/2006/customXml" ds:itemID="{93D4593A-384E-4AEB-B58C-D1D18BD88DC2}"/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4466</TotalTime>
  <Words>1988</Words>
  <Application>Microsoft Office PowerPoint</Application>
  <PresentationFormat>Panorámica</PresentationFormat>
  <Paragraphs>361</Paragraphs>
  <Slides>68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68</vt:i4>
      </vt:variant>
    </vt:vector>
  </HeadingPairs>
  <TitlesOfParts>
    <vt:vector size="75" baseType="lpstr">
      <vt:lpstr>Arial</vt:lpstr>
      <vt:lpstr>Calibri</vt:lpstr>
      <vt:lpstr>Century Gothic</vt:lpstr>
      <vt:lpstr>Red Hat Text</vt:lpstr>
      <vt:lpstr>Wingdings</vt:lpstr>
      <vt:lpstr>Wingdings 3</vt:lpstr>
      <vt:lpstr>Sector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Sistema ciclo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Elementos de transmisión convencionales</vt:lpstr>
      <vt:lpstr>Presentación de PowerPoint</vt:lpstr>
      <vt:lpstr>Presentación de PowerPoint</vt:lpstr>
      <vt:lpstr>Presentación de PowerPoint</vt:lpstr>
      <vt:lpstr>Presentación de PowerPoint</vt:lpstr>
      <vt:lpstr>Plásticos en ingeniería</vt:lpstr>
      <vt:lpstr>Especificaciones de piñones</vt:lpstr>
      <vt:lpstr>Presentación de PowerPoint</vt:lpstr>
      <vt:lpstr>Especificaciones de correas o bandas</vt:lpstr>
      <vt:lpstr>Especificaciones de  correas o bandas</vt:lpstr>
      <vt:lpstr>Presentación de PowerPoint</vt:lpstr>
      <vt:lpstr>Presentación de PowerPoint</vt:lpstr>
      <vt:lpstr>Especificación de tornillos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Designación de rodamientos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ACCIONES CORRECTIVO MODIFICATIVAS 2019-2 ESPECIALIZACIÓN EN MANTENIMIENTO INDUSTRIAL</dc:title>
  <dc:creator>Jaime Leonardo Barbosa Perez</dc:creator>
  <cp:lastModifiedBy>Jaime Leonardo Barbosa Perez</cp:lastModifiedBy>
  <cp:revision>88</cp:revision>
  <cp:lastPrinted>2019-09-03T22:50:31Z</cp:lastPrinted>
  <dcterms:created xsi:type="dcterms:W3CDTF">2019-08-22T14:58:02Z</dcterms:created>
  <dcterms:modified xsi:type="dcterms:W3CDTF">2026-04-29T19:17:51Z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0x0101008E5026D2E0FE88488153A29B3DFF52EB</vt:lpwstr>
  </property>
</Properties>
</file>