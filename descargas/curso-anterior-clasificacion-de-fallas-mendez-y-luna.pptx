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Garet" panose="020B0604020202020204" charset="0"/>
      <p:regular r:id="rId16"/>
    </p:embeddedFont>
    <p:embeddedFont>
      <p:font typeface="Garet Bold" panose="020B0604020202020204" charset="0"/>
      <p:regular r:id="rId17"/>
    </p:embeddedFont>
    <p:embeddedFont>
      <p:font typeface="Open Sans" panose="020B0606030504020204" pitchFamily="34" charset="0"/>
      <p:regular r:id="rId18"/>
    </p:embeddedFont>
    <p:embeddedFont>
      <p:font typeface="Open Sans Bold" panose="020B0806030504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842469" y="0"/>
            <a:ext cx="5416831" cy="12022429"/>
            <a:chOff x="0" y="0"/>
            <a:chExt cx="2858770" cy="6344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8770" cy="6344920"/>
            </a:xfrm>
            <a:custGeom>
              <a:avLst/>
              <a:gdLst/>
              <a:ahLst/>
              <a:cxnLst/>
              <a:rect l="l" t="t" r="r" b="b"/>
              <a:pathLst>
                <a:path w="2858770" h="634492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33229" r="-3322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259300" y="7109187"/>
            <a:ext cx="1028700" cy="3177813"/>
            <a:chOff x="0" y="0"/>
            <a:chExt cx="812800" cy="2510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510865"/>
            </a:xfrm>
            <a:custGeom>
              <a:avLst/>
              <a:gdLst/>
              <a:ahLst/>
              <a:cxnLst/>
              <a:rect l="l" t="t" r="r" b="b"/>
              <a:pathLst>
                <a:path w="812800" h="2510865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7109187"/>
            <a:ext cx="11842469" cy="3177813"/>
            <a:chOff x="0" y="0"/>
            <a:chExt cx="9357013" cy="2510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57013" cy="2510865"/>
            </a:xfrm>
            <a:custGeom>
              <a:avLst/>
              <a:gdLst/>
              <a:ahLst/>
              <a:cxnLst/>
              <a:rect l="l" t="t" r="r" b="b"/>
              <a:pathLst>
                <a:path w="9357013" h="2510865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609914" y="0"/>
            <a:ext cx="1694792" cy="10287000"/>
            <a:chOff x="0" y="0"/>
            <a:chExt cx="446365" cy="27093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6365" cy="2709333"/>
            </a:xfrm>
            <a:custGeom>
              <a:avLst/>
              <a:gdLst/>
              <a:ahLst/>
              <a:cxnLst/>
              <a:rect l="l" t="t" r="r" b="b"/>
              <a:pathLst>
                <a:path w="446365" h="2709333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457993" y="7508308"/>
            <a:ext cx="5454603" cy="1749992"/>
            <a:chOff x="0" y="0"/>
            <a:chExt cx="1436603" cy="4609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36603" cy="460903"/>
            </a:xfrm>
            <a:custGeom>
              <a:avLst/>
              <a:gdLst/>
              <a:ahLst/>
              <a:cxnLst/>
              <a:rect l="l" t="t" r="r" b="b"/>
              <a:pathLst>
                <a:path w="1436603" h="460903">
                  <a:moveTo>
                    <a:pt x="72386" y="0"/>
                  </a:moveTo>
                  <a:lnTo>
                    <a:pt x="1364217" y="0"/>
                  </a:lnTo>
                  <a:cubicBezTo>
                    <a:pt x="1383415" y="0"/>
                    <a:pt x="1401827" y="7626"/>
                    <a:pt x="1415402" y="21201"/>
                  </a:cubicBezTo>
                  <a:cubicBezTo>
                    <a:pt x="1428977" y="34776"/>
                    <a:pt x="1436603" y="53188"/>
                    <a:pt x="1436603" y="72386"/>
                  </a:cubicBezTo>
                  <a:lnTo>
                    <a:pt x="1436603" y="388517"/>
                  </a:lnTo>
                  <a:cubicBezTo>
                    <a:pt x="1436603" y="428495"/>
                    <a:pt x="1404195" y="460903"/>
                    <a:pt x="1364217" y="460903"/>
                  </a:cubicBezTo>
                  <a:lnTo>
                    <a:pt x="72386" y="460903"/>
                  </a:lnTo>
                  <a:cubicBezTo>
                    <a:pt x="32408" y="460903"/>
                    <a:pt x="0" y="428495"/>
                    <a:pt x="0" y="388517"/>
                  </a:cubicBezTo>
                  <a:lnTo>
                    <a:pt x="0" y="72386"/>
                  </a:lnTo>
                  <a:cubicBezTo>
                    <a:pt x="0" y="32408"/>
                    <a:pt x="32408" y="0"/>
                    <a:pt x="72386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436603" cy="518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Juan Manuel Méndez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Camilo Luna Bernal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84493" y="9014056"/>
            <a:ext cx="2545888" cy="2545888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40208" y="408756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5" y="0"/>
                </a:lnTo>
                <a:lnTo>
                  <a:pt x="1551675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40208" y="3508676"/>
            <a:ext cx="9690173" cy="2502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9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CLASIFICACIÓN DE LAS FALLAS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820092"/>
            <a:chOff x="0" y="0"/>
            <a:chExt cx="4816593" cy="1532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32864"/>
            </a:xfrm>
            <a:custGeom>
              <a:avLst/>
              <a:gdLst/>
              <a:ahLst/>
              <a:cxnLst/>
              <a:rect l="l" t="t" r="r" b="b"/>
              <a:pathLst>
                <a:path w="4816592" h="1532864">
                  <a:moveTo>
                    <a:pt x="0" y="0"/>
                  </a:moveTo>
                  <a:lnTo>
                    <a:pt x="4816592" y="0"/>
                  </a:lnTo>
                  <a:lnTo>
                    <a:pt x="4816592" y="1532864"/>
                  </a:lnTo>
                  <a:lnTo>
                    <a:pt x="0" y="1532864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570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256307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5820092"/>
            <a:ext cx="8318892" cy="4466908"/>
          </a:xfrm>
          <a:custGeom>
            <a:avLst/>
            <a:gdLst/>
            <a:ahLst/>
            <a:cxnLst/>
            <a:rect l="l" t="t" r="r" b="b"/>
            <a:pathLst>
              <a:path w="8318892" h="4466908">
                <a:moveTo>
                  <a:pt x="0" y="0"/>
                </a:moveTo>
                <a:lnTo>
                  <a:pt x="8318892" y="0"/>
                </a:lnTo>
                <a:lnTo>
                  <a:pt x="8318892" y="4466908"/>
                </a:lnTo>
                <a:lnTo>
                  <a:pt x="0" y="4466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318892" y="5820092"/>
            <a:ext cx="9969108" cy="4466908"/>
          </a:xfrm>
          <a:custGeom>
            <a:avLst/>
            <a:gdLst/>
            <a:ahLst/>
            <a:cxnLst/>
            <a:rect l="l" t="t" r="r" b="b"/>
            <a:pathLst>
              <a:path w="9969108" h="4466908">
                <a:moveTo>
                  <a:pt x="0" y="0"/>
                </a:moveTo>
                <a:lnTo>
                  <a:pt x="9969108" y="0"/>
                </a:lnTo>
                <a:lnTo>
                  <a:pt x="9969108" y="4466908"/>
                </a:lnTo>
                <a:lnTo>
                  <a:pt x="0" y="4466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43" r="-3390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198708" y="151916"/>
            <a:ext cx="6166382" cy="86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1"/>
              </a:lnSpc>
            </a:pPr>
            <a:r>
              <a:rPr lang="en-US" sz="2493" b="1" spc="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FALLA SEGUN LA FACILIDAD DE DETECCION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6042" y="1342364"/>
            <a:ext cx="17811715" cy="4477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888" lvl="1" indent="-228944" algn="just">
              <a:lnSpc>
                <a:spcPts val="3287"/>
              </a:lnSpc>
              <a:buFont typeface="Arial"/>
              <a:buChar char="•"/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EVIDENTE: 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aquella falla que se puede detectar fácilmente , se nota por la operación del equipo, ya sea por ruido, vibración, humo, parada del sistema o alarma visible.</a:t>
            </a:r>
          </a:p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 </a:t>
            </a:r>
          </a:p>
          <a:p>
            <a:pPr algn="just">
              <a:lnSpc>
                <a:spcPts val="3287"/>
              </a:lnSpc>
            </a:pP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motor que deja de funcionar repentinamente y emite humo por recalentamiento.</a:t>
            </a:r>
          </a:p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Solución: </a:t>
            </a:r>
          </a:p>
          <a:p>
            <a:pPr algn="just">
              <a:lnSpc>
                <a:spcPts val="3287"/>
              </a:lnSpc>
            </a:pP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Detener el equipo inmediatamente, dejarlo enfriar y revisar su sistema de refrigeración.</a:t>
            </a:r>
          </a:p>
          <a:p>
            <a:pPr algn="just">
              <a:lnSpc>
                <a:spcPts val="3287"/>
              </a:lnSpc>
            </a:pPr>
            <a:endParaRPr lang="en-US" sz="212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888" lvl="1" indent="-228944" algn="just">
              <a:lnSpc>
                <a:spcPts val="3287"/>
              </a:lnSpc>
              <a:buFont typeface="Arial"/>
              <a:buChar char="•"/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OCULTA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Es aquella que no se detecta fácilmente durante la operación normal del equipo.</a:t>
            </a: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o: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Un rodamiento que comienza a desgastarse internamente, pero el equipo sigue funcionando sin síntomas visibles hasta que se frena el rodamiento o  el eje se desalinean.</a:t>
            </a:r>
          </a:p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Solución: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hacer mantenimiento predictivo constante para evitar estas fallas.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88" b="-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664971" y="-782737"/>
            <a:ext cx="3744615" cy="374461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706049" y="50464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0286" y="2961878"/>
            <a:ext cx="5203807" cy="5203807"/>
          </a:xfrm>
          <a:custGeom>
            <a:avLst/>
            <a:gdLst/>
            <a:ahLst/>
            <a:cxnLst/>
            <a:rect l="l" t="t" r="r" b="b"/>
            <a:pathLst>
              <a:path w="5203807" h="5203807">
                <a:moveTo>
                  <a:pt x="0" y="0"/>
                </a:moveTo>
                <a:lnTo>
                  <a:pt x="5203806" y="0"/>
                </a:lnTo>
                <a:lnTo>
                  <a:pt x="5203806" y="5203807"/>
                </a:lnTo>
                <a:lnTo>
                  <a:pt x="0" y="5203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182689" y="2961878"/>
            <a:ext cx="9354589" cy="5044141"/>
          </a:xfrm>
          <a:custGeom>
            <a:avLst/>
            <a:gdLst/>
            <a:ahLst/>
            <a:cxnLst/>
            <a:rect l="l" t="t" r="r" b="b"/>
            <a:pathLst>
              <a:path w="9354589" h="5044141">
                <a:moveTo>
                  <a:pt x="0" y="0"/>
                </a:moveTo>
                <a:lnTo>
                  <a:pt x="9354589" y="0"/>
                </a:lnTo>
                <a:lnTo>
                  <a:pt x="9354589" y="5044142"/>
                </a:lnTo>
                <a:lnTo>
                  <a:pt x="0" y="504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41788" y="194495"/>
            <a:ext cx="12509898" cy="1110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2"/>
              </a:lnSpc>
            </a:pPr>
            <a:r>
              <a:rPr lang="en-US" sz="65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FALLA SEGUN LA FRECUENCIA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4911" y="1824262"/>
            <a:ext cx="725455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ESPORADICAS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76276" y="1824262"/>
            <a:ext cx="725455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CRONICAS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8373" y="8413282"/>
            <a:ext cx="6547633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Bloque de la cadena de elevacion liviana en el plato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4365" y="8432332"/>
            <a:ext cx="9142913" cy="1330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54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pequeño desgaste de los anillos de pistón y la lubricación de las paredes del cilindro resulten en una pequeña cantidad de aceite quemado durante la combustión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92" y="0"/>
            <a:ext cx="8771805" cy="10287000"/>
            <a:chOff x="0" y="0"/>
            <a:chExt cx="231027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10270" cy="2709333"/>
            </a:xfrm>
            <a:custGeom>
              <a:avLst/>
              <a:gdLst/>
              <a:ahLst/>
              <a:cxnLst/>
              <a:rect l="l" t="t" r="r" b="b"/>
              <a:pathLst>
                <a:path w="2310270" h="2709333">
                  <a:moveTo>
                    <a:pt x="0" y="0"/>
                  </a:moveTo>
                  <a:lnTo>
                    <a:pt x="2310270" y="0"/>
                  </a:lnTo>
                  <a:lnTo>
                    <a:pt x="231027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1027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256307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6261" y="3413424"/>
            <a:ext cx="8532269" cy="4436780"/>
          </a:xfrm>
          <a:custGeom>
            <a:avLst/>
            <a:gdLst/>
            <a:ahLst/>
            <a:cxnLst/>
            <a:rect l="l" t="t" r="r" b="b"/>
            <a:pathLst>
              <a:path w="8532269" h="4436780">
                <a:moveTo>
                  <a:pt x="0" y="0"/>
                </a:moveTo>
                <a:lnTo>
                  <a:pt x="8532268" y="0"/>
                </a:lnTo>
                <a:lnTo>
                  <a:pt x="8532268" y="4436780"/>
                </a:lnTo>
                <a:lnTo>
                  <a:pt x="0" y="4436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75121" y="1913167"/>
            <a:ext cx="8115300" cy="8206109"/>
          </a:xfrm>
          <a:custGeom>
            <a:avLst/>
            <a:gdLst/>
            <a:ahLst/>
            <a:cxnLst/>
            <a:rect l="l" t="t" r="r" b="b"/>
            <a:pathLst>
              <a:path w="8115300" h="8206109">
                <a:moveTo>
                  <a:pt x="0" y="0"/>
                </a:moveTo>
                <a:lnTo>
                  <a:pt x="8115300" y="0"/>
                </a:lnTo>
                <a:lnTo>
                  <a:pt x="8115300" y="8206109"/>
                </a:lnTo>
                <a:lnTo>
                  <a:pt x="0" y="8206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5782" t="-29813" r="-110097" b="-6717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18919" y="208682"/>
            <a:ext cx="5648484" cy="109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1"/>
              </a:lnSpc>
            </a:pPr>
            <a:r>
              <a:rPr lang="en-US" sz="3193" b="1" spc="6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FALLA SEGUN LA FORMA DE APARECER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41537" y="807967"/>
            <a:ext cx="378246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REPENTINA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4537" y="1865109"/>
            <a:ext cx="582310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PROGRESIVA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4537" y="8481935"/>
            <a:ext cx="488632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Desgaste entre piñones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Motoreductores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21109" y="0"/>
            <a:ext cx="9188018" cy="10287000"/>
            <a:chOff x="0" y="0"/>
            <a:chExt cx="241989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9890" cy="2709333"/>
            </a:xfrm>
            <a:custGeom>
              <a:avLst/>
              <a:gdLst/>
              <a:ahLst/>
              <a:cxnLst/>
              <a:rect l="l" t="t" r="r" b="b"/>
              <a:pathLst>
                <a:path w="2419890" h="2709333">
                  <a:moveTo>
                    <a:pt x="0" y="0"/>
                  </a:moveTo>
                  <a:lnTo>
                    <a:pt x="2419890" y="0"/>
                  </a:lnTo>
                  <a:lnTo>
                    <a:pt x="24198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989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287059" y="8247665"/>
            <a:ext cx="2954728" cy="295472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70377" y="549679"/>
            <a:ext cx="1965854" cy="958043"/>
          </a:xfrm>
          <a:custGeom>
            <a:avLst/>
            <a:gdLst/>
            <a:ahLst/>
            <a:cxnLst/>
            <a:rect l="l" t="t" r="r" b="b"/>
            <a:pathLst>
              <a:path w="1965854" h="958043">
                <a:moveTo>
                  <a:pt x="0" y="0"/>
                </a:moveTo>
                <a:lnTo>
                  <a:pt x="1965854" y="0"/>
                </a:lnTo>
                <a:lnTo>
                  <a:pt x="1965854" y="958042"/>
                </a:lnTo>
                <a:lnTo>
                  <a:pt x="0" y="958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13687" y="5911561"/>
            <a:ext cx="175213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2021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76106" y="5911561"/>
            <a:ext cx="175213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2022</a:t>
            </a:r>
          </a:p>
        </p:txBody>
      </p:sp>
      <p:sp>
        <p:nvSpPr>
          <p:cNvPr id="11" name="Freeform 11"/>
          <p:cNvSpPr/>
          <p:nvPr/>
        </p:nvSpPr>
        <p:spPr>
          <a:xfrm>
            <a:off x="792713" y="1799973"/>
            <a:ext cx="7071052" cy="6381924"/>
          </a:xfrm>
          <a:custGeom>
            <a:avLst/>
            <a:gdLst/>
            <a:ahLst/>
            <a:cxnLst/>
            <a:rect l="l" t="t" r="r" b="b"/>
            <a:pathLst>
              <a:path w="7071052" h="6381924">
                <a:moveTo>
                  <a:pt x="0" y="0"/>
                </a:moveTo>
                <a:lnTo>
                  <a:pt x="7071052" y="0"/>
                </a:lnTo>
                <a:lnTo>
                  <a:pt x="7071052" y="6381925"/>
                </a:lnTo>
                <a:lnTo>
                  <a:pt x="0" y="6381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348663" y="2515313"/>
            <a:ext cx="6910637" cy="3882900"/>
          </a:xfrm>
          <a:custGeom>
            <a:avLst/>
            <a:gdLst/>
            <a:ahLst/>
            <a:cxnLst/>
            <a:rect l="l" t="t" r="r" b="b"/>
            <a:pathLst>
              <a:path w="6910637" h="3882900">
                <a:moveTo>
                  <a:pt x="0" y="0"/>
                </a:moveTo>
                <a:lnTo>
                  <a:pt x="6910637" y="0"/>
                </a:lnTo>
                <a:lnTo>
                  <a:pt x="6910637" y="3882900"/>
                </a:lnTo>
                <a:lnTo>
                  <a:pt x="0" y="388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582432" y="162177"/>
            <a:ext cx="8665372" cy="163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4"/>
              </a:lnSpc>
            </a:pPr>
            <a:r>
              <a:rPr lang="en-US" sz="4731" b="1" spc="9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FALLAS SEGUN EL PERIODO DE OCURRENCIA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89757" y="537527"/>
            <a:ext cx="386238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INFANTILES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70556" y="1733298"/>
            <a:ext cx="266685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ALEATORIAS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94687" y="6877238"/>
            <a:ext cx="7818590" cy="238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6"/>
              </a:lnSpc>
            </a:pPr>
            <a:r>
              <a:rPr lang="en-US" sz="27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Estas fallas son difíciles de predecir y a menudo se originan por problemas como el rozamiento contra superficies rugosas, daños causados por roedores o fatiga del material por vibración constante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1545" y="8544563"/>
            <a:ext cx="759338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Mala instalación de soporte zapatas de un motor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92" y="0"/>
            <a:ext cx="8043211" cy="10287000"/>
            <a:chOff x="0" y="0"/>
            <a:chExt cx="211837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18377" cy="2709333"/>
            </a:xfrm>
            <a:custGeom>
              <a:avLst/>
              <a:gdLst/>
              <a:ahLst/>
              <a:cxnLst/>
              <a:rect l="l" t="t" r="r" b="b"/>
              <a:pathLst>
                <a:path w="2118377" h="2709333">
                  <a:moveTo>
                    <a:pt x="0" y="0"/>
                  </a:moveTo>
                  <a:lnTo>
                    <a:pt x="2118377" y="0"/>
                  </a:lnTo>
                  <a:lnTo>
                    <a:pt x="21183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1837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980291" y="620212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5" y="0"/>
                </a:lnTo>
                <a:lnTo>
                  <a:pt x="1551675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3327649"/>
            <a:ext cx="5901516" cy="3631702"/>
          </a:xfrm>
          <a:custGeom>
            <a:avLst/>
            <a:gdLst/>
            <a:ahLst/>
            <a:cxnLst/>
            <a:rect l="l" t="t" r="r" b="b"/>
            <a:pathLst>
              <a:path w="5901516" h="3631702">
                <a:moveTo>
                  <a:pt x="0" y="0"/>
                </a:moveTo>
                <a:lnTo>
                  <a:pt x="5901516" y="0"/>
                </a:lnTo>
                <a:lnTo>
                  <a:pt x="5901516" y="3631702"/>
                </a:lnTo>
                <a:lnTo>
                  <a:pt x="0" y="3631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4000" y="1989836"/>
            <a:ext cx="3842323" cy="5123097"/>
          </a:xfrm>
          <a:custGeom>
            <a:avLst/>
            <a:gdLst/>
            <a:ahLst/>
            <a:cxnLst/>
            <a:rect l="l" t="t" r="r" b="b"/>
            <a:pathLst>
              <a:path w="3842323" h="5123097">
                <a:moveTo>
                  <a:pt x="0" y="0"/>
                </a:moveTo>
                <a:lnTo>
                  <a:pt x="3842323" y="0"/>
                </a:lnTo>
                <a:lnTo>
                  <a:pt x="3842323" y="5123097"/>
                </a:lnTo>
                <a:lnTo>
                  <a:pt x="0" y="5123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16977" y="1989836"/>
            <a:ext cx="3842323" cy="5123097"/>
          </a:xfrm>
          <a:custGeom>
            <a:avLst/>
            <a:gdLst/>
            <a:ahLst/>
            <a:cxnLst/>
            <a:rect l="l" t="t" r="r" b="b"/>
            <a:pathLst>
              <a:path w="3842323" h="5123097">
                <a:moveTo>
                  <a:pt x="0" y="0"/>
                </a:moveTo>
                <a:lnTo>
                  <a:pt x="3842323" y="0"/>
                </a:lnTo>
                <a:lnTo>
                  <a:pt x="3842323" y="5123097"/>
                </a:lnTo>
                <a:lnTo>
                  <a:pt x="0" y="5123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2560" y="35687"/>
            <a:ext cx="7631076" cy="1163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3331" b="1" spc="6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FALLAS SEGUN EL PERIODO DE OCURRENCIA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8695" y="1541208"/>
            <a:ext cx="4581525" cy="81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POR DESGASTE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04504" y="564877"/>
            <a:ext cx="4150221" cy="81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REITERATIVAS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272560" y="8077835"/>
            <a:ext cx="817619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Desgaste de neumáticos de los vehículos por uso continuo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19959" y="8077835"/>
            <a:ext cx="833272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 calibración de inyectores de poliestireno expandido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92" y="0"/>
            <a:ext cx="18221508" cy="6103108"/>
            <a:chOff x="0" y="0"/>
            <a:chExt cx="4799080" cy="16074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99080" cy="1607403"/>
            </a:xfrm>
            <a:custGeom>
              <a:avLst/>
              <a:gdLst/>
              <a:ahLst/>
              <a:cxnLst/>
              <a:rect l="l" t="t" r="r" b="b"/>
              <a:pathLst>
                <a:path w="4799080" h="1607403">
                  <a:moveTo>
                    <a:pt x="0" y="0"/>
                  </a:moveTo>
                  <a:lnTo>
                    <a:pt x="4799080" y="0"/>
                  </a:lnTo>
                  <a:lnTo>
                    <a:pt x="4799080" y="1607403"/>
                  </a:lnTo>
                  <a:lnTo>
                    <a:pt x="0" y="160740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99080" cy="1645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256307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2088958" y="4014151"/>
            <a:ext cx="4183892" cy="8361807"/>
          </a:xfrm>
          <a:custGeom>
            <a:avLst/>
            <a:gdLst/>
            <a:ahLst/>
            <a:cxnLst/>
            <a:rect l="l" t="t" r="r" b="b"/>
            <a:pathLst>
              <a:path w="4183892" h="8361807">
                <a:moveTo>
                  <a:pt x="0" y="0"/>
                </a:moveTo>
                <a:lnTo>
                  <a:pt x="4183891" y="0"/>
                </a:lnTo>
                <a:lnTo>
                  <a:pt x="4183891" y="8361807"/>
                </a:lnTo>
                <a:lnTo>
                  <a:pt x="0" y="8361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09" r="-991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361807" y="6103108"/>
            <a:ext cx="9926193" cy="4183892"/>
          </a:xfrm>
          <a:custGeom>
            <a:avLst/>
            <a:gdLst/>
            <a:ahLst/>
            <a:cxnLst/>
            <a:rect l="l" t="t" r="r" b="b"/>
            <a:pathLst>
              <a:path w="9926193" h="4183892">
                <a:moveTo>
                  <a:pt x="0" y="0"/>
                </a:moveTo>
                <a:lnTo>
                  <a:pt x="9926193" y="0"/>
                </a:lnTo>
                <a:lnTo>
                  <a:pt x="9926193" y="4183892"/>
                </a:lnTo>
                <a:lnTo>
                  <a:pt x="0" y="4183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725" b="-1672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10117" y="208682"/>
            <a:ext cx="5510959" cy="86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1"/>
              </a:lnSpc>
            </a:pPr>
            <a:r>
              <a:rPr lang="en-US" sz="2493" b="1" spc="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FALLA SEGUN LA CAPACIDAD DE TRABAJO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252926"/>
            <a:ext cx="7973680" cy="4662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027" lvl="1" indent="-286014" algn="just">
              <a:lnSpc>
                <a:spcPts val="4106"/>
              </a:lnSpc>
              <a:buFont typeface="Arial"/>
              <a:buChar char="•"/>
            </a:pPr>
            <a:r>
              <a:rPr lang="en-US" sz="264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LIMITACIÓN PARCIAL: </a:t>
            </a:r>
            <a:r>
              <a:rPr lang="en-US" sz="2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aquella en la que el equipo o componente sigue funcionando, pero con menor rendimiento, precisión o eficiencia. </a:t>
            </a:r>
          </a:p>
          <a:p>
            <a:pPr marL="572027" lvl="1" indent="-286014" algn="just">
              <a:lnSpc>
                <a:spcPts val="4106"/>
              </a:lnSpc>
              <a:buFont typeface="Arial"/>
              <a:buChar char="•"/>
            </a:pPr>
            <a:r>
              <a:rPr lang="en-US" sz="264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 </a:t>
            </a:r>
            <a:r>
              <a:rPr lang="en-US" sz="2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Una bomba hidráulica que aún funciona, pero entrega menos presión debido al desgaste de los sellos internos.</a:t>
            </a:r>
          </a:p>
          <a:p>
            <a:pPr marL="572027" lvl="1" indent="-286014" algn="just">
              <a:lnSpc>
                <a:spcPts val="4106"/>
              </a:lnSpc>
              <a:buFont typeface="Arial"/>
              <a:buChar char="•"/>
            </a:pPr>
            <a:r>
              <a:rPr lang="en-US" sz="264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Solución: </a:t>
            </a:r>
            <a:r>
              <a:rPr lang="en-US" sz="2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revisar los sellos y hacer mantenimiento correctivo para cambiarlos.</a:t>
            </a:r>
          </a:p>
          <a:p>
            <a:pPr algn="just">
              <a:lnSpc>
                <a:spcPts val="4106"/>
              </a:lnSpc>
            </a:pPr>
            <a:endParaRPr lang="en-US" sz="264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65596" y="1291026"/>
            <a:ext cx="8378552" cy="484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066" lvl="1" indent="-272033" algn="l">
              <a:lnSpc>
                <a:spcPts val="3527"/>
              </a:lnSpc>
              <a:buFont typeface="Arial"/>
              <a:buChar char="•"/>
            </a:pPr>
            <a:r>
              <a:rPr lang="en-US" sz="251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LIMITACIÓN TOTAL: </a:t>
            </a:r>
            <a:r>
              <a:rPr lang="en-US" sz="25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aquella en la que el equipo pierde completamente su capacidad de realizar la función para la que fue diseñado.</a:t>
            </a:r>
          </a:p>
          <a:p>
            <a:pPr marL="544066" lvl="1" indent="-272033" algn="l">
              <a:lnSpc>
                <a:spcPts val="3527"/>
              </a:lnSpc>
              <a:buFont typeface="Arial"/>
              <a:buChar char="•"/>
            </a:pPr>
            <a:r>
              <a:rPr lang="en-US" sz="251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 </a:t>
            </a:r>
            <a:r>
              <a:rPr lang="en-US" sz="25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 bomba centrífuga deja de funcionar completamente porque el eje de transmisión se fractura , esto provoca que el impulsor no gire.</a:t>
            </a:r>
          </a:p>
          <a:p>
            <a:pPr algn="l">
              <a:lnSpc>
                <a:spcPts val="3527"/>
              </a:lnSpc>
            </a:pPr>
            <a:endParaRPr lang="en-US" sz="251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44066" lvl="1" indent="-272033" algn="l">
              <a:lnSpc>
                <a:spcPts val="3527"/>
              </a:lnSpc>
              <a:buFont typeface="Arial"/>
              <a:buChar char="•"/>
            </a:pPr>
            <a:r>
              <a:rPr lang="en-US" sz="251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Solución: </a:t>
            </a:r>
            <a:r>
              <a:rPr lang="en-US" sz="25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debe parar el sistema y desmontar la bomba, para así reemplazar el eje fracturado y revisar los rodamientos.</a:t>
            </a:r>
          </a:p>
          <a:p>
            <a:pPr algn="l">
              <a:lnSpc>
                <a:spcPts val="2968"/>
              </a:lnSpc>
              <a:spcBef>
                <a:spcPct val="0"/>
              </a:spcBef>
            </a:pPr>
            <a:endParaRPr lang="en-US" sz="251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92" y="0"/>
            <a:ext cx="18221508" cy="10287000"/>
            <a:chOff x="0" y="0"/>
            <a:chExt cx="479908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99080" cy="2709333"/>
            </a:xfrm>
            <a:custGeom>
              <a:avLst/>
              <a:gdLst/>
              <a:ahLst/>
              <a:cxnLst/>
              <a:rect l="l" t="t" r="r" b="b"/>
              <a:pathLst>
                <a:path w="4799080" h="2709333">
                  <a:moveTo>
                    <a:pt x="0" y="0"/>
                  </a:moveTo>
                  <a:lnTo>
                    <a:pt x="4799080" y="0"/>
                  </a:lnTo>
                  <a:lnTo>
                    <a:pt x="479908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9908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256307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744983" y="7758762"/>
            <a:ext cx="6244026" cy="2528238"/>
          </a:xfrm>
          <a:custGeom>
            <a:avLst/>
            <a:gdLst/>
            <a:ahLst/>
            <a:cxnLst/>
            <a:rect l="l" t="t" r="r" b="b"/>
            <a:pathLst>
              <a:path w="6244026" h="2528238">
                <a:moveTo>
                  <a:pt x="0" y="0"/>
                </a:moveTo>
                <a:lnTo>
                  <a:pt x="6244026" y="0"/>
                </a:lnTo>
                <a:lnTo>
                  <a:pt x="6244026" y="2528238"/>
                </a:lnTo>
                <a:lnTo>
                  <a:pt x="0" y="2528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298" b="-1972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30045" y="1267140"/>
            <a:ext cx="5873902" cy="652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ADULTAS: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pasa en la etapa normal de operación del equipo, cuando ya ha pasado la fase inicial y trabaja dentro de sus condiciones normales. Estas ocurren al principio de la vida útil del equipo .</a:t>
            </a:r>
          </a:p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Una máquina transportadora comienza a producir ruidos y vibraciones anormales después de varios meses de operación continua, Se detectó que los rodamientos de los rodillos están desgastados por falta de lubricación periódica.</a:t>
            </a:r>
          </a:p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Solución: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Sustituir los rodamientos dañados, hacer limpieza y aplicar grasa nueva, ademas de implementar un plan de mantenimiento periódico con registro de lubricación.</a:t>
            </a:r>
          </a:p>
          <a:p>
            <a:pPr algn="just">
              <a:lnSpc>
                <a:spcPts val="3287"/>
              </a:lnSpc>
            </a:pPr>
            <a:endParaRPr lang="en-US" sz="212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6492" y="5288158"/>
            <a:ext cx="6678491" cy="4998842"/>
          </a:xfrm>
          <a:custGeom>
            <a:avLst/>
            <a:gdLst/>
            <a:ahLst/>
            <a:cxnLst/>
            <a:rect l="l" t="t" r="r" b="b"/>
            <a:pathLst>
              <a:path w="6678491" h="4998842">
                <a:moveTo>
                  <a:pt x="0" y="0"/>
                </a:moveTo>
                <a:lnTo>
                  <a:pt x="6678491" y="0"/>
                </a:lnTo>
                <a:lnTo>
                  <a:pt x="6678491" y="4998842"/>
                </a:lnTo>
                <a:lnTo>
                  <a:pt x="0" y="4998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509" b="-1715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948292" y="5985989"/>
            <a:ext cx="5500791" cy="4448377"/>
          </a:xfrm>
          <a:custGeom>
            <a:avLst/>
            <a:gdLst/>
            <a:ahLst/>
            <a:cxnLst/>
            <a:rect l="l" t="t" r="r" b="b"/>
            <a:pathLst>
              <a:path w="5500791" h="4448377">
                <a:moveTo>
                  <a:pt x="0" y="0"/>
                </a:moveTo>
                <a:lnTo>
                  <a:pt x="5500791" y="0"/>
                </a:lnTo>
                <a:lnTo>
                  <a:pt x="5500791" y="4448377"/>
                </a:lnTo>
                <a:lnTo>
                  <a:pt x="0" y="44483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364" t="-7715" r="-940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197174" y="208682"/>
            <a:ext cx="3893652" cy="86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1"/>
              </a:lnSpc>
            </a:pPr>
            <a:r>
              <a:rPr lang="en-US" sz="2493" b="1" spc="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FALLAS SEGUN TIEMPO DE APARICION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2863" y="1267140"/>
            <a:ext cx="5873902" cy="3658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TEMPRANAS: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Estas ocurren al principio de la vida útil del equipo .</a:t>
            </a:r>
          </a:p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Un motor nuevo se sobrecalienta a los pocos días de uso debido a una mala alineación del eje durante la instalación.</a:t>
            </a:r>
          </a:p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Solución: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Revisar el montaje inicial y verificar alineaciones y ajustes o sustituir el componente defectuoso si proviene de fábrica.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80397" y="1267140"/>
            <a:ext cx="5036580" cy="4477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TARDÍAS: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Aparecen al final de la vida útil del equipo o componente, cuando el desgaste natural o la fatiga del material ya son evidentes.</a:t>
            </a:r>
          </a:p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 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rodamiento que, después de varios años de servicio, comienza a generar ruido y vibración debido al desgaste de las pistas y bolas.</a:t>
            </a:r>
          </a:p>
          <a:p>
            <a:pPr algn="just">
              <a:lnSpc>
                <a:spcPts val="3287"/>
              </a:lnSpc>
            </a:pPr>
            <a:r>
              <a:rPr lang="en-US" sz="2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Solución:</a:t>
            </a: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3287"/>
              </a:lnSpc>
            </a:pP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Cambiar el rodamiento afectado</a:t>
            </a:r>
          </a:p>
          <a:p>
            <a:pPr algn="just">
              <a:lnSpc>
                <a:spcPts val="3287"/>
              </a:lnSpc>
            </a:pPr>
            <a:endParaRPr lang="en-US" sz="212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5026D2E0FE88488153A29B3DFF52EB" ma:contentTypeVersion="3" ma:contentTypeDescription="Crear nuevo documento." ma:contentTypeScope="" ma:versionID="21910e2e0e3d3a18c69eafede869fe81">
  <xsd:schema xmlns:xsd="http://www.w3.org/2001/XMLSchema" xmlns:xs="http://www.w3.org/2001/XMLSchema" xmlns:p="http://schemas.microsoft.com/office/2006/metadata/properties" xmlns:ns2="732eacde-151a-4416-9e6c-b7f18d69a314" targetNamespace="http://schemas.microsoft.com/office/2006/metadata/properties" ma:root="true" ma:fieldsID="3f4e17f172f069d4f2e8bcfdf8bab442" ns2:_="">
    <xsd:import namespace="732eacde-151a-4416-9e6c-b7f18d69a3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2eacde-151a-4416-9e6c-b7f18d69a3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A85F5E-0AE9-4D83-BE8A-6B79149C31EB}"/>
</file>

<file path=customXml/itemProps2.xml><?xml version="1.0" encoding="utf-8"?>
<ds:datastoreItem xmlns:ds="http://schemas.openxmlformats.org/officeDocument/2006/customXml" ds:itemID="{710AA647-7850-4ECD-8859-AB51B1709A9A}"/>
</file>

<file path=customXml/itemProps3.xml><?xml version="1.0" encoding="utf-8"?>
<ds:datastoreItem xmlns:ds="http://schemas.openxmlformats.org/officeDocument/2006/customXml" ds:itemID="{E5E533FF-9309-49E2-8BB4-C082C475C71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PresentationFormat>Personalizado</PresentationFormat>
  <Paragraphs>54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Garet</vt:lpstr>
      <vt:lpstr>Open Sans Bold</vt:lpstr>
      <vt:lpstr>Open Sans</vt:lpstr>
      <vt:lpstr>Garet Bold</vt:lpstr>
      <vt:lpstr>Canva Sans Bold</vt:lpstr>
      <vt:lpstr>Arial</vt:lpstr>
      <vt:lpstr>Calibri</vt:lpstr>
      <vt:lpstr>Canva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clasificacion de las fallas</dc:title>
  <dc:creator>JUAN MANUEL</dc:creator>
  <cp:lastModifiedBy>JUAN MANUEL</cp:lastModifiedBy>
  <cp:revision>1</cp:revision>
  <dcterms:created xsi:type="dcterms:W3CDTF">2006-08-16T00:00:00Z</dcterms:created>
  <dcterms:modified xsi:type="dcterms:W3CDTF">2025-11-01T15:15:14Z</dcterms:modified>
  <dc:identifier>DAG3ahpPYFI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0x0101008E5026D2E0FE88488153A29B3DFF52EB</vt:lpwstr>
  </property>
</Properties>
</file>