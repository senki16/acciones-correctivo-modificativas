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nva Sans" panose="020B0604020202020204" charset="0"/>
      <p:regular r:id="rId17"/>
    </p:embeddedFont>
    <p:embeddedFont>
      <p:font typeface="Canva Sans Bold" panose="020B0604020202020204" charset="0"/>
      <p:regular r:id="rId18"/>
    </p:embeddedFont>
    <p:embeddedFont>
      <p:font typeface="Garet" panose="020B0604020202020204" charset="0"/>
      <p:regular r:id="rId19"/>
    </p:embeddedFont>
    <p:embeddedFont>
      <p:font typeface="Garet Bold" panose="020B0604020202020204" charset="0"/>
      <p:regular r:id="rId20"/>
    </p:embeddedFont>
    <p:embeddedFont>
      <p:font typeface="Inter" panose="020B0604020202020204" charset="0"/>
      <p:regular r:id="rId21"/>
    </p:embeddedFont>
    <p:embeddedFont>
      <p:font typeface="Open Sans" panose="020B0606030504020204" pitchFamily="34" charset="0"/>
      <p:regular r:id="rId22"/>
    </p:embeddedFont>
    <p:embeddedFont>
      <p:font typeface="Open Sans Medium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1842469" y="-271097"/>
            <a:ext cx="5416831" cy="12022429"/>
            <a:chOff x="0" y="0"/>
            <a:chExt cx="2858770" cy="6344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58770" cy="6344920"/>
            </a:xfrm>
            <a:custGeom>
              <a:avLst/>
              <a:gdLst/>
              <a:ahLst/>
              <a:cxnLst/>
              <a:rect l="l" t="t" r="r" b="b"/>
              <a:pathLst>
                <a:path w="2858770" h="6344920">
                  <a:moveTo>
                    <a:pt x="1827530" y="6344920"/>
                  </a:moveTo>
                  <a:lnTo>
                    <a:pt x="0" y="6344920"/>
                  </a:lnTo>
                  <a:lnTo>
                    <a:pt x="0" y="1031240"/>
                  </a:lnTo>
                  <a:cubicBezTo>
                    <a:pt x="0" y="461010"/>
                    <a:pt x="461010" y="0"/>
                    <a:pt x="1031240" y="0"/>
                  </a:cubicBezTo>
                  <a:lnTo>
                    <a:pt x="2858770" y="0"/>
                  </a:lnTo>
                  <a:lnTo>
                    <a:pt x="2858770" y="5313680"/>
                  </a:lnTo>
                  <a:cubicBezTo>
                    <a:pt x="2858770" y="5883910"/>
                    <a:pt x="2397760" y="6344920"/>
                    <a:pt x="1827530" y="6344920"/>
                  </a:cubicBezTo>
                  <a:close/>
                </a:path>
              </a:pathLst>
            </a:custGeom>
            <a:blipFill>
              <a:blip r:embed="rId2"/>
              <a:stretch>
                <a:fillRect l="-38321" r="-3832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7259300" y="7109187"/>
            <a:ext cx="1028700" cy="3177813"/>
            <a:chOff x="0" y="0"/>
            <a:chExt cx="812800" cy="25108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2510865"/>
            </a:xfrm>
            <a:custGeom>
              <a:avLst/>
              <a:gdLst/>
              <a:ahLst/>
              <a:cxnLst/>
              <a:rect l="l" t="t" r="r" b="b"/>
              <a:pathLst>
                <a:path w="812800" h="2510865">
                  <a:moveTo>
                    <a:pt x="0" y="0"/>
                  </a:moveTo>
                  <a:lnTo>
                    <a:pt x="812800" y="0"/>
                  </a:lnTo>
                  <a:lnTo>
                    <a:pt x="812800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2548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7109187"/>
            <a:ext cx="11842469" cy="3177813"/>
            <a:chOff x="0" y="0"/>
            <a:chExt cx="9357013" cy="25108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357013" cy="2510865"/>
            </a:xfrm>
            <a:custGeom>
              <a:avLst/>
              <a:gdLst/>
              <a:ahLst/>
              <a:cxnLst/>
              <a:rect l="l" t="t" r="r" b="b"/>
              <a:pathLst>
                <a:path w="9357013" h="2510865">
                  <a:moveTo>
                    <a:pt x="0" y="0"/>
                  </a:moveTo>
                  <a:lnTo>
                    <a:pt x="9357013" y="0"/>
                  </a:lnTo>
                  <a:lnTo>
                    <a:pt x="9357013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357013" cy="2548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259300" y="0"/>
            <a:ext cx="1028700" cy="102870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609914" y="0"/>
            <a:ext cx="1694792" cy="10287000"/>
            <a:chOff x="0" y="0"/>
            <a:chExt cx="446365" cy="270933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6365" cy="2709333"/>
            </a:xfrm>
            <a:custGeom>
              <a:avLst/>
              <a:gdLst/>
              <a:ahLst/>
              <a:cxnLst/>
              <a:rect l="l" t="t" r="r" b="b"/>
              <a:pathLst>
                <a:path w="446365" h="2709333">
                  <a:moveTo>
                    <a:pt x="223183" y="0"/>
                  </a:moveTo>
                  <a:lnTo>
                    <a:pt x="223183" y="0"/>
                  </a:lnTo>
                  <a:cubicBezTo>
                    <a:pt x="282374" y="0"/>
                    <a:pt x="339142" y="23514"/>
                    <a:pt x="380996" y="65369"/>
                  </a:cubicBezTo>
                  <a:cubicBezTo>
                    <a:pt x="422851" y="107224"/>
                    <a:pt x="446365" y="163991"/>
                    <a:pt x="446365" y="223183"/>
                  </a:cubicBezTo>
                  <a:lnTo>
                    <a:pt x="446365" y="2486151"/>
                  </a:lnTo>
                  <a:cubicBezTo>
                    <a:pt x="446365" y="2609411"/>
                    <a:pt x="346443" y="2709333"/>
                    <a:pt x="223183" y="2709333"/>
                  </a:cubicBezTo>
                  <a:lnTo>
                    <a:pt x="223183" y="2709333"/>
                  </a:lnTo>
                  <a:cubicBezTo>
                    <a:pt x="99922" y="2709333"/>
                    <a:pt x="0" y="2609411"/>
                    <a:pt x="0" y="2486151"/>
                  </a:cubicBezTo>
                  <a:lnTo>
                    <a:pt x="0" y="223183"/>
                  </a:lnTo>
                  <a:cubicBezTo>
                    <a:pt x="0" y="99922"/>
                    <a:pt x="99922" y="0"/>
                    <a:pt x="223183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4636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457993" y="7508308"/>
            <a:ext cx="5454603" cy="1749992"/>
            <a:chOff x="0" y="0"/>
            <a:chExt cx="1436603" cy="46090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36603" cy="460903"/>
            </a:xfrm>
            <a:custGeom>
              <a:avLst/>
              <a:gdLst/>
              <a:ahLst/>
              <a:cxnLst/>
              <a:rect l="l" t="t" r="r" b="b"/>
              <a:pathLst>
                <a:path w="1436603" h="460903">
                  <a:moveTo>
                    <a:pt x="72386" y="0"/>
                  </a:moveTo>
                  <a:lnTo>
                    <a:pt x="1364217" y="0"/>
                  </a:lnTo>
                  <a:cubicBezTo>
                    <a:pt x="1383415" y="0"/>
                    <a:pt x="1401827" y="7626"/>
                    <a:pt x="1415402" y="21201"/>
                  </a:cubicBezTo>
                  <a:cubicBezTo>
                    <a:pt x="1428977" y="34776"/>
                    <a:pt x="1436603" y="53188"/>
                    <a:pt x="1436603" y="72386"/>
                  </a:cubicBezTo>
                  <a:lnTo>
                    <a:pt x="1436603" y="388517"/>
                  </a:lnTo>
                  <a:cubicBezTo>
                    <a:pt x="1436603" y="428495"/>
                    <a:pt x="1404195" y="460903"/>
                    <a:pt x="1364217" y="460903"/>
                  </a:cubicBezTo>
                  <a:lnTo>
                    <a:pt x="72386" y="460903"/>
                  </a:lnTo>
                  <a:cubicBezTo>
                    <a:pt x="32408" y="460903"/>
                    <a:pt x="0" y="428495"/>
                    <a:pt x="0" y="388517"/>
                  </a:cubicBezTo>
                  <a:lnTo>
                    <a:pt x="0" y="72386"/>
                  </a:lnTo>
                  <a:cubicBezTo>
                    <a:pt x="0" y="32408"/>
                    <a:pt x="32408" y="0"/>
                    <a:pt x="72386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436603" cy="5180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Juan Manuel Méndez</a:t>
              </a:r>
            </a:p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Camilo Luna Bernal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484493" y="9014056"/>
            <a:ext cx="2545888" cy="2545888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9804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340208" y="408756"/>
            <a:ext cx="1551675" cy="756196"/>
          </a:xfrm>
          <a:custGeom>
            <a:avLst/>
            <a:gdLst/>
            <a:ahLst/>
            <a:cxnLst/>
            <a:rect l="l" t="t" r="r" b="b"/>
            <a:pathLst>
              <a:path w="1551675" h="756196">
                <a:moveTo>
                  <a:pt x="0" y="0"/>
                </a:moveTo>
                <a:lnTo>
                  <a:pt x="1551675" y="0"/>
                </a:lnTo>
                <a:lnTo>
                  <a:pt x="1551675" y="756196"/>
                </a:lnTo>
                <a:lnTo>
                  <a:pt x="0" y="756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2059543" y="1486088"/>
            <a:ext cx="8251503" cy="5330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22"/>
              </a:lnSpc>
            </a:pPr>
            <a:r>
              <a:rPr lang="en-US" sz="7323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METODOS PARA LA RECUPERACION DE PARTES O COMPONENTES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8657" y="70191"/>
            <a:ext cx="7176008" cy="10287000"/>
            <a:chOff x="0" y="0"/>
            <a:chExt cx="1889977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89977" cy="2709333"/>
            </a:xfrm>
            <a:custGeom>
              <a:avLst/>
              <a:gdLst/>
              <a:ahLst/>
              <a:cxnLst/>
              <a:rect l="l" t="t" r="r" b="b"/>
              <a:pathLst>
                <a:path w="1889977" h="2709333">
                  <a:moveTo>
                    <a:pt x="0" y="0"/>
                  </a:moveTo>
                  <a:lnTo>
                    <a:pt x="1889977" y="0"/>
                  </a:lnTo>
                  <a:lnTo>
                    <a:pt x="188997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89977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242501" y="70191"/>
            <a:ext cx="1551675" cy="756196"/>
          </a:xfrm>
          <a:custGeom>
            <a:avLst/>
            <a:gdLst/>
            <a:ahLst/>
            <a:cxnLst/>
            <a:rect l="l" t="t" r="r" b="b"/>
            <a:pathLst>
              <a:path w="1551675" h="756196">
                <a:moveTo>
                  <a:pt x="0" y="0"/>
                </a:moveTo>
                <a:lnTo>
                  <a:pt x="1551674" y="0"/>
                </a:lnTo>
                <a:lnTo>
                  <a:pt x="1551674" y="756196"/>
                </a:lnTo>
                <a:lnTo>
                  <a:pt x="0" y="756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22908" y="3229416"/>
            <a:ext cx="5692879" cy="6028884"/>
          </a:xfrm>
          <a:custGeom>
            <a:avLst/>
            <a:gdLst/>
            <a:ahLst/>
            <a:cxnLst/>
            <a:rect l="l" t="t" r="r" b="b"/>
            <a:pathLst>
              <a:path w="5692879" h="6028884">
                <a:moveTo>
                  <a:pt x="0" y="0"/>
                </a:moveTo>
                <a:lnTo>
                  <a:pt x="5692879" y="0"/>
                </a:lnTo>
                <a:lnTo>
                  <a:pt x="5692879" y="6028884"/>
                </a:lnTo>
                <a:lnTo>
                  <a:pt x="0" y="60288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558309" y="4836007"/>
            <a:ext cx="4712310" cy="5239808"/>
          </a:xfrm>
          <a:custGeom>
            <a:avLst/>
            <a:gdLst/>
            <a:ahLst/>
            <a:cxnLst/>
            <a:rect l="l" t="t" r="r" b="b"/>
            <a:pathLst>
              <a:path w="4712310" h="5239808">
                <a:moveTo>
                  <a:pt x="0" y="0"/>
                </a:moveTo>
                <a:lnTo>
                  <a:pt x="4712310" y="0"/>
                </a:lnTo>
                <a:lnTo>
                  <a:pt x="4712310" y="5239807"/>
                </a:lnTo>
                <a:lnTo>
                  <a:pt x="0" y="52398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229330" y="4836007"/>
            <a:ext cx="4774859" cy="5228668"/>
          </a:xfrm>
          <a:custGeom>
            <a:avLst/>
            <a:gdLst/>
            <a:ahLst/>
            <a:cxnLst/>
            <a:rect l="l" t="t" r="r" b="b"/>
            <a:pathLst>
              <a:path w="4774859" h="5228668">
                <a:moveTo>
                  <a:pt x="0" y="0"/>
                </a:moveTo>
                <a:lnTo>
                  <a:pt x="4774859" y="0"/>
                </a:lnTo>
                <a:lnTo>
                  <a:pt x="4774859" y="5228668"/>
                </a:lnTo>
                <a:lnTo>
                  <a:pt x="0" y="52286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09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84607" y="950031"/>
            <a:ext cx="5569480" cy="1740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0"/>
              </a:lnSpc>
            </a:pPr>
            <a:r>
              <a:rPr lang="en-US" sz="4993" b="1" spc="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PROCESO DE SOLDADURA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44836" y="1138519"/>
            <a:ext cx="10659353" cy="3012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48"/>
              </a:lnSpc>
            </a:pPr>
            <a:r>
              <a:rPr lang="en-US" sz="289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El proceso de recuperación de cavidad de molde con soldadura implica evaluar y limpiar la zona dañada, preparar la superficie mediante mecanizado y biselado, aplicar soldadura con técnicas como MIG o TIG, mecanizar y acabar la zona reparada, y finalmente inspeccionar y probar para asegurar la calidad y funcionalidad del molde.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492" y="0"/>
            <a:ext cx="6416679" cy="10287000"/>
            <a:chOff x="0" y="0"/>
            <a:chExt cx="168998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89989" cy="2709333"/>
            </a:xfrm>
            <a:custGeom>
              <a:avLst/>
              <a:gdLst/>
              <a:ahLst/>
              <a:cxnLst/>
              <a:rect l="l" t="t" r="r" b="b"/>
              <a:pathLst>
                <a:path w="1689989" h="2709333">
                  <a:moveTo>
                    <a:pt x="0" y="0"/>
                  </a:moveTo>
                  <a:lnTo>
                    <a:pt x="1689989" y="0"/>
                  </a:lnTo>
                  <a:lnTo>
                    <a:pt x="168998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89989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52863" y="256307"/>
            <a:ext cx="1551675" cy="756196"/>
          </a:xfrm>
          <a:custGeom>
            <a:avLst/>
            <a:gdLst/>
            <a:ahLst/>
            <a:cxnLst/>
            <a:rect l="l" t="t" r="r" b="b"/>
            <a:pathLst>
              <a:path w="1551675" h="756196">
                <a:moveTo>
                  <a:pt x="0" y="0"/>
                </a:moveTo>
                <a:lnTo>
                  <a:pt x="1551674" y="0"/>
                </a:lnTo>
                <a:lnTo>
                  <a:pt x="1551674" y="756196"/>
                </a:lnTo>
                <a:lnTo>
                  <a:pt x="0" y="756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483171" y="5143500"/>
            <a:ext cx="11656016" cy="5143500"/>
          </a:xfrm>
          <a:custGeom>
            <a:avLst/>
            <a:gdLst/>
            <a:ahLst/>
            <a:cxnLst/>
            <a:rect l="l" t="t" r="r" b="b"/>
            <a:pathLst>
              <a:path w="11656016" h="5143500">
                <a:moveTo>
                  <a:pt x="0" y="0"/>
                </a:moveTo>
                <a:lnTo>
                  <a:pt x="11656016" y="0"/>
                </a:lnTo>
                <a:lnTo>
                  <a:pt x="1165601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16" t="-13843" b="-13843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83171" y="0"/>
            <a:ext cx="11656016" cy="5143500"/>
          </a:xfrm>
          <a:custGeom>
            <a:avLst/>
            <a:gdLst/>
            <a:ahLst/>
            <a:cxnLst/>
            <a:rect l="l" t="t" r="r" b="b"/>
            <a:pathLst>
              <a:path w="11656016" h="5143500">
                <a:moveTo>
                  <a:pt x="0" y="0"/>
                </a:moveTo>
                <a:lnTo>
                  <a:pt x="11656016" y="0"/>
                </a:lnTo>
                <a:lnTo>
                  <a:pt x="1165601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5725" b="-1520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261513" y="1471197"/>
            <a:ext cx="3893652" cy="860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1"/>
              </a:lnSpc>
            </a:pPr>
            <a:r>
              <a:rPr lang="en-US" sz="2493" b="1" spc="4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PROCESO DE METALIZADO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2863" y="2760410"/>
            <a:ext cx="5873902" cy="4449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97"/>
              </a:lnSpc>
            </a:pPr>
            <a:r>
              <a:rPr lang="en-US" sz="23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 metalización es el proceso de aplicar una fina capa de metal a la superficie de un sustrato, que puede ser metálico o no metálico.</a:t>
            </a:r>
          </a:p>
          <a:p>
            <a:pPr algn="just">
              <a:lnSpc>
                <a:spcPts val="3597"/>
              </a:lnSpc>
            </a:pPr>
            <a:r>
              <a:rPr lang="en-US" sz="23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 metalización, a diferencia de los recubrimientos de pintura tradicionales o  recubrimiento en polvo imparte propiedades metálicas al objeto recubierto, como conductividad eléctrica mejorada y resistencia al calor.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71321" y="0"/>
            <a:ext cx="6416679" cy="10287000"/>
            <a:chOff x="0" y="0"/>
            <a:chExt cx="168998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89989" cy="2709333"/>
            </a:xfrm>
            <a:custGeom>
              <a:avLst/>
              <a:gdLst/>
              <a:ahLst/>
              <a:cxnLst/>
              <a:rect l="l" t="t" r="r" b="b"/>
              <a:pathLst>
                <a:path w="1689989" h="2709333">
                  <a:moveTo>
                    <a:pt x="0" y="0"/>
                  </a:moveTo>
                  <a:lnTo>
                    <a:pt x="1689989" y="0"/>
                  </a:lnTo>
                  <a:lnTo>
                    <a:pt x="168998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89989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52863" y="256307"/>
            <a:ext cx="1551675" cy="756196"/>
          </a:xfrm>
          <a:custGeom>
            <a:avLst/>
            <a:gdLst/>
            <a:ahLst/>
            <a:cxnLst/>
            <a:rect l="l" t="t" r="r" b="b"/>
            <a:pathLst>
              <a:path w="1551675" h="756196">
                <a:moveTo>
                  <a:pt x="0" y="0"/>
                </a:moveTo>
                <a:lnTo>
                  <a:pt x="1551674" y="0"/>
                </a:lnTo>
                <a:lnTo>
                  <a:pt x="1551674" y="756196"/>
                </a:lnTo>
                <a:lnTo>
                  <a:pt x="0" y="756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23489" y="1435181"/>
            <a:ext cx="5812501" cy="8795232"/>
          </a:xfrm>
          <a:custGeom>
            <a:avLst/>
            <a:gdLst/>
            <a:ahLst/>
            <a:cxnLst/>
            <a:rect l="l" t="t" r="r" b="b"/>
            <a:pathLst>
              <a:path w="5812501" h="8795232">
                <a:moveTo>
                  <a:pt x="0" y="0"/>
                </a:moveTo>
                <a:lnTo>
                  <a:pt x="5812502" y="0"/>
                </a:lnTo>
                <a:lnTo>
                  <a:pt x="5812502" y="8795232"/>
                </a:lnTo>
                <a:lnTo>
                  <a:pt x="0" y="87952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589013" y="1435181"/>
            <a:ext cx="6282309" cy="8795232"/>
          </a:xfrm>
          <a:custGeom>
            <a:avLst/>
            <a:gdLst/>
            <a:ahLst/>
            <a:cxnLst/>
            <a:rect l="l" t="t" r="r" b="b"/>
            <a:pathLst>
              <a:path w="6282309" h="8795232">
                <a:moveTo>
                  <a:pt x="0" y="0"/>
                </a:moveTo>
                <a:lnTo>
                  <a:pt x="6282308" y="0"/>
                </a:lnTo>
                <a:lnTo>
                  <a:pt x="6282308" y="8795232"/>
                </a:lnTo>
                <a:lnTo>
                  <a:pt x="0" y="87952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2974219" y="60243"/>
            <a:ext cx="4704390" cy="1374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1"/>
              </a:lnSpc>
            </a:pPr>
            <a:r>
              <a:rPr lang="en-US" sz="3993" b="1" spc="7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PROCESO DE PRENSADO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31782" y="1652267"/>
            <a:ext cx="6095758" cy="4459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84"/>
              </a:lnSpc>
            </a:pPr>
            <a:r>
              <a:rPr lang="en-US" sz="256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El proceso de prensado implica preparar el material, cargarlo en un molde, aplicar presión para compactarlo y darle forma, y luego extraer la pieza compactada. Hay varios tipos de prensado, como prensado en seco, en húmedo, isostático y en caliente, utilizados en cerámica, metales y materiales avanzados.</a:t>
            </a:r>
          </a:p>
        </p:txBody>
      </p:sp>
      <p:sp>
        <p:nvSpPr>
          <p:cNvPr id="10" name="Freeform 10"/>
          <p:cNvSpPr/>
          <p:nvPr/>
        </p:nvSpPr>
        <p:spPr>
          <a:xfrm>
            <a:off x="12233221" y="6751614"/>
            <a:ext cx="5692879" cy="2506686"/>
          </a:xfrm>
          <a:custGeom>
            <a:avLst/>
            <a:gdLst/>
            <a:ahLst/>
            <a:cxnLst/>
            <a:rect l="l" t="t" r="r" b="b"/>
            <a:pathLst>
              <a:path w="5692879" h="2506686">
                <a:moveTo>
                  <a:pt x="0" y="0"/>
                </a:moveTo>
                <a:lnTo>
                  <a:pt x="5692879" y="0"/>
                </a:lnTo>
                <a:lnTo>
                  <a:pt x="5692879" y="2506686"/>
                </a:lnTo>
                <a:lnTo>
                  <a:pt x="0" y="2506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140512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492" y="0"/>
            <a:ext cx="6416679" cy="10287000"/>
            <a:chOff x="0" y="0"/>
            <a:chExt cx="168998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89989" cy="2709333"/>
            </a:xfrm>
            <a:custGeom>
              <a:avLst/>
              <a:gdLst/>
              <a:ahLst/>
              <a:cxnLst/>
              <a:rect l="l" t="t" r="r" b="b"/>
              <a:pathLst>
                <a:path w="1689989" h="2709333">
                  <a:moveTo>
                    <a:pt x="0" y="0"/>
                  </a:moveTo>
                  <a:lnTo>
                    <a:pt x="1689989" y="0"/>
                  </a:lnTo>
                  <a:lnTo>
                    <a:pt x="168998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89989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52863" y="256307"/>
            <a:ext cx="1551675" cy="756196"/>
          </a:xfrm>
          <a:custGeom>
            <a:avLst/>
            <a:gdLst/>
            <a:ahLst/>
            <a:cxnLst/>
            <a:rect l="l" t="t" r="r" b="b"/>
            <a:pathLst>
              <a:path w="1551675" h="756196">
                <a:moveTo>
                  <a:pt x="0" y="0"/>
                </a:moveTo>
                <a:lnTo>
                  <a:pt x="1551674" y="0"/>
                </a:lnTo>
                <a:lnTo>
                  <a:pt x="1551674" y="756196"/>
                </a:lnTo>
                <a:lnTo>
                  <a:pt x="0" y="756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483171" y="0"/>
            <a:ext cx="11804829" cy="4837349"/>
          </a:xfrm>
          <a:custGeom>
            <a:avLst/>
            <a:gdLst/>
            <a:ahLst/>
            <a:cxnLst/>
            <a:rect l="l" t="t" r="r" b="b"/>
            <a:pathLst>
              <a:path w="11804829" h="4837349">
                <a:moveTo>
                  <a:pt x="0" y="0"/>
                </a:moveTo>
                <a:lnTo>
                  <a:pt x="11804829" y="0"/>
                </a:lnTo>
                <a:lnTo>
                  <a:pt x="11804829" y="4837349"/>
                </a:lnTo>
                <a:lnTo>
                  <a:pt x="0" y="48373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5287" b="-3754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83171" y="4837349"/>
            <a:ext cx="11949315" cy="5449651"/>
          </a:xfrm>
          <a:custGeom>
            <a:avLst/>
            <a:gdLst/>
            <a:ahLst/>
            <a:cxnLst/>
            <a:rect l="l" t="t" r="r" b="b"/>
            <a:pathLst>
              <a:path w="11949315" h="5449651">
                <a:moveTo>
                  <a:pt x="0" y="0"/>
                </a:moveTo>
                <a:lnTo>
                  <a:pt x="11949315" y="0"/>
                </a:lnTo>
                <a:lnTo>
                  <a:pt x="11949315" y="5449651"/>
                </a:lnTo>
                <a:lnTo>
                  <a:pt x="0" y="54496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889" b="-32197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261513" y="1471197"/>
            <a:ext cx="3893652" cy="860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1"/>
              </a:lnSpc>
            </a:pPr>
            <a:r>
              <a:rPr lang="en-US" sz="2493" b="1" spc="4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PROCESO DE VULCANIZADO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2863" y="2760410"/>
            <a:ext cx="5873902" cy="5207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52"/>
              </a:lnSpc>
            </a:pPr>
            <a:r>
              <a:rPr lang="en-US" sz="24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proceso de vulcanizado es una </a:t>
            </a:r>
            <a:r>
              <a:rPr lang="en-US" sz="242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reacción química que transforma el caucho crudo en un material más fuerte y elástico mediante el calentamiento con azufre u otros agentes</a:t>
            </a:r>
            <a:r>
              <a:rPr lang="en-US" sz="24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Este proceso implica calentar la mezcla de caucho y azufre (con aceleradores y otros aditivos) a temperaturas elevadas y bajo presión, lo que provoca un entrecruzamiento químico de las cadenas de polímeros del caucho.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492" y="0"/>
            <a:ext cx="5438290" cy="10287000"/>
            <a:chOff x="0" y="0"/>
            <a:chExt cx="1432307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2307" cy="2709333"/>
            </a:xfrm>
            <a:custGeom>
              <a:avLst/>
              <a:gdLst/>
              <a:ahLst/>
              <a:cxnLst/>
              <a:rect l="l" t="t" r="r" b="b"/>
              <a:pathLst>
                <a:path w="1432307" h="2709333">
                  <a:moveTo>
                    <a:pt x="0" y="0"/>
                  </a:moveTo>
                  <a:lnTo>
                    <a:pt x="1432307" y="0"/>
                  </a:lnTo>
                  <a:lnTo>
                    <a:pt x="143230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32307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52863" y="256307"/>
            <a:ext cx="1551675" cy="756196"/>
          </a:xfrm>
          <a:custGeom>
            <a:avLst/>
            <a:gdLst/>
            <a:ahLst/>
            <a:cxnLst/>
            <a:rect l="l" t="t" r="r" b="b"/>
            <a:pathLst>
              <a:path w="1551675" h="756196">
                <a:moveTo>
                  <a:pt x="0" y="0"/>
                </a:moveTo>
                <a:lnTo>
                  <a:pt x="1551674" y="0"/>
                </a:lnTo>
                <a:lnTo>
                  <a:pt x="1551674" y="756196"/>
                </a:lnTo>
                <a:lnTo>
                  <a:pt x="0" y="756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070184" y="256307"/>
            <a:ext cx="5443876" cy="7288128"/>
          </a:xfrm>
          <a:custGeom>
            <a:avLst/>
            <a:gdLst/>
            <a:ahLst/>
            <a:cxnLst/>
            <a:rect l="l" t="t" r="r" b="b"/>
            <a:pathLst>
              <a:path w="5443876" h="7288128">
                <a:moveTo>
                  <a:pt x="0" y="0"/>
                </a:moveTo>
                <a:lnTo>
                  <a:pt x="5443877" y="0"/>
                </a:lnTo>
                <a:lnTo>
                  <a:pt x="5443877" y="7288128"/>
                </a:lnTo>
                <a:lnTo>
                  <a:pt x="0" y="7288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56784" y="2251151"/>
            <a:ext cx="3935316" cy="5293284"/>
          </a:xfrm>
          <a:custGeom>
            <a:avLst/>
            <a:gdLst/>
            <a:ahLst/>
            <a:cxnLst/>
            <a:rect l="l" t="t" r="r" b="b"/>
            <a:pathLst>
              <a:path w="3935316" h="5293284">
                <a:moveTo>
                  <a:pt x="0" y="0"/>
                </a:moveTo>
                <a:lnTo>
                  <a:pt x="3935317" y="0"/>
                </a:lnTo>
                <a:lnTo>
                  <a:pt x="3935317" y="5293284"/>
                </a:lnTo>
                <a:lnTo>
                  <a:pt x="0" y="52932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45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92575" y="1649435"/>
            <a:ext cx="3986126" cy="5314835"/>
          </a:xfrm>
          <a:custGeom>
            <a:avLst/>
            <a:gdLst/>
            <a:ahLst/>
            <a:cxnLst/>
            <a:rect l="l" t="t" r="r" b="b"/>
            <a:pathLst>
              <a:path w="3986126" h="5314835">
                <a:moveTo>
                  <a:pt x="0" y="0"/>
                </a:moveTo>
                <a:lnTo>
                  <a:pt x="3986126" y="0"/>
                </a:lnTo>
                <a:lnTo>
                  <a:pt x="3986126" y="5314834"/>
                </a:lnTo>
                <a:lnTo>
                  <a:pt x="0" y="53148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611130" y="208682"/>
            <a:ext cx="3893652" cy="860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1"/>
              </a:lnSpc>
            </a:pPr>
            <a:r>
              <a:rPr lang="en-US" sz="2493" b="1" spc="4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PROCESO DE REDISENO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9956" y="7496810"/>
            <a:ext cx="4018745" cy="1790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5"/>
              </a:lnSpc>
            </a:pPr>
            <a:r>
              <a:rPr lang="en-US" sz="256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tornillo de ⅝ de pulgada </a:t>
            </a:r>
          </a:p>
          <a:p>
            <a:pPr algn="ctr">
              <a:lnSpc>
                <a:spcPts val="3585"/>
              </a:lnSpc>
            </a:pPr>
            <a:r>
              <a:rPr lang="en-US" sz="256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(aprox 16mm)</a:t>
            </a:r>
          </a:p>
          <a:p>
            <a:pPr algn="ctr">
              <a:lnSpc>
                <a:spcPts val="3585"/>
              </a:lnSpc>
            </a:pPr>
            <a:r>
              <a:rPr lang="en-US" sz="256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Galvanizado</a:t>
            </a:r>
          </a:p>
          <a:p>
            <a:pPr algn="ctr">
              <a:lnSpc>
                <a:spcPts val="3585"/>
              </a:lnSpc>
            </a:pPr>
            <a:endParaRPr lang="en-US" sz="256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044508" y="7866799"/>
            <a:ext cx="12051354" cy="2221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6"/>
              </a:lnSpc>
            </a:pPr>
            <a:r>
              <a:rPr lang="en-US" sz="2532">
                <a:solidFill>
                  <a:srgbClr val="2C351B"/>
                </a:solidFill>
                <a:latin typeface="Canva Sans"/>
                <a:ea typeface="Canva Sans"/>
                <a:cs typeface="Canva Sans"/>
                <a:sym typeface="Canva Sans"/>
              </a:rPr>
              <a:t>Implica analizar y mejorar funcionamiento, eficiencia y seguridad. Se realiza un análisis del sistema actual, se definen objetivos claros, se investigan y seleccionan tecnologías adecuadas, se diseñan y simulan modelos, se prototipan y prueban, y finalmente se implementa y monitorea el sistema rediseñado para asegurar su eficiencia y confiabilidad.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044508" y="189632"/>
            <a:ext cx="4941659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C351B"/>
                </a:solidFill>
                <a:latin typeface="Canva Sans"/>
                <a:ea typeface="Canva Sans"/>
                <a:cs typeface="Canva Sans"/>
                <a:sym typeface="Canva Sans"/>
              </a:rPr>
              <a:t>Tornillería de 1 pulgada (25.4 mm)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C351B"/>
                </a:solidFill>
                <a:latin typeface="Canva Sans"/>
                <a:ea typeface="Canva Sans"/>
                <a:cs typeface="Canva Sans"/>
                <a:sym typeface="Canva Sans"/>
              </a:rPr>
              <a:t>acero inoxidable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492" y="0"/>
            <a:ext cx="6416679" cy="10287000"/>
            <a:chOff x="0" y="0"/>
            <a:chExt cx="168998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89989" cy="2709333"/>
            </a:xfrm>
            <a:custGeom>
              <a:avLst/>
              <a:gdLst/>
              <a:ahLst/>
              <a:cxnLst/>
              <a:rect l="l" t="t" r="r" b="b"/>
              <a:pathLst>
                <a:path w="1689989" h="2709333">
                  <a:moveTo>
                    <a:pt x="0" y="0"/>
                  </a:moveTo>
                  <a:lnTo>
                    <a:pt x="1689989" y="0"/>
                  </a:lnTo>
                  <a:lnTo>
                    <a:pt x="168998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89989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52863" y="256307"/>
            <a:ext cx="1551675" cy="756196"/>
          </a:xfrm>
          <a:custGeom>
            <a:avLst/>
            <a:gdLst/>
            <a:ahLst/>
            <a:cxnLst/>
            <a:rect l="l" t="t" r="r" b="b"/>
            <a:pathLst>
              <a:path w="1551675" h="756196">
                <a:moveTo>
                  <a:pt x="0" y="0"/>
                </a:moveTo>
                <a:lnTo>
                  <a:pt x="1551674" y="0"/>
                </a:lnTo>
                <a:lnTo>
                  <a:pt x="1551674" y="756196"/>
                </a:lnTo>
                <a:lnTo>
                  <a:pt x="0" y="756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483171" y="0"/>
            <a:ext cx="11804829" cy="6286325"/>
          </a:xfrm>
          <a:custGeom>
            <a:avLst/>
            <a:gdLst/>
            <a:ahLst/>
            <a:cxnLst/>
            <a:rect l="l" t="t" r="r" b="b"/>
            <a:pathLst>
              <a:path w="11804829" h="6286325">
                <a:moveTo>
                  <a:pt x="0" y="0"/>
                </a:moveTo>
                <a:lnTo>
                  <a:pt x="11804829" y="0"/>
                </a:lnTo>
                <a:lnTo>
                  <a:pt x="11804829" y="6286325"/>
                </a:lnTo>
                <a:lnTo>
                  <a:pt x="0" y="6286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227" b="-222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83171" y="5143500"/>
            <a:ext cx="11804829" cy="5143500"/>
          </a:xfrm>
          <a:custGeom>
            <a:avLst/>
            <a:gdLst/>
            <a:ahLst/>
            <a:cxnLst/>
            <a:rect l="l" t="t" r="r" b="b"/>
            <a:pathLst>
              <a:path w="11804829" h="5143500">
                <a:moveTo>
                  <a:pt x="0" y="0"/>
                </a:moveTo>
                <a:lnTo>
                  <a:pt x="11804829" y="0"/>
                </a:lnTo>
                <a:lnTo>
                  <a:pt x="11804829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040" b="-10603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261513" y="1471197"/>
            <a:ext cx="3893652" cy="860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1"/>
              </a:lnSpc>
            </a:pPr>
            <a:r>
              <a:rPr lang="en-US" sz="2493" b="1" spc="4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PROCESO DE GRANALLADO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2863" y="2741360"/>
            <a:ext cx="5873902" cy="6345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07"/>
              </a:lnSpc>
            </a:pPr>
            <a:r>
              <a:rPr lang="en-US" sz="25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un proceso mecánico de limpieza o preparación de superficies en el cual se lanzan a alta velocidad pequeñas partículas metálicas llamadas granallas contra una pieza.</a:t>
            </a:r>
          </a:p>
          <a:p>
            <a:pPr algn="just">
              <a:lnSpc>
                <a:spcPts val="3907"/>
              </a:lnSpc>
            </a:pPr>
            <a:r>
              <a:rPr lang="en-US" sz="25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Estas partículas impactan la superficie, eliminando óxido, pintura vieja, rebabas o impurezas, y dejando la pieza limpia, rugosa y lista para procesos posteriores como pintura, galvanizado, soldadura o recubrimiento.</a:t>
            </a:r>
          </a:p>
          <a:p>
            <a:pPr algn="just">
              <a:lnSpc>
                <a:spcPts val="3287"/>
              </a:lnSpc>
            </a:pPr>
            <a:endParaRPr lang="en-US" sz="252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720642" y="0"/>
            <a:ext cx="21008642" cy="10287000"/>
            <a:chOff x="0" y="0"/>
            <a:chExt cx="553314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33140" cy="2709333"/>
            </a:xfrm>
            <a:custGeom>
              <a:avLst/>
              <a:gdLst/>
              <a:ahLst/>
              <a:cxnLst/>
              <a:rect l="l" t="t" r="r" b="b"/>
              <a:pathLst>
                <a:path w="5533140" h="2709333">
                  <a:moveTo>
                    <a:pt x="0" y="0"/>
                  </a:moveTo>
                  <a:lnTo>
                    <a:pt x="5533140" y="0"/>
                  </a:lnTo>
                  <a:lnTo>
                    <a:pt x="553314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533140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736325" y="403144"/>
            <a:ext cx="1551675" cy="756196"/>
          </a:xfrm>
          <a:custGeom>
            <a:avLst/>
            <a:gdLst/>
            <a:ahLst/>
            <a:cxnLst/>
            <a:rect l="l" t="t" r="r" b="b"/>
            <a:pathLst>
              <a:path w="1551675" h="756196">
                <a:moveTo>
                  <a:pt x="0" y="0"/>
                </a:moveTo>
                <a:lnTo>
                  <a:pt x="1551675" y="0"/>
                </a:lnTo>
                <a:lnTo>
                  <a:pt x="1551675" y="756196"/>
                </a:lnTo>
                <a:lnTo>
                  <a:pt x="0" y="756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397519" y="6643415"/>
            <a:ext cx="3157271" cy="3261823"/>
          </a:xfrm>
          <a:custGeom>
            <a:avLst/>
            <a:gdLst/>
            <a:ahLst/>
            <a:cxnLst/>
            <a:rect l="l" t="t" r="r" b="b"/>
            <a:pathLst>
              <a:path w="3157271" h="3261823">
                <a:moveTo>
                  <a:pt x="0" y="0"/>
                </a:moveTo>
                <a:lnTo>
                  <a:pt x="3157272" y="0"/>
                </a:lnTo>
                <a:lnTo>
                  <a:pt x="3157272" y="3261823"/>
                </a:lnTo>
                <a:lnTo>
                  <a:pt x="0" y="32618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905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359716" y="1765293"/>
            <a:ext cx="5619755" cy="8139945"/>
          </a:xfrm>
          <a:custGeom>
            <a:avLst/>
            <a:gdLst/>
            <a:ahLst/>
            <a:cxnLst/>
            <a:rect l="l" t="t" r="r" b="b"/>
            <a:pathLst>
              <a:path w="5619755" h="8139945">
                <a:moveTo>
                  <a:pt x="0" y="0"/>
                </a:moveTo>
                <a:lnTo>
                  <a:pt x="5619756" y="0"/>
                </a:lnTo>
                <a:lnTo>
                  <a:pt x="5619756" y="8139945"/>
                </a:lnTo>
                <a:lnTo>
                  <a:pt x="0" y="813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316" r="-4316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235802" y="6643415"/>
            <a:ext cx="3352092" cy="3261823"/>
          </a:xfrm>
          <a:custGeom>
            <a:avLst/>
            <a:gdLst/>
            <a:ahLst/>
            <a:cxnLst/>
            <a:rect l="l" t="t" r="r" b="b"/>
            <a:pathLst>
              <a:path w="3352092" h="3261823">
                <a:moveTo>
                  <a:pt x="0" y="0"/>
                </a:moveTo>
                <a:lnTo>
                  <a:pt x="3352092" y="0"/>
                </a:lnTo>
                <a:lnTo>
                  <a:pt x="3352092" y="3261823"/>
                </a:lnTo>
                <a:lnTo>
                  <a:pt x="0" y="32618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37023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5424" y="6643415"/>
            <a:ext cx="3250753" cy="3261823"/>
          </a:xfrm>
          <a:custGeom>
            <a:avLst/>
            <a:gdLst/>
            <a:ahLst/>
            <a:cxnLst/>
            <a:rect l="l" t="t" r="r" b="b"/>
            <a:pathLst>
              <a:path w="3250753" h="3261823">
                <a:moveTo>
                  <a:pt x="0" y="0"/>
                </a:moveTo>
                <a:lnTo>
                  <a:pt x="3250753" y="0"/>
                </a:lnTo>
                <a:lnTo>
                  <a:pt x="3250753" y="3261823"/>
                </a:lnTo>
                <a:lnTo>
                  <a:pt x="0" y="32618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1078" r="-63684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311070" y="422068"/>
            <a:ext cx="12561759" cy="705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1"/>
              </a:lnSpc>
            </a:pPr>
            <a:r>
              <a:rPr lang="en-US" sz="4093" b="1" spc="8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PROCESO DE INSERCION O ENCASQUILLADO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5839" y="2081213"/>
            <a:ext cx="10992018" cy="3469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El proceso de encasillado o inserción de tornillería implica preparar las piezas, insertar los tornillos con técnicas adecuadas y asegurar la unión con selladores y fijadores. Se debe controlar el torque y realizar una inspección final para garantizar la seguridad y estanqueidad de la unión.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492" y="0"/>
            <a:ext cx="6416679" cy="10287000"/>
            <a:chOff x="0" y="0"/>
            <a:chExt cx="168998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89989" cy="2709333"/>
            </a:xfrm>
            <a:custGeom>
              <a:avLst/>
              <a:gdLst/>
              <a:ahLst/>
              <a:cxnLst/>
              <a:rect l="l" t="t" r="r" b="b"/>
              <a:pathLst>
                <a:path w="1689989" h="2709333">
                  <a:moveTo>
                    <a:pt x="0" y="0"/>
                  </a:moveTo>
                  <a:lnTo>
                    <a:pt x="1689989" y="0"/>
                  </a:lnTo>
                  <a:lnTo>
                    <a:pt x="168998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89989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52863" y="256307"/>
            <a:ext cx="1551675" cy="756196"/>
          </a:xfrm>
          <a:custGeom>
            <a:avLst/>
            <a:gdLst/>
            <a:ahLst/>
            <a:cxnLst/>
            <a:rect l="l" t="t" r="r" b="b"/>
            <a:pathLst>
              <a:path w="1551675" h="756196">
                <a:moveTo>
                  <a:pt x="0" y="0"/>
                </a:moveTo>
                <a:lnTo>
                  <a:pt x="1551674" y="0"/>
                </a:lnTo>
                <a:lnTo>
                  <a:pt x="1551674" y="756196"/>
                </a:lnTo>
                <a:lnTo>
                  <a:pt x="0" y="756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483171" y="4459365"/>
            <a:ext cx="11804829" cy="5827635"/>
          </a:xfrm>
          <a:custGeom>
            <a:avLst/>
            <a:gdLst/>
            <a:ahLst/>
            <a:cxnLst/>
            <a:rect l="l" t="t" r="r" b="b"/>
            <a:pathLst>
              <a:path w="11804829" h="5827635">
                <a:moveTo>
                  <a:pt x="0" y="0"/>
                </a:moveTo>
                <a:lnTo>
                  <a:pt x="11804829" y="0"/>
                </a:lnTo>
                <a:lnTo>
                  <a:pt x="11804829" y="5827635"/>
                </a:lnTo>
                <a:lnTo>
                  <a:pt x="0" y="5827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606" b="-1760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14915" y="-1331079"/>
            <a:ext cx="11873085" cy="5970671"/>
          </a:xfrm>
          <a:custGeom>
            <a:avLst/>
            <a:gdLst/>
            <a:ahLst/>
            <a:cxnLst/>
            <a:rect l="l" t="t" r="r" b="b"/>
            <a:pathLst>
              <a:path w="11873085" h="5970671">
                <a:moveTo>
                  <a:pt x="0" y="0"/>
                </a:moveTo>
                <a:lnTo>
                  <a:pt x="11873085" y="0"/>
                </a:lnTo>
                <a:lnTo>
                  <a:pt x="11873085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9428" b="-49428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328005" y="981075"/>
            <a:ext cx="3893652" cy="1298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1"/>
              </a:lnSpc>
            </a:pPr>
            <a:r>
              <a:rPr lang="en-US" sz="2493" b="1" spc="4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PROCESO DE TRATAMIENTO TERMICO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2863" y="2760410"/>
            <a:ext cx="5873902" cy="6636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52"/>
              </a:lnSpc>
            </a:pPr>
            <a:r>
              <a:rPr lang="en-US" sz="24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Los tratamientos térmicos son un proceso controlado de calentamiento y enfriamiento de los metales (principalmente aceros) con el fin de modificar sus propiedades físicas y mecánicas, sin cambiar su forma o composición química.</a:t>
            </a:r>
          </a:p>
          <a:p>
            <a:pPr algn="just">
              <a:lnSpc>
                <a:spcPts val="3752"/>
              </a:lnSpc>
            </a:pPr>
            <a:r>
              <a:rPr lang="en-US" sz="24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Entre ellos tenemos:</a:t>
            </a:r>
          </a:p>
          <a:p>
            <a:pPr marL="522657" lvl="1" indent="-261328" algn="just">
              <a:lnSpc>
                <a:spcPts val="3752"/>
              </a:lnSpc>
              <a:buFont typeface="Arial"/>
              <a:buChar char="•"/>
            </a:pPr>
            <a:r>
              <a:rPr lang="en-US" sz="24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Temple</a:t>
            </a:r>
          </a:p>
          <a:p>
            <a:pPr marL="522657" lvl="1" indent="-261328" algn="just">
              <a:lnSpc>
                <a:spcPts val="3752"/>
              </a:lnSpc>
              <a:buFont typeface="Arial"/>
              <a:buChar char="•"/>
            </a:pPr>
            <a:r>
              <a:rPr lang="en-US" sz="24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Revenido </a:t>
            </a:r>
          </a:p>
          <a:p>
            <a:pPr marL="522657" lvl="1" indent="-261328" algn="just">
              <a:lnSpc>
                <a:spcPts val="3752"/>
              </a:lnSpc>
              <a:buFont typeface="Arial"/>
              <a:buChar char="•"/>
            </a:pPr>
            <a:r>
              <a:rPr lang="en-US" sz="24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Recocido </a:t>
            </a:r>
          </a:p>
          <a:p>
            <a:pPr marL="522657" lvl="1" indent="-261328" algn="just">
              <a:lnSpc>
                <a:spcPts val="3752"/>
              </a:lnSpc>
              <a:buFont typeface="Arial"/>
              <a:buChar char="•"/>
            </a:pPr>
            <a:r>
              <a:rPr lang="en-US" sz="24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Normalizado </a:t>
            </a:r>
          </a:p>
          <a:p>
            <a:pPr marL="522657" lvl="1" indent="-261328" algn="just">
              <a:lnSpc>
                <a:spcPts val="3752"/>
              </a:lnSpc>
              <a:buFont typeface="Arial"/>
              <a:buChar char="•"/>
            </a:pPr>
            <a:r>
              <a:rPr lang="en-US" sz="24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Cementación</a:t>
            </a:r>
          </a:p>
          <a:p>
            <a:pPr marL="522657" lvl="1" indent="-261328" algn="just">
              <a:lnSpc>
                <a:spcPts val="3752"/>
              </a:lnSpc>
              <a:buFont typeface="Arial"/>
              <a:buChar char="•"/>
            </a:pPr>
            <a:r>
              <a:rPr lang="en-US" sz="24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Nitruración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492" y="0"/>
            <a:ext cx="18221508" cy="10287000"/>
            <a:chOff x="0" y="0"/>
            <a:chExt cx="479908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99080" cy="2709333"/>
            </a:xfrm>
            <a:custGeom>
              <a:avLst/>
              <a:gdLst/>
              <a:ahLst/>
              <a:cxnLst/>
              <a:rect l="l" t="t" r="r" b="b"/>
              <a:pathLst>
                <a:path w="4799080" h="2709333">
                  <a:moveTo>
                    <a:pt x="0" y="0"/>
                  </a:moveTo>
                  <a:lnTo>
                    <a:pt x="4799080" y="0"/>
                  </a:lnTo>
                  <a:lnTo>
                    <a:pt x="479908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99080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52863" y="749309"/>
            <a:ext cx="1551675" cy="756196"/>
          </a:xfrm>
          <a:custGeom>
            <a:avLst/>
            <a:gdLst/>
            <a:ahLst/>
            <a:cxnLst/>
            <a:rect l="l" t="t" r="r" b="b"/>
            <a:pathLst>
              <a:path w="1551675" h="756196">
                <a:moveTo>
                  <a:pt x="0" y="0"/>
                </a:moveTo>
                <a:lnTo>
                  <a:pt x="1551674" y="0"/>
                </a:lnTo>
                <a:lnTo>
                  <a:pt x="1551674" y="756196"/>
                </a:lnTo>
                <a:lnTo>
                  <a:pt x="0" y="756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531815" y="256307"/>
            <a:ext cx="4436192" cy="3036819"/>
          </a:xfrm>
          <a:custGeom>
            <a:avLst/>
            <a:gdLst/>
            <a:ahLst/>
            <a:cxnLst/>
            <a:rect l="l" t="t" r="r" b="b"/>
            <a:pathLst>
              <a:path w="4436192" h="3036819">
                <a:moveTo>
                  <a:pt x="0" y="0"/>
                </a:moveTo>
                <a:lnTo>
                  <a:pt x="4436192" y="0"/>
                </a:lnTo>
                <a:lnTo>
                  <a:pt x="4436192" y="3036819"/>
                </a:lnTo>
                <a:lnTo>
                  <a:pt x="0" y="30368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560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531815" y="6489015"/>
            <a:ext cx="4436192" cy="3640274"/>
          </a:xfrm>
          <a:custGeom>
            <a:avLst/>
            <a:gdLst/>
            <a:ahLst/>
            <a:cxnLst/>
            <a:rect l="l" t="t" r="r" b="b"/>
            <a:pathLst>
              <a:path w="4436192" h="3640274">
                <a:moveTo>
                  <a:pt x="0" y="0"/>
                </a:moveTo>
                <a:lnTo>
                  <a:pt x="4436192" y="0"/>
                </a:lnTo>
                <a:lnTo>
                  <a:pt x="4436192" y="3640274"/>
                </a:lnTo>
                <a:lnTo>
                  <a:pt x="0" y="36402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22408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213191" y="6489015"/>
            <a:ext cx="6095015" cy="3413208"/>
          </a:xfrm>
          <a:custGeom>
            <a:avLst/>
            <a:gdLst/>
            <a:ahLst/>
            <a:cxnLst/>
            <a:rect l="l" t="t" r="r" b="b"/>
            <a:pathLst>
              <a:path w="6095015" h="3413208">
                <a:moveTo>
                  <a:pt x="0" y="0"/>
                </a:moveTo>
                <a:lnTo>
                  <a:pt x="6095015" y="0"/>
                </a:lnTo>
                <a:lnTo>
                  <a:pt x="6095015" y="3413208"/>
                </a:lnTo>
                <a:lnTo>
                  <a:pt x="0" y="34132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531815" y="3603202"/>
            <a:ext cx="4436192" cy="2571488"/>
          </a:xfrm>
          <a:custGeom>
            <a:avLst/>
            <a:gdLst/>
            <a:ahLst/>
            <a:cxnLst/>
            <a:rect l="l" t="t" r="r" b="b"/>
            <a:pathLst>
              <a:path w="4436192" h="2571488">
                <a:moveTo>
                  <a:pt x="0" y="0"/>
                </a:moveTo>
                <a:lnTo>
                  <a:pt x="4436192" y="0"/>
                </a:lnTo>
                <a:lnTo>
                  <a:pt x="4436192" y="2571488"/>
                </a:lnTo>
                <a:lnTo>
                  <a:pt x="0" y="25714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390256" y="692159"/>
            <a:ext cx="10146209" cy="579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1"/>
              </a:lnSpc>
            </a:pPr>
            <a:r>
              <a:rPr lang="en-US" sz="3472" b="1" spc="6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PROCESO DE ALINEACION Y BALANCEO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167189"/>
            <a:ext cx="11785922" cy="3593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 alineación y balanceo de un carro son procesos cruciales para la seguridad, confort y economía del vehículo. La alineación ajusta los ángulos de las llantas para mejorar la estabilidad y reducir el desgaste desigual, mientras que el balanceo distribuye uniformemente el peso para evitar vibraciones. Se recomienda realizarlos cada 10,000 km o 6 meses, o después de impactos o cambios en la suspensión o dirección.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492" y="0"/>
            <a:ext cx="6416679" cy="10287000"/>
            <a:chOff x="0" y="0"/>
            <a:chExt cx="168998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89989" cy="2709333"/>
            </a:xfrm>
            <a:custGeom>
              <a:avLst/>
              <a:gdLst/>
              <a:ahLst/>
              <a:cxnLst/>
              <a:rect l="l" t="t" r="r" b="b"/>
              <a:pathLst>
                <a:path w="1689989" h="2709333">
                  <a:moveTo>
                    <a:pt x="0" y="0"/>
                  </a:moveTo>
                  <a:lnTo>
                    <a:pt x="1689989" y="0"/>
                  </a:lnTo>
                  <a:lnTo>
                    <a:pt x="168998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89989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52863" y="256307"/>
            <a:ext cx="1551675" cy="756196"/>
          </a:xfrm>
          <a:custGeom>
            <a:avLst/>
            <a:gdLst/>
            <a:ahLst/>
            <a:cxnLst/>
            <a:rect l="l" t="t" r="r" b="b"/>
            <a:pathLst>
              <a:path w="1551675" h="756196">
                <a:moveTo>
                  <a:pt x="0" y="0"/>
                </a:moveTo>
                <a:lnTo>
                  <a:pt x="1551674" y="0"/>
                </a:lnTo>
                <a:lnTo>
                  <a:pt x="1551674" y="756196"/>
                </a:lnTo>
                <a:lnTo>
                  <a:pt x="0" y="756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483171" y="0"/>
            <a:ext cx="11804829" cy="5687738"/>
          </a:xfrm>
          <a:custGeom>
            <a:avLst/>
            <a:gdLst/>
            <a:ahLst/>
            <a:cxnLst/>
            <a:rect l="l" t="t" r="r" b="b"/>
            <a:pathLst>
              <a:path w="11804829" h="5687738">
                <a:moveTo>
                  <a:pt x="0" y="0"/>
                </a:moveTo>
                <a:lnTo>
                  <a:pt x="11804829" y="0"/>
                </a:lnTo>
                <a:lnTo>
                  <a:pt x="11804829" y="5687738"/>
                </a:lnTo>
                <a:lnTo>
                  <a:pt x="0" y="56877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1356" b="-1135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83171" y="5687738"/>
            <a:ext cx="7124509" cy="5356850"/>
          </a:xfrm>
          <a:custGeom>
            <a:avLst/>
            <a:gdLst/>
            <a:ahLst/>
            <a:cxnLst/>
            <a:rect l="l" t="t" r="r" b="b"/>
            <a:pathLst>
              <a:path w="7124509" h="5356850">
                <a:moveTo>
                  <a:pt x="0" y="0"/>
                </a:moveTo>
                <a:lnTo>
                  <a:pt x="7124509" y="0"/>
                </a:lnTo>
                <a:lnTo>
                  <a:pt x="7124509" y="5356851"/>
                </a:lnTo>
                <a:lnTo>
                  <a:pt x="0" y="53568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68" b="-168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607680" y="5654658"/>
            <a:ext cx="4680320" cy="6012397"/>
          </a:xfrm>
          <a:custGeom>
            <a:avLst/>
            <a:gdLst/>
            <a:ahLst/>
            <a:cxnLst/>
            <a:rect l="l" t="t" r="r" b="b"/>
            <a:pathLst>
              <a:path w="4680320" h="6012397">
                <a:moveTo>
                  <a:pt x="0" y="0"/>
                </a:moveTo>
                <a:lnTo>
                  <a:pt x="4680320" y="0"/>
                </a:lnTo>
                <a:lnTo>
                  <a:pt x="4680320" y="6012397"/>
                </a:lnTo>
                <a:lnTo>
                  <a:pt x="0" y="60123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422" t="-4295" b="-4295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28005" y="981075"/>
            <a:ext cx="3893652" cy="1298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1"/>
              </a:lnSpc>
            </a:pPr>
            <a:r>
              <a:rPr lang="en-US" sz="2493" b="1" spc="4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APLICACION DE COMPUESTOS EPOXICOS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2863" y="2750885"/>
            <a:ext cx="5873902" cy="5909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72"/>
              </a:lnSpc>
            </a:pPr>
            <a:r>
              <a:rPr lang="en-US" sz="28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un proceso donde se hace una mezcla de resina y endurecedor que, al reaccionar químicamente, forma un material sólido, muy resistente y adherente.</a:t>
            </a:r>
          </a:p>
          <a:p>
            <a:pPr algn="just">
              <a:lnSpc>
                <a:spcPts val="4372"/>
              </a:lnSpc>
            </a:pPr>
            <a:r>
              <a:rPr lang="en-US" sz="28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 usa para reparar, pegar, sellar o reconstruir superficies metálicas, plásticas o de concreto. Es ideal cuando no se puede soldar o mecanizar una pieza.</a:t>
            </a:r>
          </a:p>
          <a:p>
            <a:pPr algn="just">
              <a:lnSpc>
                <a:spcPts val="3287"/>
              </a:lnSpc>
            </a:pPr>
            <a:endParaRPr lang="en-US" sz="282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E5026D2E0FE88488153A29B3DFF52EB" ma:contentTypeVersion="3" ma:contentTypeDescription="Crear nuevo documento." ma:contentTypeScope="" ma:versionID="21910e2e0e3d3a18c69eafede869fe81">
  <xsd:schema xmlns:xsd="http://www.w3.org/2001/XMLSchema" xmlns:xs="http://www.w3.org/2001/XMLSchema" xmlns:p="http://schemas.microsoft.com/office/2006/metadata/properties" xmlns:ns2="732eacde-151a-4416-9e6c-b7f18d69a314" targetNamespace="http://schemas.microsoft.com/office/2006/metadata/properties" ma:root="true" ma:fieldsID="3f4e17f172f069d4f2e8bcfdf8bab442" ns2:_="">
    <xsd:import namespace="732eacde-151a-4416-9e6c-b7f18d69a31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2eacde-151a-4416-9e6c-b7f18d69a3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2A94EFC-B846-48DC-8F49-B8B41C77FF0F}"/>
</file>

<file path=customXml/itemProps2.xml><?xml version="1.0" encoding="utf-8"?>
<ds:datastoreItem xmlns:ds="http://schemas.openxmlformats.org/officeDocument/2006/customXml" ds:itemID="{B16D2698-C9FD-4CAA-884B-8FB3E7E572B9}"/>
</file>

<file path=customXml/itemProps3.xml><?xml version="1.0" encoding="utf-8"?>
<ds:datastoreItem xmlns:ds="http://schemas.openxmlformats.org/officeDocument/2006/customXml" ds:itemID="{229E319F-43EB-490C-A48C-E4E10E52A4CB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</Words>
  <Application>Microsoft Office PowerPoint</Application>
  <PresentationFormat>Personalizado</PresentationFormat>
  <Paragraphs>38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21" baseType="lpstr">
      <vt:lpstr>Garet</vt:lpstr>
      <vt:lpstr>Inter</vt:lpstr>
      <vt:lpstr>Canva Sans</vt:lpstr>
      <vt:lpstr>Canva Sans Bold</vt:lpstr>
      <vt:lpstr>Open Sans</vt:lpstr>
      <vt:lpstr>Open Sans Medium</vt:lpstr>
      <vt:lpstr>Arial</vt:lpstr>
      <vt:lpstr>Calibri</vt:lpstr>
      <vt:lpstr>Garet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METODOS PARA LA RECUPERACION DE PARTES O COMPONENTES</dc:title>
  <dc:creator>JUAN MANUEL</dc:creator>
  <cp:lastModifiedBy>JUAN MANUEL</cp:lastModifiedBy>
  <cp:revision>1</cp:revision>
  <dcterms:created xsi:type="dcterms:W3CDTF">2006-08-16T00:00:00Z</dcterms:created>
  <dcterms:modified xsi:type="dcterms:W3CDTF">2025-11-01T15:13:38Z</dcterms:modified>
  <dc:identifier>DAG3ayd4QC8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0x0101008E5026D2E0FE88488153A29B3DFF52EB</vt:lpwstr>
  </property>
</Properties>
</file>