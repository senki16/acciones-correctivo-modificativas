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4630400" cy="8229600"/>
  <p:notesSz cx="8229600" cy="14630400"/>
  <p:embeddedFontLst>
    <p:embeddedFont>
      <p:font typeface="Kanit Light" panose="020B0604020202020204" charset="-34"/>
      <p:regular r:id="rId14"/>
    </p:embeddedFont>
    <p:embeddedFont>
      <p:font typeface="Martel Sans" panose="020B0604020202020204" charset="0"/>
      <p:regular r:id="rId1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F3D5BC-16EF-1434-ADBF-3C897F83646C}" v="26" dt="2025-11-01T12:28:35.203"/>
    <p1510:client id="{AC6522CC-0234-D253-E603-28088C39EDC4}" v="24" dt="2025-11-01T12:15:23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eban De Jesus Cadavid Vanegas" userId="S::ejcadavidv@eafit.edu.co::27d015d7-65c7-4941-ae7f-f1baa53844e9" providerId="AD" clId="Web-{AC6522CC-0234-D253-E603-28088C39EDC4}"/>
    <pc:docChg chg="modSld">
      <pc:chgData name="Esteban De Jesus Cadavid Vanegas" userId="S::ejcadavidv@eafit.edu.co::27d015d7-65c7-4941-ae7f-f1baa53844e9" providerId="AD" clId="Web-{AC6522CC-0234-D253-E603-28088C39EDC4}" dt="2025-11-01T12:15:23.705" v="23" actId="1076"/>
      <pc:docMkLst>
        <pc:docMk/>
      </pc:docMkLst>
      <pc:sldChg chg="addSp delSp modSp">
        <pc:chgData name="Esteban De Jesus Cadavid Vanegas" userId="S::ejcadavidv@eafit.edu.co::27d015d7-65c7-4941-ae7f-f1baa53844e9" providerId="AD" clId="Web-{AC6522CC-0234-D253-E603-28088C39EDC4}" dt="2025-11-01T12:15:23.705" v="23" actId="1076"/>
        <pc:sldMkLst>
          <pc:docMk/>
          <pc:sldMk cId="2644107927" sldId="266"/>
        </pc:sldMkLst>
        <pc:picChg chg="add mod">
          <ac:chgData name="Esteban De Jesus Cadavid Vanegas" userId="S::ejcadavidv@eafit.edu.co::27d015d7-65c7-4941-ae7f-f1baa53844e9" providerId="AD" clId="Web-{AC6522CC-0234-D253-E603-28088C39EDC4}" dt="2025-11-01T12:15:07.501" v="20" actId="1076"/>
          <ac:picMkLst>
            <pc:docMk/>
            <pc:sldMk cId="2644107927" sldId="266"/>
            <ac:picMk id="2" creationId="{3EAA26D9-8348-A6E6-D271-C5DE1234BBD9}"/>
          </ac:picMkLst>
        </pc:picChg>
        <pc:picChg chg="add mod">
          <ac:chgData name="Esteban De Jesus Cadavid Vanegas" userId="S::ejcadavidv@eafit.edu.co::27d015d7-65c7-4941-ae7f-f1baa53844e9" providerId="AD" clId="Web-{AC6522CC-0234-D253-E603-28088C39EDC4}" dt="2025-11-01T12:15:23.705" v="23" actId="1076"/>
          <ac:picMkLst>
            <pc:docMk/>
            <pc:sldMk cId="2644107927" sldId="266"/>
            <ac:picMk id="6" creationId="{93DD078B-4AFF-6318-5719-648FB190D465}"/>
          </ac:picMkLst>
        </pc:picChg>
        <pc:picChg chg="add del">
          <ac:chgData name="Esteban De Jesus Cadavid Vanegas" userId="S::ejcadavidv@eafit.edu.co::27d015d7-65c7-4941-ae7f-f1baa53844e9" providerId="AD" clId="Web-{AC6522CC-0234-D253-E603-28088C39EDC4}" dt="2025-11-01T12:13:41.834" v="10"/>
          <ac:picMkLst>
            <pc:docMk/>
            <pc:sldMk cId="2644107927" sldId="266"/>
            <ac:picMk id="23" creationId="{24AEF11C-6972-42F4-BC65-954989168E7B}"/>
          </ac:picMkLst>
        </pc:picChg>
      </pc:sldChg>
    </pc:docChg>
  </pc:docChgLst>
  <pc:docChgLst>
    <pc:chgData name="Esteban De Jesus Cadavid Vanegas" userId="S::ejcadavidv@eafit.edu.co::27d015d7-65c7-4941-ae7f-f1baa53844e9" providerId="AD" clId="Web-{77F3D5BC-16EF-1434-ADBF-3C897F83646C}"/>
    <pc:docChg chg="modSld">
      <pc:chgData name="Esteban De Jesus Cadavid Vanegas" userId="S::ejcadavidv@eafit.edu.co::27d015d7-65c7-4941-ae7f-f1baa53844e9" providerId="AD" clId="Web-{77F3D5BC-16EF-1434-ADBF-3C897F83646C}" dt="2025-11-01T12:28:35.203" v="25" actId="14100"/>
      <pc:docMkLst>
        <pc:docMk/>
      </pc:docMkLst>
      <pc:sldChg chg="addSp delSp modSp">
        <pc:chgData name="Esteban De Jesus Cadavid Vanegas" userId="S::ejcadavidv@eafit.edu.co::27d015d7-65c7-4941-ae7f-f1baa53844e9" providerId="AD" clId="Web-{77F3D5BC-16EF-1434-ADBF-3C897F83646C}" dt="2025-11-01T12:28:35.203" v="25" actId="14100"/>
        <pc:sldMkLst>
          <pc:docMk/>
          <pc:sldMk cId="0" sldId="258"/>
        </pc:sldMkLst>
        <pc:spChg chg="mod">
          <ac:chgData name="Esteban De Jesus Cadavid Vanegas" userId="S::ejcadavidv@eafit.edu.co::27d015d7-65c7-4941-ae7f-f1baa53844e9" providerId="AD" clId="Web-{77F3D5BC-16EF-1434-ADBF-3C897F83646C}" dt="2025-11-01T12:18:11.345" v="2"/>
          <ac:spMkLst>
            <pc:docMk/>
            <pc:sldMk cId="0" sldId="258"/>
            <ac:spMk id="4" creationId="{00000000-0000-0000-0000-000000000000}"/>
          </ac:spMkLst>
        </pc:spChg>
        <pc:picChg chg="add mod">
          <ac:chgData name="Esteban De Jesus Cadavid Vanegas" userId="S::ejcadavidv@eafit.edu.co::27d015d7-65c7-4941-ae7f-f1baa53844e9" providerId="AD" clId="Web-{77F3D5BC-16EF-1434-ADBF-3C897F83646C}" dt="2025-11-01T12:28:35.203" v="25" actId="14100"/>
          <ac:picMkLst>
            <pc:docMk/>
            <pc:sldMk cId="0" sldId="258"/>
            <ac:picMk id="2" creationId="{93AB259A-3564-D9CC-8D9D-5F1F59A5BA8A}"/>
          </ac:picMkLst>
        </pc:picChg>
        <pc:picChg chg="mod">
          <ac:chgData name="Esteban De Jesus Cadavid Vanegas" userId="S::ejcadavidv@eafit.edu.co::27d015d7-65c7-4941-ae7f-f1baa53844e9" providerId="AD" clId="Web-{77F3D5BC-16EF-1434-ADBF-3C897F83646C}" dt="2025-11-01T12:23:29.057" v="18" actId="1076"/>
          <ac:picMkLst>
            <pc:docMk/>
            <pc:sldMk cId="0" sldId="258"/>
            <ac:picMk id="20" creationId="{CDDB9F92-FFC9-42FD-BA9F-AC68876C3A43}"/>
          </ac:picMkLst>
        </pc:picChg>
        <pc:picChg chg="mod">
          <ac:chgData name="Esteban De Jesus Cadavid Vanegas" userId="S::ejcadavidv@eafit.edu.co::27d015d7-65c7-4941-ae7f-f1baa53844e9" providerId="AD" clId="Web-{77F3D5BC-16EF-1434-ADBF-3C897F83646C}" dt="2025-11-01T12:23:36.135" v="20" actId="1076"/>
          <ac:picMkLst>
            <pc:docMk/>
            <pc:sldMk cId="0" sldId="258"/>
            <ac:picMk id="21" creationId="{3EC625F4-48DF-4DC0-86D9-92434792F704}"/>
          </ac:picMkLst>
        </pc:picChg>
        <pc:picChg chg="add mod">
          <ac:chgData name="Esteban De Jesus Cadavid Vanegas" userId="S::ejcadavidv@eafit.edu.co::27d015d7-65c7-4941-ae7f-f1baa53844e9" providerId="AD" clId="Web-{77F3D5BC-16EF-1434-ADBF-3C897F83646C}" dt="2025-11-01T12:28:20.234" v="24" actId="1076"/>
          <ac:picMkLst>
            <pc:docMk/>
            <pc:sldMk cId="0" sldId="258"/>
            <ac:picMk id="22" creationId="{BCC38F95-3CD7-2C1B-B8A3-31DE652552EA}"/>
          </ac:picMkLst>
        </pc:picChg>
        <pc:picChg chg="del">
          <ac:chgData name="Esteban De Jesus Cadavid Vanegas" userId="S::ejcadavidv@eafit.edu.co::27d015d7-65c7-4941-ae7f-f1baa53844e9" providerId="AD" clId="Web-{77F3D5BC-16EF-1434-ADBF-3C897F83646C}" dt="2025-11-01T12:22:54.885" v="10"/>
          <ac:picMkLst>
            <pc:docMk/>
            <pc:sldMk cId="0" sldId="258"/>
            <ac:picMk id="23" creationId="{B26362E5-E6B5-4D43-B587-5BF57829C984}"/>
          </ac:picMkLst>
        </pc:picChg>
      </pc:sldChg>
      <pc:sldChg chg="modSp">
        <pc:chgData name="Esteban De Jesus Cadavid Vanegas" userId="S::ejcadavidv@eafit.edu.co::27d015d7-65c7-4941-ae7f-f1baa53844e9" providerId="AD" clId="Web-{77F3D5BC-16EF-1434-ADBF-3C897F83646C}" dt="2025-11-01T12:18:23.299" v="3"/>
        <pc:sldMkLst>
          <pc:docMk/>
          <pc:sldMk cId="0" sldId="259"/>
        </pc:sldMkLst>
        <pc:spChg chg="mod">
          <ac:chgData name="Esteban De Jesus Cadavid Vanegas" userId="S::ejcadavidv@eafit.edu.co::27d015d7-65c7-4941-ae7f-f1baa53844e9" providerId="AD" clId="Web-{77F3D5BC-16EF-1434-ADBF-3C897F83646C}" dt="2025-11-01T12:18:23.299" v="3"/>
          <ac:spMkLst>
            <pc:docMk/>
            <pc:sldMk cId="0" sldId="259"/>
            <ac:spMk id="4" creationId="{00000000-0000-0000-0000-000000000000}"/>
          </ac:spMkLst>
        </pc:spChg>
      </pc:sldChg>
      <pc:sldChg chg="modSp">
        <pc:chgData name="Esteban De Jesus Cadavid Vanegas" userId="S::ejcadavidv@eafit.edu.co::27d015d7-65c7-4941-ae7f-f1baa53844e9" providerId="AD" clId="Web-{77F3D5BC-16EF-1434-ADBF-3C897F83646C}" dt="2025-11-01T12:18:57.159" v="4"/>
        <pc:sldMkLst>
          <pc:docMk/>
          <pc:sldMk cId="0" sldId="260"/>
        </pc:sldMkLst>
        <pc:spChg chg="mod">
          <ac:chgData name="Esteban De Jesus Cadavid Vanegas" userId="S::ejcadavidv@eafit.edu.co::27d015d7-65c7-4941-ae7f-f1baa53844e9" providerId="AD" clId="Web-{77F3D5BC-16EF-1434-ADBF-3C897F83646C}" dt="2025-11-01T12:18:57.159" v="4"/>
          <ac:spMkLst>
            <pc:docMk/>
            <pc:sldMk cId="0" sldId="260"/>
            <ac:spMk id="6" creationId="{00000000-0000-0000-0000-000000000000}"/>
          </ac:spMkLst>
        </pc:spChg>
      </pc:sldChg>
      <pc:sldChg chg="modSp">
        <pc:chgData name="Esteban De Jesus Cadavid Vanegas" userId="S::ejcadavidv@eafit.edu.co::27d015d7-65c7-4941-ae7f-f1baa53844e9" providerId="AD" clId="Web-{77F3D5BC-16EF-1434-ADBF-3C897F83646C}" dt="2025-11-01T12:19:15.410" v="5"/>
        <pc:sldMkLst>
          <pc:docMk/>
          <pc:sldMk cId="0" sldId="261"/>
        </pc:sldMkLst>
        <pc:spChg chg="mod">
          <ac:chgData name="Esteban De Jesus Cadavid Vanegas" userId="S::ejcadavidv@eafit.edu.co::27d015d7-65c7-4941-ae7f-f1baa53844e9" providerId="AD" clId="Web-{77F3D5BC-16EF-1434-ADBF-3C897F83646C}" dt="2025-11-01T12:19:15.410" v="5"/>
          <ac:spMkLst>
            <pc:docMk/>
            <pc:sldMk cId="0" sldId="261"/>
            <ac:spMk id="4" creationId="{00000000-0000-0000-0000-000000000000}"/>
          </ac:spMkLst>
        </pc:spChg>
      </pc:sldChg>
      <pc:sldChg chg="modSp">
        <pc:chgData name="Esteban De Jesus Cadavid Vanegas" userId="S::ejcadavidv@eafit.edu.co::27d015d7-65c7-4941-ae7f-f1baa53844e9" providerId="AD" clId="Web-{77F3D5BC-16EF-1434-ADBF-3C897F83646C}" dt="2025-11-01T12:19:29.082" v="6"/>
        <pc:sldMkLst>
          <pc:docMk/>
          <pc:sldMk cId="0" sldId="262"/>
        </pc:sldMkLst>
        <pc:spChg chg="mod">
          <ac:chgData name="Esteban De Jesus Cadavid Vanegas" userId="S::ejcadavidv@eafit.edu.co::27d015d7-65c7-4941-ae7f-f1baa53844e9" providerId="AD" clId="Web-{77F3D5BC-16EF-1434-ADBF-3C897F83646C}" dt="2025-11-01T12:19:29.082" v="6"/>
          <ac:spMkLst>
            <pc:docMk/>
            <pc:sldMk cId="0" sldId="262"/>
            <ac:spMk id="4" creationId="{00000000-0000-0000-0000-000000000000}"/>
          </ac:spMkLst>
        </pc:spChg>
      </pc:sldChg>
      <pc:sldChg chg="modSp">
        <pc:chgData name="Esteban De Jesus Cadavid Vanegas" userId="S::ejcadavidv@eafit.edu.co::27d015d7-65c7-4941-ae7f-f1baa53844e9" providerId="AD" clId="Web-{77F3D5BC-16EF-1434-ADBF-3C897F83646C}" dt="2025-11-01T12:19:40.020" v="7"/>
        <pc:sldMkLst>
          <pc:docMk/>
          <pc:sldMk cId="0" sldId="263"/>
        </pc:sldMkLst>
        <pc:spChg chg="mod">
          <ac:chgData name="Esteban De Jesus Cadavid Vanegas" userId="S::ejcadavidv@eafit.edu.co::27d015d7-65c7-4941-ae7f-f1baa53844e9" providerId="AD" clId="Web-{77F3D5BC-16EF-1434-ADBF-3C897F83646C}" dt="2025-11-01T12:19:40.020" v="7"/>
          <ac:spMkLst>
            <pc:docMk/>
            <pc:sldMk cId="0" sldId="263"/>
            <ac:spMk id="4" creationId="{00000000-0000-0000-0000-000000000000}"/>
          </ac:spMkLst>
        </pc:spChg>
      </pc:sldChg>
      <pc:sldChg chg="modSp">
        <pc:chgData name="Esteban De Jesus Cadavid Vanegas" userId="S::ejcadavidv@eafit.edu.co::27d015d7-65c7-4941-ae7f-f1baa53844e9" providerId="AD" clId="Web-{77F3D5BC-16EF-1434-ADBF-3C897F83646C}" dt="2025-11-01T12:20:00.505" v="8"/>
        <pc:sldMkLst>
          <pc:docMk/>
          <pc:sldMk cId="0" sldId="264"/>
        </pc:sldMkLst>
        <pc:spChg chg="mod">
          <ac:chgData name="Esteban De Jesus Cadavid Vanegas" userId="S::ejcadavidv@eafit.edu.co::27d015d7-65c7-4941-ae7f-f1baa53844e9" providerId="AD" clId="Web-{77F3D5BC-16EF-1434-ADBF-3C897F83646C}" dt="2025-11-01T12:20:00.505" v="8"/>
          <ac:spMkLst>
            <pc:docMk/>
            <pc:sldMk cId="0" sldId="264"/>
            <ac:spMk id="4" creationId="{00000000-0000-0000-0000-000000000000}"/>
          </ac:spMkLst>
        </pc:spChg>
      </pc:sldChg>
      <pc:sldChg chg="modSp">
        <pc:chgData name="Esteban De Jesus Cadavid Vanegas" userId="S::ejcadavidv@eafit.edu.co::27d015d7-65c7-4941-ae7f-f1baa53844e9" providerId="AD" clId="Web-{77F3D5BC-16EF-1434-ADBF-3C897F83646C}" dt="2025-11-01T12:20:11.537" v="9"/>
        <pc:sldMkLst>
          <pc:docMk/>
          <pc:sldMk cId="2644107927" sldId="266"/>
        </pc:sldMkLst>
        <pc:spChg chg="mod">
          <ac:chgData name="Esteban De Jesus Cadavid Vanegas" userId="S::ejcadavidv@eafit.edu.co::27d015d7-65c7-4941-ae7f-f1baa53844e9" providerId="AD" clId="Web-{77F3D5BC-16EF-1434-ADBF-3C897F83646C}" dt="2025-11-01T12:20:11.537" v="9"/>
          <ac:spMkLst>
            <pc:docMk/>
            <pc:sldMk cId="2644107927" sldId="26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584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07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258502"/>
            <a:ext cx="707005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500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Clasificación de las Fallas</a:t>
            </a:r>
            <a:endParaRPr lang="en-US" sz="5000"/>
          </a:p>
        </p:txBody>
      </p:sp>
      <p:sp>
        <p:nvSpPr>
          <p:cNvPr id="4" name="Text 1"/>
          <p:cNvSpPr/>
          <p:nvPr/>
        </p:nvSpPr>
        <p:spPr>
          <a:xfrm>
            <a:off x="6280190" y="4453459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Especialización en Mantenimiento Industrial - Universidad EAFIT</a:t>
            </a:r>
            <a:endParaRPr lang="en-US" sz="2000"/>
          </a:p>
        </p:txBody>
      </p:sp>
      <p:sp>
        <p:nvSpPr>
          <p:cNvPr id="5" name="Text 2"/>
          <p:cNvSpPr/>
          <p:nvPr/>
        </p:nvSpPr>
        <p:spPr>
          <a:xfrm>
            <a:off x="6280190" y="5373235"/>
            <a:ext cx="7556421" cy="52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Juan Diego </a:t>
            </a:r>
            <a:r>
              <a:rPr lang="en-US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Castrillón</a:t>
            </a: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Madrid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Esteban Cadavid Vanegas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1538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500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Introducción</a:t>
            </a:r>
            <a:endParaRPr lang="en-US" sz="5000"/>
          </a:p>
        </p:txBody>
      </p:sp>
      <p:sp>
        <p:nvSpPr>
          <p:cNvPr id="4" name="Text 1"/>
          <p:cNvSpPr/>
          <p:nvPr/>
        </p:nvSpPr>
        <p:spPr>
          <a:xfrm>
            <a:off x="6280190" y="3033117"/>
            <a:ext cx="755642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 clasificación sistemática de fallas permite estandarizar el análisis comparativo y mejorar continuamente. Reduce costos de mantenimiento, aumenta disponibilidad operacional y previene paradas no programadas, estimulando el aprendizaje organizacional dentro del cumplimiento normativo de seguridad.</a:t>
            </a:r>
            <a:endParaRPr lang="en-US" sz="1550"/>
          </a:p>
        </p:txBody>
      </p:sp>
      <p:sp>
        <p:nvSpPr>
          <p:cNvPr id="5" name="Text 2"/>
          <p:cNvSpPr/>
          <p:nvPr/>
        </p:nvSpPr>
        <p:spPr>
          <a:xfrm>
            <a:off x="6280190" y="4844058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Una falla se define como la pérdida de capacidad de un componente, equipo o sistema para desempeñar su función requerida dentro de parámetros especificados. Esta presentación describe las principales clasificaciones de fallas en sistemas industriales.</a:t>
            </a:r>
            <a:endParaRPr lang="en-US" sz="15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29258" y="598051"/>
            <a:ext cx="4558427" cy="56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Funcionales</a:t>
            </a:r>
            <a:endParaRPr lang="en-US" sz="3550"/>
          </a:p>
        </p:txBody>
      </p:sp>
      <p:sp>
        <p:nvSpPr>
          <p:cNvPr id="4" name="Text 1"/>
          <p:cNvSpPr/>
          <p:nvPr/>
        </p:nvSpPr>
        <p:spPr>
          <a:xfrm>
            <a:off x="729258" y="1441371"/>
            <a:ext cx="7685484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Ocurren cuando un componente deja de realizar completamente una o más de sus funciones requeridas. Se clasifican en tres tipos:</a:t>
            </a: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29258" y="2229564"/>
            <a:ext cx="7685484" cy="1679138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Shape 3"/>
          <p:cNvSpPr/>
          <p:nvPr/>
        </p:nvSpPr>
        <p:spPr>
          <a:xfrm>
            <a:off x="752118" y="2252424"/>
            <a:ext cx="729258" cy="1633418"/>
          </a:xfrm>
          <a:prstGeom prst="roundRect">
            <a:avLst>
              <a:gd name="adj" fmla="val 6740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976193" y="2898219"/>
            <a:ext cx="273487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150"/>
          </a:p>
        </p:txBody>
      </p:sp>
      <p:sp>
        <p:nvSpPr>
          <p:cNvPr id="8" name="Text 5"/>
          <p:cNvSpPr/>
          <p:nvPr/>
        </p:nvSpPr>
        <p:spPr>
          <a:xfrm>
            <a:off x="1663660" y="2434709"/>
            <a:ext cx="227921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Fallo Total</a:t>
            </a:r>
            <a:endParaRPr lang="en-US" sz="1750"/>
          </a:p>
        </p:txBody>
      </p:sp>
      <p:sp>
        <p:nvSpPr>
          <p:cNvPr id="9" name="Text 6"/>
          <p:cNvSpPr/>
          <p:nvPr/>
        </p:nvSpPr>
        <p:spPr>
          <a:xfrm>
            <a:off x="1663660" y="2828806"/>
            <a:ext cx="6545937" cy="87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Pérdida completa de función principal. Ejemplo: bomba industrial que pasa de 100 m³/h a 0 m³/h. Síntomas: motor no arranca, presión en cero. Causas: motor quemado, acople roto.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729258" y="4090988"/>
            <a:ext cx="7685484" cy="1679138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1" name="Shape 8"/>
          <p:cNvSpPr/>
          <p:nvPr/>
        </p:nvSpPr>
        <p:spPr>
          <a:xfrm>
            <a:off x="752118" y="4113847"/>
            <a:ext cx="729258" cy="1633418"/>
          </a:xfrm>
          <a:prstGeom prst="roundRect">
            <a:avLst>
              <a:gd name="adj" fmla="val 6740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2" name="Text 9"/>
          <p:cNvSpPr/>
          <p:nvPr/>
        </p:nvSpPr>
        <p:spPr>
          <a:xfrm>
            <a:off x="976193" y="4759643"/>
            <a:ext cx="273487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150"/>
          </a:p>
        </p:txBody>
      </p:sp>
      <p:sp>
        <p:nvSpPr>
          <p:cNvPr id="13" name="Text 10"/>
          <p:cNvSpPr/>
          <p:nvPr/>
        </p:nvSpPr>
        <p:spPr>
          <a:xfrm>
            <a:off x="1663660" y="4296132"/>
            <a:ext cx="227921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Fallo Parcial</a:t>
            </a:r>
            <a:endParaRPr lang="en-US" sz="1750"/>
          </a:p>
        </p:txBody>
      </p:sp>
      <p:sp>
        <p:nvSpPr>
          <p:cNvPr id="14" name="Text 11"/>
          <p:cNvSpPr/>
          <p:nvPr/>
        </p:nvSpPr>
        <p:spPr>
          <a:xfrm>
            <a:off x="1663660" y="4690229"/>
            <a:ext cx="6545937" cy="87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s-CO" sz="140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Pérdida parcial de capacidad. Ejemplo: compresor que reduce de 75 CFM a 45 CFM. Síntomas: tiempo de llenado aumentado 60%, presión máxima reducida. Causas: válvulas desgastadas, anillos con fugas, Filtros Obstruidos.</a:t>
            </a:r>
            <a:endParaRPr lang="es-CO" sz="1400"/>
          </a:p>
        </p:txBody>
      </p:sp>
      <p:sp>
        <p:nvSpPr>
          <p:cNvPr id="15" name="Shape 12"/>
          <p:cNvSpPr/>
          <p:nvPr/>
        </p:nvSpPr>
        <p:spPr>
          <a:xfrm>
            <a:off x="729258" y="5952411"/>
            <a:ext cx="7685484" cy="1679138"/>
          </a:xfrm>
          <a:prstGeom prst="roundRect">
            <a:avLst>
              <a:gd name="adj" fmla="val 4561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Shape 13"/>
          <p:cNvSpPr/>
          <p:nvPr/>
        </p:nvSpPr>
        <p:spPr>
          <a:xfrm>
            <a:off x="752118" y="5975271"/>
            <a:ext cx="729258" cy="1633418"/>
          </a:xfrm>
          <a:prstGeom prst="roundRect">
            <a:avLst>
              <a:gd name="adj" fmla="val 6740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4"/>
          <p:cNvSpPr/>
          <p:nvPr/>
        </p:nvSpPr>
        <p:spPr>
          <a:xfrm>
            <a:off x="976193" y="6621066"/>
            <a:ext cx="273487" cy="341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150"/>
          </a:p>
        </p:txBody>
      </p:sp>
      <p:sp>
        <p:nvSpPr>
          <p:cNvPr id="18" name="Text 15"/>
          <p:cNvSpPr/>
          <p:nvPr/>
        </p:nvSpPr>
        <p:spPr>
          <a:xfrm>
            <a:off x="1663660" y="6157555"/>
            <a:ext cx="227921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Fallo Intermitente</a:t>
            </a:r>
            <a:endParaRPr lang="en-US" sz="1750"/>
          </a:p>
        </p:txBody>
      </p:sp>
      <p:sp>
        <p:nvSpPr>
          <p:cNvPr id="19" name="Text 16"/>
          <p:cNvSpPr/>
          <p:nvPr/>
        </p:nvSpPr>
        <p:spPr>
          <a:xfrm>
            <a:off x="1663660" y="6551652"/>
            <a:ext cx="6545937" cy="87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Función falla esporádicamente. Ejemplo: PLC con paradas inexplicables 2-3 veces por turno. Síntomas: recuperación manual sin alarmas. Causas: conexiones flojas, fluctuaciones de poder, problemas de grounding.</a:t>
            </a:r>
            <a:endParaRPr lang="en-US" sz="140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CDDB9F92-FFC9-42FD-BA9F-AC68876C3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7188" y="1767688"/>
            <a:ext cx="2737424" cy="177086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EC625F4-48DF-4DC0-86D9-92434792F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740" y="4036574"/>
            <a:ext cx="3420000" cy="175170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3AB259A-3564-D9CC-8D9D-5F1F59A5B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3035" y="5973248"/>
            <a:ext cx="2514065" cy="17695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CC38F95-3CD7-2C1B-B8A3-31DE652552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3802" y="5967680"/>
            <a:ext cx="2763324" cy="17677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25278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Paramétricas</a:t>
            </a:r>
            <a:endParaRPr lang="en-US" sz="3900"/>
          </a:p>
        </p:txBody>
      </p:sp>
      <p:sp>
        <p:nvSpPr>
          <p:cNvPr id="4" name="Text 1"/>
          <p:cNvSpPr/>
          <p:nvPr/>
        </p:nvSpPr>
        <p:spPr>
          <a:xfrm>
            <a:off x="793790" y="417052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El equipo continúa operando pero uno o más parámetros de rendimiento se desvían de valores especificados. Son fallas de desempeño o calidad que afectan eficiencia, precisión y velocidad.</a:t>
            </a: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93242" y="5028843"/>
            <a:ext cx="4215289" cy="2428875"/>
          </a:xfrm>
          <a:prstGeom prst="roundRect">
            <a:avLst>
              <a:gd name="adj" fmla="val 343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999768" y="523482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Deriva Gradual</a:t>
            </a:r>
            <a:endParaRPr lang="en-US" sz="1950"/>
          </a:p>
        </p:txBody>
      </p:sp>
      <p:sp>
        <p:nvSpPr>
          <p:cNvPr id="7" name="Text 4"/>
          <p:cNvSpPr/>
          <p:nvPr/>
        </p:nvSpPr>
        <p:spPr>
          <a:xfrm>
            <a:off x="999768" y="5664041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Cambio lento y progresivo. Transmisor de presión con deriva de +0.2% mensual. Causas: envejecimiento electrónico, contaminación del sensor.</a:t>
            </a:r>
            <a:endParaRPr lang="en-US" sz="1550"/>
          </a:p>
        </p:txBody>
      </p:sp>
      <p:sp>
        <p:nvSpPr>
          <p:cNvPr id="8" name="Shape 5"/>
          <p:cNvSpPr/>
          <p:nvPr/>
        </p:nvSpPr>
        <p:spPr>
          <a:xfrm>
            <a:off x="5207437" y="5028843"/>
            <a:ext cx="4215408" cy="2428875"/>
          </a:xfrm>
          <a:prstGeom prst="roundRect">
            <a:avLst>
              <a:gd name="adj" fmla="val 343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Text 6"/>
          <p:cNvSpPr/>
          <p:nvPr/>
        </p:nvSpPr>
        <p:spPr>
          <a:xfrm>
            <a:off x="5413415" y="5234821"/>
            <a:ext cx="28029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Fuera de Especificaciones</a:t>
            </a:r>
            <a:endParaRPr lang="en-US" sz="1950"/>
          </a:p>
        </p:txBody>
      </p:sp>
      <p:sp>
        <p:nvSpPr>
          <p:cNvPr id="10" name="Text 7"/>
          <p:cNvSpPr/>
          <p:nvPr/>
        </p:nvSpPr>
        <p:spPr>
          <a:xfrm>
            <a:off x="5413415" y="5664041"/>
            <a:ext cx="380345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Parámetros fuera de límites. Horno a 130°C en lugar de 140-150°C. Impacto: 40% de piezas defectuosas. Causas: elemento calefactor degradado, termopar descalibrado.</a:t>
            </a:r>
            <a:endParaRPr lang="en-US" sz="1550"/>
          </a:p>
        </p:txBody>
      </p:sp>
      <p:sp>
        <p:nvSpPr>
          <p:cNvPr id="11" name="Shape 8"/>
          <p:cNvSpPr/>
          <p:nvPr/>
        </p:nvSpPr>
        <p:spPr>
          <a:xfrm>
            <a:off x="9621203" y="5028843"/>
            <a:ext cx="4215289" cy="2428875"/>
          </a:xfrm>
          <a:prstGeom prst="roundRect">
            <a:avLst>
              <a:gd name="adj" fmla="val 343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2" name="Text 9"/>
          <p:cNvSpPr/>
          <p:nvPr/>
        </p:nvSpPr>
        <p:spPr>
          <a:xfrm>
            <a:off x="9827181" y="5234821"/>
            <a:ext cx="31583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Degradación de Performance</a:t>
            </a:r>
            <a:endParaRPr lang="en-US" sz="1950"/>
          </a:p>
        </p:txBody>
      </p:sp>
      <p:sp>
        <p:nvSpPr>
          <p:cNvPr id="13" name="Text 10"/>
          <p:cNvSpPr/>
          <p:nvPr/>
        </p:nvSpPr>
        <p:spPr>
          <a:xfrm>
            <a:off x="9827181" y="5664041"/>
            <a:ext cx="380333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Reducción en eficiencia. Intercambiador con coeficiente de 285 W/m²K (original 450). Consumo energético +25%, capacidad -15%. Causas: incrustaciones, corrosión, fouling.</a:t>
            </a:r>
            <a:endParaRPr lang="en-US" sz="155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99ECAB5-4725-440F-AA58-F636618CA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86" y="816481"/>
            <a:ext cx="4212000" cy="23935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ECBFA1F-234E-4A76-8205-ED04E3C54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836" y="798575"/>
            <a:ext cx="4100610" cy="24293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12715FC-B724-43B3-B38A-8E30D4B83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2847" y="784424"/>
            <a:ext cx="3312000" cy="24576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Text 1"/>
          <p:cNvSpPr/>
          <p:nvPr/>
        </p:nvSpPr>
        <p:spPr>
          <a:xfrm>
            <a:off x="793790" y="1672590"/>
            <a:ext cx="68551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por Tiempo de Desarrollo</a:t>
            </a:r>
            <a:endParaRPr lang="en-US" sz="3900"/>
          </a:p>
        </p:txBody>
      </p:sp>
      <p:sp>
        <p:nvSpPr>
          <p:cNvPr id="6" name="Text 2"/>
          <p:cNvSpPr/>
          <p:nvPr/>
        </p:nvSpPr>
        <p:spPr>
          <a:xfrm>
            <a:off x="793790" y="2590324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Las fallas se clasifican según su velocidad de manifestación, determinando la capacidad de detección y respuesta operacional.</a:t>
            </a:r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93790" y="36470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Súbitas</a:t>
            </a:r>
            <a:endParaRPr lang="en-US" sz="1950"/>
          </a:p>
        </p:txBody>
      </p:sp>
      <p:sp>
        <p:nvSpPr>
          <p:cNvPr id="8" name="Text 4"/>
          <p:cNvSpPr/>
          <p:nvPr/>
        </p:nvSpPr>
        <p:spPr>
          <a:xfrm>
            <a:off x="793790" y="4155519"/>
            <a:ext cx="3536156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Ocurren sin previo aviso en segundos a minutos. Predictibilidad muy baja. Ejemplo: fractura de sello mecánico en bomba de caldera en 30-60 segundos. Síntomas: fuga masiva, alarmas inmediatas. Causa: golpe de ariete o cavitación severa.</a:t>
            </a:r>
            <a:endParaRPr lang="en-US" sz="1550"/>
          </a:p>
        </p:txBody>
      </p:sp>
      <p:sp>
        <p:nvSpPr>
          <p:cNvPr id="9" name="Text 5"/>
          <p:cNvSpPr/>
          <p:nvPr/>
        </p:nvSpPr>
        <p:spPr>
          <a:xfrm>
            <a:off x="4821674" y="36470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Graduales</a:t>
            </a:r>
            <a:endParaRPr lang="en-US" sz="1950"/>
          </a:p>
        </p:txBody>
      </p:sp>
      <p:sp>
        <p:nvSpPr>
          <p:cNvPr id="10" name="Text 6"/>
          <p:cNvSpPr/>
          <p:nvPr/>
        </p:nvSpPr>
        <p:spPr>
          <a:xfrm>
            <a:off x="4821674" y="4155519"/>
            <a:ext cx="3536156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 desarrollan en días a años con indicadores medibles. Predictibilidad alta con monitoreo. Ejemplo: desgaste de rodamientos en ventilador en 6-9 meses. Indicadores: vibración aumenta de 2.5 a 7.0 mm/s, temperatura de 65°C a 80°C.</a:t>
            </a:r>
            <a:endParaRPr lang="en-US" sz="1550"/>
          </a:p>
        </p:txBody>
      </p:sp>
      <p:pic>
        <p:nvPicPr>
          <p:cNvPr id="11" name="drawing">
            <a:extLst>
              <a:ext uri="{FF2B5EF4-FFF2-40B4-BE49-F238E27FC236}">
                <a16:creationId xmlns:a16="http://schemas.microsoft.com/office/drawing/2014/main" id="{19CB8A3D-B8F1-44F5-A7FA-F66CD083C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71915" y="372421"/>
            <a:ext cx="5236740" cy="4038217"/>
          </a:xfrm>
          <a:prstGeom prst="rect">
            <a:avLst/>
          </a:prstGeom>
        </p:spPr>
      </p:pic>
      <p:pic>
        <p:nvPicPr>
          <p:cNvPr id="12" name="drawing">
            <a:extLst>
              <a:ext uri="{FF2B5EF4-FFF2-40B4-BE49-F238E27FC236}">
                <a16:creationId xmlns:a16="http://schemas.microsoft.com/office/drawing/2014/main" id="{8894D04C-E25F-44C8-AB58-1E7B8E0C3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3393" y="4914930"/>
            <a:ext cx="5245045" cy="28090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101923"/>
            <a:ext cx="540293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por Detectabilidad</a:t>
            </a:r>
            <a:endParaRPr lang="en-US" sz="3900"/>
          </a:p>
        </p:txBody>
      </p:sp>
      <p:sp>
        <p:nvSpPr>
          <p:cNvPr id="4" name="Text 1"/>
          <p:cNvSpPr/>
          <p:nvPr/>
        </p:nvSpPr>
        <p:spPr>
          <a:xfrm>
            <a:off x="793790" y="201965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 capacidad de detección determina la estrategia de mantenimiento y respuesta operacional requerida.</a:t>
            </a: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93790" y="287797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1438632" y="294620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Visibles</a:t>
            </a:r>
            <a:endParaRPr lang="en-US" sz="1950"/>
          </a:p>
        </p:txBody>
      </p:sp>
      <p:sp>
        <p:nvSpPr>
          <p:cNvPr id="7" name="Text 4"/>
          <p:cNvSpPr/>
          <p:nvPr/>
        </p:nvSpPr>
        <p:spPr>
          <a:xfrm>
            <a:off x="1438632" y="3375422"/>
            <a:ext cx="691157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 manifiestan mediante síntomas claramente observables. Detección inmediata por personal. Ejemplo: fuga mayor en tubería de proceso. Síntomas: producto visible, charco expandiéndose, sonido de escape, olor característico. Tiempo de detección: segundos a minutos.</a:t>
            </a:r>
            <a:endParaRPr lang="en-US" sz="1550"/>
          </a:p>
        </p:txBody>
      </p:sp>
      <p:sp>
        <p:nvSpPr>
          <p:cNvPr id="8" name="Shape 5"/>
          <p:cNvSpPr/>
          <p:nvPr/>
        </p:nvSpPr>
        <p:spPr>
          <a:xfrm>
            <a:off x="793790" y="504241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9" name="Text 6"/>
          <p:cNvSpPr/>
          <p:nvPr/>
        </p:nvSpPr>
        <p:spPr>
          <a:xfrm>
            <a:off x="1438632" y="51106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Ocultas</a:t>
            </a:r>
            <a:endParaRPr lang="en-US" sz="1950"/>
          </a:p>
        </p:txBody>
      </p:sp>
      <p:sp>
        <p:nvSpPr>
          <p:cNvPr id="10" name="Text 7"/>
          <p:cNvSpPr/>
          <p:nvPr/>
        </p:nvSpPr>
        <p:spPr>
          <a:xfrm>
            <a:off x="1438632" y="5539859"/>
            <a:ext cx="691157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No se manifiestan durante operación normal. Requieren pruebas especializadas. Ejemplo: degradación de aislamiento en transformador 13.8 kV. Operación normal sin indicadores visuales. Detección: análisis de gases disueltos, medición de factor de potencia, pruebas de resistencia cada 3-12 meses.</a:t>
            </a:r>
            <a:endParaRPr lang="en-US" sz="1550"/>
          </a:p>
        </p:txBody>
      </p:sp>
      <p:pic>
        <p:nvPicPr>
          <p:cNvPr id="11" name="drawing">
            <a:extLst>
              <a:ext uri="{FF2B5EF4-FFF2-40B4-BE49-F238E27FC236}">
                <a16:creationId xmlns:a16="http://schemas.microsoft.com/office/drawing/2014/main" id="{E8EE8C12-D488-42C6-8B47-E78B2F82F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6866" y="499225"/>
            <a:ext cx="4562475" cy="33635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drawing">
            <a:extLst>
              <a:ext uri="{FF2B5EF4-FFF2-40B4-BE49-F238E27FC236}">
                <a16:creationId xmlns:a16="http://schemas.microsoft.com/office/drawing/2014/main" id="{D32B7628-0681-403C-961D-402BBC6CE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0959" y="4280802"/>
            <a:ext cx="4537337" cy="33635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19634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por Origen</a:t>
            </a:r>
            <a:endParaRPr lang="en-US" sz="3900"/>
          </a:p>
        </p:txBody>
      </p:sp>
      <p:sp>
        <p:nvSpPr>
          <p:cNvPr id="4" name="Text 1"/>
          <p:cNvSpPr/>
          <p:nvPr/>
        </p:nvSpPr>
        <p:spPr>
          <a:xfrm>
            <a:off x="793790" y="2114074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El origen de la falla determina la responsabilidad y estrategia de prevención a implementar.</a:t>
            </a: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93790" y="31707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Intrínsecas</a:t>
            </a:r>
            <a:endParaRPr lang="en-US" sz="1950"/>
          </a:p>
        </p:txBody>
      </p:sp>
      <p:sp>
        <p:nvSpPr>
          <p:cNvPr id="6" name="Text 3"/>
          <p:cNvSpPr/>
          <p:nvPr/>
        </p:nvSpPr>
        <p:spPr>
          <a:xfrm>
            <a:off x="793790" y="3679269"/>
            <a:ext cx="353615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Originadas por deficiencias inherentes al diseño, fabricación o materiales. Responsabilidad: fabricante. Ejemplo: fisura en carcasa de bomba por defecto de fundición. Evidencia: inclusiones de escoria, porosidad visible, falla bajo presiones de diseño.</a:t>
            </a:r>
            <a:endParaRPr lang="en-US" sz="1550"/>
          </a:p>
        </p:txBody>
      </p:sp>
      <p:sp>
        <p:nvSpPr>
          <p:cNvPr id="7" name="Text 4"/>
          <p:cNvSpPr/>
          <p:nvPr/>
        </p:nvSpPr>
        <p:spPr>
          <a:xfrm>
            <a:off x="4821674" y="317075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Extrínsecas</a:t>
            </a:r>
            <a:endParaRPr lang="en-US" sz="1950"/>
          </a:p>
        </p:txBody>
      </p:sp>
      <p:sp>
        <p:nvSpPr>
          <p:cNvPr id="8" name="Text 5"/>
          <p:cNvSpPr/>
          <p:nvPr/>
        </p:nvSpPr>
        <p:spPr>
          <a:xfrm>
            <a:off x="4821674" y="3679269"/>
            <a:ext cx="3536156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Originadas por factores externos: instalación, operación, mantenimiento o ambiente. Responsabilidad: usuario/operador. Ejemplo: desalineación en transmisión por acoplamiento. Evidencia: alineación fuera de especificación, patrón de desgaste característico, equipos idénticos operan sin problemas.</a:t>
            </a:r>
            <a:endParaRPr lang="en-US" sz="1550"/>
          </a:p>
        </p:txBody>
      </p:sp>
      <p:pic>
        <p:nvPicPr>
          <p:cNvPr id="9" name="drawing">
            <a:extLst>
              <a:ext uri="{FF2B5EF4-FFF2-40B4-BE49-F238E27FC236}">
                <a16:creationId xmlns:a16="http://schemas.microsoft.com/office/drawing/2014/main" id="{F206EF18-E877-4BB0-97A1-A6E043B90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74801" y="317382"/>
            <a:ext cx="4647929" cy="3442772"/>
          </a:xfrm>
          <a:prstGeom prst="rect">
            <a:avLst/>
          </a:prstGeom>
        </p:spPr>
      </p:pic>
      <p:pic>
        <p:nvPicPr>
          <p:cNvPr id="10" name="drawing">
            <a:extLst>
              <a:ext uri="{FF2B5EF4-FFF2-40B4-BE49-F238E27FC236}">
                <a16:creationId xmlns:a16="http://schemas.microsoft.com/office/drawing/2014/main" id="{17CAC533-68CD-481F-B550-09D82B9861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49557" y="3899644"/>
            <a:ext cx="4644000" cy="41089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6636" y="497086"/>
            <a:ext cx="7730728" cy="110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Patrón Temporal - Ciclo de Vida del Activo</a:t>
            </a:r>
            <a:endParaRPr lang="en-US" sz="3450"/>
          </a:p>
        </p:txBody>
      </p:sp>
      <p:sp>
        <p:nvSpPr>
          <p:cNvPr id="4" name="Text 1"/>
          <p:cNvSpPr/>
          <p:nvPr/>
        </p:nvSpPr>
        <p:spPr>
          <a:xfrm>
            <a:off x="706636" y="1866186"/>
            <a:ext cx="7730728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Las fallas se distribuyen según la edad del equipo, siguiendo patrones predecibles que guían estrategias de mantenimiento.</a:t>
            </a:r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36" y="2630210"/>
            <a:ext cx="529947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13153" y="2806779"/>
            <a:ext cx="2802374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Prematuras (Infantiles)</a:t>
            </a:r>
            <a:endParaRPr lang="en-US" sz="1700"/>
          </a:p>
        </p:txBody>
      </p:sp>
      <p:sp>
        <p:nvSpPr>
          <p:cNvPr id="7" name="Text 3"/>
          <p:cNvSpPr/>
          <p:nvPr/>
        </p:nvSpPr>
        <p:spPr>
          <a:xfrm>
            <a:off x="1413153" y="3188732"/>
            <a:ext cx="7024211" cy="84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Primeras horas o días. Tasa decreciente. Afecta 5-15% de componentes. Causas: defectos de fabricación, instalación incorrecta. Ejemplo: motor con sobrecalentamiento por desalineación forzada.</a:t>
            </a:r>
            <a:endParaRPr lang="en-US" sz="135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389834"/>
            <a:ext cx="529947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78067" y="4566404"/>
            <a:ext cx="2208371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Aleatorias</a:t>
            </a:r>
            <a:endParaRPr lang="en-US" sz="1700"/>
          </a:p>
        </p:txBody>
      </p:sp>
      <p:sp>
        <p:nvSpPr>
          <p:cNvPr id="10" name="Text 5"/>
          <p:cNvSpPr/>
          <p:nvPr/>
        </p:nvSpPr>
        <p:spPr>
          <a:xfrm>
            <a:off x="1678067" y="4948357"/>
            <a:ext cx="6759297" cy="84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Vida útil normal. Tasa constante y baja. Distribución exponencial. Causas: eventos aleatorios, condiciones extremas. Ejemplo: válvula bloqueada por contaminación en fluido hidráulico después de 2 años.</a:t>
            </a:r>
            <a:endParaRPr lang="en-US" sz="135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583" y="6149459"/>
            <a:ext cx="529947" cy="1143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943100" y="6326029"/>
            <a:ext cx="2208371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Fallas por Desgaste</a:t>
            </a:r>
            <a:endParaRPr lang="en-US" sz="1700"/>
          </a:p>
        </p:txBody>
      </p:sp>
      <p:sp>
        <p:nvSpPr>
          <p:cNvPr id="13" name="Text 7"/>
          <p:cNvSpPr/>
          <p:nvPr/>
        </p:nvSpPr>
        <p:spPr>
          <a:xfrm>
            <a:off x="1943100" y="6707981"/>
            <a:ext cx="6494264" cy="84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 de ciclo de vida. Tasa creciente. Degradación acumulativa. Causas: fatiga, corrosión, erosión. Ejemplo: correa de transportador con desgaste acelerado después de 3 años por fatiga y alineación deteriorada.</a:t>
            </a:r>
            <a:endParaRPr lang="en-US" sz="135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3828626-6918-4B57-ACE1-E88D3587D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364" y="454144"/>
            <a:ext cx="5612130" cy="229425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E1C16E9-A85A-4ED5-8763-F4FAA5286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1824" y="2934366"/>
            <a:ext cx="3276000" cy="28302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A80B5F6-920D-4F24-81F9-ECFB3B7F4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7364" y="5927348"/>
            <a:ext cx="5612130" cy="17599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9381" y="4465866"/>
            <a:ext cx="8500705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Clasificación Internacional por Severidad</a:t>
            </a:r>
            <a:endParaRPr lang="en-US" sz="3700"/>
          </a:p>
        </p:txBody>
      </p:sp>
      <p:sp>
        <p:nvSpPr>
          <p:cNvPr id="4" name="Text 1"/>
          <p:cNvSpPr/>
          <p:nvPr/>
        </p:nvSpPr>
        <p:spPr>
          <a:xfrm>
            <a:off x="759381" y="5343833"/>
            <a:ext cx="13111639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 severidad determina el nivel de urgencia, recursos requeridos y estrategias de mitigación de riesgos.</a:t>
            </a: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59381" y="5861159"/>
            <a:ext cx="13111639" cy="1732002"/>
          </a:xfrm>
          <a:prstGeom prst="roundRect">
            <a:avLst>
              <a:gd name="adj" fmla="val 233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956786" y="6058565"/>
            <a:ext cx="237315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Nivel 4: Críticas</a:t>
            </a:r>
            <a:endParaRPr lang="en-US" sz="1850"/>
          </a:p>
        </p:txBody>
      </p:sp>
      <p:sp>
        <p:nvSpPr>
          <p:cNvPr id="8" name="Text 5"/>
          <p:cNvSpPr/>
          <p:nvPr/>
        </p:nvSpPr>
        <p:spPr>
          <a:xfrm>
            <a:off x="956786" y="6468973"/>
            <a:ext cx="6168628" cy="911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Muerte, discapacidad permanente, pérdida total. Ejemplo: explosión de reactor químico con múltiples fatalidades, liberación masiva de tóxicos, destrucción completa.</a:t>
            </a:r>
            <a:endParaRPr lang="en-US" sz="1450"/>
          </a:p>
        </p:txBody>
      </p:sp>
      <p:sp>
        <p:nvSpPr>
          <p:cNvPr id="10" name="Shape 7"/>
          <p:cNvSpPr/>
          <p:nvPr/>
        </p:nvSpPr>
        <p:spPr>
          <a:xfrm>
            <a:off x="7315200" y="5868779"/>
            <a:ext cx="22860" cy="1701522"/>
          </a:xfrm>
          <a:prstGeom prst="roundRect">
            <a:avLst>
              <a:gd name="adj" fmla="val 348825"/>
            </a:avLst>
          </a:prstGeom>
          <a:solidFill>
            <a:srgbClr val="C5D2CF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7504986" y="6058565"/>
            <a:ext cx="237315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Nivel 3: Mayores</a:t>
            </a:r>
            <a:endParaRPr lang="en-US" sz="1850"/>
          </a:p>
        </p:txBody>
      </p:sp>
      <p:sp>
        <p:nvSpPr>
          <p:cNvPr id="12" name="Text 9"/>
          <p:cNvSpPr/>
          <p:nvPr/>
        </p:nvSpPr>
        <p:spPr>
          <a:xfrm>
            <a:off x="7504986" y="6468973"/>
            <a:ext cx="6168628" cy="911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Lesiones serias, daño ambiental significativo, parada prolongada. Ejemplo: falla de frenos en grúa puente con fracturas múltiples, parada de 3 semanas, derrame de aceite.</a:t>
            </a:r>
            <a:endParaRPr lang="en-US" sz="145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7B8DBC87-8B5A-401F-A175-A0E703EB549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59381" y="634169"/>
            <a:ext cx="4671060" cy="27432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52D041C5-FA33-45BA-8D2F-272C904CB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001" y="586543"/>
            <a:ext cx="8028000" cy="28344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9381" y="4476626"/>
            <a:ext cx="8500705" cy="593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Clasificación Internacional por Severidad</a:t>
            </a:r>
            <a:endParaRPr lang="en-US" sz="3700"/>
          </a:p>
        </p:txBody>
      </p:sp>
      <p:sp>
        <p:nvSpPr>
          <p:cNvPr id="4" name="Text 1"/>
          <p:cNvSpPr/>
          <p:nvPr/>
        </p:nvSpPr>
        <p:spPr>
          <a:xfrm>
            <a:off x="759381" y="5354591"/>
            <a:ext cx="13111639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 severidad determina el nivel de urgencia, recursos requeridos y estrategias de mitigación de riesgos.</a:t>
            </a: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59381" y="5968754"/>
            <a:ext cx="13111639" cy="1686282"/>
          </a:xfrm>
          <a:prstGeom prst="roundRect">
            <a:avLst>
              <a:gd name="adj" fmla="val 233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67001" y="5945894"/>
            <a:ext cx="6548199" cy="22860"/>
          </a:xfrm>
          <a:prstGeom prst="roundRect">
            <a:avLst>
              <a:gd name="adj" fmla="val 348825"/>
            </a:avLst>
          </a:prstGeom>
          <a:solidFill>
            <a:srgbClr val="C5D2CF"/>
          </a:solidFill>
          <a:ln/>
        </p:spPr>
      </p:sp>
      <p:sp>
        <p:nvSpPr>
          <p:cNvPr id="15" name="Text 12"/>
          <p:cNvSpPr/>
          <p:nvPr/>
        </p:nvSpPr>
        <p:spPr>
          <a:xfrm>
            <a:off x="956786" y="6135680"/>
            <a:ext cx="237315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Nivel 2: Moderadas</a:t>
            </a:r>
            <a:endParaRPr lang="en-US" sz="1850"/>
          </a:p>
        </p:txBody>
      </p:sp>
      <p:sp>
        <p:nvSpPr>
          <p:cNvPr id="16" name="Text 13"/>
          <p:cNvSpPr/>
          <p:nvPr/>
        </p:nvSpPr>
        <p:spPr>
          <a:xfrm>
            <a:off x="956786" y="6546089"/>
            <a:ext cx="6168628" cy="911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Lesiones menores, impacto localizado, parada temporal. Ejemplo: falla en alimentador de máquina con esguince, parada 48 horas, 500 unidades perdidas.</a:t>
            </a:r>
            <a:endParaRPr lang="en-US" sz="1450"/>
          </a:p>
        </p:txBody>
      </p:sp>
      <p:sp>
        <p:nvSpPr>
          <p:cNvPr id="18" name="Shape 15"/>
          <p:cNvSpPr/>
          <p:nvPr/>
        </p:nvSpPr>
        <p:spPr>
          <a:xfrm>
            <a:off x="7315200" y="5945894"/>
            <a:ext cx="22860" cy="1701522"/>
          </a:xfrm>
          <a:prstGeom prst="roundRect">
            <a:avLst>
              <a:gd name="adj" fmla="val 348825"/>
            </a:avLst>
          </a:prstGeom>
          <a:solidFill>
            <a:srgbClr val="C5D2CF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5945894"/>
            <a:ext cx="6548199" cy="22860"/>
          </a:xfrm>
          <a:prstGeom prst="roundRect">
            <a:avLst>
              <a:gd name="adj" fmla="val 348825"/>
            </a:avLst>
          </a:prstGeom>
          <a:solidFill>
            <a:srgbClr val="C5D2CF"/>
          </a:solidFill>
          <a:ln/>
        </p:spPr>
      </p:sp>
      <p:sp>
        <p:nvSpPr>
          <p:cNvPr id="20" name="Text 17"/>
          <p:cNvSpPr/>
          <p:nvPr/>
        </p:nvSpPr>
        <p:spPr>
          <a:xfrm>
            <a:off x="7504986" y="6135680"/>
            <a:ext cx="237315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Nivel 1: Menores</a:t>
            </a:r>
            <a:endParaRPr lang="en-US" sz="1850"/>
          </a:p>
        </p:txBody>
      </p:sp>
      <p:sp>
        <p:nvSpPr>
          <p:cNvPr id="21" name="Text 18"/>
          <p:cNvSpPr/>
          <p:nvPr/>
        </p:nvSpPr>
        <p:spPr>
          <a:xfrm>
            <a:off x="7504986" y="6546089"/>
            <a:ext cx="6168628" cy="911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Primeros auxilios, impacto mínimo, interrupción menor. Ejemplo: fuga en manguera hidráulica, parada 4 horas, daño cosmético, derrame contenido.</a:t>
            </a:r>
            <a:endParaRPr lang="en-US" sz="145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CBCDC182-D43D-472E-A59F-B3FC2FDC3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020" y="628467"/>
            <a:ext cx="6516000" cy="36797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AA26D9-8348-A6E6-D271-C5DE1234B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79974" y="1328641"/>
            <a:ext cx="3253393" cy="2198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DD078B-4AFF-6318-5719-648FB190D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2916" y="1230736"/>
            <a:ext cx="3815903" cy="247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0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34446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Conclusión: Gestión Integral de Fallas</a:t>
            </a:r>
            <a:endParaRPr lang="en-US" sz="3900"/>
          </a:p>
        </p:txBody>
      </p:sp>
      <p:sp>
        <p:nvSpPr>
          <p:cNvPr id="4" name="Text 1"/>
          <p:cNvSpPr/>
          <p:nvPr/>
        </p:nvSpPr>
        <p:spPr>
          <a:xfrm>
            <a:off x="6280190" y="3772257"/>
            <a:ext cx="7556421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 clasificación sistemática de fallas es fundamental para optimizar estrategias de mantenimiento. Permite identificar patrones, asignar recursos eficientemente y prevenir paradas no programadas. Combinando análisis de naturaleza, tiempo de desarrollo, detectabilidad, origen y severidad, las organizaciones pueden implementar programas de mantenimiento predictivo y preventivo que maximicen disponibilidad operacional, minimicen costos y garanticen seguridad en personas, procesos e instalaciones.</a:t>
            </a:r>
            <a:endParaRPr lang="en-US" sz="1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5026D2E0FE88488153A29B3DFF52EB" ma:contentTypeVersion="3" ma:contentTypeDescription="Crear nuevo documento." ma:contentTypeScope="" ma:versionID="21910e2e0e3d3a18c69eafede869fe81">
  <xsd:schema xmlns:xsd="http://www.w3.org/2001/XMLSchema" xmlns:xs="http://www.w3.org/2001/XMLSchema" xmlns:p="http://schemas.microsoft.com/office/2006/metadata/properties" xmlns:ns2="732eacde-151a-4416-9e6c-b7f18d69a314" targetNamespace="http://schemas.microsoft.com/office/2006/metadata/properties" ma:root="true" ma:fieldsID="3f4e17f172f069d4f2e8bcfdf8bab442" ns2:_="">
    <xsd:import namespace="732eacde-151a-4416-9e6c-b7f18d69a3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2eacde-151a-4416-9e6c-b7f18d69a3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C07F3C-0E1A-43B8-9D3C-20D07136CFC6}"/>
</file>

<file path=customXml/itemProps2.xml><?xml version="1.0" encoding="utf-8"?>
<ds:datastoreItem xmlns:ds="http://schemas.openxmlformats.org/officeDocument/2006/customXml" ds:itemID="{EC2C37E7-AEB6-4958-B5EB-FC98C24BD148}"/>
</file>

<file path=customXml/itemProps3.xml><?xml version="1.0" encoding="utf-8"?>
<ds:datastoreItem xmlns:ds="http://schemas.openxmlformats.org/officeDocument/2006/customXml" ds:itemID="{E3F0B5C0-A0F1-41AF-ABF6-CB42555F7421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Usuario</dc:creator>
  <cp:revision>21</cp:revision>
  <dcterms:created xsi:type="dcterms:W3CDTF">2025-11-01T05:57:38Z</dcterms:created>
  <dcterms:modified xsi:type="dcterms:W3CDTF">2025-11-01T12:28:35Z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0x0101008E5026D2E0FE88488153A29B3DFF52EB</vt:lpwstr>
  </property>
</Properties>
</file>